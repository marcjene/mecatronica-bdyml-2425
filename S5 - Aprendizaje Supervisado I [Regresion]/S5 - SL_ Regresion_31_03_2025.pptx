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31"/>
  </p:notesMasterIdLst>
  <p:sldIdLst>
    <p:sldId id="256" r:id="rId2"/>
    <p:sldId id="257" r:id="rId3"/>
    <p:sldId id="276" r:id="rId4"/>
    <p:sldId id="259" r:id="rId5"/>
    <p:sldId id="260" r:id="rId6"/>
    <p:sldId id="277" r:id="rId7"/>
    <p:sldId id="278" r:id="rId8"/>
    <p:sldId id="286" r:id="rId9"/>
    <p:sldId id="325" r:id="rId10"/>
    <p:sldId id="326" r:id="rId11"/>
    <p:sldId id="327" r:id="rId12"/>
    <p:sldId id="328" r:id="rId13"/>
    <p:sldId id="267" r:id="rId14"/>
    <p:sldId id="329" r:id="rId15"/>
    <p:sldId id="330" r:id="rId16"/>
    <p:sldId id="331" r:id="rId17"/>
    <p:sldId id="332" r:id="rId18"/>
    <p:sldId id="334" r:id="rId19"/>
    <p:sldId id="333" r:id="rId20"/>
    <p:sldId id="336" r:id="rId21"/>
    <p:sldId id="275" r:id="rId22"/>
    <p:sldId id="270" r:id="rId23"/>
    <p:sldId id="271" r:id="rId24"/>
    <p:sldId id="273" r:id="rId25"/>
    <p:sldId id="335" r:id="rId26"/>
    <p:sldId id="338" r:id="rId27"/>
    <p:sldId id="274" r:id="rId28"/>
    <p:sldId id="337" r:id="rId29"/>
    <p:sldId id="263" r:id="rId30"/>
  </p:sldIdLst>
  <p:sldSz cx="9144000" cy="6858000" type="screen4x3"/>
  <p:notesSz cx="6858000" cy="9144000"/>
  <p:embeddedFontLst>
    <p:embeddedFont>
      <p:font typeface="Calibri" panose="020F0502020204030204" pitchFamily="34" charset="0"/>
      <p:regular r:id="rId32"/>
      <p:bold r:id="rId33"/>
      <p:italic r:id="rId34"/>
      <p:boldItalic r:id="rId35"/>
    </p:embeddedFont>
    <p:embeddedFont>
      <p:font typeface="Cambria Math" panose="02040503050406030204" pitchFamily="18" charset="0"/>
      <p:regular r:id="rId36"/>
    </p:embeddedFont>
    <p:embeddedFont>
      <p:font typeface="Roboto" panose="02000000000000000000" pitchFamily="2"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1" roundtripDataSignature="AMtx7mi+D8+a4BrEKaNVrR8Co+e3nneLR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226" autoAdjust="0"/>
  </p:normalViewPr>
  <p:slideViewPr>
    <p:cSldViewPr snapToGrid="0">
      <p:cViewPr varScale="1">
        <p:scale>
          <a:sx n="82" d="100"/>
          <a:sy n="82" d="100"/>
        </p:scale>
        <p:origin x="1474" y="4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 Id="rId20" Type="http://schemas.openxmlformats.org/officeDocument/2006/relationships/slide" Target="slides/slide19.xml"/><Relationship Id="rId41"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builtin.com/data-science/supervised-machine-learning-classification" TargetMode="External"/><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 name="Google Shape;81;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 name="Google Shape;88;p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2:notes"/>
          <p:cNvSpPr>
            <a:spLocks noGrp="1" noRot="1" noChangeAspect="1"/>
          </p:cNvSpPr>
          <p:nvPr>
            <p:ph type="sldImg" idx="2"/>
          </p:nvPr>
        </p:nvSpPr>
        <p:spPr>
          <a:xfrm>
            <a:off x="1246188" y="1279525"/>
            <a:ext cx="4606925" cy="3455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2" name="Google Shape;172;p12:notes"/>
          <p:cNvSpPr txBox="1">
            <a:spLocks noGrp="1"/>
          </p:cNvSpPr>
          <p:nvPr>
            <p:ph type="body" idx="1"/>
          </p:nvPr>
        </p:nvSpPr>
        <p:spPr>
          <a:xfrm>
            <a:off x="709930" y="4925407"/>
            <a:ext cx="5679440" cy="4029879"/>
          </a:xfrm>
          <a:prstGeom prst="rect">
            <a:avLst/>
          </a:prstGeom>
          <a:noFill/>
          <a:ln>
            <a:noFill/>
          </a:ln>
        </p:spPr>
        <p:txBody>
          <a:bodyPr spcFirstLastPara="1" wrap="square" lIns="99025" tIns="49500" rIns="99025" bIns="49500" anchor="t" anchorCtr="0">
            <a:noAutofit/>
          </a:bodyPr>
          <a:lstStyle/>
          <a:p>
            <a:pPr marL="0" lvl="0" indent="0" algn="l" rtl="0">
              <a:spcBef>
                <a:spcPts val="0"/>
              </a:spcBef>
              <a:spcAft>
                <a:spcPts val="0"/>
              </a:spcAft>
              <a:buNone/>
            </a:pPr>
            <a:endParaRPr/>
          </a:p>
        </p:txBody>
      </p:sp>
      <p:sp>
        <p:nvSpPr>
          <p:cNvPr id="173" name="Google Shape;173;p12:notes"/>
          <p:cNvSpPr txBox="1">
            <a:spLocks noGrp="1"/>
          </p:cNvSpPr>
          <p:nvPr>
            <p:ph type="sldNum" idx="12"/>
          </p:nvPr>
        </p:nvSpPr>
        <p:spPr>
          <a:xfrm>
            <a:off x="4021296" y="9721108"/>
            <a:ext cx="3076363" cy="513507"/>
          </a:xfrm>
          <a:prstGeom prst="rect">
            <a:avLst/>
          </a:prstGeom>
          <a:noFill/>
          <a:ln>
            <a:noFill/>
          </a:ln>
        </p:spPr>
        <p:txBody>
          <a:bodyPr spcFirstLastPara="1" wrap="square" lIns="99025" tIns="49500" rIns="99025" bIns="495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 name="Google Shape;111;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1" name="Google Shape;12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2" name="Google Shape;122;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5BC05090-5C0E-45B5-BB81-37C4A9E4751F}" type="slidenum">
              <a:rPr lang="es-ES" smtClean="0"/>
              <a:t>7</a:t>
            </a:fld>
            <a:endParaRPr lang="es-ES"/>
          </a:p>
        </p:txBody>
      </p:sp>
    </p:spTree>
    <p:extLst>
      <p:ext uri="{BB962C8B-B14F-4D97-AF65-F5344CB8AC3E}">
        <p14:creationId xmlns:p14="http://schemas.microsoft.com/office/powerpoint/2010/main" val="37547377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sz="quarter" idx="10"/>
          </p:nvPr>
        </p:nvSpPr>
        <p:spPr/>
        <p:txBody>
          <a:bodyPr/>
          <a:lstStyle/>
          <a:p>
            <a:fld id="{5BC05090-5C0E-45B5-BB81-37C4A9E4751F}" type="slidenum">
              <a:rPr lang="es-ES" smtClean="0"/>
              <a:t>8</a:t>
            </a:fld>
            <a:endParaRPr lang="es-ES"/>
          </a:p>
        </p:txBody>
      </p:sp>
    </p:spTree>
    <p:extLst>
      <p:ext uri="{BB962C8B-B14F-4D97-AF65-F5344CB8AC3E}">
        <p14:creationId xmlns:p14="http://schemas.microsoft.com/office/powerpoint/2010/main" val="9679795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sz="1200" b="0" i="0" kern="1200" dirty="0">
                <a:solidFill>
                  <a:schemeClr val="tx1"/>
                </a:solidFill>
                <a:effectLst/>
                <a:latin typeface="+mn-lt"/>
                <a:ea typeface="+mn-ea"/>
                <a:cs typeface="+mn-cs"/>
              </a:rPr>
              <a:t> involves automatically discovering natural grouping in data. clustering algorithms only interpret the input data and find natural groups or clusters in feature space.</a:t>
            </a:r>
          </a:p>
          <a:p>
            <a:r>
              <a:rPr lang="en-US" sz="1200" b="0" i="1" kern="1200" dirty="0">
                <a:solidFill>
                  <a:schemeClr val="tx1"/>
                </a:solidFill>
                <a:effectLst/>
                <a:latin typeface="+mn-lt"/>
                <a:ea typeface="+mn-ea"/>
                <a:cs typeface="+mn-cs"/>
              </a:rPr>
              <a:t>Clustering techniques apply when there is no class to be predicted but rather when the instances are to be divided into natural groups.</a:t>
            </a:r>
            <a:endParaRPr lang="es-ES" dirty="0"/>
          </a:p>
        </p:txBody>
      </p:sp>
      <p:sp>
        <p:nvSpPr>
          <p:cNvPr id="4" name="Marcador de número de diapositiva 3"/>
          <p:cNvSpPr>
            <a:spLocks noGrp="1"/>
          </p:cNvSpPr>
          <p:nvPr>
            <p:ph type="sldNum" sz="quarter" idx="5"/>
          </p:nvPr>
        </p:nvSpPr>
        <p:spPr/>
        <p:txBody>
          <a:bodyPr/>
          <a:lstStyle/>
          <a:p>
            <a:fld id="{5BC05090-5C0E-45B5-BB81-37C4A9E4751F}" type="slidenum">
              <a:rPr lang="es-ES" smtClean="0"/>
              <a:t>9</a:t>
            </a:fld>
            <a:endParaRPr lang="es-ES"/>
          </a:p>
        </p:txBody>
      </p:sp>
    </p:spTree>
    <p:extLst>
      <p:ext uri="{BB962C8B-B14F-4D97-AF65-F5344CB8AC3E}">
        <p14:creationId xmlns:p14="http://schemas.microsoft.com/office/powerpoint/2010/main" val="41132892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1" name="Google Shape;12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2" name="Google Shape;122;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Arial"/>
              <a:buNone/>
            </a:pPr>
            <a:fld id="{00000000-1234-1234-1234-123412341234}" type="slidenum">
              <a:rPr lang="en-US"/>
              <a:t>13</a:t>
            </a:fld>
            <a:endParaRPr/>
          </a:p>
        </p:txBody>
      </p:sp>
    </p:spTree>
    <p:extLst>
      <p:ext uri="{BB962C8B-B14F-4D97-AF65-F5344CB8AC3E}">
        <p14:creationId xmlns:p14="http://schemas.microsoft.com/office/powerpoint/2010/main" val="8244937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hlinkClick r:id="rId3"/>
              </a:rPr>
              <a:t>https://builtin.com/data-science/supervised-machine-learning-classification</a:t>
            </a:r>
            <a:endParaRPr lang="en-US" dirty="0"/>
          </a:p>
        </p:txBody>
      </p:sp>
      <p:sp>
        <p:nvSpPr>
          <p:cNvPr id="4" name="Marcador de número de diapositiva 3"/>
          <p:cNvSpPr>
            <a:spLocks noGrp="1"/>
          </p:cNvSpPr>
          <p:nvPr>
            <p:ph type="sldNum" sz="quarter" idx="10"/>
          </p:nvPr>
        </p:nvSpPr>
        <p:spPr/>
        <p:txBody>
          <a:bodyPr/>
          <a:lstStyle/>
          <a:p>
            <a:fld id="{5BC05090-5C0E-45B5-BB81-37C4A9E4751F}" type="slidenum">
              <a:rPr lang="es-ES" smtClean="0"/>
              <a:t>21</a:t>
            </a:fld>
            <a:endParaRPr lang="es-ES"/>
          </a:p>
        </p:txBody>
      </p:sp>
    </p:spTree>
    <p:extLst>
      <p:ext uri="{BB962C8B-B14F-4D97-AF65-F5344CB8AC3E}">
        <p14:creationId xmlns:p14="http://schemas.microsoft.com/office/powerpoint/2010/main" val="23062360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1" name="Google Shape;12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2" name="Google Shape;122;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Arial"/>
              <a:buNone/>
            </a:pPr>
            <a:fld id="{00000000-1234-1234-1234-123412341234}" type="slidenum">
              <a:rPr lang="en-US"/>
              <a:t>22</a:t>
            </a:fld>
            <a:endParaRPr/>
          </a:p>
        </p:txBody>
      </p:sp>
    </p:spTree>
    <p:extLst>
      <p:ext uri="{BB962C8B-B14F-4D97-AF65-F5344CB8AC3E}">
        <p14:creationId xmlns:p14="http://schemas.microsoft.com/office/powerpoint/2010/main" val="9236627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US" dirty="0"/>
          </a:p>
        </p:txBody>
      </p:sp>
      <p:sp>
        <p:nvSpPr>
          <p:cNvPr id="4" name="Marcador de número de diapositiva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108835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5" name="Google Shape;155;p2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p:cSld name="1_Diapositiva de título">
    <p:spTree>
      <p:nvGrpSpPr>
        <p:cNvPr id="1" name="Shape 23"/>
        <p:cNvGrpSpPr/>
        <p:nvPr/>
      </p:nvGrpSpPr>
      <p:grpSpPr>
        <a:xfrm>
          <a:off x="0" y="0"/>
          <a:ext cx="0" cy="0"/>
          <a:chOff x="0" y="0"/>
          <a:chExt cx="0" cy="0"/>
        </a:xfrm>
      </p:grpSpPr>
      <p:sp>
        <p:nvSpPr>
          <p:cNvPr id="24" name="Google Shape;24;p26"/>
          <p:cNvSpPr txBox="1">
            <a:spLocks noGrp="1"/>
          </p:cNvSpPr>
          <p:nvPr>
            <p:ph type="subTitle" idx="1"/>
          </p:nvPr>
        </p:nvSpPr>
        <p:spPr>
          <a:xfrm>
            <a:off x="1143000" y="3440348"/>
            <a:ext cx="6858000" cy="805205"/>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rgbClr val="7F7F7F"/>
              </a:buClr>
              <a:buSzPts val="3200"/>
              <a:buFont typeface="Calibri"/>
              <a:buNone/>
              <a:defRPr sz="3200">
                <a:solidFill>
                  <a:srgbClr val="7F7F7F"/>
                </a:solidFill>
              </a:defRPr>
            </a:lvl1pPr>
            <a:lvl2pPr lvl="1" algn="ctr">
              <a:lnSpc>
                <a:spcPct val="90000"/>
              </a:lnSpc>
              <a:spcBef>
                <a:spcPts val="500"/>
              </a:spcBef>
              <a:spcAft>
                <a:spcPts val="0"/>
              </a:spcAft>
              <a:buClr>
                <a:schemeClr val="dk1"/>
              </a:buClr>
              <a:buSzPts val="2000"/>
              <a:buFont typeface="Calibri"/>
              <a:buNone/>
              <a:defRPr sz="2000"/>
            </a:lvl2pPr>
            <a:lvl3pPr lvl="2" algn="ctr">
              <a:lnSpc>
                <a:spcPct val="90000"/>
              </a:lnSpc>
              <a:spcBef>
                <a:spcPts val="500"/>
              </a:spcBef>
              <a:spcAft>
                <a:spcPts val="0"/>
              </a:spcAft>
              <a:buClr>
                <a:schemeClr val="dk1"/>
              </a:buClr>
              <a:buSzPts val="1800"/>
              <a:buFont typeface="Calibri"/>
              <a:buNone/>
              <a:defRPr sz="1800"/>
            </a:lvl3pPr>
            <a:lvl4pPr lvl="3" algn="ctr">
              <a:lnSpc>
                <a:spcPct val="90000"/>
              </a:lnSpc>
              <a:spcBef>
                <a:spcPts val="500"/>
              </a:spcBef>
              <a:spcAft>
                <a:spcPts val="0"/>
              </a:spcAft>
              <a:buClr>
                <a:schemeClr val="dk1"/>
              </a:buClr>
              <a:buSzPts val="1600"/>
              <a:buFont typeface="Calibri"/>
              <a:buNone/>
              <a:defRPr sz="1600"/>
            </a:lvl4pPr>
            <a:lvl5pPr lvl="4" algn="ctr">
              <a:lnSpc>
                <a:spcPct val="90000"/>
              </a:lnSpc>
              <a:spcBef>
                <a:spcPts val="500"/>
              </a:spcBef>
              <a:spcAft>
                <a:spcPts val="0"/>
              </a:spcAft>
              <a:buClr>
                <a:schemeClr val="dk1"/>
              </a:buClr>
              <a:buSzPts val="1600"/>
              <a:buFont typeface="Calibri"/>
              <a:buNone/>
              <a:defRPr sz="1600"/>
            </a:lvl5pPr>
            <a:lvl6pPr lvl="5" algn="ctr">
              <a:lnSpc>
                <a:spcPct val="90000"/>
              </a:lnSpc>
              <a:spcBef>
                <a:spcPts val="500"/>
              </a:spcBef>
              <a:spcAft>
                <a:spcPts val="0"/>
              </a:spcAft>
              <a:buClr>
                <a:schemeClr val="dk1"/>
              </a:buClr>
              <a:buSzPts val="1600"/>
              <a:buFont typeface="Calibri"/>
              <a:buNone/>
              <a:defRPr sz="1600"/>
            </a:lvl6pPr>
            <a:lvl7pPr lvl="6" algn="ctr">
              <a:lnSpc>
                <a:spcPct val="90000"/>
              </a:lnSpc>
              <a:spcBef>
                <a:spcPts val="500"/>
              </a:spcBef>
              <a:spcAft>
                <a:spcPts val="0"/>
              </a:spcAft>
              <a:buClr>
                <a:schemeClr val="dk1"/>
              </a:buClr>
              <a:buSzPts val="1600"/>
              <a:buFont typeface="Calibri"/>
              <a:buNone/>
              <a:defRPr sz="1600"/>
            </a:lvl7pPr>
            <a:lvl8pPr lvl="7" algn="ctr">
              <a:lnSpc>
                <a:spcPct val="90000"/>
              </a:lnSpc>
              <a:spcBef>
                <a:spcPts val="500"/>
              </a:spcBef>
              <a:spcAft>
                <a:spcPts val="0"/>
              </a:spcAft>
              <a:buClr>
                <a:schemeClr val="dk1"/>
              </a:buClr>
              <a:buSzPts val="1600"/>
              <a:buFont typeface="Calibri"/>
              <a:buNone/>
              <a:defRPr sz="1600"/>
            </a:lvl8pPr>
            <a:lvl9pPr lvl="8" algn="ctr">
              <a:lnSpc>
                <a:spcPct val="90000"/>
              </a:lnSpc>
              <a:spcBef>
                <a:spcPts val="500"/>
              </a:spcBef>
              <a:spcAft>
                <a:spcPts val="0"/>
              </a:spcAft>
              <a:buClr>
                <a:schemeClr val="dk1"/>
              </a:buClr>
              <a:buSzPts val="1600"/>
              <a:buFont typeface="Calibri"/>
              <a:buNone/>
              <a:defRPr sz="1600"/>
            </a:lvl9pPr>
          </a:lstStyle>
          <a:p>
            <a:endParaRPr/>
          </a:p>
        </p:txBody>
      </p:sp>
      <p:sp>
        <p:nvSpPr>
          <p:cNvPr id="25" name="Google Shape;25;p26"/>
          <p:cNvSpPr txBox="1">
            <a:spLocks noGrp="1"/>
          </p:cNvSpPr>
          <p:nvPr>
            <p:ph type="dt" idx="10"/>
          </p:nvPr>
        </p:nvSpPr>
        <p:spPr>
          <a:xfrm>
            <a:off x="628650" y="6356355"/>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26" name="Google Shape;26;p26"/>
          <p:cNvSpPr txBox="1">
            <a:spLocks noGrp="1"/>
          </p:cNvSpPr>
          <p:nvPr>
            <p:ph type="ftr" idx="11"/>
          </p:nvPr>
        </p:nvSpPr>
        <p:spPr>
          <a:xfrm>
            <a:off x="3028950" y="6356355"/>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27" name="Google Shape;27;p26"/>
          <p:cNvSpPr txBox="1">
            <a:spLocks noGrp="1"/>
          </p:cNvSpPr>
          <p:nvPr>
            <p:ph type="sldNum" idx="12"/>
          </p:nvPr>
        </p:nvSpPr>
        <p:spPr>
          <a:xfrm>
            <a:off x="6457950" y="6356355"/>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
        <p:nvSpPr>
          <p:cNvPr id="28" name="Google Shape;28;p26"/>
          <p:cNvSpPr txBox="1"/>
          <p:nvPr/>
        </p:nvSpPr>
        <p:spPr>
          <a:xfrm>
            <a:off x="269223" y="699314"/>
            <a:ext cx="1966595" cy="330200"/>
          </a:xfrm>
          <a:prstGeom prst="rect">
            <a:avLst/>
          </a:prstGeom>
          <a:noFill/>
          <a:ln>
            <a:noFill/>
          </a:ln>
        </p:spPr>
        <p:txBody>
          <a:bodyPr spcFirstLastPara="1" wrap="square" lIns="0" tIns="12700" rIns="0" bIns="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FFFFFF"/>
                </a:solidFill>
                <a:latin typeface="Calibri"/>
                <a:ea typeface="Calibri"/>
                <a:cs typeface="Calibri"/>
                <a:sym typeface="Calibri"/>
              </a:rPr>
              <a:t>MECATRÓNICA 4.0</a:t>
            </a:r>
            <a:endParaRPr sz="2000" b="0" i="0" u="none" strike="noStrike" cap="none">
              <a:solidFill>
                <a:schemeClr val="dk1"/>
              </a:solidFill>
              <a:latin typeface="Calibri"/>
              <a:ea typeface="Calibri"/>
              <a:cs typeface="Calibri"/>
              <a:sym typeface="Calibri"/>
            </a:endParaRPr>
          </a:p>
        </p:txBody>
      </p:sp>
      <p:sp>
        <p:nvSpPr>
          <p:cNvPr id="29" name="Google Shape;29;p26"/>
          <p:cNvSpPr txBox="1"/>
          <p:nvPr/>
        </p:nvSpPr>
        <p:spPr>
          <a:xfrm>
            <a:off x="6791200" y="192470"/>
            <a:ext cx="2101850" cy="2387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400"/>
              <a:buFont typeface="Arial"/>
              <a:buNone/>
            </a:pPr>
            <a:r>
              <a:rPr lang="en-US" sz="1400" b="1" i="0" u="none" strike="noStrike" cap="none" dirty="0" err="1">
                <a:solidFill>
                  <a:srgbClr val="FFFFFF"/>
                </a:solidFill>
                <a:latin typeface="Calibri"/>
                <a:ea typeface="Calibri"/>
                <a:cs typeface="Calibri"/>
                <a:sym typeface="Calibri"/>
              </a:rPr>
              <a:t>Digitalización</a:t>
            </a:r>
            <a:r>
              <a:rPr lang="en-US" sz="1400" b="1" i="0" u="none" strike="noStrike" cap="none" dirty="0">
                <a:solidFill>
                  <a:srgbClr val="FFFFFF"/>
                </a:solidFill>
                <a:latin typeface="Calibri"/>
                <a:ea typeface="Calibri"/>
                <a:cs typeface="Calibri"/>
                <a:sym typeface="Calibri"/>
              </a:rPr>
              <a:t> en la </a:t>
            </a:r>
            <a:r>
              <a:rPr lang="en-US" sz="1400" b="1" i="0" u="none" strike="noStrike" cap="none" dirty="0" err="1">
                <a:solidFill>
                  <a:srgbClr val="FFFFFF"/>
                </a:solidFill>
                <a:latin typeface="Calibri"/>
                <a:ea typeface="Calibri"/>
                <a:cs typeface="Calibri"/>
                <a:sym typeface="Calibri"/>
              </a:rPr>
              <a:t>Industria</a:t>
            </a:r>
            <a:endParaRPr sz="1400" b="0" i="0" u="none" strike="noStrike" cap="none" dirty="0">
              <a:solidFill>
                <a:schemeClr val="dk1"/>
              </a:solidFill>
              <a:latin typeface="Calibri"/>
              <a:ea typeface="Calibri"/>
              <a:cs typeface="Calibri"/>
              <a:sym typeface="Calibri"/>
            </a:endParaRPr>
          </a:p>
        </p:txBody>
      </p:sp>
      <p:sp>
        <p:nvSpPr>
          <p:cNvPr id="30" name="Google Shape;30;p26"/>
          <p:cNvSpPr txBox="1"/>
          <p:nvPr/>
        </p:nvSpPr>
        <p:spPr>
          <a:xfrm>
            <a:off x="6803900" y="619190"/>
            <a:ext cx="2105025" cy="238760"/>
          </a:xfrm>
          <a:prstGeom prst="rect">
            <a:avLst/>
          </a:prstGeom>
          <a:noFill/>
          <a:ln>
            <a:noFill/>
          </a:ln>
        </p:spPr>
        <p:txBody>
          <a:bodyPr spcFirstLastPara="1" wrap="square" lIns="0" tIns="12700" rIns="0" bIns="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FFFFFF"/>
                </a:solidFill>
                <a:latin typeface="Calibri"/>
                <a:ea typeface="Calibri"/>
                <a:cs typeface="Calibri"/>
                <a:sym typeface="Calibri"/>
              </a:rPr>
              <a:t>Big Data y Machine Learning</a:t>
            </a:r>
            <a:endParaRPr sz="1400" b="0" i="0" u="none" strike="noStrike" cap="none">
              <a:solidFill>
                <a:schemeClr val="dk1"/>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En blanco" type="obj">
  <p:cSld name="OBJECT">
    <p:spTree>
      <p:nvGrpSpPr>
        <p:cNvPr id="1" name="Shape 31"/>
        <p:cNvGrpSpPr/>
        <p:nvPr/>
      </p:nvGrpSpPr>
      <p:grpSpPr>
        <a:xfrm>
          <a:off x="0" y="0"/>
          <a:ext cx="0" cy="0"/>
          <a:chOff x="0" y="0"/>
          <a:chExt cx="0" cy="0"/>
        </a:xfrm>
      </p:grpSpPr>
      <p:sp>
        <p:nvSpPr>
          <p:cNvPr id="32" name="Google Shape;32;p27"/>
          <p:cNvSpPr txBox="1">
            <a:spLocks noGrp="1"/>
          </p:cNvSpPr>
          <p:nvPr>
            <p:ph type="ftr" idx="11"/>
          </p:nvPr>
        </p:nvSpPr>
        <p:spPr>
          <a:xfrm>
            <a:off x="3108960" y="6377940"/>
            <a:ext cx="292608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27"/>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27"/>
          <p:cNvSpPr txBox="1">
            <a:spLocks noGrp="1"/>
          </p:cNvSpPr>
          <p:nvPr>
            <p:ph type="sldNum" idx="12"/>
          </p:nvPr>
        </p:nvSpPr>
        <p:spPr>
          <a:xfrm>
            <a:off x="8314283" y="6466781"/>
            <a:ext cx="153670" cy="1778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
        <p:nvSpPr>
          <p:cNvPr id="35" name="Google Shape;35;p27"/>
          <p:cNvSpPr txBox="1"/>
          <p:nvPr/>
        </p:nvSpPr>
        <p:spPr>
          <a:xfrm>
            <a:off x="269223" y="699314"/>
            <a:ext cx="1966595" cy="330200"/>
          </a:xfrm>
          <a:prstGeom prst="rect">
            <a:avLst/>
          </a:prstGeom>
          <a:noFill/>
          <a:ln>
            <a:noFill/>
          </a:ln>
        </p:spPr>
        <p:txBody>
          <a:bodyPr spcFirstLastPara="1" wrap="square" lIns="0" tIns="12700" rIns="0" bIns="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FFFFFF"/>
                </a:solidFill>
                <a:latin typeface="Calibri"/>
                <a:ea typeface="Calibri"/>
                <a:cs typeface="Calibri"/>
                <a:sym typeface="Calibri"/>
              </a:rPr>
              <a:t>MECATRÓNICA 4.0</a:t>
            </a:r>
            <a:endParaRPr sz="2000" b="0" i="0" u="none" strike="noStrike" cap="none">
              <a:solidFill>
                <a:schemeClr val="dk1"/>
              </a:solidFill>
              <a:latin typeface="Calibri"/>
              <a:ea typeface="Calibri"/>
              <a:cs typeface="Calibri"/>
              <a:sym typeface="Calibri"/>
            </a:endParaRPr>
          </a:p>
        </p:txBody>
      </p:sp>
      <p:sp>
        <p:nvSpPr>
          <p:cNvPr id="36" name="Google Shape;36;p27"/>
          <p:cNvSpPr txBox="1"/>
          <p:nvPr/>
        </p:nvSpPr>
        <p:spPr>
          <a:xfrm>
            <a:off x="6791200" y="192470"/>
            <a:ext cx="2101850" cy="2387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400"/>
              <a:buFont typeface="Arial"/>
              <a:buNone/>
            </a:pPr>
            <a:r>
              <a:rPr lang="en-US" sz="1400" b="1" i="0" u="none" strike="noStrike" cap="none" dirty="0" err="1">
                <a:solidFill>
                  <a:srgbClr val="FFFFFF"/>
                </a:solidFill>
                <a:latin typeface="Calibri"/>
                <a:ea typeface="Calibri"/>
                <a:cs typeface="Calibri"/>
                <a:sym typeface="Calibri"/>
              </a:rPr>
              <a:t>Digitalización</a:t>
            </a:r>
            <a:r>
              <a:rPr lang="en-US" sz="1400" b="1" i="0" u="none" strike="noStrike" cap="none" dirty="0">
                <a:solidFill>
                  <a:srgbClr val="FFFFFF"/>
                </a:solidFill>
                <a:latin typeface="Calibri"/>
                <a:ea typeface="Calibri"/>
                <a:cs typeface="Calibri"/>
                <a:sym typeface="Calibri"/>
              </a:rPr>
              <a:t> en la </a:t>
            </a:r>
            <a:r>
              <a:rPr lang="en-US" sz="1400" b="1" i="0" u="none" strike="noStrike" cap="none" dirty="0" err="1">
                <a:solidFill>
                  <a:srgbClr val="FFFFFF"/>
                </a:solidFill>
                <a:latin typeface="Calibri"/>
                <a:ea typeface="Calibri"/>
                <a:cs typeface="Calibri"/>
                <a:sym typeface="Calibri"/>
              </a:rPr>
              <a:t>Industria</a:t>
            </a:r>
            <a:endParaRPr sz="1400" b="0" i="0" u="none" strike="noStrike" cap="none" dirty="0">
              <a:solidFill>
                <a:schemeClr val="dk1"/>
              </a:solidFill>
              <a:latin typeface="Calibri"/>
              <a:ea typeface="Calibri"/>
              <a:cs typeface="Calibri"/>
              <a:sym typeface="Calibri"/>
            </a:endParaRPr>
          </a:p>
        </p:txBody>
      </p:sp>
      <p:sp>
        <p:nvSpPr>
          <p:cNvPr id="37" name="Google Shape;37;p27"/>
          <p:cNvSpPr txBox="1"/>
          <p:nvPr/>
        </p:nvSpPr>
        <p:spPr>
          <a:xfrm>
            <a:off x="6803900" y="619190"/>
            <a:ext cx="2105025" cy="238760"/>
          </a:xfrm>
          <a:prstGeom prst="rect">
            <a:avLst/>
          </a:prstGeom>
          <a:noFill/>
          <a:ln>
            <a:noFill/>
          </a:ln>
        </p:spPr>
        <p:txBody>
          <a:bodyPr spcFirstLastPara="1" wrap="square" lIns="0" tIns="12700" rIns="0" bIns="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FFFFFF"/>
                </a:solidFill>
                <a:latin typeface="Calibri"/>
                <a:ea typeface="Calibri"/>
                <a:cs typeface="Calibri"/>
                <a:sym typeface="Calibri"/>
              </a:rPr>
              <a:t>Big Data y Machine Learning</a:t>
            </a:r>
            <a:endParaRPr sz="1400" b="0" i="0" u="none" strike="noStrike" cap="none">
              <a:solidFill>
                <a:schemeClr val="dk1"/>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y objetos">
  <p:cSld name="1_Título y objetos">
    <p:bg>
      <p:bgPr>
        <a:solidFill>
          <a:schemeClr val="lt1"/>
        </a:solidFill>
        <a:effectLst/>
      </p:bgPr>
    </p:bg>
    <p:spTree>
      <p:nvGrpSpPr>
        <p:cNvPr id="1" name="Shape 38"/>
        <p:cNvGrpSpPr/>
        <p:nvPr/>
      </p:nvGrpSpPr>
      <p:grpSpPr>
        <a:xfrm>
          <a:off x="0" y="0"/>
          <a:ext cx="0" cy="0"/>
          <a:chOff x="0" y="0"/>
          <a:chExt cx="0" cy="0"/>
        </a:xfrm>
      </p:grpSpPr>
      <p:sp>
        <p:nvSpPr>
          <p:cNvPr id="39" name="Google Shape;39;p28"/>
          <p:cNvSpPr txBox="1">
            <a:spLocks noGrp="1"/>
          </p:cNvSpPr>
          <p:nvPr>
            <p:ph type="body" idx="1"/>
          </p:nvPr>
        </p:nvSpPr>
        <p:spPr>
          <a:xfrm>
            <a:off x="628650" y="2237517"/>
            <a:ext cx="7886700" cy="41188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Font typeface="Calibri"/>
              <a:buChar char="•"/>
              <a:defRPr/>
            </a:lvl1pPr>
            <a:lvl2pPr marL="914400" lvl="1" indent="-342900" algn="l">
              <a:lnSpc>
                <a:spcPct val="90000"/>
              </a:lnSpc>
              <a:spcBef>
                <a:spcPts val="500"/>
              </a:spcBef>
              <a:spcAft>
                <a:spcPts val="0"/>
              </a:spcAft>
              <a:buClr>
                <a:schemeClr val="dk1"/>
              </a:buClr>
              <a:buSzPts val="1800"/>
              <a:buFont typeface="Calibri"/>
              <a:buChar char="•"/>
              <a:defRPr/>
            </a:lvl2pPr>
            <a:lvl3pPr marL="1371600" lvl="2" indent="-342900" algn="l">
              <a:lnSpc>
                <a:spcPct val="90000"/>
              </a:lnSpc>
              <a:spcBef>
                <a:spcPts val="500"/>
              </a:spcBef>
              <a:spcAft>
                <a:spcPts val="0"/>
              </a:spcAft>
              <a:buClr>
                <a:schemeClr val="dk1"/>
              </a:buClr>
              <a:buSzPts val="1800"/>
              <a:buFont typeface="Calibri"/>
              <a:buChar char="•"/>
              <a:defRPr/>
            </a:lvl3pPr>
            <a:lvl4pPr marL="1828800" lvl="3" indent="-342900" algn="l">
              <a:lnSpc>
                <a:spcPct val="90000"/>
              </a:lnSpc>
              <a:spcBef>
                <a:spcPts val="500"/>
              </a:spcBef>
              <a:spcAft>
                <a:spcPts val="0"/>
              </a:spcAft>
              <a:buClr>
                <a:schemeClr val="dk1"/>
              </a:buClr>
              <a:buSzPts val="1800"/>
              <a:buFont typeface="Calibri"/>
              <a:buChar char="•"/>
              <a:defRPr/>
            </a:lvl4pPr>
            <a:lvl5pPr marL="2286000" lvl="4" indent="-342900" algn="l">
              <a:lnSpc>
                <a:spcPct val="90000"/>
              </a:lnSpc>
              <a:spcBef>
                <a:spcPts val="500"/>
              </a:spcBef>
              <a:spcAft>
                <a:spcPts val="0"/>
              </a:spcAft>
              <a:buClr>
                <a:schemeClr val="dk1"/>
              </a:buClr>
              <a:buSzPts val="1800"/>
              <a:buFont typeface="Calibri"/>
              <a:buChar char="•"/>
              <a:defRPr/>
            </a:lvl5pPr>
            <a:lvl6pPr marL="2743200" lvl="5" indent="-342900" algn="l">
              <a:lnSpc>
                <a:spcPct val="90000"/>
              </a:lnSpc>
              <a:spcBef>
                <a:spcPts val="500"/>
              </a:spcBef>
              <a:spcAft>
                <a:spcPts val="0"/>
              </a:spcAft>
              <a:buClr>
                <a:schemeClr val="dk1"/>
              </a:buClr>
              <a:buSzPts val="1800"/>
              <a:buFont typeface="Calibri"/>
              <a:buChar char="•"/>
              <a:defRPr/>
            </a:lvl6pPr>
            <a:lvl7pPr marL="3200400" lvl="6" indent="-342900" algn="l">
              <a:lnSpc>
                <a:spcPct val="90000"/>
              </a:lnSpc>
              <a:spcBef>
                <a:spcPts val="500"/>
              </a:spcBef>
              <a:spcAft>
                <a:spcPts val="0"/>
              </a:spcAft>
              <a:buClr>
                <a:schemeClr val="dk1"/>
              </a:buClr>
              <a:buSzPts val="1800"/>
              <a:buFont typeface="Calibri"/>
              <a:buChar char="•"/>
              <a:defRPr/>
            </a:lvl7pPr>
            <a:lvl8pPr marL="3657600" lvl="7" indent="-342900" algn="l">
              <a:lnSpc>
                <a:spcPct val="90000"/>
              </a:lnSpc>
              <a:spcBef>
                <a:spcPts val="500"/>
              </a:spcBef>
              <a:spcAft>
                <a:spcPts val="0"/>
              </a:spcAft>
              <a:buClr>
                <a:schemeClr val="dk1"/>
              </a:buClr>
              <a:buSzPts val="1800"/>
              <a:buFont typeface="Calibri"/>
              <a:buChar char="•"/>
              <a:defRPr/>
            </a:lvl8pPr>
            <a:lvl9pPr marL="4114800" lvl="8" indent="-342900" algn="l">
              <a:lnSpc>
                <a:spcPct val="90000"/>
              </a:lnSpc>
              <a:spcBef>
                <a:spcPts val="500"/>
              </a:spcBef>
              <a:spcAft>
                <a:spcPts val="0"/>
              </a:spcAft>
              <a:buClr>
                <a:schemeClr val="dk1"/>
              </a:buClr>
              <a:buSzPts val="1800"/>
              <a:buFont typeface="Calibri"/>
              <a:buChar char="•"/>
              <a:defRPr/>
            </a:lvl9pPr>
          </a:lstStyle>
          <a:p>
            <a:endParaRPr/>
          </a:p>
        </p:txBody>
      </p:sp>
      <p:sp>
        <p:nvSpPr>
          <p:cNvPr id="40" name="Google Shape;40;p28"/>
          <p:cNvSpPr txBox="1"/>
          <p:nvPr/>
        </p:nvSpPr>
        <p:spPr>
          <a:xfrm>
            <a:off x="269223" y="699314"/>
            <a:ext cx="1966595" cy="330200"/>
          </a:xfrm>
          <a:prstGeom prst="rect">
            <a:avLst/>
          </a:prstGeom>
          <a:noFill/>
          <a:ln>
            <a:noFill/>
          </a:ln>
        </p:spPr>
        <p:txBody>
          <a:bodyPr spcFirstLastPara="1" wrap="square" lIns="0" tIns="12700" rIns="0" bIns="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FFFFFF"/>
                </a:solidFill>
                <a:latin typeface="Calibri"/>
                <a:ea typeface="Calibri"/>
                <a:cs typeface="Calibri"/>
                <a:sym typeface="Calibri"/>
              </a:rPr>
              <a:t>MECATRÓNICA 4.0</a:t>
            </a:r>
            <a:endParaRPr sz="2000" b="0" i="0" u="none" strike="noStrike" cap="none">
              <a:solidFill>
                <a:schemeClr val="dk1"/>
              </a:solidFill>
              <a:latin typeface="Calibri"/>
              <a:ea typeface="Calibri"/>
              <a:cs typeface="Calibri"/>
              <a:sym typeface="Calibri"/>
            </a:endParaRPr>
          </a:p>
        </p:txBody>
      </p:sp>
      <p:sp>
        <p:nvSpPr>
          <p:cNvPr id="41" name="Google Shape;41;p28"/>
          <p:cNvSpPr txBox="1"/>
          <p:nvPr/>
        </p:nvSpPr>
        <p:spPr>
          <a:xfrm>
            <a:off x="6791200" y="192470"/>
            <a:ext cx="2101850" cy="2387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400"/>
              <a:buFont typeface="Arial"/>
              <a:buNone/>
            </a:pPr>
            <a:r>
              <a:rPr lang="en-US" sz="1400" b="1" i="0" u="none" strike="noStrike" cap="none" dirty="0" err="1">
                <a:solidFill>
                  <a:srgbClr val="FFFFFF"/>
                </a:solidFill>
                <a:latin typeface="Calibri"/>
                <a:ea typeface="Calibri"/>
                <a:cs typeface="Calibri"/>
                <a:sym typeface="Calibri"/>
              </a:rPr>
              <a:t>Digitalización</a:t>
            </a:r>
            <a:r>
              <a:rPr lang="en-US" sz="1400" b="1" i="0" u="none" strike="noStrike" cap="none" dirty="0">
                <a:solidFill>
                  <a:srgbClr val="FFFFFF"/>
                </a:solidFill>
                <a:latin typeface="Calibri"/>
                <a:ea typeface="Calibri"/>
                <a:cs typeface="Calibri"/>
                <a:sym typeface="Calibri"/>
              </a:rPr>
              <a:t> en la </a:t>
            </a:r>
            <a:r>
              <a:rPr lang="en-US" sz="1400" b="1" i="0" u="none" strike="noStrike" cap="none" dirty="0" err="1">
                <a:solidFill>
                  <a:srgbClr val="FFFFFF"/>
                </a:solidFill>
                <a:latin typeface="Calibri"/>
                <a:ea typeface="Calibri"/>
                <a:cs typeface="Calibri"/>
                <a:sym typeface="Calibri"/>
              </a:rPr>
              <a:t>Industria</a:t>
            </a:r>
            <a:endParaRPr sz="1400" b="0" i="0" u="none" strike="noStrike" cap="none" dirty="0">
              <a:solidFill>
                <a:schemeClr val="dk1"/>
              </a:solidFill>
              <a:latin typeface="Calibri"/>
              <a:ea typeface="Calibri"/>
              <a:cs typeface="Calibri"/>
              <a:sym typeface="Calibri"/>
            </a:endParaRPr>
          </a:p>
        </p:txBody>
      </p:sp>
      <p:sp>
        <p:nvSpPr>
          <p:cNvPr id="42" name="Google Shape;42;p28"/>
          <p:cNvSpPr txBox="1"/>
          <p:nvPr/>
        </p:nvSpPr>
        <p:spPr>
          <a:xfrm>
            <a:off x="6803900" y="619190"/>
            <a:ext cx="2105025" cy="238760"/>
          </a:xfrm>
          <a:prstGeom prst="rect">
            <a:avLst/>
          </a:prstGeom>
          <a:noFill/>
          <a:ln>
            <a:noFill/>
          </a:ln>
        </p:spPr>
        <p:txBody>
          <a:bodyPr spcFirstLastPara="1" wrap="square" lIns="0" tIns="12700" rIns="0" bIns="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FFFFFF"/>
                </a:solidFill>
                <a:latin typeface="Calibri"/>
                <a:ea typeface="Calibri"/>
                <a:cs typeface="Calibri"/>
                <a:sym typeface="Calibri"/>
              </a:rPr>
              <a:t>Big Data y Machine Learning</a:t>
            </a:r>
            <a:endParaRPr sz="1400" b="0" i="0" u="none" strike="noStrike" cap="none">
              <a:solidFill>
                <a:schemeClr val="dk1"/>
              </a:solidFill>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iapositiva de título">
  <p:cSld name="Diapositiva de título">
    <p:spTree>
      <p:nvGrpSpPr>
        <p:cNvPr id="1" name="Shape 43"/>
        <p:cNvGrpSpPr/>
        <p:nvPr/>
      </p:nvGrpSpPr>
      <p:grpSpPr>
        <a:xfrm>
          <a:off x="0" y="0"/>
          <a:ext cx="0" cy="0"/>
          <a:chOff x="0" y="0"/>
          <a:chExt cx="0" cy="0"/>
        </a:xfrm>
      </p:grpSpPr>
      <p:sp>
        <p:nvSpPr>
          <p:cNvPr id="44" name="Google Shape;44;p29"/>
          <p:cNvSpPr txBox="1">
            <a:spLocks noGrp="1"/>
          </p:cNvSpPr>
          <p:nvPr>
            <p:ph type="ctrTitle"/>
          </p:nvPr>
        </p:nvSpPr>
        <p:spPr>
          <a:xfrm>
            <a:off x="685800" y="2125980"/>
            <a:ext cx="7772400" cy="144018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29"/>
          <p:cNvSpPr txBox="1">
            <a:spLocks noGrp="1"/>
          </p:cNvSpPr>
          <p:nvPr>
            <p:ph type="subTitle" idx="1"/>
          </p:nvPr>
        </p:nvSpPr>
        <p:spPr>
          <a:xfrm>
            <a:off x="1371600" y="3840480"/>
            <a:ext cx="6400800" cy="17145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9"/>
          <p:cNvSpPr txBox="1">
            <a:spLocks noGrp="1"/>
          </p:cNvSpPr>
          <p:nvPr>
            <p:ph type="ftr" idx="11"/>
          </p:nvPr>
        </p:nvSpPr>
        <p:spPr>
          <a:xfrm>
            <a:off x="3108960" y="6377940"/>
            <a:ext cx="292608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9"/>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29"/>
          <p:cNvSpPr txBox="1">
            <a:spLocks noGrp="1"/>
          </p:cNvSpPr>
          <p:nvPr>
            <p:ph type="sldNum" idx="12"/>
          </p:nvPr>
        </p:nvSpPr>
        <p:spPr>
          <a:xfrm>
            <a:off x="8314283" y="6466781"/>
            <a:ext cx="153670" cy="1778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
        <p:nvSpPr>
          <p:cNvPr id="49" name="Google Shape;49;p29"/>
          <p:cNvSpPr txBox="1"/>
          <p:nvPr/>
        </p:nvSpPr>
        <p:spPr>
          <a:xfrm>
            <a:off x="269223" y="699314"/>
            <a:ext cx="1966595" cy="330200"/>
          </a:xfrm>
          <a:prstGeom prst="rect">
            <a:avLst/>
          </a:prstGeom>
          <a:noFill/>
          <a:ln>
            <a:noFill/>
          </a:ln>
        </p:spPr>
        <p:txBody>
          <a:bodyPr spcFirstLastPara="1" wrap="square" lIns="0" tIns="12700" rIns="0" bIns="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FFFFFF"/>
                </a:solidFill>
                <a:latin typeface="Calibri"/>
                <a:ea typeface="Calibri"/>
                <a:cs typeface="Calibri"/>
                <a:sym typeface="Calibri"/>
              </a:rPr>
              <a:t>MECATRÓNICA 4.0</a:t>
            </a:r>
            <a:endParaRPr sz="2000" b="0" i="0" u="none" strike="noStrike" cap="none">
              <a:solidFill>
                <a:schemeClr val="dk1"/>
              </a:solidFill>
              <a:latin typeface="Calibri"/>
              <a:ea typeface="Calibri"/>
              <a:cs typeface="Calibri"/>
              <a:sym typeface="Calibri"/>
            </a:endParaRPr>
          </a:p>
        </p:txBody>
      </p:sp>
      <p:sp>
        <p:nvSpPr>
          <p:cNvPr id="50" name="Google Shape;50;p29"/>
          <p:cNvSpPr txBox="1"/>
          <p:nvPr/>
        </p:nvSpPr>
        <p:spPr>
          <a:xfrm>
            <a:off x="6791200" y="192470"/>
            <a:ext cx="2101850" cy="2387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400"/>
              <a:buFont typeface="Arial"/>
              <a:buNone/>
            </a:pPr>
            <a:r>
              <a:rPr lang="en-US" sz="1400" b="1" i="0" u="none" strike="noStrike" cap="none" dirty="0" err="1">
                <a:solidFill>
                  <a:srgbClr val="FFFFFF"/>
                </a:solidFill>
                <a:latin typeface="Calibri"/>
                <a:ea typeface="Calibri"/>
                <a:cs typeface="Calibri"/>
                <a:sym typeface="Calibri"/>
              </a:rPr>
              <a:t>Digitalización</a:t>
            </a:r>
            <a:r>
              <a:rPr lang="en-US" sz="1400" b="1" i="0" u="none" strike="noStrike" cap="none" dirty="0">
                <a:solidFill>
                  <a:srgbClr val="FFFFFF"/>
                </a:solidFill>
                <a:latin typeface="Calibri"/>
                <a:ea typeface="Calibri"/>
                <a:cs typeface="Calibri"/>
                <a:sym typeface="Calibri"/>
              </a:rPr>
              <a:t> en la </a:t>
            </a:r>
            <a:r>
              <a:rPr lang="en-US" sz="1400" b="1" i="0" u="none" strike="noStrike" cap="none" dirty="0" err="1">
                <a:solidFill>
                  <a:srgbClr val="FFFFFF"/>
                </a:solidFill>
                <a:latin typeface="Calibri"/>
                <a:ea typeface="Calibri"/>
                <a:cs typeface="Calibri"/>
                <a:sym typeface="Calibri"/>
              </a:rPr>
              <a:t>Industria</a:t>
            </a:r>
            <a:endParaRPr sz="1400" b="0" i="0" u="none" strike="noStrike" cap="none" dirty="0">
              <a:solidFill>
                <a:schemeClr val="dk1"/>
              </a:solidFill>
              <a:latin typeface="Calibri"/>
              <a:ea typeface="Calibri"/>
              <a:cs typeface="Calibri"/>
              <a:sym typeface="Calibri"/>
            </a:endParaRPr>
          </a:p>
        </p:txBody>
      </p:sp>
      <p:sp>
        <p:nvSpPr>
          <p:cNvPr id="51" name="Google Shape;51;p29"/>
          <p:cNvSpPr txBox="1"/>
          <p:nvPr/>
        </p:nvSpPr>
        <p:spPr>
          <a:xfrm>
            <a:off x="6803900" y="619190"/>
            <a:ext cx="2105025" cy="238760"/>
          </a:xfrm>
          <a:prstGeom prst="rect">
            <a:avLst/>
          </a:prstGeom>
          <a:noFill/>
          <a:ln>
            <a:noFill/>
          </a:ln>
        </p:spPr>
        <p:txBody>
          <a:bodyPr spcFirstLastPara="1" wrap="square" lIns="0" tIns="12700" rIns="0" bIns="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FFFFFF"/>
                </a:solidFill>
                <a:latin typeface="Calibri"/>
                <a:ea typeface="Calibri"/>
                <a:cs typeface="Calibri"/>
                <a:sym typeface="Calibri"/>
              </a:rPr>
              <a:t>Big Data y Machine Learning</a:t>
            </a:r>
            <a:endParaRPr sz="1400" b="0" i="0" u="none" strike="noStrike" cap="none">
              <a:solidFill>
                <a:schemeClr val="dk1"/>
              </a:solidFill>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ítulo y objetos">
  <p:cSld name="Título y objetos">
    <p:spTree>
      <p:nvGrpSpPr>
        <p:cNvPr id="1" name="Shape 52"/>
        <p:cNvGrpSpPr/>
        <p:nvPr/>
      </p:nvGrpSpPr>
      <p:grpSpPr>
        <a:xfrm>
          <a:off x="0" y="0"/>
          <a:ext cx="0" cy="0"/>
          <a:chOff x="0" y="0"/>
          <a:chExt cx="0" cy="0"/>
        </a:xfrm>
      </p:grpSpPr>
      <p:sp>
        <p:nvSpPr>
          <p:cNvPr id="53" name="Google Shape;53;p30"/>
          <p:cNvSpPr txBox="1">
            <a:spLocks noGrp="1"/>
          </p:cNvSpPr>
          <p:nvPr>
            <p:ph type="title"/>
          </p:nvPr>
        </p:nvSpPr>
        <p:spPr>
          <a:xfrm>
            <a:off x="294088" y="903225"/>
            <a:ext cx="5662930" cy="112268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7200" b="1" i="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30"/>
          <p:cNvSpPr txBox="1">
            <a:spLocks noGrp="1"/>
          </p:cNvSpPr>
          <p:nvPr>
            <p:ph type="body" idx="1"/>
          </p:nvPr>
        </p:nvSpPr>
        <p:spPr>
          <a:xfrm>
            <a:off x="457200" y="1577340"/>
            <a:ext cx="8229600" cy="452628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55" name="Google Shape;55;p30"/>
          <p:cNvSpPr txBox="1">
            <a:spLocks noGrp="1"/>
          </p:cNvSpPr>
          <p:nvPr>
            <p:ph type="ftr" idx="11"/>
          </p:nvPr>
        </p:nvSpPr>
        <p:spPr>
          <a:xfrm>
            <a:off x="3108960" y="6377940"/>
            <a:ext cx="292608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30"/>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0"/>
          <p:cNvSpPr txBox="1">
            <a:spLocks noGrp="1"/>
          </p:cNvSpPr>
          <p:nvPr>
            <p:ph type="sldNum" idx="12"/>
          </p:nvPr>
        </p:nvSpPr>
        <p:spPr>
          <a:xfrm>
            <a:off x="8314283" y="6466781"/>
            <a:ext cx="153670" cy="1778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
        <p:nvSpPr>
          <p:cNvPr id="58" name="Google Shape;58;p30"/>
          <p:cNvSpPr txBox="1"/>
          <p:nvPr/>
        </p:nvSpPr>
        <p:spPr>
          <a:xfrm>
            <a:off x="269223" y="699314"/>
            <a:ext cx="1966595" cy="330200"/>
          </a:xfrm>
          <a:prstGeom prst="rect">
            <a:avLst/>
          </a:prstGeom>
          <a:noFill/>
          <a:ln>
            <a:noFill/>
          </a:ln>
        </p:spPr>
        <p:txBody>
          <a:bodyPr spcFirstLastPara="1" wrap="square" lIns="0" tIns="12700" rIns="0" bIns="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FFFFFF"/>
                </a:solidFill>
                <a:latin typeface="Calibri"/>
                <a:ea typeface="Calibri"/>
                <a:cs typeface="Calibri"/>
                <a:sym typeface="Calibri"/>
              </a:rPr>
              <a:t>MECATRÓNICA 4.0</a:t>
            </a:r>
            <a:endParaRPr sz="2000" b="0" i="0" u="none" strike="noStrike" cap="none">
              <a:solidFill>
                <a:schemeClr val="dk1"/>
              </a:solidFill>
              <a:latin typeface="Calibri"/>
              <a:ea typeface="Calibri"/>
              <a:cs typeface="Calibri"/>
              <a:sym typeface="Calibri"/>
            </a:endParaRPr>
          </a:p>
        </p:txBody>
      </p:sp>
      <p:sp>
        <p:nvSpPr>
          <p:cNvPr id="59" name="Google Shape;59;p30"/>
          <p:cNvSpPr txBox="1"/>
          <p:nvPr/>
        </p:nvSpPr>
        <p:spPr>
          <a:xfrm>
            <a:off x="6791200" y="192470"/>
            <a:ext cx="2101850" cy="2387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400"/>
              <a:buFont typeface="Arial"/>
              <a:buNone/>
            </a:pPr>
            <a:r>
              <a:rPr lang="en-US" sz="1400" b="1" i="0" u="none" strike="noStrike" cap="none" dirty="0" err="1">
                <a:solidFill>
                  <a:srgbClr val="FFFFFF"/>
                </a:solidFill>
                <a:latin typeface="Calibri"/>
                <a:ea typeface="Calibri"/>
                <a:cs typeface="Calibri"/>
                <a:sym typeface="Calibri"/>
              </a:rPr>
              <a:t>Digitalización</a:t>
            </a:r>
            <a:r>
              <a:rPr lang="en-US" sz="1400" b="1" i="0" u="none" strike="noStrike" cap="none" dirty="0">
                <a:solidFill>
                  <a:srgbClr val="FFFFFF"/>
                </a:solidFill>
                <a:latin typeface="Calibri"/>
                <a:ea typeface="Calibri"/>
                <a:cs typeface="Calibri"/>
                <a:sym typeface="Calibri"/>
              </a:rPr>
              <a:t> en la </a:t>
            </a:r>
            <a:r>
              <a:rPr lang="en-US" sz="1400" b="1" i="0" u="none" strike="noStrike" cap="none" dirty="0" err="1">
                <a:solidFill>
                  <a:srgbClr val="FFFFFF"/>
                </a:solidFill>
                <a:latin typeface="Calibri"/>
                <a:ea typeface="Calibri"/>
                <a:cs typeface="Calibri"/>
                <a:sym typeface="Calibri"/>
              </a:rPr>
              <a:t>Industria</a:t>
            </a:r>
            <a:endParaRPr sz="1400" b="0" i="0" u="none" strike="noStrike" cap="none" dirty="0">
              <a:solidFill>
                <a:schemeClr val="dk1"/>
              </a:solidFill>
              <a:latin typeface="Calibri"/>
              <a:ea typeface="Calibri"/>
              <a:cs typeface="Calibri"/>
              <a:sym typeface="Calibri"/>
            </a:endParaRPr>
          </a:p>
        </p:txBody>
      </p:sp>
      <p:sp>
        <p:nvSpPr>
          <p:cNvPr id="60" name="Google Shape;60;p30"/>
          <p:cNvSpPr txBox="1"/>
          <p:nvPr/>
        </p:nvSpPr>
        <p:spPr>
          <a:xfrm>
            <a:off x="6803900" y="619190"/>
            <a:ext cx="2105025" cy="238760"/>
          </a:xfrm>
          <a:prstGeom prst="rect">
            <a:avLst/>
          </a:prstGeom>
          <a:noFill/>
          <a:ln>
            <a:noFill/>
          </a:ln>
        </p:spPr>
        <p:txBody>
          <a:bodyPr spcFirstLastPara="1" wrap="square" lIns="0" tIns="12700" rIns="0" bIns="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FFFFFF"/>
                </a:solidFill>
                <a:latin typeface="Calibri"/>
                <a:ea typeface="Calibri"/>
                <a:cs typeface="Calibri"/>
                <a:sym typeface="Calibri"/>
              </a:rPr>
              <a:t>Big Data y Machine Learning</a:t>
            </a:r>
            <a:endParaRPr sz="1400" b="0" i="0" u="none" strike="noStrike" cap="none">
              <a:solidFill>
                <a:schemeClr val="dk1"/>
              </a:solidFill>
              <a:latin typeface="Calibri"/>
              <a:ea typeface="Calibri"/>
              <a:cs typeface="Calibri"/>
              <a:sym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Dos objetos">
  <p:cSld name="Dos objetos">
    <p:spTree>
      <p:nvGrpSpPr>
        <p:cNvPr id="1" name="Shape 61"/>
        <p:cNvGrpSpPr/>
        <p:nvPr/>
      </p:nvGrpSpPr>
      <p:grpSpPr>
        <a:xfrm>
          <a:off x="0" y="0"/>
          <a:ext cx="0" cy="0"/>
          <a:chOff x="0" y="0"/>
          <a:chExt cx="0" cy="0"/>
        </a:xfrm>
      </p:grpSpPr>
      <p:sp>
        <p:nvSpPr>
          <p:cNvPr id="62" name="Google Shape;62;p31"/>
          <p:cNvSpPr txBox="1">
            <a:spLocks noGrp="1"/>
          </p:cNvSpPr>
          <p:nvPr>
            <p:ph type="title"/>
          </p:nvPr>
        </p:nvSpPr>
        <p:spPr>
          <a:xfrm>
            <a:off x="294088" y="903225"/>
            <a:ext cx="5662930" cy="112268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7200" b="1" i="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31"/>
          <p:cNvSpPr txBox="1">
            <a:spLocks noGrp="1"/>
          </p:cNvSpPr>
          <p:nvPr>
            <p:ph type="body" idx="1"/>
          </p:nvPr>
        </p:nvSpPr>
        <p:spPr>
          <a:xfrm>
            <a:off x="457200" y="1577340"/>
            <a:ext cx="3977640" cy="452628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64" name="Google Shape;64;p31"/>
          <p:cNvSpPr txBox="1">
            <a:spLocks noGrp="1"/>
          </p:cNvSpPr>
          <p:nvPr>
            <p:ph type="body" idx="2"/>
          </p:nvPr>
        </p:nvSpPr>
        <p:spPr>
          <a:xfrm>
            <a:off x="4709160" y="1577340"/>
            <a:ext cx="3977640" cy="452628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65" name="Google Shape;65;p31"/>
          <p:cNvSpPr txBox="1">
            <a:spLocks noGrp="1"/>
          </p:cNvSpPr>
          <p:nvPr>
            <p:ph type="ftr" idx="11"/>
          </p:nvPr>
        </p:nvSpPr>
        <p:spPr>
          <a:xfrm>
            <a:off x="3108960" y="6377940"/>
            <a:ext cx="292608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1"/>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1"/>
          <p:cNvSpPr txBox="1">
            <a:spLocks noGrp="1"/>
          </p:cNvSpPr>
          <p:nvPr>
            <p:ph type="sldNum" idx="12"/>
          </p:nvPr>
        </p:nvSpPr>
        <p:spPr>
          <a:xfrm>
            <a:off x="8314283" y="6466781"/>
            <a:ext cx="153670" cy="1778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
        <p:nvSpPr>
          <p:cNvPr id="68" name="Google Shape;68;p31"/>
          <p:cNvSpPr txBox="1"/>
          <p:nvPr/>
        </p:nvSpPr>
        <p:spPr>
          <a:xfrm>
            <a:off x="269223" y="699314"/>
            <a:ext cx="1966595" cy="330200"/>
          </a:xfrm>
          <a:prstGeom prst="rect">
            <a:avLst/>
          </a:prstGeom>
          <a:noFill/>
          <a:ln>
            <a:noFill/>
          </a:ln>
        </p:spPr>
        <p:txBody>
          <a:bodyPr spcFirstLastPara="1" wrap="square" lIns="0" tIns="12700" rIns="0" bIns="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FFFFFF"/>
                </a:solidFill>
                <a:latin typeface="Calibri"/>
                <a:ea typeface="Calibri"/>
                <a:cs typeface="Calibri"/>
                <a:sym typeface="Calibri"/>
              </a:rPr>
              <a:t>MECATRÓNICA 4.0</a:t>
            </a:r>
            <a:endParaRPr sz="2000" b="0" i="0" u="none" strike="noStrike" cap="none">
              <a:solidFill>
                <a:schemeClr val="dk1"/>
              </a:solidFill>
              <a:latin typeface="Calibri"/>
              <a:ea typeface="Calibri"/>
              <a:cs typeface="Calibri"/>
              <a:sym typeface="Calibri"/>
            </a:endParaRPr>
          </a:p>
        </p:txBody>
      </p:sp>
      <p:sp>
        <p:nvSpPr>
          <p:cNvPr id="69" name="Google Shape;69;p31"/>
          <p:cNvSpPr txBox="1"/>
          <p:nvPr/>
        </p:nvSpPr>
        <p:spPr>
          <a:xfrm>
            <a:off x="6791200" y="192470"/>
            <a:ext cx="2101850" cy="2387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400"/>
              <a:buFont typeface="Arial"/>
              <a:buNone/>
            </a:pPr>
            <a:r>
              <a:rPr lang="en-US" sz="1400" b="1" i="0" u="none" strike="noStrike" cap="none" dirty="0" err="1">
                <a:solidFill>
                  <a:srgbClr val="FFFFFF"/>
                </a:solidFill>
                <a:latin typeface="Calibri"/>
                <a:ea typeface="Calibri"/>
                <a:cs typeface="Calibri"/>
                <a:sym typeface="Calibri"/>
              </a:rPr>
              <a:t>Digitalización</a:t>
            </a:r>
            <a:r>
              <a:rPr lang="en-US" sz="1400" b="1" i="0" u="none" strike="noStrike" cap="none" dirty="0">
                <a:solidFill>
                  <a:srgbClr val="FFFFFF"/>
                </a:solidFill>
                <a:latin typeface="Calibri"/>
                <a:ea typeface="Calibri"/>
                <a:cs typeface="Calibri"/>
                <a:sym typeface="Calibri"/>
              </a:rPr>
              <a:t> en la </a:t>
            </a:r>
            <a:r>
              <a:rPr lang="en-US" sz="1400" b="1" i="0" u="none" strike="noStrike" cap="none" dirty="0" err="1">
                <a:solidFill>
                  <a:srgbClr val="FFFFFF"/>
                </a:solidFill>
                <a:latin typeface="Calibri"/>
                <a:ea typeface="Calibri"/>
                <a:cs typeface="Calibri"/>
                <a:sym typeface="Calibri"/>
              </a:rPr>
              <a:t>Industria</a:t>
            </a:r>
            <a:endParaRPr sz="1400" b="0" i="0" u="none" strike="noStrike" cap="none" dirty="0">
              <a:solidFill>
                <a:schemeClr val="dk1"/>
              </a:solidFill>
              <a:latin typeface="Calibri"/>
              <a:ea typeface="Calibri"/>
              <a:cs typeface="Calibri"/>
              <a:sym typeface="Calibri"/>
            </a:endParaRPr>
          </a:p>
        </p:txBody>
      </p:sp>
      <p:sp>
        <p:nvSpPr>
          <p:cNvPr id="70" name="Google Shape;70;p31"/>
          <p:cNvSpPr txBox="1"/>
          <p:nvPr/>
        </p:nvSpPr>
        <p:spPr>
          <a:xfrm>
            <a:off x="6803900" y="619190"/>
            <a:ext cx="2105025" cy="238760"/>
          </a:xfrm>
          <a:prstGeom prst="rect">
            <a:avLst/>
          </a:prstGeom>
          <a:noFill/>
          <a:ln>
            <a:noFill/>
          </a:ln>
        </p:spPr>
        <p:txBody>
          <a:bodyPr spcFirstLastPara="1" wrap="square" lIns="0" tIns="12700" rIns="0" bIns="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FFFFFF"/>
                </a:solidFill>
                <a:latin typeface="Calibri"/>
                <a:ea typeface="Calibri"/>
                <a:cs typeface="Calibri"/>
                <a:sym typeface="Calibri"/>
              </a:rPr>
              <a:t>Big Data y Machine Learning</a:t>
            </a:r>
            <a:endParaRPr sz="1400" b="0" i="0" u="none" strike="noStrike" cap="none">
              <a:solidFill>
                <a:schemeClr val="dk1"/>
              </a:solidFill>
              <a:latin typeface="Calibri"/>
              <a:ea typeface="Calibri"/>
              <a:cs typeface="Calibri"/>
              <a:sym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olo el título">
  <p:cSld name="Solo el título">
    <p:spTree>
      <p:nvGrpSpPr>
        <p:cNvPr id="1" name="Shape 71"/>
        <p:cNvGrpSpPr/>
        <p:nvPr/>
      </p:nvGrpSpPr>
      <p:grpSpPr>
        <a:xfrm>
          <a:off x="0" y="0"/>
          <a:ext cx="0" cy="0"/>
          <a:chOff x="0" y="0"/>
          <a:chExt cx="0" cy="0"/>
        </a:xfrm>
      </p:grpSpPr>
      <p:sp>
        <p:nvSpPr>
          <p:cNvPr id="72" name="Google Shape;72;p32"/>
          <p:cNvSpPr txBox="1">
            <a:spLocks noGrp="1"/>
          </p:cNvSpPr>
          <p:nvPr>
            <p:ph type="title"/>
          </p:nvPr>
        </p:nvSpPr>
        <p:spPr>
          <a:xfrm>
            <a:off x="294088" y="903225"/>
            <a:ext cx="5662930" cy="112268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7200" b="1" i="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2"/>
          <p:cNvSpPr txBox="1">
            <a:spLocks noGrp="1"/>
          </p:cNvSpPr>
          <p:nvPr>
            <p:ph type="ftr" idx="11"/>
          </p:nvPr>
        </p:nvSpPr>
        <p:spPr>
          <a:xfrm>
            <a:off x="3108960" y="6377940"/>
            <a:ext cx="292608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32"/>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32"/>
          <p:cNvSpPr txBox="1">
            <a:spLocks noGrp="1"/>
          </p:cNvSpPr>
          <p:nvPr>
            <p:ph type="sldNum" idx="12"/>
          </p:nvPr>
        </p:nvSpPr>
        <p:spPr>
          <a:xfrm>
            <a:off x="8314283" y="6466781"/>
            <a:ext cx="153670" cy="1778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
        <p:nvSpPr>
          <p:cNvPr id="76" name="Google Shape;76;p32"/>
          <p:cNvSpPr txBox="1"/>
          <p:nvPr/>
        </p:nvSpPr>
        <p:spPr>
          <a:xfrm>
            <a:off x="269223" y="699314"/>
            <a:ext cx="1966595" cy="330200"/>
          </a:xfrm>
          <a:prstGeom prst="rect">
            <a:avLst/>
          </a:prstGeom>
          <a:noFill/>
          <a:ln>
            <a:noFill/>
          </a:ln>
        </p:spPr>
        <p:txBody>
          <a:bodyPr spcFirstLastPara="1" wrap="square" lIns="0" tIns="12700" rIns="0" bIns="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FFFFFF"/>
                </a:solidFill>
                <a:latin typeface="Calibri"/>
                <a:ea typeface="Calibri"/>
                <a:cs typeface="Calibri"/>
                <a:sym typeface="Calibri"/>
              </a:rPr>
              <a:t>MECATRÓNICA 4.0</a:t>
            </a:r>
            <a:endParaRPr sz="2000" b="0" i="0" u="none" strike="noStrike" cap="none">
              <a:solidFill>
                <a:schemeClr val="dk1"/>
              </a:solidFill>
              <a:latin typeface="Calibri"/>
              <a:ea typeface="Calibri"/>
              <a:cs typeface="Calibri"/>
              <a:sym typeface="Calibri"/>
            </a:endParaRPr>
          </a:p>
        </p:txBody>
      </p:sp>
      <p:sp>
        <p:nvSpPr>
          <p:cNvPr id="77" name="Google Shape;77;p32"/>
          <p:cNvSpPr txBox="1"/>
          <p:nvPr/>
        </p:nvSpPr>
        <p:spPr>
          <a:xfrm>
            <a:off x="6791200" y="192470"/>
            <a:ext cx="2101850" cy="2387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400"/>
              <a:buFont typeface="Arial"/>
              <a:buNone/>
            </a:pPr>
            <a:r>
              <a:rPr lang="en-US" sz="1400" b="1" i="0" u="none" strike="noStrike" cap="none" dirty="0" err="1">
                <a:solidFill>
                  <a:srgbClr val="FFFFFF"/>
                </a:solidFill>
                <a:latin typeface="Calibri"/>
                <a:ea typeface="Calibri"/>
                <a:cs typeface="Calibri"/>
                <a:sym typeface="Calibri"/>
              </a:rPr>
              <a:t>Digitalización</a:t>
            </a:r>
            <a:r>
              <a:rPr lang="en-US" sz="1400" b="1" i="0" u="none" strike="noStrike" cap="none" dirty="0">
                <a:solidFill>
                  <a:srgbClr val="FFFFFF"/>
                </a:solidFill>
                <a:latin typeface="Calibri"/>
                <a:ea typeface="Calibri"/>
                <a:cs typeface="Calibri"/>
                <a:sym typeface="Calibri"/>
              </a:rPr>
              <a:t> en la </a:t>
            </a:r>
            <a:r>
              <a:rPr lang="en-US" sz="1400" b="1" i="0" u="none" strike="noStrike" cap="none" dirty="0" err="1">
                <a:solidFill>
                  <a:srgbClr val="FFFFFF"/>
                </a:solidFill>
                <a:latin typeface="Calibri"/>
                <a:ea typeface="Calibri"/>
                <a:cs typeface="Calibri"/>
                <a:sym typeface="Calibri"/>
              </a:rPr>
              <a:t>Industria</a:t>
            </a:r>
            <a:endParaRPr sz="1400" b="0" i="0" u="none" strike="noStrike" cap="none" dirty="0">
              <a:solidFill>
                <a:schemeClr val="dk1"/>
              </a:solidFill>
              <a:latin typeface="Calibri"/>
              <a:ea typeface="Calibri"/>
              <a:cs typeface="Calibri"/>
              <a:sym typeface="Calibri"/>
            </a:endParaRPr>
          </a:p>
        </p:txBody>
      </p:sp>
      <p:sp>
        <p:nvSpPr>
          <p:cNvPr id="78" name="Google Shape;78;p32"/>
          <p:cNvSpPr txBox="1"/>
          <p:nvPr/>
        </p:nvSpPr>
        <p:spPr>
          <a:xfrm>
            <a:off x="6803900" y="619190"/>
            <a:ext cx="2105025" cy="238760"/>
          </a:xfrm>
          <a:prstGeom prst="rect">
            <a:avLst/>
          </a:prstGeom>
          <a:noFill/>
          <a:ln>
            <a:noFill/>
          </a:ln>
        </p:spPr>
        <p:txBody>
          <a:bodyPr spcFirstLastPara="1" wrap="square" lIns="0" tIns="12700" rIns="0" bIns="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FFFFFF"/>
                </a:solidFill>
                <a:latin typeface="Calibri"/>
                <a:ea typeface="Calibri"/>
                <a:cs typeface="Calibri"/>
                <a:sym typeface="Calibri"/>
              </a:rPr>
              <a:t>Big Data y Machine Learning</a:t>
            </a:r>
            <a:endParaRPr sz="1400" b="0" i="0" u="none" strike="noStrike" cap="none">
              <a:solidFill>
                <a:schemeClr val="dk1"/>
              </a:solidFill>
              <a:latin typeface="Calibri"/>
              <a:ea typeface="Calibri"/>
              <a:cs typeface="Calibri"/>
              <a:sym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cSld name="1_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CC769A-C18D-4697-DAAF-2223A98EC1A5}"/>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94EFFCC0-3372-3EBE-F2DE-57342FAEE1D9}"/>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BAFE6D83-D895-202F-EE6B-368958F1321B}"/>
              </a:ext>
            </a:extLst>
          </p:cNvPr>
          <p:cNvSpPr>
            <a:spLocks noGrp="1"/>
          </p:cNvSpPr>
          <p:nvPr>
            <p:ph type="dt" sz="half" idx="10"/>
          </p:nvPr>
        </p:nvSpPr>
        <p:spPr/>
        <p:txBody>
          <a:bodyPr/>
          <a:lstStyle/>
          <a:p>
            <a:fld id="{7FAB1C2F-660B-4FB2-9EDA-38B91744BDF7}" type="datetimeFigureOut">
              <a:rPr lang="es-ES" smtClean="0"/>
              <a:t>30/03/2025</a:t>
            </a:fld>
            <a:endParaRPr lang="es-ES"/>
          </a:p>
        </p:txBody>
      </p:sp>
      <p:sp>
        <p:nvSpPr>
          <p:cNvPr id="5" name="Marcador de pie de página 4">
            <a:extLst>
              <a:ext uri="{FF2B5EF4-FFF2-40B4-BE49-F238E27FC236}">
                <a16:creationId xmlns:a16="http://schemas.microsoft.com/office/drawing/2014/main" id="{0AEDBF6D-1B3B-5F59-6186-90A2031BE104}"/>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8BD0E295-74E4-F56B-520E-EAF07ADD0059}"/>
              </a:ext>
            </a:extLst>
          </p:cNvPr>
          <p:cNvSpPr>
            <a:spLocks noGrp="1"/>
          </p:cNvSpPr>
          <p:nvPr>
            <p:ph type="sldNum" sz="quarter" idx="12"/>
          </p:nvPr>
        </p:nvSpPr>
        <p:spPr/>
        <p:txBody>
          <a:bodyPr/>
          <a:lstStyle/>
          <a:p>
            <a:fld id="{F72B40EF-D53A-41AA-87B6-B9F74BA43E09}" type="slidenum">
              <a:rPr lang="es-ES" smtClean="0"/>
              <a:t>‹Nº›</a:t>
            </a:fld>
            <a:endParaRPr lang="es-ES"/>
          </a:p>
        </p:txBody>
      </p:sp>
    </p:spTree>
    <p:extLst>
      <p:ext uri="{BB962C8B-B14F-4D97-AF65-F5344CB8AC3E}">
        <p14:creationId xmlns:p14="http://schemas.microsoft.com/office/powerpoint/2010/main" val="26666327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jpg"/><Relationship Id="rId5" Type="http://schemas.openxmlformats.org/officeDocument/2006/relationships/slideLayout" Target="../slideLayouts/slideLayout5.xml"/><Relationship Id="rId10" Type="http://schemas.openxmlformats.org/officeDocument/2006/relationships/image" Target="../media/image1.jp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25"/>
          <p:cNvPicPr preferRelativeResize="0"/>
          <p:nvPr/>
        </p:nvPicPr>
        <p:blipFill rotWithShape="1">
          <a:blip r:embed="rId10">
            <a:alphaModFix/>
          </a:blip>
          <a:srcRect/>
          <a:stretch/>
        </p:blipFill>
        <p:spPr>
          <a:xfrm>
            <a:off x="0" y="0"/>
            <a:ext cx="9143999" cy="1079154"/>
          </a:xfrm>
          <a:prstGeom prst="rect">
            <a:avLst/>
          </a:prstGeom>
          <a:noFill/>
          <a:ln>
            <a:noFill/>
          </a:ln>
        </p:spPr>
      </p:pic>
      <p:sp>
        <p:nvSpPr>
          <p:cNvPr id="11" name="Google Shape;11;p25"/>
          <p:cNvSpPr/>
          <p:nvPr/>
        </p:nvSpPr>
        <p:spPr>
          <a:xfrm>
            <a:off x="3649362" y="0"/>
            <a:ext cx="3023870" cy="660400"/>
          </a:xfrm>
          <a:custGeom>
            <a:avLst/>
            <a:gdLst/>
            <a:ahLst/>
            <a:cxnLst/>
            <a:rect l="l" t="t" r="r" b="b"/>
            <a:pathLst>
              <a:path w="3023870" h="660400" extrusionOk="0">
                <a:moveTo>
                  <a:pt x="3023287" y="660399"/>
                </a:moveTo>
                <a:lnTo>
                  <a:pt x="0" y="660399"/>
                </a:lnTo>
                <a:lnTo>
                  <a:pt x="0" y="0"/>
                </a:lnTo>
                <a:lnTo>
                  <a:pt x="3023287" y="0"/>
                </a:lnTo>
                <a:lnTo>
                  <a:pt x="3023287" y="660399"/>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2" name="Google Shape;12;p25"/>
          <p:cNvSpPr/>
          <p:nvPr/>
        </p:nvSpPr>
        <p:spPr>
          <a:xfrm>
            <a:off x="3649362" y="0"/>
            <a:ext cx="3023870" cy="660400"/>
          </a:xfrm>
          <a:custGeom>
            <a:avLst/>
            <a:gdLst/>
            <a:ahLst/>
            <a:cxnLst/>
            <a:rect l="l" t="t" r="r" b="b"/>
            <a:pathLst>
              <a:path w="3023870" h="660400" extrusionOk="0">
                <a:moveTo>
                  <a:pt x="0" y="0"/>
                </a:moveTo>
                <a:lnTo>
                  <a:pt x="3023287" y="0"/>
                </a:lnTo>
                <a:lnTo>
                  <a:pt x="3023287" y="660399"/>
                </a:lnTo>
                <a:lnTo>
                  <a:pt x="0" y="660399"/>
                </a:lnTo>
                <a:lnTo>
                  <a:pt x="0" y="0"/>
                </a:lnTo>
                <a:close/>
              </a:path>
            </a:pathLst>
          </a:custGeom>
          <a:noFill/>
          <a:ln w="1267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3" name="Google Shape;13;p25"/>
          <p:cNvSpPr/>
          <p:nvPr/>
        </p:nvSpPr>
        <p:spPr>
          <a:xfrm>
            <a:off x="0" y="660400"/>
            <a:ext cx="9144000" cy="419100"/>
          </a:xfrm>
          <a:custGeom>
            <a:avLst/>
            <a:gdLst/>
            <a:ahLst/>
            <a:cxnLst/>
            <a:rect l="l" t="t" r="r" b="b"/>
            <a:pathLst>
              <a:path w="9144000" h="419100" extrusionOk="0">
                <a:moveTo>
                  <a:pt x="0" y="418754"/>
                </a:moveTo>
                <a:lnTo>
                  <a:pt x="0" y="0"/>
                </a:lnTo>
                <a:lnTo>
                  <a:pt x="9143999" y="0"/>
                </a:lnTo>
                <a:lnTo>
                  <a:pt x="9143999" y="418754"/>
                </a:lnTo>
                <a:lnTo>
                  <a:pt x="0" y="418754"/>
                </a:lnTo>
                <a:close/>
              </a:path>
            </a:pathLst>
          </a:custGeom>
          <a:solidFill>
            <a:srgbClr val="006CA5"/>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4" name="Google Shape;14;p25"/>
          <p:cNvPicPr preferRelativeResize="0"/>
          <p:nvPr/>
        </p:nvPicPr>
        <p:blipFill rotWithShape="1">
          <a:blip r:embed="rId11">
            <a:alphaModFix/>
          </a:blip>
          <a:srcRect/>
          <a:stretch/>
        </p:blipFill>
        <p:spPr>
          <a:xfrm>
            <a:off x="4768232" y="0"/>
            <a:ext cx="1923126" cy="1086920"/>
          </a:xfrm>
          <a:prstGeom prst="rect">
            <a:avLst/>
          </a:prstGeom>
          <a:noFill/>
          <a:ln>
            <a:noFill/>
          </a:ln>
        </p:spPr>
      </p:pic>
      <p:sp>
        <p:nvSpPr>
          <p:cNvPr id="15" name="Google Shape;15;p25"/>
          <p:cNvSpPr txBox="1">
            <a:spLocks noGrp="1"/>
          </p:cNvSpPr>
          <p:nvPr>
            <p:ph type="title"/>
          </p:nvPr>
        </p:nvSpPr>
        <p:spPr>
          <a:xfrm>
            <a:off x="294088" y="903225"/>
            <a:ext cx="5662930" cy="112268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7200" b="1"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6" name="Google Shape;16;p25"/>
          <p:cNvSpPr txBox="1">
            <a:spLocks noGrp="1"/>
          </p:cNvSpPr>
          <p:nvPr>
            <p:ph type="body" idx="1"/>
          </p:nvPr>
        </p:nvSpPr>
        <p:spPr>
          <a:xfrm>
            <a:off x="457200" y="1577340"/>
            <a:ext cx="8229600" cy="452628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17" name="Google Shape;17;p25"/>
          <p:cNvSpPr txBox="1">
            <a:spLocks noGrp="1"/>
          </p:cNvSpPr>
          <p:nvPr>
            <p:ph type="ftr" idx="11"/>
          </p:nvPr>
        </p:nvSpPr>
        <p:spPr>
          <a:xfrm>
            <a:off x="3108960" y="6377940"/>
            <a:ext cx="2926080" cy="342900"/>
          </a:xfrm>
          <a:prstGeom prst="rect">
            <a:avLst/>
          </a:prstGeom>
          <a:noFill/>
          <a:ln>
            <a:noFill/>
          </a:ln>
        </p:spPr>
        <p:txBody>
          <a:bodyPr spcFirstLastPara="1" wrap="square" lIns="0" tIns="0" rIns="0" bIns="0" anchor="t" anchorCtr="0">
            <a:spAutoFit/>
          </a:bodyPr>
          <a:lstStyle>
            <a:lvl1pPr marR="0" lvl="0" algn="ctr"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8" name="Google Shape;18;p25"/>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9" name="Google Shape;19;p25"/>
          <p:cNvSpPr txBox="1">
            <a:spLocks noGrp="1"/>
          </p:cNvSpPr>
          <p:nvPr>
            <p:ph type="sldNum" idx="12"/>
          </p:nvPr>
        </p:nvSpPr>
        <p:spPr>
          <a:xfrm>
            <a:off x="8314283" y="6466781"/>
            <a:ext cx="153670" cy="177800"/>
          </a:xfrm>
          <a:prstGeom prst="rect">
            <a:avLst/>
          </a:prstGeom>
          <a:noFill/>
          <a:ln>
            <a:noFill/>
          </a:ln>
        </p:spPr>
        <p:txBody>
          <a:bodyPr spcFirstLastPara="1" wrap="square" lIns="0" tIns="0" rIns="0" bIns="0" anchor="t" anchorCtr="0">
            <a:spAutoFit/>
          </a:bodyPr>
          <a:lstStyle>
            <a:lvl1pPr marL="0" marR="0" lvl="0"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
        <p:nvSpPr>
          <p:cNvPr id="20" name="Google Shape;20;p25"/>
          <p:cNvSpPr txBox="1"/>
          <p:nvPr/>
        </p:nvSpPr>
        <p:spPr>
          <a:xfrm>
            <a:off x="269223" y="699314"/>
            <a:ext cx="1966595" cy="330200"/>
          </a:xfrm>
          <a:prstGeom prst="rect">
            <a:avLst/>
          </a:prstGeom>
          <a:noFill/>
          <a:ln>
            <a:noFill/>
          </a:ln>
        </p:spPr>
        <p:txBody>
          <a:bodyPr spcFirstLastPara="1" wrap="square" lIns="0" tIns="12700" rIns="0" bIns="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FFFFFF"/>
                </a:solidFill>
                <a:latin typeface="Calibri"/>
                <a:ea typeface="Calibri"/>
                <a:cs typeface="Calibri"/>
                <a:sym typeface="Calibri"/>
              </a:rPr>
              <a:t>MECATRÓNICA 4.0</a:t>
            </a:r>
            <a:endParaRPr sz="2000" b="0" i="0" u="none" strike="noStrike" cap="none">
              <a:solidFill>
                <a:schemeClr val="dk1"/>
              </a:solidFill>
              <a:latin typeface="Calibri"/>
              <a:ea typeface="Calibri"/>
              <a:cs typeface="Calibri"/>
              <a:sym typeface="Calibri"/>
            </a:endParaRPr>
          </a:p>
        </p:txBody>
      </p:sp>
      <p:sp>
        <p:nvSpPr>
          <p:cNvPr id="21" name="Google Shape;21;p25"/>
          <p:cNvSpPr txBox="1"/>
          <p:nvPr/>
        </p:nvSpPr>
        <p:spPr>
          <a:xfrm>
            <a:off x="6791200" y="192470"/>
            <a:ext cx="2101850" cy="2387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400"/>
              <a:buFont typeface="Arial"/>
              <a:buNone/>
            </a:pPr>
            <a:r>
              <a:rPr lang="en-US" sz="1400" b="1" i="0" u="none" strike="noStrike" cap="none" dirty="0" err="1">
                <a:solidFill>
                  <a:srgbClr val="FFFFFF"/>
                </a:solidFill>
                <a:latin typeface="Calibri"/>
                <a:ea typeface="Calibri"/>
                <a:cs typeface="Calibri"/>
                <a:sym typeface="Calibri"/>
              </a:rPr>
              <a:t>Digitalización</a:t>
            </a:r>
            <a:r>
              <a:rPr lang="en-US" sz="1400" b="1" i="0" u="none" strike="noStrike" cap="none" dirty="0">
                <a:solidFill>
                  <a:srgbClr val="FFFFFF"/>
                </a:solidFill>
                <a:latin typeface="Calibri"/>
                <a:ea typeface="Calibri"/>
                <a:cs typeface="Calibri"/>
                <a:sym typeface="Calibri"/>
              </a:rPr>
              <a:t> en la </a:t>
            </a:r>
            <a:r>
              <a:rPr lang="en-US" sz="1400" b="1" i="0" u="none" strike="noStrike" cap="none" dirty="0" err="1">
                <a:solidFill>
                  <a:srgbClr val="FFFFFF"/>
                </a:solidFill>
                <a:latin typeface="Calibri"/>
                <a:ea typeface="Calibri"/>
                <a:cs typeface="Calibri"/>
                <a:sym typeface="Calibri"/>
              </a:rPr>
              <a:t>Industria</a:t>
            </a:r>
            <a:endParaRPr sz="1400" b="0" i="0" u="none" strike="noStrike" cap="none" dirty="0">
              <a:solidFill>
                <a:schemeClr val="dk1"/>
              </a:solidFill>
              <a:latin typeface="Calibri"/>
              <a:ea typeface="Calibri"/>
              <a:cs typeface="Calibri"/>
              <a:sym typeface="Calibri"/>
            </a:endParaRPr>
          </a:p>
        </p:txBody>
      </p:sp>
      <p:sp>
        <p:nvSpPr>
          <p:cNvPr id="22" name="Google Shape;22;p25"/>
          <p:cNvSpPr txBox="1"/>
          <p:nvPr/>
        </p:nvSpPr>
        <p:spPr>
          <a:xfrm>
            <a:off x="6803900" y="619190"/>
            <a:ext cx="2105025" cy="238760"/>
          </a:xfrm>
          <a:prstGeom prst="rect">
            <a:avLst/>
          </a:prstGeom>
          <a:noFill/>
          <a:ln>
            <a:noFill/>
          </a:ln>
        </p:spPr>
        <p:txBody>
          <a:bodyPr spcFirstLastPara="1" wrap="square" lIns="0" tIns="12700" rIns="0" bIns="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FFFFFF"/>
                </a:solidFill>
                <a:latin typeface="Calibri"/>
                <a:ea typeface="Calibri"/>
                <a:cs typeface="Calibri"/>
                <a:sym typeface="Calibri"/>
              </a:rPr>
              <a:t>Big Data y Machine Learning</a:t>
            </a:r>
            <a:endParaRPr sz="14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Antonio.emmanuel.saldana@upc.edu"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hyperlink" Target="mailto:Antonio.Emmanuel.saldana@upc.edu" TargetMode="External"/><Relationship Id="rId4" Type="http://schemas.openxmlformats.org/officeDocument/2006/relationships/hyperlink" Target="http://www.linkedin.com/in/antonio-salda&#241;a-070b79197"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7.jpe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hyperlink" Target="https://create.kahoot.it/details/5fd4f32b-f798-48bd-a947-717162d50abc" TargetMode="Externa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e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image" Target="../media/image36.png"/><Relationship Id="rId3" Type="http://schemas.openxmlformats.org/officeDocument/2006/relationships/image" Target="../media/image26.png"/><Relationship Id="rId7" Type="http://schemas.openxmlformats.org/officeDocument/2006/relationships/image" Target="../media/image30.png"/><Relationship Id="rId12" Type="http://schemas.openxmlformats.org/officeDocument/2006/relationships/image" Target="../media/image35.png"/><Relationship Id="rId2" Type="http://schemas.openxmlformats.org/officeDocument/2006/relationships/notesSlide" Target="../notesSlides/notesSlide10.xml"/><Relationship Id="rId16" Type="http://schemas.openxmlformats.org/officeDocument/2006/relationships/image" Target="../media/image39.png"/><Relationship Id="rId1" Type="http://schemas.openxmlformats.org/officeDocument/2006/relationships/slideLayout" Target="../slideLayouts/slideLayout8.xml"/><Relationship Id="rId6" Type="http://schemas.openxmlformats.org/officeDocument/2006/relationships/image" Target="../media/image29.png"/><Relationship Id="rId11" Type="http://schemas.openxmlformats.org/officeDocument/2006/relationships/image" Target="../media/image34.png"/><Relationship Id="rId5" Type="http://schemas.openxmlformats.org/officeDocument/2006/relationships/image" Target="../media/image28.png"/><Relationship Id="rId15" Type="http://schemas.openxmlformats.org/officeDocument/2006/relationships/image" Target="../media/image38.png"/><Relationship Id="rId10" Type="http://schemas.openxmlformats.org/officeDocument/2006/relationships/image" Target="../media/image33.png"/><Relationship Id="rId4" Type="http://schemas.openxmlformats.org/officeDocument/2006/relationships/image" Target="../media/image27.png"/><Relationship Id="rId9" Type="http://schemas.openxmlformats.org/officeDocument/2006/relationships/image" Target="../media/image32.png"/><Relationship Id="rId14" Type="http://schemas.openxmlformats.org/officeDocument/2006/relationships/image" Target="../media/image37.png"/></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43.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23.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image" Target="../media/image49.jpeg"/><Relationship Id="rId1" Type="http://schemas.openxmlformats.org/officeDocument/2006/relationships/slideLayout" Target="../slideLayouts/slideLayout3.xml"/><Relationship Id="rId4" Type="http://schemas.openxmlformats.org/officeDocument/2006/relationships/image" Target="../media/image51.jpeg"/></Relationships>
</file>

<file path=ppt/slides/_rels/slide2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3.xml"/><Relationship Id="rId4" Type="http://schemas.openxmlformats.org/officeDocument/2006/relationships/image" Target="../media/image54.png"/></Relationships>
</file>

<file path=ppt/slides/_rels/slide29.xml.rels><?xml version="1.0" encoding="UTF-8" standalone="yes"?>
<Relationships xmlns="http://schemas.openxmlformats.org/package/2006/relationships"><Relationship Id="rId3" Type="http://schemas.openxmlformats.org/officeDocument/2006/relationships/image" Target="../media/image55.jp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
          <p:cNvSpPr txBox="1"/>
          <p:nvPr/>
        </p:nvSpPr>
        <p:spPr>
          <a:xfrm>
            <a:off x="685800" y="4583109"/>
            <a:ext cx="7772400" cy="1174936"/>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3200"/>
              <a:buFont typeface="Calibri"/>
              <a:buNone/>
            </a:pPr>
            <a:r>
              <a:rPr lang="en-US" sz="3200" b="0" i="0" u="none" strike="noStrike" cap="none" dirty="0">
                <a:solidFill>
                  <a:schemeClr val="dk1"/>
                </a:solidFill>
                <a:latin typeface="Calibri"/>
                <a:ea typeface="Calibri"/>
                <a:cs typeface="Calibri"/>
                <a:sym typeface="Calibri"/>
              </a:rPr>
              <a:t>Sesión </a:t>
            </a:r>
            <a:r>
              <a:rPr lang="en-US" sz="3200" dirty="0">
                <a:solidFill>
                  <a:schemeClr val="dk1"/>
                </a:solidFill>
                <a:latin typeface="Calibri"/>
                <a:ea typeface="Calibri"/>
                <a:cs typeface="Calibri"/>
                <a:sym typeface="Calibri"/>
              </a:rPr>
              <a:t>5 - Modelos de Aprendizaje Supervisado - Regresión</a:t>
            </a:r>
            <a:endParaRPr sz="3200" b="0" i="0" u="none" strike="noStrike" cap="none" dirty="0">
              <a:solidFill>
                <a:srgbClr val="000000"/>
              </a:solidFill>
              <a:latin typeface="Calibri"/>
              <a:ea typeface="Calibri"/>
              <a:cs typeface="Calibri"/>
              <a:sym typeface="Calibri"/>
            </a:endParaRPr>
          </a:p>
          <a:p>
            <a:pPr marL="0" marR="0" lvl="0" indent="0" algn="ctr" rtl="0">
              <a:lnSpc>
                <a:spcPct val="100000"/>
              </a:lnSpc>
              <a:spcBef>
                <a:spcPts val="0"/>
              </a:spcBef>
              <a:spcAft>
                <a:spcPts val="0"/>
              </a:spcAft>
              <a:buClr>
                <a:schemeClr val="dk1"/>
              </a:buClr>
              <a:buSzPts val="3200"/>
              <a:buFont typeface="Calibri"/>
              <a:buNone/>
            </a:pPr>
            <a:endParaRPr sz="320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chemeClr val="dk1"/>
              </a:buClr>
              <a:buSzPts val="2000"/>
              <a:buFont typeface="Calibri"/>
              <a:buNone/>
            </a:pPr>
            <a:r>
              <a:rPr lang="en-US" sz="2000" b="0" i="0" u="none" strike="noStrike" cap="none" dirty="0">
                <a:solidFill>
                  <a:schemeClr val="dk1"/>
                </a:solidFill>
                <a:latin typeface="Calibri"/>
                <a:ea typeface="Calibri"/>
                <a:cs typeface="Calibri"/>
                <a:sym typeface="Calibri"/>
              </a:rPr>
              <a:t>Antonio Emmanuel Saldaña González </a:t>
            </a:r>
            <a:r>
              <a:rPr lang="en-US" sz="2000" u="sng" dirty="0">
                <a:solidFill>
                  <a:schemeClr val="dk1"/>
                </a:solidFill>
                <a:latin typeface="Calibri"/>
                <a:ea typeface="Calibri"/>
                <a:cs typeface="Calibri"/>
                <a:sym typeface="Calibri"/>
              </a:rPr>
              <a:t>a</a:t>
            </a:r>
            <a:r>
              <a:rPr lang="en-US" sz="2000" b="0" i="0" u="sng" strike="noStrike" cap="none" dirty="0">
                <a:solidFill>
                  <a:schemeClr val="dk1"/>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ntonio.emmanuel.saldana@upc.edu</a:t>
            </a:r>
            <a:endParaRPr sz="2400" b="0" i="0" u="none" strike="noStrike" cap="none" dirty="0">
              <a:solidFill>
                <a:srgbClr val="0070C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000"/>
              <a:buFont typeface="Calibri"/>
              <a:buNone/>
            </a:pPr>
            <a:endParaRPr sz="2000" b="0" i="0" u="sng" strike="noStrike" cap="none" dirty="0">
              <a:solidFill>
                <a:srgbClr val="0070C0"/>
              </a:solidFill>
              <a:latin typeface="Calibri"/>
              <a:ea typeface="Calibri"/>
              <a:cs typeface="Calibri"/>
              <a:sym typeface="Calibri"/>
            </a:endParaRPr>
          </a:p>
          <a:p>
            <a:pPr marL="0" marR="0" lvl="0" indent="0" algn="ctr" rtl="0">
              <a:lnSpc>
                <a:spcPct val="100000"/>
              </a:lnSpc>
              <a:spcBef>
                <a:spcPts val="0"/>
              </a:spcBef>
              <a:spcAft>
                <a:spcPts val="0"/>
              </a:spcAft>
              <a:buClr>
                <a:schemeClr val="dk1"/>
              </a:buClr>
              <a:buSzPts val="2000"/>
              <a:buFont typeface="Calibri"/>
              <a:buNone/>
            </a:pPr>
            <a:endParaRPr sz="2000" b="0" i="0" u="none" strike="noStrike" cap="none" dirty="0">
              <a:solidFill>
                <a:srgbClr val="0070C0"/>
              </a:solidFill>
              <a:latin typeface="Calibri"/>
              <a:ea typeface="Calibri"/>
              <a:cs typeface="Calibri"/>
              <a:sym typeface="Calibri"/>
            </a:endParaRPr>
          </a:p>
          <a:p>
            <a:pPr marL="0" marR="0" lvl="0" indent="0" algn="ctr" rtl="0">
              <a:lnSpc>
                <a:spcPct val="100000"/>
              </a:lnSpc>
              <a:spcBef>
                <a:spcPts val="0"/>
              </a:spcBef>
              <a:spcAft>
                <a:spcPts val="0"/>
              </a:spcAft>
              <a:buClr>
                <a:schemeClr val="dk1"/>
              </a:buClr>
              <a:buSzPts val="2400"/>
              <a:buFont typeface="Calibri"/>
              <a:buNone/>
            </a:pPr>
            <a:endParaRPr sz="2400" b="0" i="0" u="none" strike="noStrike" cap="none" dirty="0">
              <a:solidFill>
                <a:schemeClr val="dk1"/>
              </a:solidFill>
              <a:latin typeface="Calibri"/>
              <a:ea typeface="Calibri"/>
              <a:cs typeface="Calibri"/>
              <a:sym typeface="Calibri"/>
            </a:endParaRPr>
          </a:p>
        </p:txBody>
      </p:sp>
      <p:sp>
        <p:nvSpPr>
          <p:cNvPr id="84" name="Google Shape;84;p1"/>
          <p:cNvSpPr txBox="1">
            <a:spLocks noGrp="1"/>
          </p:cNvSpPr>
          <p:nvPr>
            <p:ph type="subTitle" idx="1"/>
          </p:nvPr>
        </p:nvSpPr>
        <p:spPr>
          <a:xfrm>
            <a:off x="1237268" y="3257229"/>
            <a:ext cx="6858000" cy="805205"/>
          </a:xfrm>
          <a:prstGeom prst="rect">
            <a:avLst/>
          </a:prstGeom>
          <a:noFill/>
          <a:ln>
            <a:noFill/>
          </a:ln>
        </p:spPr>
        <p:txBody>
          <a:bodyPr spcFirstLastPara="1" wrap="square" lIns="91425" tIns="45700" rIns="91425" bIns="45700" anchor="t" anchorCtr="0">
            <a:noAutofit/>
          </a:bodyPr>
          <a:lstStyle/>
          <a:p>
            <a:pPr marL="457200" lvl="0" indent="-406400" algn="ctr" rtl="0">
              <a:lnSpc>
                <a:spcPct val="90000"/>
              </a:lnSpc>
              <a:spcBef>
                <a:spcPts val="1000"/>
              </a:spcBef>
              <a:spcAft>
                <a:spcPts val="0"/>
              </a:spcAft>
              <a:buClr>
                <a:srgbClr val="7F7F7F"/>
              </a:buClr>
              <a:buSzPts val="3200"/>
              <a:buFont typeface="Calibri"/>
              <a:buNone/>
            </a:pPr>
            <a:r>
              <a:rPr lang="en-US" sz="2800"/>
              <a:t>Introducción a Big Data y Machine Learning </a:t>
            </a:r>
            <a:endParaRPr sz="2800"/>
          </a:p>
        </p:txBody>
      </p:sp>
      <p:sp>
        <p:nvSpPr>
          <p:cNvPr id="85" name="Google Shape;85;p1"/>
          <p:cNvSpPr/>
          <p:nvPr/>
        </p:nvSpPr>
        <p:spPr>
          <a:xfrm>
            <a:off x="1143000" y="2274891"/>
            <a:ext cx="7315199" cy="923278"/>
          </a:xfrm>
          <a:prstGeom prst="rect">
            <a:avLst/>
          </a:prstGeom>
          <a:solidFill>
            <a:schemeClr val="lt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4400"/>
              <a:buFont typeface="Arial"/>
              <a:buNone/>
            </a:pPr>
            <a:r>
              <a:rPr lang="en-US" sz="4400" b="0" i="0" u="none" strike="noStrike" cap="none">
                <a:solidFill>
                  <a:schemeClr val="dk1"/>
                </a:solidFill>
                <a:latin typeface="Calibri"/>
                <a:ea typeface="Calibri"/>
                <a:cs typeface="Calibri"/>
                <a:sym typeface="Calibri"/>
              </a:rPr>
              <a:t>Tecnologías Aplicadas a la Mecatrónica 4.0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4400"/>
              <a:buFont typeface="Arial"/>
              <a:buNone/>
            </a:pPr>
            <a:endParaRPr sz="4400" b="0" i="0" u="none" strike="noStrike" cap="non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7"/>
          <p:cNvSpPr txBox="1"/>
          <p:nvPr/>
        </p:nvSpPr>
        <p:spPr>
          <a:xfrm>
            <a:off x="269223" y="699314"/>
            <a:ext cx="1966500" cy="330300"/>
          </a:xfrm>
          <a:prstGeom prst="rect">
            <a:avLst/>
          </a:prstGeom>
          <a:noFill/>
          <a:ln>
            <a:noFill/>
          </a:ln>
        </p:spPr>
        <p:txBody>
          <a:bodyPr spcFirstLastPara="1" wrap="square" lIns="0" tIns="12700" rIns="0" bIns="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FFFFFF"/>
                </a:solidFill>
                <a:latin typeface="Calibri"/>
                <a:ea typeface="Calibri"/>
                <a:cs typeface="Calibri"/>
                <a:sym typeface="Calibri"/>
              </a:rPr>
              <a:t>MECATRÓNICA 4.0</a:t>
            </a:r>
            <a:endParaRPr sz="2000" b="0" i="0" u="none" strike="noStrike" cap="none">
              <a:solidFill>
                <a:schemeClr val="dk1"/>
              </a:solidFill>
              <a:latin typeface="Calibri"/>
              <a:ea typeface="Calibri"/>
              <a:cs typeface="Calibri"/>
              <a:sym typeface="Calibri"/>
            </a:endParaRPr>
          </a:p>
        </p:txBody>
      </p:sp>
      <p:sp>
        <p:nvSpPr>
          <p:cNvPr id="91" name="Google Shape;91;p7"/>
          <p:cNvSpPr txBox="1"/>
          <p:nvPr/>
        </p:nvSpPr>
        <p:spPr>
          <a:xfrm>
            <a:off x="6791200" y="192470"/>
            <a:ext cx="2101800" cy="2388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400"/>
              <a:buFont typeface="Arial"/>
              <a:buNone/>
            </a:pPr>
            <a:r>
              <a:rPr lang="en-US" sz="1400" b="1" i="0" u="none" strike="noStrike" cap="none" dirty="0" err="1">
                <a:solidFill>
                  <a:srgbClr val="FFFFFF"/>
                </a:solidFill>
                <a:latin typeface="Calibri"/>
                <a:ea typeface="Calibri"/>
                <a:cs typeface="Calibri"/>
                <a:sym typeface="Calibri"/>
              </a:rPr>
              <a:t>Digitalización</a:t>
            </a:r>
            <a:r>
              <a:rPr lang="en-US" sz="1400" b="1" i="0" u="none" strike="noStrike" cap="none" dirty="0">
                <a:solidFill>
                  <a:srgbClr val="FFFFFF"/>
                </a:solidFill>
                <a:latin typeface="Calibri"/>
                <a:ea typeface="Calibri"/>
                <a:cs typeface="Calibri"/>
                <a:sym typeface="Calibri"/>
              </a:rPr>
              <a:t> en la </a:t>
            </a:r>
            <a:r>
              <a:rPr lang="en-US" sz="1400" b="1" i="0" u="none" strike="noStrike" cap="none" dirty="0" err="1">
                <a:solidFill>
                  <a:srgbClr val="FFFFFF"/>
                </a:solidFill>
                <a:latin typeface="Calibri"/>
                <a:ea typeface="Calibri"/>
                <a:cs typeface="Calibri"/>
                <a:sym typeface="Calibri"/>
              </a:rPr>
              <a:t>Industria</a:t>
            </a:r>
            <a:endParaRPr sz="1400" b="0" i="0" u="none" strike="noStrike" cap="none" dirty="0">
              <a:solidFill>
                <a:schemeClr val="dk1"/>
              </a:solidFill>
              <a:latin typeface="Calibri"/>
              <a:ea typeface="Calibri"/>
              <a:cs typeface="Calibri"/>
              <a:sym typeface="Calibri"/>
            </a:endParaRPr>
          </a:p>
        </p:txBody>
      </p:sp>
      <p:sp>
        <p:nvSpPr>
          <p:cNvPr id="92" name="Google Shape;92;p7"/>
          <p:cNvSpPr txBox="1"/>
          <p:nvPr/>
        </p:nvSpPr>
        <p:spPr>
          <a:xfrm>
            <a:off x="6803900" y="619190"/>
            <a:ext cx="2105100" cy="238800"/>
          </a:xfrm>
          <a:prstGeom prst="rect">
            <a:avLst/>
          </a:prstGeom>
          <a:noFill/>
          <a:ln>
            <a:noFill/>
          </a:ln>
        </p:spPr>
        <p:txBody>
          <a:bodyPr spcFirstLastPara="1" wrap="square" lIns="0" tIns="12700" rIns="0" bIns="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FFFFFF"/>
                </a:solidFill>
                <a:latin typeface="Calibri"/>
                <a:ea typeface="Calibri"/>
                <a:cs typeface="Calibri"/>
                <a:sym typeface="Calibri"/>
              </a:rPr>
              <a:t>Big Data y Machine Learning</a:t>
            </a:r>
            <a:endParaRPr sz="1400" b="0" i="0" u="none" strike="noStrike" cap="none">
              <a:solidFill>
                <a:schemeClr val="dk1"/>
              </a:solidFill>
              <a:latin typeface="Calibri"/>
              <a:ea typeface="Calibri"/>
              <a:cs typeface="Calibri"/>
              <a:sym typeface="Calibri"/>
            </a:endParaRPr>
          </a:p>
        </p:txBody>
      </p:sp>
      <p:pic>
        <p:nvPicPr>
          <p:cNvPr id="93" name="Google Shape;93;p7"/>
          <p:cNvPicPr preferRelativeResize="0"/>
          <p:nvPr/>
        </p:nvPicPr>
        <p:blipFill rotWithShape="1">
          <a:blip r:embed="rId3">
            <a:alphaModFix/>
          </a:blip>
          <a:srcRect/>
          <a:stretch/>
        </p:blipFill>
        <p:spPr>
          <a:xfrm>
            <a:off x="1025595" y="2688821"/>
            <a:ext cx="545456" cy="545456"/>
          </a:xfrm>
          <a:prstGeom prst="rect">
            <a:avLst/>
          </a:prstGeom>
          <a:noFill/>
          <a:ln>
            <a:noFill/>
          </a:ln>
        </p:spPr>
      </p:pic>
      <p:sp>
        <p:nvSpPr>
          <p:cNvPr id="94" name="Google Shape;94;p7"/>
          <p:cNvSpPr txBox="1"/>
          <p:nvPr/>
        </p:nvSpPr>
        <p:spPr>
          <a:xfrm>
            <a:off x="796640" y="1156867"/>
            <a:ext cx="7917900" cy="5073184"/>
          </a:xfrm>
          <a:prstGeom prst="rect">
            <a:avLst/>
          </a:prstGeom>
          <a:noFill/>
          <a:ln>
            <a:noFill/>
          </a:ln>
        </p:spPr>
        <p:txBody>
          <a:bodyPr spcFirstLastPara="1" wrap="square" lIns="0" tIns="12700" rIns="0" bIns="0" anchor="t" anchorCtr="0">
            <a:spAutoFit/>
          </a:bodyPr>
          <a:lstStyle/>
          <a:p>
            <a:pPr marL="0" marR="366395" lvl="0" indent="0" algn="ctr" rtl="0">
              <a:lnSpc>
                <a:spcPct val="100000"/>
              </a:lnSpc>
              <a:spcBef>
                <a:spcPts val="0"/>
              </a:spcBef>
              <a:spcAft>
                <a:spcPts val="0"/>
              </a:spcAft>
              <a:buClr>
                <a:srgbClr val="000000"/>
              </a:buClr>
              <a:buSzPts val="4000"/>
              <a:buFont typeface="Arial"/>
              <a:buNone/>
            </a:pPr>
            <a:r>
              <a:rPr lang="en-US" sz="4000" b="1" i="0" u="none" strike="noStrike" cap="none" dirty="0">
                <a:solidFill>
                  <a:schemeClr val="dk1"/>
                </a:solidFill>
                <a:latin typeface="Calibri"/>
                <a:ea typeface="Calibri"/>
                <a:cs typeface="Calibri"/>
                <a:sym typeface="Calibri"/>
              </a:rPr>
              <a:t>Información Personal</a:t>
            </a:r>
            <a:endParaRPr sz="4000" b="0" i="0" u="none" strike="noStrike" cap="none" dirty="0">
              <a:solidFill>
                <a:schemeClr val="dk1"/>
              </a:solidFill>
              <a:latin typeface="Calibri"/>
              <a:ea typeface="Calibri"/>
              <a:cs typeface="Calibri"/>
              <a:sym typeface="Calibri"/>
            </a:endParaRPr>
          </a:p>
          <a:p>
            <a:pPr marL="321310" marR="0" lvl="0" indent="-309243" algn="l" rtl="0">
              <a:lnSpc>
                <a:spcPct val="100000"/>
              </a:lnSpc>
              <a:spcBef>
                <a:spcPts val="2955"/>
              </a:spcBef>
              <a:spcAft>
                <a:spcPts val="0"/>
              </a:spcAft>
              <a:buClr>
                <a:schemeClr val="dk1"/>
              </a:buClr>
              <a:buSzPts val="1800"/>
              <a:buFont typeface="Arial"/>
              <a:buChar char="•"/>
            </a:pPr>
            <a:r>
              <a:rPr lang="en-US" sz="2000" b="1" i="0" u="none" strike="noStrike" cap="none" dirty="0" err="1">
                <a:solidFill>
                  <a:schemeClr val="dk1"/>
                </a:solidFill>
                <a:latin typeface="Calibri"/>
                <a:ea typeface="Calibri"/>
                <a:cs typeface="Calibri"/>
                <a:sym typeface="Calibri"/>
              </a:rPr>
              <a:t>Nombre</a:t>
            </a:r>
            <a:r>
              <a:rPr lang="en-US" sz="2000" b="0" i="0" u="none" strike="noStrike" cap="none" dirty="0">
                <a:solidFill>
                  <a:schemeClr val="dk1"/>
                </a:solidFill>
                <a:latin typeface="Calibri"/>
                <a:ea typeface="Calibri"/>
                <a:cs typeface="Calibri"/>
                <a:sym typeface="Calibri"/>
              </a:rPr>
              <a:t>: </a:t>
            </a:r>
            <a:r>
              <a:rPr lang="es-ES" sz="2000" b="0" i="0" u="none" strike="noStrike" cap="none" dirty="0">
                <a:solidFill>
                  <a:schemeClr val="dk1"/>
                </a:solidFill>
                <a:latin typeface="Calibri"/>
                <a:ea typeface="Calibri"/>
                <a:cs typeface="Calibri"/>
                <a:sym typeface="Calibri"/>
              </a:rPr>
              <a:t>Antonio E Saldaña González</a:t>
            </a:r>
            <a:endParaRPr sz="2000" b="0" i="0" u="none" strike="noStrike" cap="none" dirty="0">
              <a:solidFill>
                <a:schemeClr val="dk1"/>
              </a:solidFill>
              <a:latin typeface="Calibri"/>
              <a:ea typeface="Calibri"/>
              <a:cs typeface="Calibri"/>
              <a:sym typeface="Calibri"/>
            </a:endParaRPr>
          </a:p>
          <a:p>
            <a:pPr marL="0" marR="0" lvl="0" indent="0" algn="l" rtl="0">
              <a:lnSpc>
                <a:spcPct val="100000"/>
              </a:lnSpc>
              <a:spcBef>
                <a:spcPts val="40"/>
              </a:spcBef>
              <a:spcAft>
                <a:spcPts val="0"/>
              </a:spcAft>
              <a:buClr>
                <a:srgbClr val="000000"/>
              </a:buClr>
              <a:buSzPts val="2200"/>
              <a:buFont typeface="Arial"/>
              <a:buNone/>
            </a:pPr>
            <a:endParaRPr sz="2200" b="0" i="0" u="none" strike="noStrike" cap="none" dirty="0">
              <a:solidFill>
                <a:schemeClr val="dk1"/>
              </a:solidFill>
              <a:latin typeface="Calibri"/>
              <a:ea typeface="Calibri"/>
              <a:cs typeface="Calibri"/>
              <a:sym typeface="Calibri"/>
            </a:endParaRPr>
          </a:p>
          <a:p>
            <a:pPr marL="859788"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Calibri"/>
                <a:ea typeface="Calibri"/>
                <a:cs typeface="Calibri"/>
                <a:sym typeface="Calibri"/>
                <a:hlinkClick r:id="rId4"/>
              </a:rPr>
              <a:t>www.linkedin.com/in/antonio-saldaña-070b79197</a:t>
            </a:r>
            <a:endParaRPr lang="en-US" sz="1800" b="0" i="0" u="none" strike="noStrike" cap="none" dirty="0">
              <a:solidFill>
                <a:schemeClr val="dk1"/>
              </a:solidFill>
              <a:latin typeface="Calibri"/>
              <a:ea typeface="Calibri"/>
              <a:cs typeface="Calibri"/>
              <a:sym typeface="Calibri"/>
            </a:endParaRPr>
          </a:p>
          <a:p>
            <a:pPr marL="859788" marR="0" lvl="0" indent="0" algn="l" rtl="0">
              <a:lnSpc>
                <a:spcPct val="100000"/>
              </a:lnSpc>
              <a:spcBef>
                <a:spcPts val="0"/>
              </a:spcBef>
              <a:spcAft>
                <a:spcPts val="0"/>
              </a:spcAft>
              <a:buClr>
                <a:srgbClr val="000000"/>
              </a:buClr>
              <a:buSzPts val="1800"/>
              <a:buFont typeface="Arial"/>
              <a:buNone/>
            </a:pPr>
            <a:endParaRPr lang="en-US" sz="1800" b="0" i="0" u="none" strike="noStrike" cap="none" dirty="0">
              <a:solidFill>
                <a:schemeClr val="dk1"/>
              </a:solidFill>
              <a:latin typeface="Calibri"/>
              <a:ea typeface="Calibri"/>
              <a:cs typeface="Calibri"/>
              <a:sym typeface="Calibri"/>
            </a:endParaRPr>
          </a:p>
          <a:p>
            <a:pPr marL="321310" marR="0" lvl="0" indent="-309243" algn="l" rtl="0">
              <a:lnSpc>
                <a:spcPct val="100000"/>
              </a:lnSpc>
              <a:spcBef>
                <a:spcPts val="415"/>
              </a:spcBef>
              <a:spcAft>
                <a:spcPts val="0"/>
              </a:spcAft>
              <a:buClr>
                <a:schemeClr val="dk1"/>
              </a:buClr>
              <a:buSzPts val="1800"/>
              <a:buFont typeface="Arial"/>
              <a:buChar char="•"/>
            </a:pPr>
            <a:r>
              <a:rPr lang="en-US" sz="2000" b="1" i="0" u="none" strike="noStrike" cap="none" dirty="0">
                <a:solidFill>
                  <a:schemeClr val="dk1"/>
                </a:solidFill>
                <a:latin typeface="Calibri"/>
                <a:ea typeface="Calibri"/>
                <a:cs typeface="Calibri"/>
                <a:sym typeface="Calibri"/>
              </a:rPr>
              <a:t>Centro</a:t>
            </a:r>
            <a:r>
              <a:rPr lang="en-US" sz="2000" b="0" i="0" u="none" strike="noStrike" cap="none" dirty="0">
                <a:solidFill>
                  <a:schemeClr val="dk1"/>
                </a:solidFill>
                <a:latin typeface="Calibri"/>
                <a:ea typeface="Calibri"/>
                <a:cs typeface="Calibri"/>
                <a:sym typeface="Calibri"/>
              </a:rPr>
              <a:t>: CITCEA-UPC (ETSEIB)</a:t>
            </a:r>
          </a:p>
          <a:p>
            <a:pPr marL="321310" marR="0" lvl="0" indent="-309243" algn="l" rtl="0">
              <a:lnSpc>
                <a:spcPct val="100000"/>
              </a:lnSpc>
              <a:spcBef>
                <a:spcPts val="1700"/>
              </a:spcBef>
              <a:spcAft>
                <a:spcPts val="0"/>
              </a:spcAft>
              <a:buClr>
                <a:schemeClr val="dk1"/>
              </a:buClr>
              <a:buSzPts val="1800"/>
              <a:buFont typeface="Arial"/>
              <a:buChar char="•"/>
            </a:pPr>
            <a:r>
              <a:rPr lang="en-US" sz="2000" b="1" i="0" u="none" strike="noStrike" cap="none" dirty="0">
                <a:solidFill>
                  <a:schemeClr val="dk1"/>
                </a:solidFill>
                <a:latin typeface="Calibri"/>
                <a:ea typeface="Calibri"/>
                <a:cs typeface="Calibri"/>
                <a:sym typeface="Calibri"/>
              </a:rPr>
              <a:t>Email</a:t>
            </a:r>
            <a:r>
              <a:rPr lang="en-US" sz="2000" b="0" i="0" u="none" strike="noStrike" cap="none" dirty="0">
                <a:solidFill>
                  <a:schemeClr val="dk1"/>
                </a:solidFill>
                <a:latin typeface="Calibri"/>
                <a:ea typeface="Calibri"/>
                <a:cs typeface="Calibri"/>
                <a:sym typeface="Calibri"/>
              </a:rPr>
              <a:t>:</a:t>
            </a:r>
            <a:r>
              <a:rPr lang="en-US" sz="2000" b="0" i="0" u="none" strike="noStrike" cap="none" dirty="0">
                <a:solidFill>
                  <a:srgbClr val="0563C1"/>
                </a:solidFill>
                <a:latin typeface="Calibri"/>
                <a:ea typeface="Calibri"/>
                <a:cs typeface="Calibri"/>
                <a:sym typeface="Calibri"/>
              </a:rPr>
              <a:t> </a:t>
            </a:r>
            <a:r>
              <a:rPr lang="en-US" sz="2000" u="sng" dirty="0">
                <a:solidFill>
                  <a:srgbClr val="0563C1"/>
                </a:solidFill>
                <a:latin typeface="Calibri"/>
                <a:ea typeface="Calibri"/>
                <a:cs typeface="Calibri"/>
                <a:sym typeface="Calibri"/>
              </a:rPr>
              <a:t>a</a:t>
            </a:r>
            <a:r>
              <a:rPr lang="en-US" sz="2000" b="0" i="0" u="sng" strike="noStrike" cap="none" dirty="0">
                <a:solidFill>
                  <a:srgbClr val="0563C1"/>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ntonio.emmanuel.saldana@upc.edu</a:t>
            </a:r>
            <a:endParaRPr sz="2000" b="0" i="0" u="none" strike="noStrike" cap="none" dirty="0">
              <a:solidFill>
                <a:schemeClr val="dk1"/>
              </a:solidFill>
              <a:latin typeface="Calibri"/>
              <a:ea typeface="Calibri"/>
              <a:cs typeface="Calibri"/>
              <a:sym typeface="Calibri"/>
            </a:endParaRPr>
          </a:p>
          <a:p>
            <a:pPr marL="321310" marR="0" lvl="0" indent="-309243" algn="l" rtl="0">
              <a:lnSpc>
                <a:spcPct val="100000"/>
              </a:lnSpc>
              <a:spcBef>
                <a:spcPts val="1700"/>
              </a:spcBef>
              <a:spcAft>
                <a:spcPts val="0"/>
              </a:spcAft>
              <a:buClr>
                <a:schemeClr val="dk1"/>
              </a:buClr>
              <a:buSzPts val="1800"/>
              <a:buFont typeface="Arial"/>
              <a:buChar char="•"/>
            </a:pPr>
            <a:r>
              <a:rPr lang="en-US" sz="2000" b="0" i="0" u="none" strike="noStrike" cap="none" dirty="0" err="1">
                <a:solidFill>
                  <a:schemeClr val="dk1"/>
                </a:solidFill>
                <a:latin typeface="Calibri"/>
                <a:ea typeface="Calibri"/>
                <a:cs typeface="Calibri"/>
                <a:sym typeface="Calibri"/>
              </a:rPr>
              <a:t>Oficina</a:t>
            </a:r>
            <a:r>
              <a:rPr lang="en-US" sz="2000" b="0" i="0" u="none" strike="noStrike" cap="none" dirty="0">
                <a:solidFill>
                  <a:schemeClr val="dk1"/>
                </a:solidFill>
                <a:latin typeface="Calibri"/>
                <a:ea typeface="Calibri"/>
                <a:cs typeface="Calibri"/>
                <a:sym typeface="Calibri"/>
              </a:rPr>
              <a:t> 23.27 </a:t>
            </a:r>
            <a:r>
              <a:rPr lang="en-US" sz="2000" b="0" i="0" u="none" strike="noStrike" cap="none" dirty="0" err="1">
                <a:solidFill>
                  <a:schemeClr val="dk1"/>
                </a:solidFill>
                <a:latin typeface="Calibri"/>
                <a:ea typeface="Calibri"/>
                <a:cs typeface="Calibri"/>
                <a:sym typeface="Calibri"/>
              </a:rPr>
              <a:t>Pavelló</a:t>
            </a:r>
            <a:r>
              <a:rPr lang="en-US" sz="2000" b="0" i="0" u="none" strike="noStrike" cap="none" dirty="0">
                <a:solidFill>
                  <a:schemeClr val="dk1"/>
                </a:solidFill>
                <a:latin typeface="Calibri"/>
                <a:ea typeface="Calibri"/>
                <a:cs typeface="Calibri"/>
                <a:sym typeface="Calibri"/>
              </a:rPr>
              <a:t> G, ETSEIB – </a:t>
            </a:r>
            <a:r>
              <a:rPr lang="en-US" sz="2000" b="0" i="0" u="none" strike="noStrike" cap="none" dirty="0" err="1">
                <a:solidFill>
                  <a:schemeClr val="dk1"/>
                </a:solidFill>
                <a:latin typeface="Calibri"/>
                <a:ea typeface="Calibri"/>
                <a:cs typeface="Calibri"/>
                <a:sym typeface="Calibri"/>
              </a:rPr>
              <a:t>Departamento</a:t>
            </a:r>
            <a:r>
              <a:rPr lang="en-US" sz="2000" b="0" i="0" u="none" strike="noStrike" cap="none" dirty="0">
                <a:solidFill>
                  <a:schemeClr val="dk1"/>
                </a:solidFill>
                <a:latin typeface="Calibri"/>
                <a:ea typeface="Calibri"/>
                <a:cs typeface="Calibri"/>
                <a:sym typeface="Calibri"/>
              </a:rPr>
              <a:t> de </a:t>
            </a:r>
            <a:r>
              <a:rPr lang="en-US" sz="2000" b="0" i="0" u="none" strike="noStrike" cap="none" dirty="0" err="1">
                <a:solidFill>
                  <a:schemeClr val="dk1"/>
                </a:solidFill>
                <a:latin typeface="Calibri"/>
                <a:ea typeface="Calibri"/>
                <a:cs typeface="Calibri"/>
                <a:sym typeface="Calibri"/>
              </a:rPr>
              <a:t>Ingeniería</a:t>
            </a:r>
            <a:r>
              <a:rPr lang="en-US" sz="2000" b="0" i="0" u="none" strike="noStrike" cap="none" dirty="0">
                <a:solidFill>
                  <a:schemeClr val="dk1"/>
                </a:solidFill>
                <a:latin typeface="Calibri"/>
                <a:ea typeface="Calibri"/>
                <a:cs typeface="Calibri"/>
                <a:sym typeface="Calibri"/>
              </a:rPr>
              <a:t> </a:t>
            </a:r>
            <a:r>
              <a:rPr lang="en-US" sz="2000" b="0" i="0" u="none" strike="noStrike" cap="none" dirty="0" err="1">
                <a:solidFill>
                  <a:schemeClr val="dk1"/>
                </a:solidFill>
                <a:latin typeface="Calibri"/>
                <a:ea typeface="Calibri"/>
                <a:cs typeface="Calibri"/>
                <a:sym typeface="Calibri"/>
              </a:rPr>
              <a:t>Eléctrica</a:t>
            </a:r>
            <a:r>
              <a:rPr lang="en-US" sz="2000" b="0" i="0" u="none" strike="noStrike" cap="none" dirty="0">
                <a:solidFill>
                  <a:schemeClr val="dk1"/>
                </a:solidFill>
                <a:latin typeface="Calibri"/>
                <a:ea typeface="Calibri"/>
                <a:cs typeface="Calibri"/>
                <a:sym typeface="Calibri"/>
              </a:rPr>
              <a:t>.</a:t>
            </a:r>
            <a:endParaRPr sz="2000" b="0" i="0" u="none" strike="noStrike" cap="none" dirty="0">
              <a:solidFill>
                <a:schemeClr val="dk1"/>
              </a:solidFill>
              <a:latin typeface="Calibri"/>
              <a:ea typeface="Calibri"/>
              <a:cs typeface="Calibri"/>
              <a:sym typeface="Calibri"/>
            </a:endParaRPr>
          </a:p>
          <a:p>
            <a:pPr marL="321310" marR="5080" lvl="0" indent="-309243" algn="just" rtl="0">
              <a:lnSpc>
                <a:spcPct val="150000"/>
              </a:lnSpc>
              <a:spcBef>
                <a:spcPts val="500"/>
              </a:spcBef>
              <a:spcAft>
                <a:spcPts val="0"/>
              </a:spcAft>
              <a:buClr>
                <a:schemeClr val="dk1"/>
              </a:buClr>
              <a:buSzPts val="1800"/>
              <a:buFont typeface="Arial"/>
              <a:buChar char="•"/>
            </a:pPr>
            <a:r>
              <a:rPr lang="en-US" sz="2000" b="1" i="0" u="none" strike="noStrike" cap="none" dirty="0">
                <a:solidFill>
                  <a:schemeClr val="dk1"/>
                </a:solidFill>
                <a:latin typeface="Calibri"/>
                <a:ea typeface="Calibri"/>
                <a:cs typeface="Calibri"/>
                <a:sym typeface="Calibri"/>
              </a:rPr>
              <a:t>Campos de </a:t>
            </a:r>
            <a:r>
              <a:rPr lang="en-US" sz="2000" b="1" i="0" u="none" strike="noStrike" cap="none" dirty="0" err="1">
                <a:solidFill>
                  <a:schemeClr val="dk1"/>
                </a:solidFill>
                <a:latin typeface="Calibri"/>
                <a:ea typeface="Calibri"/>
                <a:cs typeface="Calibri"/>
                <a:sym typeface="Calibri"/>
              </a:rPr>
              <a:t>investigación</a:t>
            </a:r>
            <a:r>
              <a:rPr lang="en-US" sz="2000" b="0" i="0" u="none" strike="noStrike" cap="none" dirty="0">
                <a:solidFill>
                  <a:schemeClr val="dk1"/>
                </a:solidFill>
                <a:latin typeface="Calibri"/>
                <a:ea typeface="Calibri"/>
                <a:cs typeface="Calibri"/>
                <a:sym typeface="Calibri"/>
              </a:rPr>
              <a:t>: </a:t>
            </a:r>
            <a:r>
              <a:rPr lang="en-US" sz="2000" b="0" i="0" u="none" strike="noStrike" cap="none" dirty="0" err="1">
                <a:solidFill>
                  <a:schemeClr val="dk1"/>
                </a:solidFill>
                <a:latin typeface="Calibri"/>
                <a:ea typeface="Calibri"/>
                <a:cs typeface="Calibri"/>
                <a:sym typeface="Calibri"/>
              </a:rPr>
              <a:t>Planificación</a:t>
            </a:r>
            <a:r>
              <a:rPr lang="en-US" sz="2000" b="0" i="0" u="none" strike="noStrike" cap="none" dirty="0">
                <a:solidFill>
                  <a:schemeClr val="dk1"/>
                </a:solidFill>
                <a:latin typeface="Calibri"/>
                <a:ea typeface="Calibri"/>
                <a:cs typeface="Calibri"/>
                <a:sym typeface="Calibri"/>
              </a:rPr>
              <a:t> de redes de </a:t>
            </a:r>
            <a:r>
              <a:rPr lang="en-US" sz="2000" b="0" i="0" u="none" strike="noStrike" cap="none" dirty="0" err="1">
                <a:solidFill>
                  <a:schemeClr val="dk1"/>
                </a:solidFill>
                <a:latin typeface="Calibri"/>
                <a:ea typeface="Calibri"/>
                <a:cs typeface="Calibri"/>
                <a:sym typeface="Calibri"/>
              </a:rPr>
              <a:t>distribución</a:t>
            </a:r>
            <a:r>
              <a:rPr lang="en-US" sz="2000" b="0" i="0" u="none" strike="noStrike" cap="none" dirty="0">
                <a:solidFill>
                  <a:schemeClr val="dk1"/>
                </a:solidFill>
                <a:latin typeface="Calibri"/>
                <a:ea typeface="Calibri"/>
                <a:cs typeface="Calibri"/>
                <a:sym typeface="Calibri"/>
              </a:rPr>
              <a:t>, </a:t>
            </a:r>
            <a:r>
              <a:rPr lang="en-US" sz="2000" dirty="0" err="1">
                <a:solidFill>
                  <a:schemeClr val="dk1"/>
                </a:solidFill>
                <a:latin typeface="Calibri"/>
                <a:ea typeface="Calibri"/>
                <a:cs typeface="Calibri"/>
                <a:sym typeface="Calibri"/>
              </a:rPr>
              <a:t>Integración</a:t>
            </a:r>
            <a:r>
              <a:rPr lang="en-US" sz="2000" dirty="0">
                <a:solidFill>
                  <a:schemeClr val="dk1"/>
                </a:solidFill>
                <a:latin typeface="Calibri"/>
                <a:ea typeface="Calibri"/>
                <a:cs typeface="Calibri"/>
                <a:sym typeface="Calibri"/>
              </a:rPr>
              <a:t> </a:t>
            </a:r>
            <a:r>
              <a:rPr lang="en-US" sz="2000" dirty="0" err="1">
                <a:solidFill>
                  <a:schemeClr val="dk1"/>
                </a:solidFill>
                <a:latin typeface="Calibri"/>
                <a:ea typeface="Calibri"/>
                <a:cs typeface="Calibri"/>
                <a:sym typeface="Calibri"/>
              </a:rPr>
              <a:t>óptima</a:t>
            </a:r>
            <a:r>
              <a:rPr lang="en-US" sz="2000" dirty="0">
                <a:solidFill>
                  <a:schemeClr val="dk1"/>
                </a:solidFill>
                <a:latin typeface="Calibri"/>
                <a:ea typeface="Calibri"/>
                <a:cs typeface="Calibri"/>
                <a:sym typeface="Calibri"/>
              </a:rPr>
              <a:t> de </a:t>
            </a:r>
            <a:r>
              <a:rPr lang="en-US" sz="2000" dirty="0" err="1">
                <a:solidFill>
                  <a:schemeClr val="dk1"/>
                </a:solidFill>
                <a:latin typeface="Calibri"/>
                <a:ea typeface="Calibri"/>
                <a:cs typeface="Calibri"/>
                <a:sym typeface="Calibri"/>
              </a:rPr>
              <a:t>renovables</a:t>
            </a:r>
            <a:r>
              <a:rPr lang="en-US" sz="2000" dirty="0">
                <a:solidFill>
                  <a:schemeClr val="dk1"/>
                </a:solidFill>
                <a:latin typeface="Calibri"/>
                <a:ea typeface="Calibri"/>
                <a:cs typeface="Calibri"/>
                <a:sym typeface="Calibri"/>
              </a:rPr>
              <a:t> y </a:t>
            </a:r>
            <a:r>
              <a:rPr lang="en-US" sz="2000" dirty="0" err="1">
                <a:solidFill>
                  <a:schemeClr val="dk1"/>
                </a:solidFill>
                <a:latin typeface="Calibri"/>
                <a:ea typeface="Calibri"/>
                <a:cs typeface="Calibri"/>
                <a:sym typeface="Calibri"/>
              </a:rPr>
              <a:t>vehiculos</a:t>
            </a:r>
            <a:r>
              <a:rPr lang="en-US" sz="2000" dirty="0">
                <a:solidFill>
                  <a:schemeClr val="dk1"/>
                </a:solidFill>
                <a:latin typeface="Calibri"/>
                <a:ea typeface="Calibri"/>
                <a:cs typeface="Calibri"/>
                <a:sym typeface="Calibri"/>
              </a:rPr>
              <a:t> </a:t>
            </a:r>
            <a:r>
              <a:rPr lang="en-US" sz="2000" dirty="0" err="1">
                <a:solidFill>
                  <a:schemeClr val="dk1"/>
                </a:solidFill>
                <a:latin typeface="Calibri"/>
                <a:ea typeface="Calibri"/>
                <a:cs typeface="Calibri"/>
                <a:sym typeface="Calibri"/>
              </a:rPr>
              <a:t>eléctricos</a:t>
            </a:r>
            <a:r>
              <a:rPr lang="en-US" sz="2000" dirty="0">
                <a:solidFill>
                  <a:schemeClr val="dk1"/>
                </a:solidFill>
                <a:latin typeface="Calibri"/>
                <a:ea typeface="Calibri"/>
                <a:cs typeface="Calibri"/>
                <a:sym typeface="Calibri"/>
              </a:rPr>
              <a:t>, modelos </a:t>
            </a:r>
            <a:r>
              <a:rPr lang="en-US" sz="2000" dirty="0" err="1">
                <a:solidFill>
                  <a:schemeClr val="dk1"/>
                </a:solidFill>
                <a:latin typeface="Calibri"/>
                <a:ea typeface="Calibri"/>
                <a:cs typeface="Calibri"/>
                <a:sym typeface="Calibri"/>
              </a:rPr>
              <a:t>supervisados</a:t>
            </a:r>
            <a:r>
              <a:rPr lang="en-US" sz="2000" dirty="0">
                <a:solidFill>
                  <a:schemeClr val="dk1"/>
                </a:solidFill>
                <a:latin typeface="Calibri"/>
                <a:ea typeface="Calibri"/>
                <a:cs typeface="Calibri"/>
                <a:sym typeface="Calibri"/>
              </a:rPr>
              <a:t> para </a:t>
            </a:r>
            <a:r>
              <a:rPr lang="en-US" sz="2000" dirty="0" err="1">
                <a:solidFill>
                  <a:schemeClr val="dk1"/>
                </a:solidFill>
                <a:latin typeface="Calibri"/>
                <a:ea typeface="Calibri"/>
                <a:cs typeface="Calibri"/>
                <a:sym typeface="Calibri"/>
              </a:rPr>
              <a:t>predicción</a:t>
            </a:r>
            <a:r>
              <a:rPr lang="en-US" sz="2000" dirty="0">
                <a:solidFill>
                  <a:schemeClr val="dk1"/>
                </a:solidFill>
                <a:latin typeface="Calibri"/>
                <a:ea typeface="Calibri"/>
                <a:cs typeface="Calibri"/>
                <a:sym typeface="Calibri"/>
              </a:rPr>
              <a:t> de </a:t>
            </a:r>
            <a:r>
              <a:rPr lang="en-US" sz="2000" dirty="0" err="1">
                <a:solidFill>
                  <a:schemeClr val="dk1"/>
                </a:solidFill>
                <a:latin typeface="Calibri"/>
                <a:ea typeface="Calibri"/>
                <a:cs typeface="Calibri"/>
                <a:sym typeface="Calibri"/>
              </a:rPr>
              <a:t>energía</a:t>
            </a:r>
            <a:r>
              <a:rPr lang="en-US" sz="2000" dirty="0">
                <a:solidFill>
                  <a:schemeClr val="dk1"/>
                </a:solidFill>
                <a:latin typeface="Calibri"/>
                <a:ea typeface="Calibri"/>
                <a:cs typeface="Calibri"/>
                <a:sym typeface="Calibri"/>
              </a:rPr>
              <a:t> e </a:t>
            </a:r>
            <a:r>
              <a:rPr lang="en-US" sz="2000" dirty="0" err="1">
                <a:solidFill>
                  <a:schemeClr val="dk1"/>
                </a:solidFill>
                <a:latin typeface="Calibri"/>
                <a:ea typeface="Calibri"/>
                <a:cs typeface="Calibri"/>
                <a:sym typeface="Calibri"/>
              </a:rPr>
              <a:t>inversiones</a:t>
            </a:r>
            <a:r>
              <a:rPr lang="en-US" sz="2000" dirty="0">
                <a:solidFill>
                  <a:schemeClr val="dk1"/>
                </a:solidFill>
                <a:latin typeface="Calibri"/>
                <a:ea typeface="Calibri"/>
                <a:cs typeface="Calibri"/>
                <a:sym typeface="Calibri"/>
              </a:rPr>
              <a:t>.</a:t>
            </a:r>
            <a:endParaRPr sz="2000" b="0" i="0" u="none" strike="noStrike" cap="none" dirty="0">
              <a:solidFill>
                <a:schemeClr val="dk1"/>
              </a:solidFill>
              <a:latin typeface="Calibri"/>
              <a:ea typeface="Calibri"/>
              <a:cs typeface="Calibri"/>
              <a:sym typeface="Calibri"/>
            </a:endParaRPr>
          </a:p>
        </p:txBody>
      </p:sp>
      <p:sp>
        <p:nvSpPr>
          <p:cNvPr id="98" name="Google Shape;98;p7"/>
          <p:cNvSpPr txBox="1">
            <a:spLocks noGrp="1"/>
          </p:cNvSpPr>
          <p:nvPr>
            <p:ph type="sldNum" idx="12"/>
          </p:nvPr>
        </p:nvSpPr>
        <p:spPr>
          <a:xfrm>
            <a:off x="8314283" y="6466781"/>
            <a:ext cx="153600" cy="177900"/>
          </a:xfrm>
          <a:prstGeom prst="rect">
            <a:avLst/>
          </a:prstGeom>
          <a:noFill/>
          <a:ln>
            <a:noFill/>
          </a:ln>
        </p:spPr>
        <p:txBody>
          <a:bodyPr spcFirstLastPara="1" wrap="square" lIns="0" tIns="0" rIns="0" bIns="0" anchor="t" anchorCtr="0">
            <a:spAutoFit/>
          </a:bodyPr>
          <a:lstStyle/>
          <a:p>
            <a:pPr marL="38100" lvl="0" indent="0" algn="l" rtl="0">
              <a:lnSpc>
                <a:spcPct val="103333"/>
              </a:lnSpc>
              <a:spcBef>
                <a:spcPts val="0"/>
              </a:spcBef>
              <a:spcAft>
                <a:spcPts val="0"/>
              </a:spcAft>
              <a:buSzPts val="1200"/>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12"/>
          <p:cNvSpPr txBox="1">
            <a:spLocks noGrp="1"/>
          </p:cNvSpPr>
          <p:nvPr>
            <p:ph type="sldNum" idx="12"/>
          </p:nvPr>
        </p:nvSpPr>
        <p:spPr>
          <a:xfrm>
            <a:off x="6457950" y="6356355"/>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1200">
                <a:solidFill>
                  <a:srgbClr val="000000"/>
                </a:solidFill>
                <a:latin typeface="Calibri"/>
                <a:ea typeface="Calibri"/>
                <a:cs typeface="Calibri"/>
                <a:sym typeface="Calibri"/>
              </a:rPr>
              <a:t>3</a:t>
            </a:fld>
            <a:endParaRPr sz="1200">
              <a:solidFill>
                <a:srgbClr val="000000"/>
              </a:solidFill>
              <a:latin typeface="Calibri"/>
              <a:ea typeface="Calibri"/>
              <a:cs typeface="Calibri"/>
              <a:sym typeface="Calibri"/>
            </a:endParaRPr>
          </a:p>
        </p:txBody>
      </p:sp>
      <p:graphicFrame>
        <p:nvGraphicFramePr>
          <p:cNvPr id="176" name="Google Shape;176;p12"/>
          <p:cNvGraphicFramePr/>
          <p:nvPr/>
        </p:nvGraphicFramePr>
        <p:xfrm>
          <a:off x="667706" y="1676435"/>
          <a:ext cx="7920025" cy="4498948"/>
        </p:xfrm>
        <a:graphic>
          <a:graphicData uri="http://schemas.openxmlformats.org/drawingml/2006/table">
            <a:tbl>
              <a:tblPr>
                <a:noFill/>
              </a:tblPr>
              <a:tblGrid>
                <a:gridCol w="2837494">
                  <a:extLst>
                    <a:ext uri="{9D8B030D-6E8A-4147-A177-3AD203B41FA5}">
                      <a16:colId xmlns:a16="http://schemas.microsoft.com/office/drawing/2014/main" val="20000"/>
                    </a:ext>
                  </a:extLst>
                </a:gridCol>
                <a:gridCol w="1162050">
                  <a:extLst>
                    <a:ext uri="{9D8B030D-6E8A-4147-A177-3AD203B41FA5}">
                      <a16:colId xmlns:a16="http://schemas.microsoft.com/office/drawing/2014/main" val="20001"/>
                    </a:ext>
                  </a:extLst>
                </a:gridCol>
                <a:gridCol w="2705100">
                  <a:extLst>
                    <a:ext uri="{9D8B030D-6E8A-4147-A177-3AD203B41FA5}">
                      <a16:colId xmlns:a16="http://schemas.microsoft.com/office/drawing/2014/main" val="20002"/>
                    </a:ext>
                  </a:extLst>
                </a:gridCol>
                <a:gridCol w="1215381">
                  <a:extLst>
                    <a:ext uri="{9D8B030D-6E8A-4147-A177-3AD203B41FA5}">
                      <a16:colId xmlns:a16="http://schemas.microsoft.com/office/drawing/2014/main" val="20003"/>
                    </a:ext>
                  </a:extLst>
                </a:gridCol>
              </a:tblGrid>
              <a:tr h="619048">
                <a:tc>
                  <a:txBody>
                    <a:bodyPr/>
                    <a:lstStyle/>
                    <a:p>
                      <a:pPr marL="0" marR="0" lvl="0" indent="0" algn="ctr" rtl="0">
                        <a:lnSpc>
                          <a:spcPct val="100000"/>
                        </a:lnSpc>
                        <a:spcBef>
                          <a:spcPts val="0"/>
                        </a:spcBef>
                        <a:spcAft>
                          <a:spcPts val="0"/>
                        </a:spcAft>
                        <a:buClr>
                          <a:srgbClr val="FFFFFF"/>
                        </a:buClr>
                        <a:buSzPts val="1800"/>
                        <a:buFont typeface="Calibri"/>
                        <a:buNone/>
                      </a:pPr>
                      <a:r>
                        <a:rPr lang="en-US" sz="1800" b="1" i="0" u="none" strike="noStrike" cap="none" dirty="0">
                          <a:solidFill>
                            <a:srgbClr val="FFFFFF"/>
                          </a:solidFill>
                          <a:latin typeface="Calibri"/>
                          <a:ea typeface="Calibri"/>
                          <a:cs typeface="Calibri"/>
                          <a:sym typeface="Calibri"/>
                        </a:rPr>
                        <a:t>Lunes</a:t>
                      </a:r>
                      <a:endParaRPr sz="1800" u="none" strike="noStrike" cap="none" dirty="0"/>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0000"/>
                        </a:lnSpc>
                        <a:spcBef>
                          <a:spcPts val="0"/>
                        </a:spcBef>
                        <a:spcAft>
                          <a:spcPts val="0"/>
                        </a:spcAft>
                        <a:buClr>
                          <a:srgbClr val="FFFFFF"/>
                        </a:buClr>
                        <a:buSzPts val="1800"/>
                        <a:buFont typeface="Calibri"/>
                        <a:buNone/>
                      </a:pPr>
                      <a:r>
                        <a:rPr lang="en-US" sz="1800" b="1" i="0" u="none" strike="noStrike" cap="none">
                          <a:solidFill>
                            <a:srgbClr val="FFFFFF"/>
                          </a:solidFill>
                          <a:latin typeface="Calibri"/>
                          <a:ea typeface="Calibri"/>
                          <a:cs typeface="Calibri"/>
                          <a:sym typeface="Calibri"/>
                        </a:rPr>
                        <a:t>Martes</a:t>
                      </a:r>
                      <a:endParaRPr sz="1800" u="none" strike="noStrike" cap="none"/>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0000"/>
                        </a:lnSpc>
                        <a:spcBef>
                          <a:spcPts val="0"/>
                        </a:spcBef>
                        <a:spcAft>
                          <a:spcPts val="0"/>
                        </a:spcAft>
                        <a:buClr>
                          <a:srgbClr val="FFFFFF"/>
                        </a:buClr>
                        <a:buSzPts val="1800"/>
                        <a:buFont typeface="Calibri"/>
                        <a:buNone/>
                      </a:pPr>
                      <a:r>
                        <a:rPr lang="en-US" sz="1800" b="1" i="0" u="none" strike="noStrike" cap="none">
                          <a:solidFill>
                            <a:srgbClr val="FFFFFF"/>
                          </a:solidFill>
                          <a:latin typeface="Calibri"/>
                          <a:ea typeface="Calibri"/>
                          <a:cs typeface="Calibri"/>
                          <a:sym typeface="Calibri"/>
                        </a:rPr>
                        <a:t>Miércoles</a:t>
                      </a:r>
                      <a:endParaRPr sz="1800" u="none" strike="noStrike" cap="none"/>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tc>
                  <a:txBody>
                    <a:bodyPr/>
                    <a:lstStyle/>
                    <a:p>
                      <a:pPr marL="0" marR="0" lvl="0" indent="0" algn="ctr" rtl="0">
                        <a:lnSpc>
                          <a:spcPct val="100000"/>
                        </a:lnSpc>
                        <a:spcBef>
                          <a:spcPts val="0"/>
                        </a:spcBef>
                        <a:spcAft>
                          <a:spcPts val="0"/>
                        </a:spcAft>
                        <a:buClr>
                          <a:srgbClr val="FFFFFF"/>
                        </a:buClr>
                        <a:buSzPts val="1800"/>
                        <a:buFont typeface="Calibri"/>
                        <a:buNone/>
                      </a:pPr>
                      <a:r>
                        <a:rPr lang="en-US" sz="1800" b="1" i="0" u="none" strike="noStrike" cap="none">
                          <a:solidFill>
                            <a:srgbClr val="FFFFFF"/>
                          </a:solidFill>
                          <a:latin typeface="Calibri"/>
                          <a:ea typeface="Calibri"/>
                          <a:cs typeface="Calibri"/>
                          <a:sym typeface="Calibri"/>
                        </a:rPr>
                        <a:t>Jueves</a:t>
                      </a:r>
                      <a:endParaRPr sz="1800" u="none" strike="noStrike" cap="none"/>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969975">
                <a:tc>
                  <a:txBody>
                    <a:bodyPr/>
                    <a:lstStyle/>
                    <a:p>
                      <a:pPr marL="0" marR="0" lvl="0" indent="0" algn="l" rtl="0">
                        <a:lnSpc>
                          <a:spcPct val="100000"/>
                        </a:lnSpc>
                        <a:spcBef>
                          <a:spcPts val="0"/>
                        </a:spcBef>
                        <a:spcAft>
                          <a:spcPts val="0"/>
                        </a:spcAft>
                        <a:buClr>
                          <a:srgbClr val="000000"/>
                        </a:buClr>
                        <a:buSzPts val="1800"/>
                        <a:buFont typeface="Calibri"/>
                        <a:buNone/>
                      </a:pPr>
                      <a:r>
                        <a:rPr lang="en-US" sz="1400" b="1" u="none" strike="noStrike" cap="none" dirty="0">
                          <a:latin typeface="Calibri"/>
                          <a:ea typeface="Calibri"/>
                          <a:cs typeface="Calibri"/>
                          <a:sym typeface="Calibri"/>
                        </a:rPr>
                        <a:t>17</a:t>
                      </a:r>
                      <a:endParaRPr sz="1400" b="1" u="none" strike="noStrike" cap="none" dirty="0">
                        <a:latin typeface="Calibri"/>
                        <a:ea typeface="Calibri"/>
                        <a:cs typeface="Calibri"/>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E2F3"/>
                    </a:solidFill>
                  </a:tcPr>
                </a:tc>
                <a:tc>
                  <a:txBody>
                    <a:bodyPr/>
                    <a:lstStyle/>
                    <a:p>
                      <a:pPr marL="0" marR="0" lvl="0" indent="0" algn="l" rtl="0">
                        <a:lnSpc>
                          <a:spcPct val="100000"/>
                        </a:lnSpc>
                        <a:spcBef>
                          <a:spcPts val="0"/>
                        </a:spcBef>
                        <a:spcAft>
                          <a:spcPts val="0"/>
                        </a:spcAft>
                        <a:buClr>
                          <a:srgbClr val="000000"/>
                        </a:buClr>
                        <a:buSzPts val="1800"/>
                        <a:buFont typeface="Calibri"/>
                        <a:buNone/>
                      </a:pPr>
                      <a:r>
                        <a:rPr lang="en-US" sz="1400" b="1" u="none" strike="noStrike" cap="none" dirty="0">
                          <a:latin typeface="Calibri"/>
                          <a:ea typeface="Calibri"/>
                          <a:cs typeface="Calibri"/>
                          <a:sym typeface="Calibri"/>
                        </a:rPr>
                        <a:t>18</a:t>
                      </a:r>
                      <a:endParaRPr sz="1400" b="1" u="none" strike="noStrike" cap="none" dirty="0">
                        <a:latin typeface="Calibri"/>
                        <a:ea typeface="Calibri"/>
                        <a:cs typeface="Calibri"/>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E2F3"/>
                    </a:solidFill>
                  </a:tcPr>
                </a:tc>
                <a:tc>
                  <a:txBody>
                    <a:bodyPr/>
                    <a:lstStyle/>
                    <a:p>
                      <a:pPr marL="0" marR="0" lvl="0" indent="0" algn="l" rtl="0">
                        <a:lnSpc>
                          <a:spcPct val="100000"/>
                        </a:lnSpc>
                        <a:spcBef>
                          <a:spcPts val="0"/>
                        </a:spcBef>
                        <a:spcAft>
                          <a:spcPts val="0"/>
                        </a:spcAft>
                        <a:buClr>
                          <a:srgbClr val="000000"/>
                        </a:buClr>
                        <a:buSzPts val="1800"/>
                        <a:buFont typeface="Calibri"/>
                        <a:buNone/>
                      </a:pPr>
                      <a:r>
                        <a:rPr lang="en-US" sz="1400" b="1" u="none" strike="noStrike" cap="none" dirty="0">
                          <a:latin typeface="Calibri"/>
                          <a:ea typeface="Calibri"/>
                          <a:cs typeface="Calibri"/>
                          <a:sym typeface="Calibri"/>
                        </a:rPr>
                        <a:t>19</a:t>
                      </a:r>
                      <a:endParaRPr sz="1400" b="1" u="none" strike="noStrike" cap="none" dirty="0">
                        <a:latin typeface="Calibri"/>
                        <a:ea typeface="Calibri"/>
                        <a:cs typeface="Calibri"/>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E2F3"/>
                    </a:solidFill>
                  </a:tcPr>
                </a:tc>
                <a:tc>
                  <a:txBody>
                    <a:bodyPr/>
                    <a:lstStyle/>
                    <a:p>
                      <a:pPr marL="0" marR="0" lvl="0" indent="0" algn="l" rtl="0">
                        <a:lnSpc>
                          <a:spcPct val="100000"/>
                        </a:lnSpc>
                        <a:spcBef>
                          <a:spcPts val="0"/>
                        </a:spcBef>
                        <a:spcAft>
                          <a:spcPts val="0"/>
                        </a:spcAft>
                        <a:buClr>
                          <a:srgbClr val="000000"/>
                        </a:buClr>
                        <a:buSzPts val="1800"/>
                        <a:buFont typeface="Calibri"/>
                        <a:buNone/>
                      </a:pPr>
                      <a:r>
                        <a:rPr lang="en-US" sz="1400" b="1" u="none" strike="noStrike" cap="none" dirty="0">
                          <a:latin typeface="Calibri"/>
                          <a:ea typeface="Calibri"/>
                          <a:cs typeface="Calibri"/>
                          <a:sym typeface="Calibri"/>
                        </a:rPr>
                        <a:t>20</a:t>
                      </a:r>
                      <a:endParaRPr sz="1400" b="1" u="none" strike="noStrike" cap="none" dirty="0">
                        <a:latin typeface="Calibri"/>
                        <a:ea typeface="Calibri"/>
                        <a:cs typeface="Calibri"/>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E2F3"/>
                    </a:solidFill>
                  </a:tcPr>
                </a:tc>
                <a:extLst>
                  <a:ext uri="{0D108BD9-81ED-4DB2-BD59-A6C34878D82A}">
                    <a16:rowId xmlns:a16="http://schemas.microsoft.com/office/drawing/2014/main" val="10001"/>
                  </a:ext>
                </a:extLst>
              </a:tr>
              <a:tr h="969975">
                <a:tc>
                  <a:txBody>
                    <a:bodyPr/>
                    <a:lstStyle/>
                    <a:p>
                      <a:pPr marL="0" marR="0" lvl="0" indent="0" algn="l" rtl="0">
                        <a:lnSpc>
                          <a:spcPct val="100000"/>
                        </a:lnSpc>
                        <a:spcBef>
                          <a:spcPts val="0"/>
                        </a:spcBef>
                        <a:spcAft>
                          <a:spcPts val="0"/>
                        </a:spcAft>
                        <a:buClr>
                          <a:srgbClr val="000000"/>
                        </a:buClr>
                        <a:buSzPts val="1800"/>
                        <a:buFont typeface="Calibri"/>
                        <a:buNone/>
                      </a:pPr>
                      <a:r>
                        <a:rPr lang="en-US" sz="1400" b="1" u="none" strike="noStrike" cap="none" dirty="0">
                          <a:latin typeface="Calibri"/>
                          <a:ea typeface="Calibri"/>
                          <a:cs typeface="Calibri"/>
                          <a:sym typeface="Calibri"/>
                        </a:rPr>
                        <a:t>24</a:t>
                      </a:r>
                      <a:endParaRPr sz="1400" b="1" u="none" strike="noStrike" cap="none" dirty="0">
                        <a:latin typeface="Calibri"/>
                        <a:ea typeface="Calibri"/>
                        <a:cs typeface="Calibri"/>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E2F3"/>
                    </a:solidFill>
                  </a:tcPr>
                </a:tc>
                <a:tc>
                  <a:txBody>
                    <a:bodyPr/>
                    <a:lstStyle/>
                    <a:p>
                      <a:pPr marL="0" marR="0" lvl="0" indent="0" algn="l" rtl="0">
                        <a:lnSpc>
                          <a:spcPct val="100000"/>
                        </a:lnSpc>
                        <a:spcBef>
                          <a:spcPts val="0"/>
                        </a:spcBef>
                        <a:spcAft>
                          <a:spcPts val="0"/>
                        </a:spcAft>
                        <a:buClr>
                          <a:srgbClr val="000000"/>
                        </a:buClr>
                        <a:buSzPts val="1800"/>
                        <a:buFont typeface="Calibri"/>
                        <a:buNone/>
                      </a:pPr>
                      <a:r>
                        <a:rPr lang="en-US" sz="1400" b="1" u="none" strike="noStrike" cap="none" dirty="0">
                          <a:latin typeface="Calibri"/>
                          <a:ea typeface="Calibri"/>
                          <a:cs typeface="Calibri"/>
                          <a:sym typeface="Calibri"/>
                        </a:rPr>
                        <a:t>25</a:t>
                      </a:r>
                      <a:endParaRPr sz="1400" b="1" u="none" strike="noStrike" cap="none" dirty="0">
                        <a:latin typeface="Calibri"/>
                        <a:ea typeface="Calibri"/>
                        <a:cs typeface="Calibri"/>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5">
                        <a:lumMod val="20000"/>
                        <a:lumOff val="80000"/>
                      </a:schemeClr>
                    </a:solidFill>
                  </a:tcPr>
                </a:tc>
                <a:tc>
                  <a:txBody>
                    <a:bodyPr/>
                    <a:lstStyle/>
                    <a:p>
                      <a:pPr marL="0" marR="0" lvl="0" indent="0" algn="l" rtl="0">
                        <a:lnSpc>
                          <a:spcPct val="100000"/>
                        </a:lnSpc>
                        <a:spcBef>
                          <a:spcPts val="0"/>
                        </a:spcBef>
                        <a:spcAft>
                          <a:spcPts val="0"/>
                        </a:spcAft>
                        <a:buClr>
                          <a:srgbClr val="000000"/>
                        </a:buClr>
                        <a:buSzPts val="1800"/>
                        <a:buFont typeface="Calibri"/>
                        <a:buNone/>
                      </a:pPr>
                      <a:r>
                        <a:rPr lang="en-US" sz="1400" b="1" u="none" strike="noStrike" cap="none" dirty="0">
                          <a:latin typeface="Calibri"/>
                          <a:ea typeface="Calibri"/>
                          <a:cs typeface="Calibri"/>
                          <a:sym typeface="Calibri"/>
                        </a:rPr>
                        <a:t>26</a:t>
                      </a:r>
                      <a:endParaRPr sz="1400" b="1" u="none" strike="noStrike" cap="none" dirty="0">
                        <a:latin typeface="Calibri"/>
                        <a:ea typeface="Calibri"/>
                        <a:cs typeface="Calibri"/>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E2F3"/>
                    </a:solidFill>
                  </a:tcPr>
                </a:tc>
                <a:tc>
                  <a:txBody>
                    <a:bodyPr/>
                    <a:lstStyle/>
                    <a:p>
                      <a:pPr marL="0" marR="0" lvl="0" indent="0" algn="l" rtl="0">
                        <a:lnSpc>
                          <a:spcPct val="100000"/>
                        </a:lnSpc>
                        <a:spcBef>
                          <a:spcPts val="0"/>
                        </a:spcBef>
                        <a:spcAft>
                          <a:spcPts val="0"/>
                        </a:spcAft>
                        <a:buClr>
                          <a:srgbClr val="000000"/>
                        </a:buClr>
                        <a:buSzPts val="1800"/>
                        <a:buFont typeface="Calibri"/>
                        <a:buNone/>
                      </a:pPr>
                      <a:r>
                        <a:rPr lang="en-US" sz="1400" b="1" u="none" strike="noStrike" cap="none" dirty="0">
                          <a:latin typeface="Calibri"/>
                          <a:ea typeface="Calibri"/>
                          <a:cs typeface="Calibri"/>
                          <a:sym typeface="Calibri"/>
                        </a:rPr>
                        <a:t>27</a:t>
                      </a:r>
                      <a:endParaRPr sz="1400" b="1" u="none" strike="noStrike" cap="none" dirty="0">
                        <a:latin typeface="Calibri"/>
                        <a:ea typeface="Calibri"/>
                        <a:cs typeface="Calibri"/>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5">
                        <a:lumMod val="20000"/>
                        <a:lumOff val="80000"/>
                      </a:schemeClr>
                    </a:solidFill>
                  </a:tcPr>
                </a:tc>
                <a:extLst>
                  <a:ext uri="{0D108BD9-81ED-4DB2-BD59-A6C34878D82A}">
                    <a16:rowId xmlns:a16="http://schemas.microsoft.com/office/drawing/2014/main" val="10002"/>
                  </a:ext>
                </a:extLst>
              </a:tr>
              <a:tr h="969975">
                <a:tc>
                  <a:txBody>
                    <a:bodyPr/>
                    <a:lstStyle/>
                    <a:p>
                      <a:pPr marL="0" marR="0" lvl="0" indent="0" algn="l" rtl="0">
                        <a:lnSpc>
                          <a:spcPct val="100000"/>
                        </a:lnSpc>
                        <a:spcBef>
                          <a:spcPts val="0"/>
                        </a:spcBef>
                        <a:spcAft>
                          <a:spcPts val="0"/>
                        </a:spcAft>
                        <a:buClr>
                          <a:srgbClr val="000000"/>
                        </a:buClr>
                        <a:buSzPts val="1800"/>
                        <a:buFont typeface="Calibri"/>
                        <a:buNone/>
                      </a:pPr>
                      <a:r>
                        <a:rPr lang="en-US" sz="1400" b="1" i="0" u="none" strike="noStrike" cap="none" dirty="0">
                          <a:solidFill>
                            <a:srgbClr val="000000"/>
                          </a:solidFill>
                          <a:latin typeface="Calibri"/>
                          <a:ea typeface="Calibri"/>
                          <a:cs typeface="Calibri"/>
                          <a:sym typeface="Calibri"/>
                        </a:rPr>
                        <a:t>31</a:t>
                      </a:r>
                      <a:endParaRPr sz="1100" u="none" strike="noStrike" cap="none" dirty="0">
                        <a:latin typeface="Calibri"/>
                        <a:ea typeface="Calibri"/>
                        <a:cs typeface="Calibri"/>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E2F3"/>
                    </a:solidFill>
                  </a:tcPr>
                </a:tc>
                <a:tc>
                  <a:txBody>
                    <a:bodyPr/>
                    <a:lstStyle/>
                    <a:p>
                      <a:pPr marL="0" marR="0" lvl="0" indent="0" algn="l" rtl="0">
                        <a:lnSpc>
                          <a:spcPct val="100000"/>
                        </a:lnSpc>
                        <a:spcBef>
                          <a:spcPts val="0"/>
                        </a:spcBef>
                        <a:spcAft>
                          <a:spcPts val="0"/>
                        </a:spcAft>
                        <a:buClr>
                          <a:srgbClr val="000000"/>
                        </a:buClr>
                        <a:buSzPts val="1800"/>
                        <a:buFont typeface="Calibri"/>
                        <a:buNone/>
                      </a:pPr>
                      <a:r>
                        <a:rPr lang="en-US" sz="1400" b="1" i="0" u="none" strike="noStrike" cap="none" dirty="0">
                          <a:solidFill>
                            <a:srgbClr val="000000"/>
                          </a:solidFill>
                          <a:latin typeface="Calibri"/>
                          <a:ea typeface="Calibri"/>
                          <a:cs typeface="Calibri"/>
                          <a:sym typeface="Calibri"/>
                        </a:rPr>
                        <a:t>1</a:t>
                      </a:r>
                      <a:endParaRPr sz="1100" u="none" strike="noStrike" cap="none" dirty="0">
                        <a:latin typeface="Calibri"/>
                        <a:ea typeface="Calibri"/>
                        <a:cs typeface="Calibri"/>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E2F3"/>
                    </a:solidFill>
                  </a:tcPr>
                </a:tc>
                <a:tc>
                  <a:txBody>
                    <a:bodyPr/>
                    <a:lstStyle/>
                    <a:p>
                      <a:pPr marL="0" marR="0" lvl="0" indent="0" algn="l" rtl="0">
                        <a:lnSpc>
                          <a:spcPct val="100000"/>
                        </a:lnSpc>
                        <a:spcBef>
                          <a:spcPts val="0"/>
                        </a:spcBef>
                        <a:spcAft>
                          <a:spcPts val="0"/>
                        </a:spcAft>
                        <a:buClr>
                          <a:srgbClr val="000000"/>
                        </a:buClr>
                        <a:buSzPts val="1800"/>
                        <a:buFont typeface="Calibri"/>
                        <a:buNone/>
                      </a:pPr>
                      <a:r>
                        <a:rPr lang="en-US" sz="1400" b="1" i="0" u="none" strike="noStrike" cap="none" dirty="0">
                          <a:solidFill>
                            <a:srgbClr val="000000"/>
                          </a:solidFill>
                          <a:latin typeface="Calibri"/>
                          <a:ea typeface="Calibri"/>
                          <a:cs typeface="Calibri"/>
                          <a:sym typeface="Calibri"/>
                        </a:rPr>
                        <a:t>2</a:t>
                      </a:r>
                      <a:endParaRPr sz="1100" u="none" strike="noStrike" cap="none" dirty="0">
                        <a:latin typeface="Calibri"/>
                        <a:ea typeface="Calibri"/>
                        <a:cs typeface="Calibri"/>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E2F3"/>
                    </a:solidFill>
                  </a:tcPr>
                </a:tc>
                <a:tc>
                  <a:txBody>
                    <a:bodyPr/>
                    <a:lstStyle/>
                    <a:p>
                      <a:pPr marL="0" marR="0" lvl="0" indent="0" algn="l" rtl="0">
                        <a:lnSpc>
                          <a:spcPct val="100000"/>
                        </a:lnSpc>
                        <a:spcBef>
                          <a:spcPts val="0"/>
                        </a:spcBef>
                        <a:spcAft>
                          <a:spcPts val="0"/>
                        </a:spcAft>
                        <a:buClr>
                          <a:srgbClr val="000000"/>
                        </a:buClr>
                        <a:buSzPts val="1800"/>
                        <a:buFont typeface="Calibri"/>
                        <a:buNone/>
                      </a:pPr>
                      <a:r>
                        <a:rPr lang="en-US" sz="1400" b="1" i="0" u="none" strike="noStrike" cap="none" dirty="0">
                          <a:solidFill>
                            <a:srgbClr val="000000"/>
                          </a:solidFill>
                          <a:latin typeface="Calibri"/>
                          <a:ea typeface="Calibri"/>
                          <a:cs typeface="Calibri"/>
                          <a:sym typeface="Calibri"/>
                        </a:rPr>
                        <a:t>3</a:t>
                      </a:r>
                      <a:endParaRPr sz="1100" u="none" strike="noStrike" cap="none" dirty="0">
                        <a:latin typeface="Calibri"/>
                        <a:ea typeface="Calibri"/>
                        <a:cs typeface="Calibri"/>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E2F3"/>
                    </a:solidFill>
                  </a:tcPr>
                </a:tc>
                <a:extLst>
                  <a:ext uri="{0D108BD9-81ED-4DB2-BD59-A6C34878D82A}">
                    <a16:rowId xmlns:a16="http://schemas.microsoft.com/office/drawing/2014/main" val="10003"/>
                  </a:ext>
                </a:extLst>
              </a:tr>
              <a:tr h="969975">
                <a:tc>
                  <a:txBody>
                    <a:bodyPr/>
                    <a:lstStyle/>
                    <a:p>
                      <a:pPr marL="0" marR="0" lvl="0" indent="0" algn="l" rtl="0">
                        <a:lnSpc>
                          <a:spcPct val="100000"/>
                        </a:lnSpc>
                        <a:spcBef>
                          <a:spcPts val="0"/>
                        </a:spcBef>
                        <a:spcAft>
                          <a:spcPts val="0"/>
                        </a:spcAft>
                        <a:buClr>
                          <a:srgbClr val="000000"/>
                        </a:buClr>
                        <a:buSzPts val="1800"/>
                        <a:buFont typeface="Calibri"/>
                        <a:buNone/>
                      </a:pPr>
                      <a:r>
                        <a:rPr lang="en-US" sz="1400" b="1" u="none" strike="noStrike" cap="none" dirty="0">
                          <a:latin typeface="Calibri"/>
                          <a:ea typeface="Calibri"/>
                          <a:cs typeface="Calibri"/>
                          <a:sym typeface="Calibri"/>
                        </a:rPr>
                        <a:t>6</a:t>
                      </a:r>
                      <a:endParaRPr sz="1400" b="1" u="none" strike="noStrike" cap="none" dirty="0">
                        <a:latin typeface="Calibri"/>
                        <a:ea typeface="Calibri"/>
                        <a:cs typeface="Calibri"/>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E2F3"/>
                    </a:solidFill>
                  </a:tcPr>
                </a:tc>
                <a:tc>
                  <a:txBody>
                    <a:bodyPr/>
                    <a:lstStyle/>
                    <a:p>
                      <a:pPr marL="0" marR="0" lvl="0" indent="0" algn="l" rtl="0">
                        <a:lnSpc>
                          <a:spcPct val="100000"/>
                        </a:lnSpc>
                        <a:spcBef>
                          <a:spcPts val="0"/>
                        </a:spcBef>
                        <a:spcAft>
                          <a:spcPts val="0"/>
                        </a:spcAft>
                        <a:buClr>
                          <a:srgbClr val="000000"/>
                        </a:buClr>
                        <a:buSzPts val="1800"/>
                        <a:buFont typeface="Calibri"/>
                        <a:buNone/>
                      </a:pPr>
                      <a:r>
                        <a:rPr lang="en-US" sz="1400" b="1" u="none" strike="noStrike" cap="none" dirty="0">
                          <a:latin typeface="Calibri"/>
                          <a:ea typeface="Calibri"/>
                          <a:cs typeface="Calibri"/>
                          <a:sym typeface="Calibri"/>
                        </a:rPr>
                        <a:t>7</a:t>
                      </a:r>
                      <a:endParaRPr sz="1400" b="1" u="none" strike="noStrike" cap="none" dirty="0">
                        <a:latin typeface="Calibri"/>
                        <a:ea typeface="Calibri"/>
                        <a:cs typeface="Calibri"/>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E2F3"/>
                    </a:solidFill>
                  </a:tcPr>
                </a:tc>
                <a:tc>
                  <a:txBody>
                    <a:bodyPr/>
                    <a:lstStyle/>
                    <a:p>
                      <a:pPr marL="0" marR="0" lvl="0" indent="0" algn="l" rtl="0">
                        <a:lnSpc>
                          <a:spcPct val="100000"/>
                        </a:lnSpc>
                        <a:spcBef>
                          <a:spcPts val="0"/>
                        </a:spcBef>
                        <a:spcAft>
                          <a:spcPts val="0"/>
                        </a:spcAft>
                        <a:buClr>
                          <a:srgbClr val="000000"/>
                        </a:buClr>
                        <a:buSzPts val="1800"/>
                        <a:buFont typeface="Calibri"/>
                        <a:buNone/>
                      </a:pPr>
                      <a:r>
                        <a:rPr lang="en-US" sz="1400" b="1" u="none" strike="noStrike" cap="none" dirty="0">
                          <a:latin typeface="Calibri"/>
                          <a:ea typeface="Calibri"/>
                          <a:cs typeface="Calibri"/>
                          <a:sym typeface="Calibri"/>
                        </a:rPr>
                        <a:t>8</a:t>
                      </a:r>
                      <a:endParaRPr sz="1400" b="1" u="none" strike="noStrike" cap="none" dirty="0">
                        <a:latin typeface="Calibri"/>
                        <a:ea typeface="Calibri"/>
                        <a:cs typeface="Calibri"/>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E2F3"/>
                    </a:solidFill>
                  </a:tcPr>
                </a:tc>
                <a:tc>
                  <a:txBody>
                    <a:bodyPr/>
                    <a:lstStyle/>
                    <a:p>
                      <a:pPr marL="0" marR="0" lvl="0" indent="0" algn="l" rtl="0">
                        <a:lnSpc>
                          <a:spcPct val="100000"/>
                        </a:lnSpc>
                        <a:spcBef>
                          <a:spcPts val="0"/>
                        </a:spcBef>
                        <a:spcAft>
                          <a:spcPts val="0"/>
                        </a:spcAft>
                        <a:buClr>
                          <a:srgbClr val="000000"/>
                        </a:buClr>
                        <a:buSzPts val="1800"/>
                        <a:buFont typeface="Calibri"/>
                        <a:buNone/>
                      </a:pPr>
                      <a:r>
                        <a:rPr lang="en-US" sz="1400" b="1" u="none" strike="noStrike" cap="none" dirty="0">
                          <a:latin typeface="Calibri"/>
                          <a:ea typeface="Calibri"/>
                          <a:cs typeface="Calibri"/>
                          <a:sym typeface="Calibri"/>
                        </a:rPr>
                        <a:t>9</a:t>
                      </a:r>
                      <a:endParaRPr sz="1400" b="1" u="none" strike="noStrike" cap="none" dirty="0">
                        <a:latin typeface="Calibri"/>
                        <a:ea typeface="Calibri"/>
                        <a:cs typeface="Calibri"/>
                        <a:sym typeface="Calibri"/>
                      </a:endParaRPr>
                    </a:p>
                  </a:txBody>
                  <a:tcPr marL="91450" marR="9145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E2F3"/>
                    </a:solidFill>
                  </a:tcPr>
                </a:tc>
                <a:extLst>
                  <a:ext uri="{0D108BD9-81ED-4DB2-BD59-A6C34878D82A}">
                    <a16:rowId xmlns:a16="http://schemas.microsoft.com/office/drawing/2014/main" val="10004"/>
                  </a:ext>
                </a:extLst>
              </a:tr>
            </a:tbl>
          </a:graphicData>
        </a:graphic>
      </p:graphicFrame>
      <p:sp>
        <p:nvSpPr>
          <p:cNvPr id="177" name="Google Shape;177;p12"/>
          <p:cNvSpPr txBox="1">
            <a:spLocks noGrp="1"/>
          </p:cNvSpPr>
          <p:nvPr>
            <p:ph type="title"/>
          </p:nvPr>
        </p:nvSpPr>
        <p:spPr>
          <a:xfrm>
            <a:off x="885825" y="1122903"/>
            <a:ext cx="7886700" cy="76345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pPr>
            <a:r>
              <a:rPr lang="es-ES" sz="2800" noProof="0" dirty="0"/>
              <a:t>Calendario </a:t>
            </a:r>
          </a:p>
        </p:txBody>
      </p:sp>
      <p:sp>
        <p:nvSpPr>
          <p:cNvPr id="178" name="Google Shape;178;p12"/>
          <p:cNvSpPr txBox="1"/>
          <p:nvPr/>
        </p:nvSpPr>
        <p:spPr>
          <a:xfrm>
            <a:off x="770696" y="2613275"/>
            <a:ext cx="2627841" cy="584775"/>
          </a:xfrm>
          <a:prstGeom prst="rect">
            <a:avLst/>
          </a:prstGeom>
          <a:noFill/>
          <a:ln w="38100" cap="flat" cmpd="sng">
            <a:no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kern="1200" dirty="0">
                <a:solidFill>
                  <a:srgbClr val="2F5496"/>
                </a:solidFill>
                <a:latin typeface="Calibri"/>
                <a:cs typeface="Calibri"/>
                <a:sym typeface="Calibri"/>
              </a:rPr>
              <a:t>S1 – Introducción a Big Data y Machine Learning  </a:t>
            </a:r>
            <a:endParaRPr sz="1600" b="1" kern="1200" dirty="0">
              <a:solidFill>
                <a:srgbClr val="2F5496"/>
              </a:solidFill>
              <a:latin typeface="Calibri"/>
              <a:cs typeface="Calibri"/>
            </a:endParaRPr>
          </a:p>
        </p:txBody>
      </p:sp>
      <p:sp>
        <p:nvSpPr>
          <p:cNvPr id="179" name="Google Shape;179;p12"/>
          <p:cNvSpPr txBox="1"/>
          <p:nvPr/>
        </p:nvSpPr>
        <p:spPr>
          <a:xfrm>
            <a:off x="4738367" y="2613275"/>
            <a:ext cx="2627841" cy="541046"/>
          </a:xfrm>
          <a:prstGeom prst="rect">
            <a:avLst/>
          </a:prstGeom>
          <a:noFill/>
          <a:ln>
            <a:noFill/>
          </a:ln>
        </p:spPr>
        <p:txBody>
          <a:bodyPr spcFirstLastPara="1" wrap="square" lIns="91425" tIns="45700" rIns="91425" bIns="45700" anchor="t" anchorCtr="0">
            <a:noAutofit/>
          </a:bodyPr>
          <a:lstStyle/>
          <a:p>
            <a:pPr marL="0" marR="0" lvl="0" indent="0" algn="l" rtl="0">
              <a:lnSpc>
                <a:spcPct val="80000"/>
              </a:lnSpc>
              <a:spcBef>
                <a:spcPts val="0"/>
              </a:spcBef>
              <a:spcAft>
                <a:spcPts val="0"/>
              </a:spcAft>
              <a:buNone/>
            </a:pPr>
            <a:r>
              <a:rPr lang="en-US" sz="1600" b="1" dirty="0">
                <a:solidFill>
                  <a:schemeClr val="accent6">
                    <a:lumMod val="75000"/>
                  </a:schemeClr>
                </a:solidFill>
                <a:latin typeface="Calibri"/>
                <a:ea typeface="Calibri"/>
                <a:cs typeface="Calibri"/>
                <a:sym typeface="Calibri"/>
              </a:rPr>
              <a:t>S2 – Introducción a Python</a:t>
            </a:r>
            <a:endParaRPr sz="1600" b="1" dirty="0">
              <a:solidFill>
                <a:schemeClr val="accent6">
                  <a:lumMod val="75000"/>
                </a:schemeClr>
              </a:solidFill>
              <a:latin typeface="Calibri"/>
              <a:ea typeface="Calibri"/>
              <a:cs typeface="Calibri"/>
              <a:sym typeface="Calibri"/>
            </a:endParaRPr>
          </a:p>
        </p:txBody>
      </p:sp>
      <p:sp>
        <p:nvSpPr>
          <p:cNvPr id="180" name="Google Shape;180;p12"/>
          <p:cNvSpPr txBox="1"/>
          <p:nvPr/>
        </p:nvSpPr>
        <p:spPr>
          <a:xfrm>
            <a:off x="770698" y="3556308"/>
            <a:ext cx="2627841" cy="365126"/>
          </a:xfrm>
          <a:prstGeom prst="rect">
            <a:avLst/>
          </a:prstGeom>
          <a:noFill/>
          <a:ln>
            <a:noFill/>
          </a:ln>
        </p:spPr>
        <p:txBody>
          <a:bodyPr spcFirstLastPara="1" wrap="square" lIns="91425" tIns="45700" rIns="91425" bIns="45700" anchor="t" anchorCtr="0">
            <a:normAutofit/>
          </a:bodyPr>
          <a:lstStyle/>
          <a:p>
            <a:pPr marL="0" marR="0" lvl="0" indent="0" algn="l" rtl="0">
              <a:lnSpc>
                <a:spcPct val="80000"/>
              </a:lnSpc>
              <a:spcBef>
                <a:spcPts val="0"/>
              </a:spcBef>
              <a:spcAft>
                <a:spcPts val="0"/>
              </a:spcAft>
              <a:buClr>
                <a:srgbClr val="2F5496"/>
              </a:buClr>
              <a:buSzPts val="1600"/>
              <a:buFont typeface="Calibri"/>
              <a:buNone/>
            </a:pPr>
            <a:r>
              <a:rPr lang="en-US" sz="1600" b="1" dirty="0">
                <a:solidFill>
                  <a:schemeClr val="accent6">
                    <a:lumMod val="75000"/>
                  </a:schemeClr>
                </a:solidFill>
                <a:latin typeface="Calibri"/>
                <a:ea typeface="Calibri"/>
                <a:cs typeface="Calibri"/>
                <a:sym typeface="Calibri"/>
              </a:rPr>
              <a:t>S3 – Estadística descriptiva</a:t>
            </a:r>
            <a:endParaRPr dirty="0">
              <a:solidFill>
                <a:schemeClr val="accent6">
                  <a:lumMod val="75000"/>
                </a:schemeClr>
              </a:solidFill>
            </a:endParaRPr>
          </a:p>
        </p:txBody>
      </p:sp>
      <p:sp>
        <p:nvSpPr>
          <p:cNvPr id="181" name="Google Shape;181;p12"/>
          <p:cNvSpPr txBox="1"/>
          <p:nvPr/>
        </p:nvSpPr>
        <p:spPr>
          <a:xfrm>
            <a:off x="770697" y="4497394"/>
            <a:ext cx="2627841" cy="524330"/>
          </a:xfrm>
          <a:prstGeom prst="rect">
            <a:avLst/>
          </a:prstGeom>
          <a:noFill/>
          <a:ln>
            <a:noFill/>
          </a:ln>
        </p:spPr>
        <p:txBody>
          <a:bodyPr spcFirstLastPara="1" wrap="square" lIns="91425" tIns="45700" rIns="91425" bIns="45700" anchor="t" anchorCtr="0">
            <a:noAutofit/>
          </a:bodyPr>
          <a:lstStyle/>
          <a:p>
            <a:pPr marL="0" marR="0" lvl="0" indent="0" algn="l" rtl="0">
              <a:lnSpc>
                <a:spcPct val="80000"/>
              </a:lnSpc>
              <a:spcBef>
                <a:spcPts val="0"/>
              </a:spcBef>
              <a:spcAft>
                <a:spcPts val="0"/>
              </a:spcAft>
              <a:buNone/>
            </a:pPr>
            <a:r>
              <a:rPr lang="en-US" sz="1600" b="1" dirty="0">
                <a:solidFill>
                  <a:schemeClr val="accent6">
                    <a:lumMod val="75000"/>
                  </a:schemeClr>
                </a:solidFill>
                <a:latin typeface="Calibri"/>
                <a:ea typeface="Calibri"/>
                <a:cs typeface="Calibri"/>
                <a:sym typeface="Calibri"/>
              </a:rPr>
              <a:t>S5 – Modelos de aprendizaje</a:t>
            </a:r>
            <a:endParaRPr dirty="0">
              <a:solidFill>
                <a:schemeClr val="accent6">
                  <a:lumMod val="75000"/>
                </a:schemeClr>
              </a:solidFill>
            </a:endParaRPr>
          </a:p>
          <a:p>
            <a:pPr marL="0" marR="0" lvl="0" indent="0" algn="l" rtl="0">
              <a:lnSpc>
                <a:spcPct val="80000"/>
              </a:lnSpc>
              <a:spcBef>
                <a:spcPts val="0"/>
              </a:spcBef>
              <a:spcAft>
                <a:spcPts val="0"/>
              </a:spcAft>
              <a:buNone/>
            </a:pPr>
            <a:r>
              <a:rPr lang="en-US" sz="1600" b="1" dirty="0">
                <a:solidFill>
                  <a:schemeClr val="accent6">
                    <a:lumMod val="75000"/>
                  </a:schemeClr>
                </a:solidFill>
                <a:latin typeface="Calibri"/>
                <a:ea typeface="Calibri"/>
                <a:cs typeface="Calibri"/>
                <a:sym typeface="Calibri"/>
              </a:rPr>
              <a:t>supervisado (I): Regresión</a:t>
            </a:r>
            <a:endParaRPr dirty="0">
              <a:solidFill>
                <a:schemeClr val="accent6">
                  <a:lumMod val="75000"/>
                </a:schemeClr>
              </a:solidFill>
            </a:endParaRPr>
          </a:p>
        </p:txBody>
      </p:sp>
      <p:sp>
        <p:nvSpPr>
          <p:cNvPr id="182" name="Google Shape;182;p12"/>
          <p:cNvSpPr txBox="1"/>
          <p:nvPr/>
        </p:nvSpPr>
        <p:spPr>
          <a:xfrm>
            <a:off x="770698" y="5455198"/>
            <a:ext cx="2627841" cy="524330"/>
          </a:xfrm>
          <a:prstGeom prst="rect">
            <a:avLst/>
          </a:prstGeom>
          <a:noFill/>
          <a:ln>
            <a:noFill/>
          </a:ln>
        </p:spPr>
        <p:txBody>
          <a:bodyPr spcFirstLastPara="1" wrap="square" lIns="91425" tIns="45700" rIns="91425" bIns="45700" anchor="t" anchorCtr="0">
            <a:normAutofit/>
          </a:bodyPr>
          <a:lstStyle/>
          <a:p>
            <a:pPr marL="0" marR="0" lvl="0" indent="0" algn="l" rtl="0">
              <a:lnSpc>
                <a:spcPct val="80000"/>
              </a:lnSpc>
              <a:spcBef>
                <a:spcPts val="0"/>
              </a:spcBef>
              <a:spcAft>
                <a:spcPts val="0"/>
              </a:spcAft>
              <a:buClr>
                <a:srgbClr val="2F5496"/>
              </a:buClr>
              <a:buSzPts val="1600"/>
              <a:buFont typeface="Calibri"/>
              <a:buNone/>
            </a:pPr>
            <a:r>
              <a:rPr lang="en-US" sz="1600" b="1" dirty="0">
                <a:solidFill>
                  <a:schemeClr val="accent6">
                    <a:lumMod val="75000"/>
                  </a:schemeClr>
                </a:solidFill>
                <a:latin typeface="Calibri"/>
                <a:ea typeface="Calibri"/>
                <a:cs typeface="Calibri"/>
                <a:sym typeface="Calibri"/>
              </a:rPr>
              <a:t>S7 – Modelos de aprendizaje</a:t>
            </a:r>
            <a:endParaRPr dirty="0">
              <a:solidFill>
                <a:schemeClr val="accent6">
                  <a:lumMod val="75000"/>
                </a:schemeClr>
              </a:solidFill>
            </a:endParaRPr>
          </a:p>
          <a:p>
            <a:pPr marL="0" marR="0" lvl="0" indent="0" algn="l" rtl="0">
              <a:lnSpc>
                <a:spcPct val="80000"/>
              </a:lnSpc>
              <a:spcBef>
                <a:spcPts val="0"/>
              </a:spcBef>
              <a:spcAft>
                <a:spcPts val="0"/>
              </a:spcAft>
              <a:buClr>
                <a:srgbClr val="2F5496"/>
              </a:buClr>
              <a:buSzPts val="1600"/>
              <a:buFont typeface="Calibri"/>
              <a:buNone/>
            </a:pPr>
            <a:r>
              <a:rPr lang="en-US" sz="1600" b="1" dirty="0">
                <a:solidFill>
                  <a:schemeClr val="accent6">
                    <a:lumMod val="75000"/>
                  </a:schemeClr>
                </a:solidFill>
                <a:latin typeface="Calibri"/>
                <a:ea typeface="Calibri"/>
                <a:cs typeface="Calibri"/>
                <a:sym typeface="Calibri"/>
              </a:rPr>
              <a:t>supervisado (II): Clasificación</a:t>
            </a:r>
            <a:endParaRPr dirty="0">
              <a:solidFill>
                <a:schemeClr val="accent6">
                  <a:lumMod val="75000"/>
                </a:schemeClr>
              </a:solidFill>
            </a:endParaRPr>
          </a:p>
          <a:p>
            <a:pPr marL="0" marR="0" lvl="0" indent="0" algn="l" rtl="0">
              <a:lnSpc>
                <a:spcPct val="80000"/>
              </a:lnSpc>
              <a:spcBef>
                <a:spcPts val="0"/>
              </a:spcBef>
              <a:spcAft>
                <a:spcPts val="0"/>
              </a:spcAft>
              <a:buClr>
                <a:srgbClr val="2F5496"/>
              </a:buClr>
              <a:buSzPts val="1600"/>
              <a:buFont typeface="Calibri"/>
              <a:buNone/>
            </a:pPr>
            <a:endParaRPr sz="1600" b="1" dirty="0">
              <a:solidFill>
                <a:schemeClr val="accent6">
                  <a:lumMod val="75000"/>
                </a:schemeClr>
              </a:solidFill>
              <a:latin typeface="Calibri"/>
              <a:ea typeface="Calibri"/>
              <a:cs typeface="Calibri"/>
              <a:sym typeface="Calibri"/>
            </a:endParaRPr>
          </a:p>
        </p:txBody>
      </p:sp>
      <p:sp>
        <p:nvSpPr>
          <p:cNvPr id="183" name="Google Shape;183;p12"/>
          <p:cNvSpPr txBox="1"/>
          <p:nvPr/>
        </p:nvSpPr>
        <p:spPr>
          <a:xfrm>
            <a:off x="4753891" y="3571077"/>
            <a:ext cx="2627842" cy="524330"/>
          </a:xfrm>
          <a:prstGeom prst="rect">
            <a:avLst/>
          </a:prstGeom>
          <a:noFill/>
          <a:ln>
            <a:noFill/>
          </a:ln>
        </p:spPr>
        <p:txBody>
          <a:bodyPr spcFirstLastPara="1" wrap="square" lIns="91425" tIns="45700" rIns="91425" bIns="45700" anchor="t" anchorCtr="0">
            <a:normAutofit/>
          </a:bodyPr>
          <a:lstStyle/>
          <a:p>
            <a:pPr marL="0" marR="0" lvl="0" indent="0" algn="l" rtl="0">
              <a:lnSpc>
                <a:spcPct val="80000"/>
              </a:lnSpc>
              <a:spcBef>
                <a:spcPts val="0"/>
              </a:spcBef>
              <a:spcAft>
                <a:spcPts val="0"/>
              </a:spcAft>
              <a:buNone/>
            </a:pPr>
            <a:r>
              <a:rPr lang="en-US" sz="1600" b="1" kern="1200" dirty="0">
                <a:solidFill>
                  <a:srgbClr val="2F5496"/>
                </a:solidFill>
                <a:latin typeface="Calibri"/>
                <a:cs typeface="Calibri"/>
                <a:sym typeface="Calibri"/>
              </a:rPr>
              <a:t>S4 – Modelos de aprendizaje no supervisado y repaso</a:t>
            </a:r>
            <a:endParaRPr sz="1600" b="1" kern="1200" dirty="0">
              <a:solidFill>
                <a:srgbClr val="2F5496"/>
              </a:solidFill>
              <a:latin typeface="Calibri"/>
              <a:cs typeface="Calibri"/>
              <a:sym typeface="Calibri"/>
            </a:endParaRPr>
          </a:p>
        </p:txBody>
      </p:sp>
      <p:sp>
        <p:nvSpPr>
          <p:cNvPr id="184" name="Google Shape;184;p12"/>
          <p:cNvSpPr txBox="1"/>
          <p:nvPr/>
        </p:nvSpPr>
        <p:spPr>
          <a:xfrm>
            <a:off x="4738367" y="4497394"/>
            <a:ext cx="2658891" cy="541047"/>
          </a:xfrm>
          <a:prstGeom prst="rect">
            <a:avLst/>
          </a:prstGeom>
          <a:noFill/>
          <a:ln>
            <a:noFill/>
          </a:ln>
        </p:spPr>
        <p:txBody>
          <a:bodyPr spcFirstLastPara="1" wrap="square" lIns="91425" tIns="45700" rIns="91425" bIns="45700" anchor="t" anchorCtr="0">
            <a:normAutofit/>
          </a:bodyPr>
          <a:lstStyle/>
          <a:p>
            <a:pPr marL="0" marR="0" lvl="0" indent="0" algn="l" rtl="0">
              <a:lnSpc>
                <a:spcPct val="80000"/>
              </a:lnSpc>
              <a:spcBef>
                <a:spcPts val="0"/>
              </a:spcBef>
              <a:spcAft>
                <a:spcPts val="0"/>
              </a:spcAft>
              <a:buClr>
                <a:srgbClr val="2F5496"/>
              </a:buClr>
              <a:buSzPts val="1600"/>
              <a:buFont typeface="Calibri"/>
              <a:buNone/>
            </a:pPr>
            <a:r>
              <a:rPr lang="en-US" sz="1600" b="1" dirty="0">
                <a:solidFill>
                  <a:srgbClr val="2F5496"/>
                </a:solidFill>
                <a:latin typeface="Calibri"/>
                <a:ea typeface="Calibri"/>
                <a:cs typeface="Calibri"/>
                <a:sym typeface="Calibri"/>
              </a:rPr>
              <a:t>S6 – Image Recognition y IA de la nueva generación</a:t>
            </a:r>
            <a:endParaRPr sz="1600" b="1" dirty="0">
              <a:solidFill>
                <a:srgbClr val="2F5496"/>
              </a:solidFill>
              <a:latin typeface="Calibri"/>
              <a:ea typeface="Calibri"/>
              <a:cs typeface="Calibri"/>
              <a:sym typeface="Calibri"/>
            </a:endParaRPr>
          </a:p>
        </p:txBody>
      </p:sp>
      <p:sp>
        <p:nvSpPr>
          <p:cNvPr id="185" name="Google Shape;185;p12"/>
          <p:cNvSpPr txBox="1"/>
          <p:nvPr/>
        </p:nvSpPr>
        <p:spPr>
          <a:xfrm>
            <a:off x="4738367" y="5455197"/>
            <a:ext cx="2352030" cy="365126"/>
          </a:xfrm>
          <a:prstGeom prst="rect">
            <a:avLst/>
          </a:prstGeom>
          <a:noFill/>
          <a:ln>
            <a:noFill/>
          </a:ln>
        </p:spPr>
        <p:txBody>
          <a:bodyPr spcFirstLastPara="1" wrap="square" lIns="91425" tIns="45700" rIns="91425" bIns="45700" anchor="t" anchorCtr="0">
            <a:noAutofit/>
          </a:bodyPr>
          <a:lstStyle/>
          <a:p>
            <a:pPr marL="0" marR="0" lvl="0" indent="0" algn="l" rtl="0">
              <a:lnSpc>
                <a:spcPct val="80000"/>
              </a:lnSpc>
              <a:spcBef>
                <a:spcPts val="0"/>
              </a:spcBef>
              <a:spcAft>
                <a:spcPts val="0"/>
              </a:spcAft>
              <a:buClr>
                <a:srgbClr val="2F5496"/>
              </a:buClr>
              <a:buSzPts val="1600"/>
              <a:buFont typeface="Calibri"/>
              <a:buNone/>
            </a:pPr>
            <a:r>
              <a:rPr lang="en-US" sz="1600" b="1" dirty="0">
                <a:solidFill>
                  <a:srgbClr val="2F5496"/>
                </a:solidFill>
                <a:latin typeface="Calibri"/>
                <a:ea typeface="Calibri"/>
                <a:cs typeface="Calibri"/>
                <a:sym typeface="Calibri"/>
              </a:rPr>
              <a:t>S8 – Exámen</a:t>
            </a:r>
            <a:endParaRPr sz="1600" b="1" dirty="0">
              <a:solidFill>
                <a:srgbClr val="2F5496"/>
              </a:solidFill>
              <a:latin typeface="Calibri"/>
              <a:ea typeface="Calibri"/>
              <a:cs typeface="Calibri"/>
              <a:sym typeface="Calibri"/>
            </a:endParaRPr>
          </a:p>
        </p:txBody>
      </p:sp>
      <p:sp>
        <p:nvSpPr>
          <p:cNvPr id="186" name="Google Shape;186;p12"/>
          <p:cNvSpPr txBox="1"/>
          <p:nvPr/>
        </p:nvSpPr>
        <p:spPr>
          <a:xfrm rot="-5400000">
            <a:off x="-485338" y="3085584"/>
            <a:ext cx="1936756" cy="369332"/>
          </a:xfrm>
          <a:prstGeom prst="rect">
            <a:avLst/>
          </a:prstGeom>
          <a:solidFill>
            <a:srgbClr val="A3E0FF"/>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dirty="0">
                <a:solidFill>
                  <a:schemeClr val="dk1"/>
                </a:solidFill>
                <a:latin typeface="Calibri"/>
                <a:ea typeface="Calibri"/>
                <a:cs typeface="Calibri"/>
                <a:sym typeface="Calibri"/>
              </a:rPr>
              <a:t>Marzo</a:t>
            </a:r>
            <a:endParaRPr sz="1800" b="1" dirty="0">
              <a:solidFill>
                <a:schemeClr val="dk1"/>
              </a:solidFill>
              <a:latin typeface="Calibri"/>
              <a:ea typeface="Calibri"/>
              <a:cs typeface="Calibri"/>
              <a:sym typeface="Calibri"/>
            </a:endParaRPr>
          </a:p>
        </p:txBody>
      </p:sp>
      <p:sp>
        <p:nvSpPr>
          <p:cNvPr id="187" name="Google Shape;187;p12"/>
          <p:cNvSpPr txBox="1"/>
          <p:nvPr/>
        </p:nvSpPr>
        <p:spPr>
          <a:xfrm rot="-5400000">
            <a:off x="-485338" y="5022340"/>
            <a:ext cx="1936756" cy="369332"/>
          </a:xfrm>
          <a:prstGeom prst="rect">
            <a:avLst/>
          </a:prstGeom>
          <a:solidFill>
            <a:srgbClr val="B3FFB5"/>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dirty="0">
                <a:solidFill>
                  <a:schemeClr val="dk1"/>
                </a:solidFill>
                <a:latin typeface="Calibri"/>
                <a:ea typeface="Calibri"/>
                <a:cs typeface="Calibri"/>
                <a:sym typeface="Calibri"/>
              </a:rPr>
              <a:t>Abril</a:t>
            </a:r>
            <a:endParaRPr sz="1800" b="1" dirty="0">
              <a:solidFill>
                <a:schemeClr val="dk1"/>
              </a:solidFill>
              <a:latin typeface="Calibri"/>
              <a:ea typeface="Calibri"/>
              <a:cs typeface="Calibri"/>
              <a:sym typeface="Calibri"/>
            </a:endParaRPr>
          </a:p>
        </p:txBody>
      </p:sp>
      <p:sp>
        <p:nvSpPr>
          <p:cNvPr id="16" name="Google Shape;179;p12">
            <a:extLst>
              <a:ext uri="{FF2B5EF4-FFF2-40B4-BE49-F238E27FC236}">
                <a16:creationId xmlns:a16="http://schemas.microsoft.com/office/drawing/2014/main" id="{1A9B47B8-E1AC-4342-A996-97FB2FCDCFC1}"/>
              </a:ext>
            </a:extLst>
          </p:cNvPr>
          <p:cNvSpPr txBox="1"/>
          <p:nvPr/>
        </p:nvSpPr>
        <p:spPr>
          <a:xfrm>
            <a:off x="770695" y="6203957"/>
            <a:ext cx="2627841" cy="57596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b="1" dirty="0">
                <a:solidFill>
                  <a:srgbClr val="2F5496"/>
                </a:solidFill>
                <a:latin typeface="Calibri"/>
                <a:ea typeface="Calibri"/>
                <a:cs typeface="Calibri"/>
                <a:sym typeface="Calibri"/>
              </a:rPr>
              <a:t>Sesión Online</a:t>
            </a:r>
          </a:p>
          <a:p>
            <a:pPr marL="0" marR="0" lvl="0" indent="0" algn="l" rtl="0">
              <a:spcBef>
                <a:spcPts val="0"/>
              </a:spcBef>
              <a:spcAft>
                <a:spcPts val="0"/>
              </a:spcAft>
              <a:buNone/>
            </a:pPr>
            <a:r>
              <a:rPr lang="en-US" sz="1600" b="1" dirty="0">
                <a:solidFill>
                  <a:schemeClr val="accent6">
                    <a:lumMod val="75000"/>
                  </a:schemeClr>
                </a:solidFill>
                <a:latin typeface="Calibri"/>
                <a:ea typeface="Calibri"/>
                <a:cs typeface="Calibri"/>
                <a:sym typeface="Calibri"/>
              </a:rPr>
              <a:t>Sesión Presencial</a:t>
            </a:r>
            <a:endParaRPr sz="1600" b="1" dirty="0">
              <a:solidFill>
                <a:schemeClr val="accent6">
                  <a:lumMod val="75000"/>
                </a:schemeClr>
              </a:solidFill>
              <a:latin typeface="Calibri"/>
              <a:ea typeface="Calibri"/>
              <a:cs typeface="Calibri"/>
              <a:sym typeface="Calibri"/>
            </a:endParaRPr>
          </a:p>
        </p:txBody>
      </p:sp>
      <p:sp>
        <p:nvSpPr>
          <p:cNvPr id="2" name="Rectángulo 1">
            <a:extLst>
              <a:ext uri="{FF2B5EF4-FFF2-40B4-BE49-F238E27FC236}">
                <a16:creationId xmlns:a16="http://schemas.microsoft.com/office/drawing/2014/main" id="{E3027E33-8B96-4869-B987-33776A182F67}"/>
              </a:ext>
            </a:extLst>
          </p:cNvPr>
          <p:cNvSpPr/>
          <p:nvPr/>
        </p:nvSpPr>
        <p:spPr>
          <a:xfrm>
            <a:off x="739645" y="4279692"/>
            <a:ext cx="2658891" cy="75874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3"/>
          <p:cNvSpPr txBox="1">
            <a:spLocks noGrp="1"/>
          </p:cNvSpPr>
          <p:nvPr>
            <p:ph type="body" idx="1"/>
          </p:nvPr>
        </p:nvSpPr>
        <p:spPr>
          <a:xfrm>
            <a:off x="628650" y="2237517"/>
            <a:ext cx="7964844" cy="4118838"/>
          </a:xfrm>
          <a:prstGeom prst="rect">
            <a:avLst/>
          </a:prstGeom>
          <a:noFill/>
          <a:ln>
            <a:noFill/>
          </a:ln>
        </p:spPr>
        <p:txBody>
          <a:bodyPr spcFirstLastPara="1" wrap="square" lIns="91425" tIns="45700" rIns="91425" bIns="45700" anchor="t" anchorCtr="0">
            <a:normAutofit/>
          </a:bodyPr>
          <a:lstStyle/>
          <a:p>
            <a:pPr marL="457200" lvl="0" indent="-342900" algn="just" rtl="0">
              <a:lnSpc>
                <a:spcPct val="90000"/>
              </a:lnSpc>
              <a:spcBef>
                <a:spcPts val="1000"/>
              </a:spcBef>
              <a:spcAft>
                <a:spcPts val="0"/>
              </a:spcAft>
              <a:buSzPts val="1493"/>
              <a:buFont typeface="Calibri"/>
              <a:buChar char="•"/>
            </a:pPr>
            <a:r>
              <a:rPr lang="es-ES" sz="2000" dirty="0"/>
              <a:t>Comprender fundamentos y aplicaciones de Aprendizaje Supervisado</a:t>
            </a:r>
            <a:endParaRPr sz="2000" dirty="0"/>
          </a:p>
          <a:p>
            <a:pPr marL="457200" lvl="0" indent="-342900" algn="just" rtl="0">
              <a:lnSpc>
                <a:spcPct val="90000"/>
              </a:lnSpc>
              <a:spcBef>
                <a:spcPts val="1000"/>
              </a:spcBef>
              <a:spcAft>
                <a:spcPts val="0"/>
              </a:spcAft>
              <a:buSzPts val="1493"/>
              <a:buFont typeface="Calibri"/>
              <a:buChar char="•"/>
            </a:pPr>
            <a:r>
              <a:rPr lang="es-ES" sz="2000" dirty="0"/>
              <a:t>Diferenciar entre regresión y clasificación</a:t>
            </a:r>
          </a:p>
          <a:p>
            <a:pPr marL="457200" lvl="0" indent="-342900" algn="just" rtl="0">
              <a:lnSpc>
                <a:spcPct val="90000"/>
              </a:lnSpc>
              <a:spcBef>
                <a:spcPts val="1000"/>
              </a:spcBef>
              <a:spcAft>
                <a:spcPts val="0"/>
              </a:spcAft>
              <a:buSzPts val="1493"/>
              <a:buFont typeface="Calibri"/>
              <a:buChar char="•"/>
            </a:pPr>
            <a:r>
              <a:rPr lang="es-ES" sz="2000" dirty="0"/>
              <a:t>Conocer algunos modelos supervisados existentes</a:t>
            </a:r>
            <a:endParaRPr sz="2000" dirty="0"/>
          </a:p>
          <a:p>
            <a:pPr marL="457200" lvl="0" indent="-342900" algn="just" rtl="0">
              <a:lnSpc>
                <a:spcPct val="90000"/>
              </a:lnSpc>
              <a:spcBef>
                <a:spcPts val="1000"/>
              </a:spcBef>
              <a:spcAft>
                <a:spcPts val="0"/>
              </a:spcAft>
              <a:buSzPts val="1493"/>
              <a:buFont typeface="Calibri"/>
              <a:buChar char="•"/>
            </a:pPr>
            <a:r>
              <a:rPr lang="es-ES" sz="2000" dirty="0"/>
              <a:t>Entrenar un modelo de aprendizaje automático de regresión</a:t>
            </a:r>
          </a:p>
          <a:p>
            <a:pPr marL="457200" lvl="0" indent="-342900" algn="just" rtl="0">
              <a:lnSpc>
                <a:spcPct val="90000"/>
              </a:lnSpc>
              <a:spcBef>
                <a:spcPts val="1000"/>
              </a:spcBef>
              <a:spcAft>
                <a:spcPts val="0"/>
              </a:spcAft>
              <a:buSzPts val="1493"/>
              <a:buFont typeface="Calibri"/>
              <a:buChar char="•"/>
            </a:pPr>
            <a:r>
              <a:rPr lang="es-ES" sz="2000" dirty="0"/>
              <a:t>Validar y evaluar el modelo de aprendizaje automático </a:t>
            </a:r>
            <a:endParaRPr sz="2000" dirty="0"/>
          </a:p>
          <a:p>
            <a:pPr marL="114300" lvl="0" indent="0" algn="just" rtl="0">
              <a:lnSpc>
                <a:spcPct val="90000"/>
              </a:lnSpc>
              <a:spcBef>
                <a:spcPts val="1000"/>
              </a:spcBef>
              <a:spcAft>
                <a:spcPts val="0"/>
              </a:spcAft>
              <a:buSzPts val="1493"/>
              <a:buNone/>
            </a:pPr>
            <a:endParaRPr lang="en-US" sz="2000" dirty="0"/>
          </a:p>
        </p:txBody>
      </p:sp>
      <p:sp>
        <p:nvSpPr>
          <p:cNvPr id="114" name="Google Shape;114;p3"/>
          <p:cNvSpPr txBox="1">
            <a:spLocks noGrp="1"/>
          </p:cNvSpPr>
          <p:nvPr>
            <p:ph type="sldNum" idx="4294967295"/>
          </p:nvPr>
        </p:nvSpPr>
        <p:spPr>
          <a:xfrm>
            <a:off x="6844146" y="6356355"/>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4</a:t>
            </a:fld>
            <a:endParaRPr/>
          </a:p>
        </p:txBody>
      </p:sp>
      <p:sp>
        <p:nvSpPr>
          <p:cNvPr id="115" name="Google Shape;115;p3"/>
          <p:cNvSpPr/>
          <p:nvPr/>
        </p:nvSpPr>
        <p:spPr>
          <a:xfrm>
            <a:off x="406364" y="1284367"/>
            <a:ext cx="570706" cy="570706"/>
          </a:xfrm>
          <a:prstGeom prst="ellipse">
            <a:avLst/>
          </a:prstGeom>
          <a:solidFill>
            <a:srgbClr val="B7CCE4"/>
          </a:solidFill>
          <a:ln w="57150" cap="flat" cmpd="sng">
            <a:solidFill>
              <a:srgbClr val="006D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16" name="Google Shape;116;p3"/>
          <p:cNvPicPr preferRelativeResize="0"/>
          <p:nvPr/>
        </p:nvPicPr>
        <p:blipFill rotWithShape="1">
          <a:blip r:embed="rId3">
            <a:alphaModFix/>
          </a:blip>
          <a:srcRect/>
          <a:stretch/>
        </p:blipFill>
        <p:spPr>
          <a:xfrm>
            <a:off x="452607" y="1259257"/>
            <a:ext cx="553521" cy="553521"/>
          </a:xfrm>
          <a:prstGeom prst="rect">
            <a:avLst/>
          </a:prstGeom>
          <a:noFill/>
          <a:ln>
            <a:noFill/>
          </a:ln>
        </p:spPr>
      </p:pic>
      <p:sp>
        <p:nvSpPr>
          <p:cNvPr id="117" name="Google Shape;117;p3"/>
          <p:cNvSpPr txBox="1"/>
          <p:nvPr/>
        </p:nvSpPr>
        <p:spPr>
          <a:xfrm>
            <a:off x="1044392" y="1198152"/>
            <a:ext cx="4584605" cy="763455"/>
          </a:xfrm>
          <a:prstGeom prst="rect">
            <a:avLst/>
          </a:prstGeom>
          <a:noFill/>
          <a:ln>
            <a:noFill/>
          </a:ln>
        </p:spPr>
        <p:txBody>
          <a:bodyPr spcFirstLastPara="1" wrap="square" lIns="91425" tIns="45700" rIns="91425" bIns="45700" anchor="ctr" anchorCtr="0">
            <a:normAutofit fontScale="92500"/>
          </a:bodyPr>
          <a:lstStyle/>
          <a:p>
            <a:pPr marL="0" marR="0" lvl="0" indent="0" algn="l" rtl="0">
              <a:lnSpc>
                <a:spcPct val="90000"/>
              </a:lnSpc>
              <a:spcBef>
                <a:spcPts val="0"/>
              </a:spcBef>
              <a:spcAft>
                <a:spcPts val="0"/>
              </a:spcAft>
              <a:buClr>
                <a:schemeClr val="dk1"/>
              </a:buClr>
              <a:buSzPts val="2800"/>
              <a:buFont typeface="Calibri"/>
              <a:buNone/>
            </a:pPr>
            <a:r>
              <a:rPr lang="en-US" sz="2800" b="1" i="0" u="none" strike="noStrike" cap="none" dirty="0">
                <a:solidFill>
                  <a:schemeClr val="dk1"/>
                </a:solidFill>
                <a:latin typeface="Calibri"/>
                <a:ea typeface="Calibri"/>
                <a:cs typeface="Calibri"/>
                <a:sym typeface="Calibri"/>
              </a:rPr>
              <a:t>Objetivos generals de la sesión</a:t>
            </a:r>
            <a:endParaRPr sz="1400" b="0" i="0" u="none" strike="noStrike" cap="none" dirty="0">
              <a:solidFill>
                <a:srgbClr val="000000"/>
              </a:solidFill>
              <a:latin typeface="Arial"/>
              <a:ea typeface="Arial"/>
              <a:cs typeface="Arial"/>
              <a:sym typeface="Arial"/>
            </a:endParaRPr>
          </a:p>
        </p:txBody>
      </p:sp>
      <p:cxnSp>
        <p:nvCxnSpPr>
          <p:cNvPr id="118" name="Google Shape;118;p3"/>
          <p:cNvCxnSpPr/>
          <p:nvPr/>
        </p:nvCxnSpPr>
        <p:spPr>
          <a:xfrm rot="10800000" flipH="1">
            <a:off x="-37" y="1569720"/>
            <a:ext cx="406401" cy="3437"/>
          </a:xfrm>
          <a:prstGeom prst="straightConnector1">
            <a:avLst/>
          </a:prstGeom>
          <a:noFill/>
          <a:ln w="57150" cap="flat" cmpd="sng">
            <a:solidFill>
              <a:srgbClr val="006DA5"/>
            </a:solidFill>
            <a:prstDash val="solid"/>
            <a:round/>
            <a:headEnd type="none" w="sm" len="sm"/>
            <a:tailEnd type="none" w="sm" len="sm"/>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4"/>
          <p:cNvSpPr txBox="1">
            <a:spLocks noGrp="1"/>
          </p:cNvSpPr>
          <p:nvPr>
            <p:ph type="body" idx="1"/>
          </p:nvPr>
        </p:nvSpPr>
        <p:spPr>
          <a:xfrm>
            <a:off x="406364" y="2318913"/>
            <a:ext cx="7886700" cy="3657852"/>
          </a:xfrm>
          <a:prstGeom prst="rect">
            <a:avLst/>
          </a:prstGeom>
          <a:noFill/>
          <a:ln>
            <a:noFill/>
          </a:ln>
        </p:spPr>
        <p:txBody>
          <a:bodyPr spcFirstLastPara="1" wrap="square" lIns="91425" tIns="45700" rIns="91425" bIns="45700" anchor="t" anchorCtr="0">
            <a:normAutofit/>
          </a:bodyPr>
          <a:lstStyle/>
          <a:p>
            <a:pPr marL="228593" lvl="0" indent="-228592" algn="l" rtl="0">
              <a:lnSpc>
                <a:spcPct val="150000"/>
              </a:lnSpc>
              <a:spcBef>
                <a:spcPts val="0"/>
              </a:spcBef>
              <a:spcAft>
                <a:spcPts val="0"/>
              </a:spcAft>
              <a:buSzPts val="1513"/>
              <a:buFont typeface="Calibri"/>
              <a:buChar char="•"/>
            </a:pPr>
            <a:r>
              <a:rPr lang="es-ES" sz="2000" dirty="0"/>
              <a:t>¿Que es el aprendizaje supervisado? ¿Aplicaciones?</a:t>
            </a:r>
          </a:p>
          <a:p>
            <a:pPr marL="228593" lvl="0" indent="-228592" algn="l" rtl="0">
              <a:lnSpc>
                <a:spcPct val="150000"/>
              </a:lnSpc>
              <a:spcBef>
                <a:spcPts val="0"/>
              </a:spcBef>
              <a:spcAft>
                <a:spcPts val="0"/>
              </a:spcAft>
              <a:buSzPts val="1513"/>
              <a:buFont typeface="Calibri"/>
              <a:buChar char="•"/>
            </a:pPr>
            <a:r>
              <a:rPr lang="es-ES" sz="2000" dirty="0"/>
              <a:t>Regresión Lineal con librería Scikit-learn</a:t>
            </a:r>
          </a:p>
          <a:p>
            <a:pPr marL="228593" lvl="0" indent="-228592" algn="l" rtl="0">
              <a:lnSpc>
                <a:spcPct val="150000"/>
              </a:lnSpc>
              <a:spcBef>
                <a:spcPts val="0"/>
              </a:spcBef>
              <a:spcAft>
                <a:spcPts val="0"/>
              </a:spcAft>
              <a:buSzPts val="1513"/>
              <a:buFont typeface="Calibri"/>
              <a:buChar char="•"/>
            </a:pPr>
            <a:r>
              <a:rPr lang="es-ES" sz="2000" dirty="0"/>
              <a:t>Modelos de regresión existentes</a:t>
            </a:r>
          </a:p>
          <a:p>
            <a:pPr marL="228593" indent="-228592">
              <a:lnSpc>
                <a:spcPct val="150000"/>
              </a:lnSpc>
              <a:spcBef>
                <a:spcPts val="0"/>
              </a:spcBef>
              <a:buSzPts val="1513"/>
            </a:pPr>
            <a:r>
              <a:rPr lang="es-ES" sz="2000" dirty="0"/>
              <a:t>Creación y evaluación de modelos de regresión (Jupyter)</a:t>
            </a:r>
          </a:p>
          <a:p>
            <a:pPr marL="228593" lvl="0" indent="-228592" algn="l" rtl="0">
              <a:lnSpc>
                <a:spcPct val="150000"/>
              </a:lnSpc>
              <a:spcBef>
                <a:spcPts val="0"/>
              </a:spcBef>
              <a:spcAft>
                <a:spcPts val="0"/>
              </a:spcAft>
              <a:buSzPts val="1513"/>
              <a:buFont typeface="Calibri"/>
              <a:buChar char="•"/>
            </a:pPr>
            <a:r>
              <a:rPr lang="es-ES" sz="2000" dirty="0"/>
              <a:t>Visualización en Jupyter</a:t>
            </a:r>
          </a:p>
        </p:txBody>
      </p:sp>
      <p:sp>
        <p:nvSpPr>
          <p:cNvPr id="125" name="Google Shape;125;p4"/>
          <p:cNvSpPr/>
          <p:nvPr/>
        </p:nvSpPr>
        <p:spPr>
          <a:xfrm>
            <a:off x="406364" y="1284367"/>
            <a:ext cx="570706" cy="570706"/>
          </a:xfrm>
          <a:prstGeom prst="ellipse">
            <a:avLst/>
          </a:prstGeom>
          <a:solidFill>
            <a:srgbClr val="B7CCE4"/>
          </a:solidFill>
          <a:ln w="57150" cap="flat" cmpd="sng">
            <a:solidFill>
              <a:srgbClr val="006D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26" name="Google Shape;126;p4"/>
          <p:cNvPicPr preferRelativeResize="0"/>
          <p:nvPr/>
        </p:nvPicPr>
        <p:blipFill rotWithShape="1">
          <a:blip r:embed="rId3">
            <a:alphaModFix/>
          </a:blip>
          <a:srcRect/>
          <a:stretch/>
        </p:blipFill>
        <p:spPr>
          <a:xfrm>
            <a:off x="512062" y="1394183"/>
            <a:ext cx="346458" cy="346458"/>
          </a:xfrm>
          <a:prstGeom prst="rect">
            <a:avLst/>
          </a:prstGeom>
          <a:noFill/>
          <a:ln>
            <a:noFill/>
          </a:ln>
        </p:spPr>
      </p:pic>
      <p:cxnSp>
        <p:nvCxnSpPr>
          <p:cNvPr id="127" name="Google Shape;127;p4"/>
          <p:cNvCxnSpPr/>
          <p:nvPr/>
        </p:nvCxnSpPr>
        <p:spPr>
          <a:xfrm rot="10800000" flipH="1">
            <a:off x="-37" y="1569720"/>
            <a:ext cx="406401" cy="3437"/>
          </a:xfrm>
          <a:prstGeom prst="straightConnector1">
            <a:avLst/>
          </a:prstGeom>
          <a:noFill/>
          <a:ln w="57150" cap="flat" cmpd="sng">
            <a:solidFill>
              <a:srgbClr val="006DA5"/>
            </a:solidFill>
            <a:prstDash val="solid"/>
            <a:round/>
            <a:headEnd type="none" w="sm" len="sm"/>
            <a:tailEnd type="none" w="sm" len="sm"/>
          </a:ln>
        </p:spPr>
      </p:cxnSp>
      <p:sp>
        <p:nvSpPr>
          <p:cNvPr id="128" name="Google Shape;128;p4"/>
          <p:cNvSpPr txBox="1"/>
          <p:nvPr/>
        </p:nvSpPr>
        <p:spPr>
          <a:xfrm>
            <a:off x="1044392" y="1198152"/>
            <a:ext cx="4584605" cy="763455"/>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2800"/>
              <a:buFont typeface="Calibri"/>
              <a:buNone/>
            </a:pPr>
            <a:r>
              <a:rPr lang="en-US" sz="2800" b="1" i="0" u="none" strike="noStrike" cap="none" dirty="0">
                <a:solidFill>
                  <a:schemeClr val="dk1"/>
                </a:solidFill>
                <a:latin typeface="Calibri"/>
                <a:ea typeface="Calibri"/>
                <a:cs typeface="Calibri"/>
                <a:sym typeface="Calibri"/>
              </a:rPr>
              <a:t>Contenidos de la sesión</a:t>
            </a:r>
            <a:endParaRPr sz="1400" b="0" i="0" u="none" strike="noStrike" cap="none" dirty="0">
              <a:solidFill>
                <a:srgbClr val="000000"/>
              </a:solidFill>
              <a:latin typeface="Arial"/>
              <a:ea typeface="Arial"/>
              <a:cs typeface="Arial"/>
              <a:sym typeface="Arial"/>
            </a:endParaRPr>
          </a:p>
        </p:txBody>
      </p:sp>
      <p:pic>
        <p:nvPicPr>
          <p:cNvPr id="129" name="Google Shape;129;p4" descr="Proyecto Jupyter - Wikipedia, la enciclopedia libre"/>
          <p:cNvPicPr preferRelativeResize="0"/>
          <p:nvPr/>
        </p:nvPicPr>
        <p:blipFill rotWithShape="1">
          <a:blip r:embed="rId4">
            <a:alphaModFix/>
          </a:blip>
          <a:srcRect/>
          <a:stretch/>
        </p:blipFill>
        <p:spPr>
          <a:xfrm>
            <a:off x="7162079" y="4652474"/>
            <a:ext cx="952167" cy="1103666"/>
          </a:xfrm>
          <a:prstGeom prst="rect">
            <a:avLst/>
          </a:prstGeom>
          <a:noFill/>
          <a:ln>
            <a:noFill/>
          </a:ln>
        </p:spPr>
      </p:pic>
      <p:sp>
        <p:nvSpPr>
          <p:cNvPr id="130" name="Google Shape;130;p4"/>
          <p:cNvSpPr txBox="1"/>
          <p:nvPr/>
        </p:nvSpPr>
        <p:spPr>
          <a:xfrm>
            <a:off x="6844146" y="6356355"/>
            <a:ext cx="20574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888888"/>
                </a:solidFill>
                <a:latin typeface="Calibri"/>
                <a:ea typeface="Calibri"/>
                <a:cs typeface="Calibri"/>
                <a:sym typeface="Calibri"/>
              </a:rPr>
              <a:t>5</a:t>
            </a:fld>
            <a:endParaRPr sz="1200" b="0" i="0" u="none" strike="noStrike" cap="none">
              <a:solidFill>
                <a:srgbClr val="888888"/>
              </a:solidFill>
              <a:latin typeface="Calibri"/>
              <a:ea typeface="Calibri"/>
              <a:cs typeface="Calibri"/>
              <a:sym typeface="Calibri"/>
            </a:endParaRPr>
          </a:p>
        </p:txBody>
      </p:sp>
      <p:pic>
        <p:nvPicPr>
          <p:cNvPr id="1026" name="Picture 2" descr="Understanding Machine Learning through Memes | by Harsh Aryan | Nybles |  Medium">
            <a:extLst>
              <a:ext uri="{FF2B5EF4-FFF2-40B4-BE49-F238E27FC236}">
                <a16:creationId xmlns:a16="http://schemas.microsoft.com/office/drawing/2014/main" id="{0B487EAF-AF5B-44A2-8452-E3BF2902E53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44388" y="1653693"/>
            <a:ext cx="1987550" cy="19875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7964CCF5-80EF-4060-B43C-0BA66C9B7BAA}"/>
              </a:ext>
            </a:extLst>
          </p:cNvPr>
          <p:cNvSpPr>
            <a:spLocks noGrp="1"/>
          </p:cNvSpPr>
          <p:nvPr>
            <p:ph type="body" idx="1"/>
          </p:nvPr>
        </p:nvSpPr>
        <p:spPr/>
        <p:txBody>
          <a:bodyPr/>
          <a:lstStyle/>
          <a:p>
            <a:pPr marL="114300" indent="0">
              <a:buNone/>
            </a:pPr>
            <a:r>
              <a:rPr lang="es-ES" dirty="0"/>
              <a:t>Kahoot: </a:t>
            </a:r>
          </a:p>
          <a:p>
            <a:pPr marL="114300" indent="0">
              <a:buNone/>
            </a:pPr>
            <a:r>
              <a:rPr lang="es-ES" dirty="0">
                <a:hlinkClick r:id="rId2"/>
              </a:rPr>
              <a:t>https://create.kahoot.it/details/5fd4f32b-f798-48bd-a947-717162d50abc</a:t>
            </a:r>
            <a:endParaRPr lang="es-ES" dirty="0"/>
          </a:p>
          <a:p>
            <a:pPr marL="114300" indent="0">
              <a:buNone/>
            </a:pPr>
            <a:endParaRPr lang="es-ES" dirty="0"/>
          </a:p>
        </p:txBody>
      </p:sp>
      <p:sp>
        <p:nvSpPr>
          <p:cNvPr id="3" name="CuadroTexto 2">
            <a:extLst>
              <a:ext uri="{FF2B5EF4-FFF2-40B4-BE49-F238E27FC236}">
                <a16:creationId xmlns:a16="http://schemas.microsoft.com/office/drawing/2014/main" id="{48346FE1-4E4A-4B9C-9001-B2855CDC444C}"/>
              </a:ext>
            </a:extLst>
          </p:cNvPr>
          <p:cNvSpPr txBox="1"/>
          <p:nvPr/>
        </p:nvSpPr>
        <p:spPr>
          <a:xfrm>
            <a:off x="628650" y="1474237"/>
            <a:ext cx="1827744" cy="338554"/>
          </a:xfrm>
          <a:prstGeom prst="rect">
            <a:avLst/>
          </a:prstGeom>
          <a:noFill/>
        </p:spPr>
        <p:txBody>
          <a:bodyPr wrap="none" rtlCol="0">
            <a:spAutoFit/>
          </a:bodyPr>
          <a:lstStyle/>
          <a:p>
            <a:r>
              <a:rPr lang="es-ES" sz="1600" b="1" dirty="0"/>
              <a:t>Actividad 1: </a:t>
            </a:r>
            <a:r>
              <a:rPr lang="es-ES" sz="1600" dirty="0"/>
              <a:t>Quiz</a:t>
            </a:r>
          </a:p>
        </p:txBody>
      </p:sp>
    </p:spTree>
    <p:extLst>
      <p:ext uri="{BB962C8B-B14F-4D97-AF65-F5344CB8AC3E}">
        <p14:creationId xmlns:p14="http://schemas.microsoft.com/office/powerpoint/2010/main" val="1067443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p:txBody>
          <a:bodyPr/>
          <a:lstStyle/>
          <a:p>
            <a:fld id="{F72B40EF-D53A-41AA-87B6-B9F74BA43E09}" type="slidenum">
              <a:rPr lang="es-ES" smtClean="0"/>
              <a:t>7</a:t>
            </a:fld>
            <a:endParaRPr lang="es-ES"/>
          </a:p>
        </p:txBody>
      </p:sp>
      <p:sp>
        <p:nvSpPr>
          <p:cNvPr id="17" name="Rectángulo redondeado 16"/>
          <p:cNvSpPr/>
          <p:nvPr/>
        </p:nvSpPr>
        <p:spPr>
          <a:xfrm>
            <a:off x="406155" y="3130323"/>
            <a:ext cx="2685387" cy="736470"/>
          </a:xfrm>
          <a:prstGeom prst="round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000" dirty="0"/>
              <a:t>Aprendizaje Supervisado</a:t>
            </a:r>
            <a:endParaRPr lang="en-US" sz="2000" dirty="0"/>
          </a:p>
        </p:txBody>
      </p:sp>
      <p:sp>
        <p:nvSpPr>
          <p:cNvPr id="18" name="Rectángulo redondeado 17"/>
          <p:cNvSpPr/>
          <p:nvPr/>
        </p:nvSpPr>
        <p:spPr>
          <a:xfrm>
            <a:off x="3420626" y="3130322"/>
            <a:ext cx="2877880" cy="702917"/>
          </a:xfrm>
          <a:prstGeom prst="round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000" dirty="0"/>
              <a:t>Aprendizaje NO Supervisado</a:t>
            </a:r>
            <a:endParaRPr lang="en-US" sz="2000" dirty="0"/>
          </a:p>
        </p:txBody>
      </p:sp>
      <p:sp>
        <p:nvSpPr>
          <p:cNvPr id="19" name="Rectángulo redondeado 18"/>
          <p:cNvSpPr/>
          <p:nvPr/>
        </p:nvSpPr>
        <p:spPr>
          <a:xfrm>
            <a:off x="6627590" y="3130322"/>
            <a:ext cx="2084401" cy="709268"/>
          </a:xfrm>
          <a:prstGeom prst="round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000" dirty="0"/>
              <a:t>Reinforcement Learning</a:t>
            </a:r>
            <a:endParaRPr lang="en-US" sz="2000" dirty="0"/>
          </a:p>
        </p:txBody>
      </p:sp>
      <p:sp>
        <p:nvSpPr>
          <p:cNvPr id="20" name="Rectángulo redondeado 19"/>
          <p:cNvSpPr/>
          <p:nvPr/>
        </p:nvSpPr>
        <p:spPr>
          <a:xfrm>
            <a:off x="406155" y="4175867"/>
            <a:ext cx="2685387" cy="461527"/>
          </a:xfrm>
          <a:prstGeom prst="round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000" dirty="0">
                <a:solidFill>
                  <a:schemeClr val="tx1"/>
                </a:solidFill>
              </a:rPr>
              <a:t>Regresión</a:t>
            </a:r>
            <a:endParaRPr lang="en-US" sz="2000" dirty="0">
              <a:solidFill>
                <a:schemeClr val="tx1"/>
              </a:solidFill>
            </a:endParaRPr>
          </a:p>
        </p:txBody>
      </p:sp>
      <p:sp>
        <p:nvSpPr>
          <p:cNvPr id="21" name="Rectángulo redondeado 20"/>
          <p:cNvSpPr/>
          <p:nvPr/>
        </p:nvSpPr>
        <p:spPr>
          <a:xfrm>
            <a:off x="406155" y="4946469"/>
            <a:ext cx="2685387" cy="461528"/>
          </a:xfrm>
          <a:prstGeom prst="round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000" dirty="0">
                <a:solidFill>
                  <a:schemeClr val="tx1"/>
                </a:solidFill>
              </a:rPr>
              <a:t>Clasificación</a:t>
            </a:r>
            <a:endParaRPr lang="en-US" sz="2000" dirty="0">
              <a:solidFill>
                <a:schemeClr val="tx1"/>
              </a:solidFill>
            </a:endParaRPr>
          </a:p>
        </p:txBody>
      </p:sp>
      <p:sp>
        <p:nvSpPr>
          <p:cNvPr id="22" name="Rectángulo redondeado 21"/>
          <p:cNvSpPr/>
          <p:nvPr/>
        </p:nvSpPr>
        <p:spPr>
          <a:xfrm>
            <a:off x="3420626" y="4161625"/>
            <a:ext cx="2877880" cy="422227"/>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000" dirty="0">
                <a:solidFill>
                  <a:schemeClr val="tx1"/>
                </a:solidFill>
              </a:rPr>
              <a:t>Clustering</a:t>
            </a:r>
            <a:endParaRPr lang="en-US" sz="2000" dirty="0">
              <a:solidFill>
                <a:schemeClr val="tx1"/>
              </a:solidFill>
            </a:endParaRPr>
          </a:p>
        </p:txBody>
      </p:sp>
      <p:sp>
        <p:nvSpPr>
          <p:cNvPr id="23" name="Rectángulo redondeado 22"/>
          <p:cNvSpPr/>
          <p:nvPr/>
        </p:nvSpPr>
        <p:spPr>
          <a:xfrm>
            <a:off x="3420820" y="4911766"/>
            <a:ext cx="2877686" cy="496231"/>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000" dirty="0">
                <a:solidFill>
                  <a:schemeClr val="tx1"/>
                </a:solidFill>
              </a:rPr>
              <a:t>Reducir dimensiones</a:t>
            </a:r>
            <a:endParaRPr lang="en-US" sz="2000" dirty="0">
              <a:solidFill>
                <a:schemeClr val="tx1"/>
              </a:solidFill>
            </a:endParaRPr>
          </a:p>
        </p:txBody>
      </p:sp>
      <p:sp>
        <p:nvSpPr>
          <p:cNvPr id="24" name="Elipse 23">
            <a:extLst>
              <a:ext uri="{FF2B5EF4-FFF2-40B4-BE49-F238E27FC236}">
                <a16:creationId xmlns:a16="http://schemas.microsoft.com/office/drawing/2014/main" id="{C029ACED-7456-41C5-9FBD-9BA3FBA4E8F7}"/>
              </a:ext>
            </a:extLst>
          </p:cNvPr>
          <p:cNvSpPr/>
          <p:nvPr/>
        </p:nvSpPr>
        <p:spPr>
          <a:xfrm>
            <a:off x="406364" y="1284367"/>
            <a:ext cx="570706" cy="570706"/>
          </a:xfrm>
          <a:prstGeom prst="ellipse">
            <a:avLst/>
          </a:prstGeom>
          <a:solidFill>
            <a:schemeClr val="accent1">
              <a:lumMod val="40000"/>
              <a:lumOff val="60000"/>
            </a:schemeClr>
          </a:solidFill>
          <a:ln w="57150">
            <a:solidFill>
              <a:srgbClr val="006D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Título 1">
            <a:extLst>
              <a:ext uri="{FF2B5EF4-FFF2-40B4-BE49-F238E27FC236}">
                <a16:creationId xmlns:a16="http://schemas.microsoft.com/office/drawing/2014/main" id="{3D171AD2-9A26-4107-98FD-1F43055C61AC}"/>
              </a:ext>
            </a:extLst>
          </p:cNvPr>
          <p:cNvSpPr>
            <a:spLocks noGrp="1"/>
          </p:cNvSpPr>
          <p:nvPr>
            <p:ph type="title"/>
          </p:nvPr>
        </p:nvSpPr>
        <p:spPr>
          <a:xfrm>
            <a:off x="1082768" y="1187992"/>
            <a:ext cx="4584605" cy="763455"/>
          </a:xfrm>
        </p:spPr>
        <p:txBody>
          <a:bodyPr>
            <a:normAutofit/>
          </a:bodyPr>
          <a:lstStyle/>
          <a:p>
            <a:pPr algn="l"/>
            <a:r>
              <a:rPr lang="es-ES" sz="2400" b="1" dirty="0"/>
              <a:t>Recapitulemos…</a:t>
            </a:r>
          </a:p>
        </p:txBody>
      </p:sp>
      <p:pic>
        <p:nvPicPr>
          <p:cNvPr id="26" name="Imagen 25">
            <a:extLst>
              <a:ext uri="{FF2B5EF4-FFF2-40B4-BE49-F238E27FC236}">
                <a16:creationId xmlns:a16="http://schemas.microsoft.com/office/drawing/2014/main" id="{C5773C73-760D-4796-A4B2-FE3A849332F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2062" y="1394183"/>
            <a:ext cx="346458" cy="346458"/>
          </a:xfrm>
          <a:prstGeom prst="rect">
            <a:avLst/>
          </a:prstGeom>
        </p:spPr>
      </p:pic>
      <p:cxnSp>
        <p:nvCxnSpPr>
          <p:cNvPr id="27" name="Conector recto 26">
            <a:extLst>
              <a:ext uri="{FF2B5EF4-FFF2-40B4-BE49-F238E27FC236}">
                <a16:creationId xmlns:a16="http://schemas.microsoft.com/office/drawing/2014/main" id="{3A37FDCD-503A-4A45-A1BC-4854DB516642}"/>
              </a:ext>
            </a:extLst>
          </p:cNvPr>
          <p:cNvCxnSpPr/>
          <p:nvPr/>
        </p:nvCxnSpPr>
        <p:spPr>
          <a:xfrm flipV="1">
            <a:off x="-37" y="1569720"/>
            <a:ext cx="406401" cy="3437"/>
          </a:xfrm>
          <a:prstGeom prst="line">
            <a:avLst/>
          </a:prstGeom>
          <a:ln w="57150">
            <a:solidFill>
              <a:srgbClr val="006DA5"/>
            </a:solidFill>
          </a:ln>
        </p:spPr>
        <p:style>
          <a:lnRef idx="1">
            <a:schemeClr val="accent1"/>
          </a:lnRef>
          <a:fillRef idx="0">
            <a:schemeClr val="accent1"/>
          </a:fillRef>
          <a:effectRef idx="0">
            <a:schemeClr val="accent1"/>
          </a:effectRef>
          <a:fontRef idx="minor">
            <a:schemeClr val="tx1"/>
          </a:fontRef>
        </p:style>
      </p:cxnSp>
      <p:sp>
        <p:nvSpPr>
          <p:cNvPr id="28" name="Rectángulo redondeado 6">
            <a:extLst>
              <a:ext uri="{FF2B5EF4-FFF2-40B4-BE49-F238E27FC236}">
                <a16:creationId xmlns:a16="http://schemas.microsoft.com/office/drawing/2014/main" id="{4CBBE051-BD47-410C-A1EE-C2A75AA64305}"/>
              </a:ext>
            </a:extLst>
          </p:cNvPr>
          <p:cNvSpPr/>
          <p:nvPr/>
        </p:nvSpPr>
        <p:spPr>
          <a:xfrm>
            <a:off x="406155" y="2236494"/>
            <a:ext cx="8305836" cy="481276"/>
          </a:xfrm>
          <a:prstGeom prst="roundRect">
            <a:avLst/>
          </a:prstGeom>
          <a:solidFill>
            <a:schemeClr val="bg1">
              <a:lumMod val="9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000" b="1" dirty="0">
                <a:solidFill>
                  <a:schemeClr val="tx1"/>
                </a:solidFill>
              </a:rPr>
              <a:t>MACHINE LEARNING</a:t>
            </a:r>
            <a:endParaRPr lang="en-US" sz="2000" b="1" dirty="0">
              <a:solidFill>
                <a:schemeClr val="tx1"/>
              </a:solidFill>
            </a:endParaRPr>
          </a:p>
        </p:txBody>
      </p:sp>
      <p:sp>
        <p:nvSpPr>
          <p:cNvPr id="2" name="Rectángulo 1">
            <a:extLst>
              <a:ext uri="{FF2B5EF4-FFF2-40B4-BE49-F238E27FC236}">
                <a16:creationId xmlns:a16="http://schemas.microsoft.com/office/drawing/2014/main" id="{5C0613E9-83AB-455D-AD0C-03339CCB64E7}"/>
              </a:ext>
            </a:extLst>
          </p:cNvPr>
          <p:cNvSpPr/>
          <p:nvPr/>
        </p:nvSpPr>
        <p:spPr>
          <a:xfrm>
            <a:off x="242596" y="3023118"/>
            <a:ext cx="2967135" cy="2550515"/>
          </a:xfrm>
          <a:prstGeom prst="rect">
            <a:avLst/>
          </a:prstGeom>
          <a:no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42084099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p:txBody>
          <a:bodyPr/>
          <a:lstStyle/>
          <a:p>
            <a:fld id="{F72B40EF-D53A-41AA-87B6-B9F74BA43E09}" type="slidenum">
              <a:rPr lang="es-ES" smtClean="0"/>
              <a:t>8</a:t>
            </a:fld>
            <a:endParaRPr lang="es-ES"/>
          </a:p>
        </p:txBody>
      </p:sp>
      <p:sp>
        <p:nvSpPr>
          <p:cNvPr id="20" name="Título 1"/>
          <p:cNvSpPr txBox="1">
            <a:spLocks/>
          </p:cNvSpPr>
          <p:nvPr/>
        </p:nvSpPr>
        <p:spPr>
          <a:xfrm>
            <a:off x="1080252" y="1238792"/>
            <a:ext cx="6960662" cy="763455"/>
          </a:xfrm>
          <a:prstGeom prst="rect">
            <a:avLst/>
          </a:prstGeom>
        </p:spPr>
        <p:txBody>
          <a:bodyPr vert="horz" lIns="91440" tIns="45720" rIns="91440" bIns="45720" rtlCol="0" anchor="ctr">
            <a:normAutofit/>
          </a:bodyPr>
          <a:lstStyle>
            <a:lvl1pPr algn="ctr" defTabSz="914377" rtl="0" eaLnBrk="1" latinLnBrk="0" hangingPunct="1">
              <a:lnSpc>
                <a:spcPct val="90000"/>
              </a:lnSpc>
              <a:spcBef>
                <a:spcPct val="0"/>
              </a:spcBef>
              <a:buNone/>
              <a:defRPr sz="4000" kern="1200">
                <a:solidFill>
                  <a:schemeClr val="tx1"/>
                </a:solidFill>
                <a:latin typeface="+mj-lt"/>
                <a:ea typeface="+mj-ea"/>
                <a:cs typeface="+mj-cs"/>
              </a:defRPr>
            </a:lvl1pPr>
          </a:lstStyle>
          <a:p>
            <a:pPr algn="l"/>
            <a:r>
              <a:rPr lang="es-ES" sz="2400" b="1" dirty="0"/>
              <a:t>Principales diferencias entre aprendizaje supervisado y NO supervisado</a:t>
            </a:r>
          </a:p>
        </p:txBody>
      </p:sp>
      <p:sp>
        <p:nvSpPr>
          <p:cNvPr id="23" name="Rectángulo redondeado 22"/>
          <p:cNvSpPr/>
          <p:nvPr/>
        </p:nvSpPr>
        <p:spPr>
          <a:xfrm>
            <a:off x="2177143" y="2692567"/>
            <a:ext cx="3106057" cy="736470"/>
          </a:xfrm>
          <a:prstGeom prst="round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000" dirty="0"/>
              <a:t>Aprendizaje Supervisado</a:t>
            </a:r>
            <a:endParaRPr lang="en-US" sz="2000" dirty="0"/>
          </a:p>
        </p:txBody>
      </p:sp>
      <p:sp>
        <p:nvSpPr>
          <p:cNvPr id="24" name="Rectángulo redondeado 23"/>
          <p:cNvSpPr/>
          <p:nvPr/>
        </p:nvSpPr>
        <p:spPr>
          <a:xfrm>
            <a:off x="5442858" y="2687724"/>
            <a:ext cx="3478078" cy="741313"/>
          </a:xfrm>
          <a:prstGeom prst="round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2000" dirty="0"/>
              <a:t>Aprendizaje no Supervisado</a:t>
            </a:r>
            <a:endParaRPr lang="en-US" sz="2000" dirty="0"/>
          </a:p>
        </p:txBody>
      </p:sp>
      <p:sp>
        <p:nvSpPr>
          <p:cNvPr id="25" name="CuadroTexto 24"/>
          <p:cNvSpPr txBox="1"/>
          <p:nvPr/>
        </p:nvSpPr>
        <p:spPr>
          <a:xfrm>
            <a:off x="2339490" y="3864106"/>
            <a:ext cx="3204967" cy="307777"/>
          </a:xfrm>
          <a:prstGeom prst="rect">
            <a:avLst/>
          </a:prstGeom>
          <a:noFill/>
        </p:spPr>
        <p:txBody>
          <a:bodyPr wrap="square" rtlCol="0">
            <a:spAutoFit/>
          </a:bodyPr>
          <a:lstStyle/>
          <a:p>
            <a:pPr marL="285750" indent="-285750">
              <a:buFont typeface="Arial" panose="020B0604020202020204" pitchFamily="34" charset="0"/>
              <a:buChar char="•"/>
            </a:pPr>
            <a:r>
              <a:rPr lang="en-US" dirty="0"/>
              <a:t>Hay datos etiquetados (target)</a:t>
            </a:r>
          </a:p>
        </p:txBody>
      </p:sp>
      <p:sp>
        <p:nvSpPr>
          <p:cNvPr id="26" name="CuadroTexto 25"/>
          <p:cNvSpPr txBox="1"/>
          <p:nvPr/>
        </p:nvSpPr>
        <p:spPr>
          <a:xfrm>
            <a:off x="5544457" y="3864106"/>
            <a:ext cx="3472078" cy="523220"/>
          </a:xfrm>
          <a:prstGeom prst="rect">
            <a:avLst/>
          </a:prstGeom>
          <a:noFill/>
        </p:spPr>
        <p:txBody>
          <a:bodyPr wrap="square" rtlCol="0">
            <a:spAutoFit/>
          </a:bodyPr>
          <a:lstStyle/>
          <a:p>
            <a:pPr marL="285750" indent="-285750">
              <a:buFont typeface="Arial" panose="020B0604020202020204" pitchFamily="34" charset="0"/>
              <a:buChar char="•"/>
            </a:pPr>
            <a:r>
              <a:rPr lang="en-US" b="1" dirty="0"/>
              <a:t>No hay </a:t>
            </a:r>
            <a:r>
              <a:rPr lang="en-US" dirty="0"/>
              <a:t>datos etiquetados </a:t>
            </a:r>
          </a:p>
          <a:p>
            <a:r>
              <a:rPr lang="en-US" dirty="0"/>
              <a:t>           (No existe un target)</a:t>
            </a:r>
          </a:p>
        </p:txBody>
      </p:sp>
      <p:sp>
        <p:nvSpPr>
          <p:cNvPr id="27" name="Rectángulo redondeado 26"/>
          <p:cNvSpPr/>
          <p:nvPr/>
        </p:nvSpPr>
        <p:spPr>
          <a:xfrm>
            <a:off x="127827" y="3860566"/>
            <a:ext cx="1924651" cy="448746"/>
          </a:xfrm>
          <a:prstGeom prst="round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bg1"/>
                </a:solidFill>
              </a:rPr>
              <a:t>Datos de entrada</a:t>
            </a:r>
          </a:p>
        </p:txBody>
      </p:sp>
      <p:sp>
        <p:nvSpPr>
          <p:cNvPr id="30" name="Rectángulo redondeado 29"/>
          <p:cNvSpPr/>
          <p:nvPr/>
        </p:nvSpPr>
        <p:spPr>
          <a:xfrm>
            <a:off x="127827" y="4657917"/>
            <a:ext cx="1924651" cy="407141"/>
          </a:xfrm>
          <a:prstGeom prst="round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bg1"/>
                </a:solidFill>
              </a:rPr>
              <a:t>Objetivo</a:t>
            </a:r>
          </a:p>
        </p:txBody>
      </p:sp>
      <p:sp>
        <p:nvSpPr>
          <p:cNvPr id="31" name="Rectángulo 30"/>
          <p:cNvSpPr/>
          <p:nvPr/>
        </p:nvSpPr>
        <p:spPr>
          <a:xfrm>
            <a:off x="2339491" y="4627174"/>
            <a:ext cx="2943710" cy="523220"/>
          </a:xfrm>
          <a:prstGeom prst="rect">
            <a:avLst/>
          </a:prstGeom>
        </p:spPr>
        <p:txBody>
          <a:bodyPr wrap="square">
            <a:spAutoFit/>
          </a:bodyPr>
          <a:lstStyle/>
          <a:p>
            <a:pPr marL="285750" indent="-285750">
              <a:buFont typeface="Arial" panose="020B0604020202020204" pitchFamily="34" charset="0"/>
              <a:buChar char="•"/>
            </a:pPr>
            <a:r>
              <a:rPr lang="en-US" dirty="0"/>
              <a:t>Realizar predicciones de clasificación/regresión.</a:t>
            </a:r>
          </a:p>
        </p:txBody>
      </p:sp>
      <p:sp>
        <p:nvSpPr>
          <p:cNvPr id="32" name="Rectángulo 31"/>
          <p:cNvSpPr/>
          <p:nvPr/>
        </p:nvSpPr>
        <p:spPr>
          <a:xfrm>
            <a:off x="5544457" y="4480282"/>
            <a:ext cx="3256643" cy="1169551"/>
          </a:xfrm>
          <a:prstGeom prst="rect">
            <a:avLst/>
          </a:prstGeom>
        </p:spPr>
        <p:txBody>
          <a:bodyPr wrap="square">
            <a:spAutoFit/>
          </a:bodyPr>
          <a:lstStyle/>
          <a:p>
            <a:pPr marL="285750" indent="-285750">
              <a:buFont typeface="Arial" panose="020B0604020202020204" pitchFamily="34" charset="0"/>
              <a:buChar char="•"/>
            </a:pPr>
            <a:r>
              <a:rPr lang="en-US" dirty="0"/>
              <a:t>Encontrar patrones ocultos en los datos. Clustering (k-means, Hierarchical)</a:t>
            </a:r>
          </a:p>
          <a:p>
            <a:pPr marL="285750" indent="-285750">
              <a:buFont typeface="Arial" panose="020B0604020202020204" pitchFamily="34" charset="0"/>
              <a:buChar char="•"/>
            </a:pPr>
            <a:r>
              <a:rPr lang="en-US" dirty="0"/>
              <a:t>Reducir dimensiones (Principal Component Analysis)</a:t>
            </a:r>
          </a:p>
        </p:txBody>
      </p:sp>
      <p:sp>
        <p:nvSpPr>
          <p:cNvPr id="33" name="Rectángulo redondeado 32"/>
          <p:cNvSpPr/>
          <p:nvPr/>
        </p:nvSpPr>
        <p:spPr>
          <a:xfrm>
            <a:off x="2177143" y="3546928"/>
            <a:ext cx="6743792" cy="2129971"/>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Elipse 21">
            <a:extLst>
              <a:ext uri="{FF2B5EF4-FFF2-40B4-BE49-F238E27FC236}">
                <a16:creationId xmlns:a16="http://schemas.microsoft.com/office/drawing/2014/main" id="{D02C20AA-2ACB-4678-AD1D-AC3161BF8F8B}"/>
              </a:ext>
            </a:extLst>
          </p:cNvPr>
          <p:cNvSpPr/>
          <p:nvPr/>
        </p:nvSpPr>
        <p:spPr>
          <a:xfrm>
            <a:off x="406364" y="1284367"/>
            <a:ext cx="570706" cy="570706"/>
          </a:xfrm>
          <a:prstGeom prst="ellipse">
            <a:avLst/>
          </a:prstGeom>
          <a:solidFill>
            <a:schemeClr val="accent1">
              <a:lumMod val="40000"/>
              <a:lumOff val="60000"/>
            </a:schemeClr>
          </a:solidFill>
          <a:ln w="57150">
            <a:solidFill>
              <a:srgbClr val="006D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28" name="Imagen 27">
            <a:extLst>
              <a:ext uri="{FF2B5EF4-FFF2-40B4-BE49-F238E27FC236}">
                <a16:creationId xmlns:a16="http://schemas.microsoft.com/office/drawing/2014/main" id="{E089455E-F7E5-4521-A52F-AD4ED84F558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2062" y="1394183"/>
            <a:ext cx="346458" cy="346458"/>
          </a:xfrm>
          <a:prstGeom prst="rect">
            <a:avLst/>
          </a:prstGeom>
        </p:spPr>
      </p:pic>
      <p:cxnSp>
        <p:nvCxnSpPr>
          <p:cNvPr id="29" name="Conector recto 28">
            <a:extLst>
              <a:ext uri="{FF2B5EF4-FFF2-40B4-BE49-F238E27FC236}">
                <a16:creationId xmlns:a16="http://schemas.microsoft.com/office/drawing/2014/main" id="{C1C96511-B052-49EC-B2AF-5216935075B8}"/>
              </a:ext>
            </a:extLst>
          </p:cNvPr>
          <p:cNvCxnSpPr/>
          <p:nvPr/>
        </p:nvCxnSpPr>
        <p:spPr>
          <a:xfrm flipV="1">
            <a:off x="-37" y="1569720"/>
            <a:ext cx="406401" cy="3437"/>
          </a:xfrm>
          <a:prstGeom prst="line">
            <a:avLst/>
          </a:prstGeom>
          <a:ln w="57150">
            <a:solidFill>
              <a:srgbClr val="006DA5"/>
            </a:solidFill>
          </a:ln>
        </p:spPr>
        <p:style>
          <a:lnRef idx="1">
            <a:schemeClr val="accent1"/>
          </a:lnRef>
          <a:fillRef idx="0">
            <a:schemeClr val="accent1"/>
          </a:fillRef>
          <a:effectRef idx="0">
            <a:schemeClr val="accent1"/>
          </a:effectRef>
          <a:fontRef idx="minor">
            <a:schemeClr val="tx1"/>
          </a:fontRef>
        </p:style>
      </p:cxnSp>
      <p:sp>
        <p:nvSpPr>
          <p:cNvPr id="16" name="Rectángulo 15">
            <a:extLst>
              <a:ext uri="{FF2B5EF4-FFF2-40B4-BE49-F238E27FC236}">
                <a16:creationId xmlns:a16="http://schemas.microsoft.com/office/drawing/2014/main" id="{2C4DC19D-98DE-45AB-9A92-87AD6CD455F6}"/>
              </a:ext>
            </a:extLst>
          </p:cNvPr>
          <p:cNvSpPr/>
          <p:nvPr/>
        </p:nvSpPr>
        <p:spPr>
          <a:xfrm>
            <a:off x="2090615" y="2572554"/>
            <a:ext cx="3256643" cy="3203095"/>
          </a:xfrm>
          <a:prstGeom prst="rect">
            <a:avLst/>
          </a:prstGeom>
          <a:no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6111806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p:txBody>
          <a:bodyPr/>
          <a:lstStyle/>
          <a:p>
            <a:fld id="{F72B40EF-D53A-41AA-87B6-B9F74BA43E09}" type="slidenum">
              <a:rPr lang="es-ES" smtClean="0"/>
              <a:t>9</a:t>
            </a:fld>
            <a:endParaRPr lang="es-ES"/>
          </a:p>
        </p:txBody>
      </p:sp>
      <p:sp>
        <p:nvSpPr>
          <p:cNvPr id="8" name="Título 1"/>
          <p:cNvSpPr txBox="1">
            <a:spLocks/>
          </p:cNvSpPr>
          <p:nvPr/>
        </p:nvSpPr>
        <p:spPr>
          <a:xfrm>
            <a:off x="1080252" y="1238792"/>
            <a:ext cx="6085599" cy="763455"/>
          </a:xfrm>
          <a:prstGeom prst="rect">
            <a:avLst/>
          </a:prstGeom>
        </p:spPr>
        <p:txBody>
          <a:bodyPr vert="horz" lIns="91440" tIns="45720" rIns="91440" bIns="45720" rtlCol="0" anchor="ctr">
            <a:normAutofit/>
          </a:bodyPr>
          <a:lstStyle>
            <a:lvl1pPr algn="ctr" defTabSz="914377" rtl="0" eaLnBrk="1" latinLnBrk="0" hangingPunct="1">
              <a:lnSpc>
                <a:spcPct val="90000"/>
              </a:lnSpc>
              <a:spcBef>
                <a:spcPct val="0"/>
              </a:spcBef>
              <a:buNone/>
              <a:defRPr sz="4000" kern="1200">
                <a:solidFill>
                  <a:schemeClr val="tx1"/>
                </a:solidFill>
                <a:latin typeface="+mj-lt"/>
                <a:ea typeface="+mj-ea"/>
                <a:cs typeface="+mj-cs"/>
              </a:defRPr>
            </a:lvl1pPr>
          </a:lstStyle>
          <a:p>
            <a:pPr algn="l"/>
            <a:r>
              <a:rPr lang="es-ES" sz="2400" b="1" dirty="0"/>
              <a:t>¿Qué es el aprendizaje supervisado? </a:t>
            </a:r>
          </a:p>
        </p:txBody>
      </p:sp>
      <p:sp>
        <p:nvSpPr>
          <p:cNvPr id="11" name="Rectángulo 10"/>
          <p:cNvSpPr/>
          <p:nvPr/>
        </p:nvSpPr>
        <p:spPr>
          <a:xfrm>
            <a:off x="691717" y="2146928"/>
            <a:ext cx="7459092" cy="707886"/>
          </a:xfrm>
          <a:prstGeom prst="rect">
            <a:avLst/>
          </a:prstGeom>
        </p:spPr>
        <p:txBody>
          <a:bodyPr wrap="square">
            <a:spAutoFit/>
          </a:bodyPr>
          <a:lstStyle/>
          <a:p>
            <a:pPr algn="just"/>
            <a:r>
              <a:rPr lang="es-ES" sz="2000" dirty="0"/>
              <a:t>El objetivo es entrenar un modelo para </a:t>
            </a:r>
            <a:r>
              <a:rPr lang="es-ES" sz="2000" b="1" dirty="0"/>
              <a:t>encontrar patrones </a:t>
            </a:r>
            <a:r>
              <a:rPr lang="es-ES" sz="2000" dirty="0"/>
              <a:t>en un conjunto de datos </a:t>
            </a:r>
            <a:r>
              <a:rPr lang="es-ES" sz="2000" b="1" u="sng" dirty="0"/>
              <a:t>con etiqueta</a:t>
            </a:r>
            <a:r>
              <a:rPr lang="es-ES" sz="2000" dirty="0"/>
              <a:t>.</a:t>
            </a:r>
            <a:endParaRPr lang="en-US" sz="2000" dirty="0"/>
          </a:p>
        </p:txBody>
      </p:sp>
      <p:sp>
        <p:nvSpPr>
          <p:cNvPr id="12" name="Rectángulo redondeado 11"/>
          <p:cNvSpPr/>
          <p:nvPr/>
        </p:nvSpPr>
        <p:spPr>
          <a:xfrm>
            <a:off x="1652771" y="4421779"/>
            <a:ext cx="3207657" cy="1132114"/>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a:solidFill>
                  <a:schemeClr val="tx1"/>
                </a:solidFill>
              </a:rPr>
              <a:t>CARACTERÍSTICAS </a:t>
            </a:r>
          </a:p>
          <a:p>
            <a:pPr algn="ctr"/>
            <a:r>
              <a:rPr lang="en-US" sz="1800" dirty="0">
                <a:solidFill>
                  <a:schemeClr val="tx1"/>
                </a:solidFill>
              </a:rPr>
              <a:t>(features)</a:t>
            </a:r>
          </a:p>
        </p:txBody>
      </p:sp>
      <p:sp>
        <p:nvSpPr>
          <p:cNvPr id="13" name="Rectángulo redondeado 12"/>
          <p:cNvSpPr/>
          <p:nvPr/>
        </p:nvSpPr>
        <p:spPr>
          <a:xfrm>
            <a:off x="5233267" y="4421779"/>
            <a:ext cx="1690914" cy="1132114"/>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a:solidFill>
                  <a:schemeClr val="tx1"/>
                </a:solidFill>
              </a:rPr>
              <a:t>ETIQUETAS </a:t>
            </a:r>
            <a:r>
              <a:rPr lang="en-US" sz="1800" dirty="0">
                <a:solidFill>
                  <a:schemeClr val="tx1"/>
                </a:solidFill>
              </a:rPr>
              <a:t>(target)</a:t>
            </a:r>
          </a:p>
        </p:txBody>
      </p:sp>
      <p:sp>
        <p:nvSpPr>
          <p:cNvPr id="14" name="Abrir llave 13"/>
          <p:cNvSpPr/>
          <p:nvPr/>
        </p:nvSpPr>
        <p:spPr>
          <a:xfrm rot="5400000">
            <a:off x="3082428" y="2461916"/>
            <a:ext cx="348343" cy="3207659"/>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Abrir llave 14"/>
          <p:cNvSpPr/>
          <p:nvPr/>
        </p:nvSpPr>
        <p:spPr>
          <a:xfrm rot="5400000">
            <a:off x="5904552" y="3220288"/>
            <a:ext cx="348343" cy="1690914"/>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CuadroTexto 15"/>
          <p:cNvSpPr txBox="1"/>
          <p:nvPr/>
        </p:nvSpPr>
        <p:spPr>
          <a:xfrm>
            <a:off x="3039562" y="3251732"/>
            <a:ext cx="908021" cy="646331"/>
          </a:xfrm>
          <a:prstGeom prst="rect">
            <a:avLst/>
          </a:prstGeom>
          <a:noFill/>
        </p:spPr>
        <p:txBody>
          <a:bodyPr wrap="square" rtlCol="0">
            <a:spAutoFit/>
          </a:bodyPr>
          <a:lstStyle/>
          <a:p>
            <a:r>
              <a:rPr lang="en-US" sz="3600" b="1" dirty="0">
                <a:latin typeface="Cambria Math" panose="02040503050406030204" pitchFamily="18" charset="0"/>
                <a:ea typeface="Cambria Math" panose="02040503050406030204" pitchFamily="18" charset="0"/>
              </a:rPr>
              <a:t>X</a:t>
            </a:r>
            <a:endParaRPr lang="en-US" i="1" dirty="0">
              <a:latin typeface="Cambria Math" panose="02040503050406030204" pitchFamily="18" charset="0"/>
              <a:ea typeface="Cambria Math" panose="02040503050406030204" pitchFamily="18" charset="0"/>
            </a:endParaRPr>
          </a:p>
        </p:txBody>
      </p:sp>
      <p:sp>
        <p:nvSpPr>
          <p:cNvPr id="17" name="CuadroTexto 16"/>
          <p:cNvSpPr txBox="1"/>
          <p:nvPr/>
        </p:nvSpPr>
        <p:spPr>
          <a:xfrm>
            <a:off x="5922175" y="3277422"/>
            <a:ext cx="551542" cy="523220"/>
          </a:xfrm>
          <a:prstGeom prst="rect">
            <a:avLst/>
          </a:prstGeom>
          <a:noFill/>
        </p:spPr>
        <p:txBody>
          <a:bodyPr wrap="square" rtlCol="0">
            <a:spAutoFit/>
          </a:bodyPr>
          <a:lstStyle/>
          <a:p>
            <a:r>
              <a:rPr lang="en-US" sz="2800" b="1" dirty="0">
                <a:latin typeface="Cambria Math" panose="02040503050406030204" pitchFamily="18" charset="0"/>
                <a:ea typeface="Cambria Math" panose="02040503050406030204" pitchFamily="18" charset="0"/>
              </a:rPr>
              <a:t>y</a:t>
            </a:r>
          </a:p>
        </p:txBody>
      </p:sp>
      <p:sp>
        <p:nvSpPr>
          <p:cNvPr id="18" name="Elipse 17">
            <a:extLst>
              <a:ext uri="{FF2B5EF4-FFF2-40B4-BE49-F238E27FC236}">
                <a16:creationId xmlns:a16="http://schemas.microsoft.com/office/drawing/2014/main" id="{C38C6B96-5F53-4DF4-8816-1039A00A8608}"/>
              </a:ext>
            </a:extLst>
          </p:cNvPr>
          <p:cNvSpPr/>
          <p:nvPr/>
        </p:nvSpPr>
        <p:spPr>
          <a:xfrm>
            <a:off x="406364" y="1284367"/>
            <a:ext cx="570706" cy="570706"/>
          </a:xfrm>
          <a:prstGeom prst="ellipse">
            <a:avLst/>
          </a:prstGeom>
          <a:solidFill>
            <a:schemeClr val="accent1">
              <a:lumMod val="40000"/>
              <a:lumOff val="60000"/>
            </a:schemeClr>
          </a:solidFill>
          <a:ln w="57150">
            <a:solidFill>
              <a:srgbClr val="006D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21" name="Imagen 20">
            <a:extLst>
              <a:ext uri="{FF2B5EF4-FFF2-40B4-BE49-F238E27FC236}">
                <a16:creationId xmlns:a16="http://schemas.microsoft.com/office/drawing/2014/main" id="{7074E385-04E6-4AE9-A512-14CE13811F7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2062" y="1394183"/>
            <a:ext cx="346458" cy="346458"/>
          </a:xfrm>
          <a:prstGeom prst="rect">
            <a:avLst/>
          </a:prstGeom>
        </p:spPr>
      </p:pic>
      <p:cxnSp>
        <p:nvCxnSpPr>
          <p:cNvPr id="22" name="Conector recto 21">
            <a:extLst>
              <a:ext uri="{FF2B5EF4-FFF2-40B4-BE49-F238E27FC236}">
                <a16:creationId xmlns:a16="http://schemas.microsoft.com/office/drawing/2014/main" id="{E927D516-80D4-4AEC-8DB1-C02B4334C4C1}"/>
              </a:ext>
            </a:extLst>
          </p:cNvPr>
          <p:cNvCxnSpPr/>
          <p:nvPr/>
        </p:nvCxnSpPr>
        <p:spPr>
          <a:xfrm flipV="1">
            <a:off x="-37" y="1569720"/>
            <a:ext cx="406401" cy="3437"/>
          </a:xfrm>
          <a:prstGeom prst="line">
            <a:avLst/>
          </a:prstGeom>
          <a:ln w="57150">
            <a:solidFill>
              <a:srgbClr val="006DA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98802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FD1BDC96-87FD-46F2-93A8-AB1E9705A161}"/>
              </a:ext>
            </a:extLst>
          </p:cNvPr>
          <p:cNvSpPr>
            <a:spLocks noGrp="1"/>
          </p:cNvSpPr>
          <p:nvPr>
            <p:ph idx="1"/>
          </p:nvPr>
        </p:nvSpPr>
        <p:spPr>
          <a:xfrm>
            <a:off x="457200" y="1269430"/>
            <a:ext cx="8229600" cy="2446824"/>
          </a:xfrm>
        </p:spPr>
        <p:txBody>
          <a:bodyPr/>
          <a:lstStyle/>
          <a:p>
            <a:pPr algn="ctr"/>
            <a:r>
              <a:rPr lang="es-ES" sz="2400" b="1" dirty="0"/>
              <a:t>Aplicaciones de Aprendizaje Supervisado</a:t>
            </a:r>
          </a:p>
          <a:p>
            <a:endParaRPr lang="es-ES" dirty="0"/>
          </a:p>
          <a:p>
            <a:endParaRPr lang="es-ES" dirty="0"/>
          </a:p>
          <a:p>
            <a:pPr marL="514350" indent="-285750">
              <a:lnSpc>
                <a:spcPct val="150000"/>
              </a:lnSpc>
              <a:buFont typeface="Arial" panose="020B0604020202020204" pitchFamily="34" charset="0"/>
              <a:buChar char="•"/>
            </a:pPr>
            <a:r>
              <a:rPr lang="es-ES" dirty="0"/>
              <a:t>Clasificación de Tumores Malignos y Benignos</a:t>
            </a:r>
          </a:p>
          <a:p>
            <a:pPr marL="514350" indent="-285750">
              <a:lnSpc>
                <a:spcPct val="150000"/>
              </a:lnSpc>
              <a:buFont typeface="Arial" panose="020B0604020202020204" pitchFamily="34" charset="0"/>
              <a:buChar char="•"/>
            </a:pPr>
            <a:r>
              <a:rPr lang="es-ES" dirty="0"/>
              <a:t>Predicción de Ingresos</a:t>
            </a:r>
          </a:p>
          <a:p>
            <a:pPr marL="514350" indent="-285750">
              <a:lnSpc>
                <a:spcPct val="150000"/>
              </a:lnSpc>
              <a:buFont typeface="Arial" panose="020B0604020202020204" pitchFamily="34" charset="0"/>
              <a:buChar char="•"/>
            </a:pPr>
            <a:r>
              <a:rPr lang="es-ES" dirty="0"/>
              <a:t>Predecir la generación de fotovoltaica</a:t>
            </a:r>
          </a:p>
          <a:p>
            <a:endParaRPr lang="es-ES" dirty="0"/>
          </a:p>
        </p:txBody>
      </p:sp>
      <p:sp>
        <p:nvSpPr>
          <p:cNvPr id="4" name="Marcador de número de diapositiva 3">
            <a:extLst>
              <a:ext uri="{FF2B5EF4-FFF2-40B4-BE49-F238E27FC236}">
                <a16:creationId xmlns:a16="http://schemas.microsoft.com/office/drawing/2014/main" id="{4EFA0FAB-5CCE-424C-929C-4245352A46D1}"/>
              </a:ext>
            </a:extLst>
          </p:cNvPr>
          <p:cNvSpPr>
            <a:spLocks noGrp="1"/>
          </p:cNvSpPr>
          <p:nvPr>
            <p:ph type="sldNum" sz="quarter" idx="12"/>
          </p:nvPr>
        </p:nvSpPr>
        <p:spPr/>
        <p:txBody>
          <a:bodyPr/>
          <a:lstStyle/>
          <a:p>
            <a:fld id="{F72B40EF-D53A-41AA-87B6-B9F74BA43E09}" type="slidenum">
              <a:rPr lang="es-ES" smtClean="0"/>
              <a:t>10</a:t>
            </a:fld>
            <a:endParaRPr lang="es-ES"/>
          </a:p>
        </p:txBody>
      </p:sp>
      <p:pic>
        <p:nvPicPr>
          <p:cNvPr id="1026" name="Picture 2" descr="Machine assisted system for cancer detection. | Download Scientific Diagram">
            <a:extLst>
              <a:ext uri="{FF2B5EF4-FFF2-40B4-BE49-F238E27FC236}">
                <a16:creationId xmlns:a16="http://schemas.microsoft.com/office/drawing/2014/main" id="{4D785B9B-5C0A-47FE-9D3C-12E3FB91A3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9005" y="4735349"/>
            <a:ext cx="6067773" cy="182033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hotovoltaic Power Forecasting Methods | IntechOpen">
            <a:extLst>
              <a:ext uri="{FF2B5EF4-FFF2-40B4-BE49-F238E27FC236}">
                <a16:creationId xmlns:a16="http://schemas.microsoft.com/office/drawing/2014/main" id="{7A2086CB-25AF-4F2A-91A7-94A4CCF0458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584" r="51057"/>
          <a:stretch/>
        </p:blipFill>
        <p:spPr bwMode="auto">
          <a:xfrm>
            <a:off x="6292943" y="1901673"/>
            <a:ext cx="2175010" cy="28336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24214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8981D05-6980-46C3-B9C2-D7A7B6953721}"/>
              </a:ext>
            </a:extLst>
          </p:cNvPr>
          <p:cNvSpPr>
            <a:spLocks noGrp="1"/>
          </p:cNvSpPr>
          <p:nvPr>
            <p:ph idx="1"/>
          </p:nvPr>
        </p:nvSpPr>
        <p:spPr>
          <a:xfrm>
            <a:off x="457200" y="1316080"/>
            <a:ext cx="8229600" cy="2123658"/>
          </a:xfrm>
        </p:spPr>
        <p:txBody>
          <a:bodyPr/>
          <a:lstStyle/>
          <a:p>
            <a:pPr algn="ctr"/>
            <a:r>
              <a:rPr lang="es-ES" sz="2400" b="1" dirty="0"/>
              <a:t>Detectar correos spam</a:t>
            </a:r>
          </a:p>
          <a:p>
            <a:pPr algn="ctr"/>
            <a:endParaRPr lang="es-ES" sz="2400" b="1" dirty="0"/>
          </a:p>
          <a:p>
            <a:endParaRPr lang="es-ES" dirty="0"/>
          </a:p>
          <a:p>
            <a:pPr algn="just"/>
            <a:r>
              <a:rPr lang="es-ES" dirty="0"/>
              <a:t>Conjunto de entrenamiento que introducimos en el modelo incluyen las soluciones deseadas denominadas etiquetas.</a:t>
            </a:r>
          </a:p>
          <a:p>
            <a:endParaRPr lang="es-ES" dirty="0"/>
          </a:p>
          <a:p>
            <a:endParaRPr lang="es-ES" dirty="0"/>
          </a:p>
        </p:txBody>
      </p:sp>
      <p:sp>
        <p:nvSpPr>
          <p:cNvPr id="4" name="Marcador de número de diapositiva 3">
            <a:extLst>
              <a:ext uri="{FF2B5EF4-FFF2-40B4-BE49-F238E27FC236}">
                <a16:creationId xmlns:a16="http://schemas.microsoft.com/office/drawing/2014/main" id="{E560DA98-A81D-4DC0-AE4B-8084081D770D}"/>
              </a:ext>
            </a:extLst>
          </p:cNvPr>
          <p:cNvSpPr>
            <a:spLocks noGrp="1"/>
          </p:cNvSpPr>
          <p:nvPr>
            <p:ph type="sldNum" sz="quarter" idx="12"/>
          </p:nvPr>
        </p:nvSpPr>
        <p:spPr/>
        <p:txBody>
          <a:bodyPr/>
          <a:lstStyle/>
          <a:p>
            <a:fld id="{F72B40EF-D53A-41AA-87B6-B9F74BA43E09}" type="slidenum">
              <a:rPr lang="es-ES" smtClean="0"/>
              <a:t>11</a:t>
            </a:fld>
            <a:endParaRPr lang="es-ES"/>
          </a:p>
        </p:txBody>
      </p:sp>
      <p:pic>
        <p:nvPicPr>
          <p:cNvPr id="6" name="Imagen 5">
            <a:extLst>
              <a:ext uri="{FF2B5EF4-FFF2-40B4-BE49-F238E27FC236}">
                <a16:creationId xmlns:a16="http://schemas.microsoft.com/office/drawing/2014/main" id="{E418F607-11A6-4CF6-AA44-84606DEF119B}"/>
              </a:ext>
            </a:extLst>
          </p:cNvPr>
          <p:cNvPicPr>
            <a:picLocks noChangeAspect="1"/>
          </p:cNvPicPr>
          <p:nvPr/>
        </p:nvPicPr>
        <p:blipFill>
          <a:blip r:embed="rId2"/>
          <a:stretch>
            <a:fillRect/>
          </a:stretch>
        </p:blipFill>
        <p:spPr>
          <a:xfrm>
            <a:off x="1931437" y="3270111"/>
            <a:ext cx="5551715" cy="2312682"/>
          </a:xfrm>
          <a:prstGeom prst="rect">
            <a:avLst/>
          </a:prstGeom>
        </p:spPr>
      </p:pic>
      <p:sp>
        <p:nvSpPr>
          <p:cNvPr id="7" name="CuadroTexto 6">
            <a:extLst>
              <a:ext uri="{FF2B5EF4-FFF2-40B4-BE49-F238E27FC236}">
                <a16:creationId xmlns:a16="http://schemas.microsoft.com/office/drawing/2014/main" id="{8A781268-CCDB-4D25-8306-88D25A733FFA}"/>
              </a:ext>
            </a:extLst>
          </p:cNvPr>
          <p:cNvSpPr txBox="1"/>
          <p:nvPr/>
        </p:nvSpPr>
        <p:spPr>
          <a:xfrm>
            <a:off x="3385458" y="5582793"/>
            <a:ext cx="2643672" cy="307777"/>
          </a:xfrm>
          <a:prstGeom prst="rect">
            <a:avLst/>
          </a:prstGeom>
          <a:noFill/>
        </p:spPr>
        <p:txBody>
          <a:bodyPr wrap="none" rtlCol="0">
            <a:spAutoFit/>
          </a:bodyPr>
          <a:lstStyle/>
          <a:p>
            <a:r>
              <a:rPr lang="es-ES" dirty="0"/>
              <a:t>Clasificación de Correos Spam</a:t>
            </a:r>
          </a:p>
        </p:txBody>
      </p:sp>
      <p:sp>
        <p:nvSpPr>
          <p:cNvPr id="8" name="CuadroTexto 7">
            <a:extLst>
              <a:ext uri="{FF2B5EF4-FFF2-40B4-BE49-F238E27FC236}">
                <a16:creationId xmlns:a16="http://schemas.microsoft.com/office/drawing/2014/main" id="{C49199ED-23FF-438E-9FA5-BBF131482BE6}"/>
              </a:ext>
            </a:extLst>
          </p:cNvPr>
          <p:cNvSpPr txBox="1"/>
          <p:nvPr/>
        </p:nvSpPr>
        <p:spPr>
          <a:xfrm>
            <a:off x="3516089" y="3433666"/>
            <a:ext cx="702436" cy="261610"/>
          </a:xfrm>
          <a:prstGeom prst="rect">
            <a:avLst/>
          </a:prstGeom>
          <a:solidFill>
            <a:schemeClr val="bg1"/>
          </a:solidFill>
        </p:spPr>
        <p:txBody>
          <a:bodyPr wrap="none" rtlCol="0">
            <a:spAutoFit/>
          </a:bodyPr>
          <a:lstStyle/>
          <a:p>
            <a:r>
              <a:rPr lang="es-ES" sz="1100" dirty="0"/>
              <a:t>Etiqueta</a:t>
            </a:r>
          </a:p>
        </p:txBody>
      </p:sp>
      <p:sp>
        <p:nvSpPr>
          <p:cNvPr id="9" name="CuadroTexto 8">
            <a:extLst>
              <a:ext uri="{FF2B5EF4-FFF2-40B4-BE49-F238E27FC236}">
                <a16:creationId xmlns:a16="http://schemas.microsoft.com/office/drawing/2014/main" id="{001CC880-84AF-4EC3-B555-8C6607BD7E5D}"/>
              </a:ext>
            </a:extLst>
          </p:cNvPr>
          <p:cNvSpPr txBox="1"/>
          <p:nvPr/>
        </p:nvSpPr>
        <p:spPr>
          <a:xfrm>
            <a:off x="3370932" y="5148784"/>
            <a:ext cx="2031485" cy="261610"/>
          </a:xfrm>
          <a:prstGeom prst="rect">
            <a:avLst/>
          </a:prstGeom>
          <a:solidFill>
            <a:schemeClr val="bg1"/>
          </a:solidFill>
        </p:spPr>
        <p:txBody>
          <a:bodyPr wrap="square" rtlCol="0">
            <a:spAutoFit/>
          </a:bodyPr>
          <a:lstStyle/>
          <a:p>
            <a:r>
              <a:rPr lang="es-ES" sz="1100" dirty="0"/>
              <a:t>Conjuntos de Entrenamiento</a:t>
            </a:r>
          </a:p>
        </p:txBody>
      </p:sp>
    </p:spTree>
    <p:extLst>
      <p:ext uri="{BB962C8B-B14F-4D97-AF65-F5344CB8AC3E}">
        <p14:creationId xmlns:p14="http://schemas.microsoft.com/office/powerpoint/2010/main" val="15310574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E8C972D-CF8C-4EC0-8A17-B59EBA830E57}"/>
              </a:ext>
            </a:extLst>
          </p:cNvPr>
          <p:cNvSpPr>
            <a:spLocks noGrp="1"/>
          </p:cNvSpPr>
          <p:nvPr>
            <p:ph idx="1"/>
          </p:nvPr>
        </p:nvSpPr>
        <p:spPr>
          <a:xfrm>
            <a:off x="457200" y="1428051"/>
            <a:ext cx="8229600" cy="2215991"/>
          </a:xfrm>
        </p:spPr>
        <p:txBody>
          <a:bodyPr/>
          <a:lstStyle/>
          <a:p>
            <a:pPr algn="just"/>
            <a:r>
              <a:rPr lang="es-ES" sz="2400" b="1" dirty="0"/>
              <a:t>Predecir precio de un coche</a:t>
            </a:r>
          </a:p>
          <a:p>
            <a:pPr algn="just"/>
            <a:endParaRPr lang="es-ES" sz="2000" b="1" dirty="0"/>
          </a:p>
          <a:p>
            <a:pPr marL="571500" indent="-342900" algn="just">
              <a:buFont typeface="Arial" panose="020B0604020202020204" pitchFamily="34" charset="0"/>
              <a:buChar char="•"/>
            </a:pPr>
            <a:r>
              <a:rPr lang="es-ES" sz="2000" dirty="0"/>
              <a:t>Predicción de precio de un coche a partir de un conjuntos de características o atributos (Kilometraje, Año, Marca, etc.)</a:t>
            </a:r>
          </a:p>
          <a:p>
            <a:pPr marL="571500" indent="-342900" algn="just">
              <a:buFont typeface="Arial" panose="020B0604020202020204" pitchFamily="34" charset="0"/>
              <a:buChar char="•"/>
            </a:pPr>
            <a:r>
              <a:rPr lang="es-ES" sz="2000" dirty="0"/>
              <a:t>Predicción múltiples entrada una salida , una entrada y una salida.</a:t>
            </a:r>
          </a:p>
          <a:p>
            <a:pPr marL="571500" indent="-342900" algn="just">
              <a:buFont typeface="Arial" panose="020B0604020202020204" pitchFamily="34" charset="0"/>
              <a:buChar char="•"/>
            </a:pPr>
            <a:r>
              <a:rPr lang="es-ES" sz="2000" dirty="0"/>
              <a:t>Algunos modelos de regresión pueden usarse para la clasificación y viceversa.</a:t>
            </a:r>
          </a:p>
        </p:txBody>
      </p:sp>
      <p:sp>
        <p:nvSpPr>
          <p:cNvPr id="4" name="Marcador de número de diapositiva 3">
            <a:extLst>
              <a:ext uri="{FF2B5EF4-FFF2-40B4-BE49-F238E27FC236}">
                <a16:creationId xmlns:a16="http://schemas.microsoft.com/office/drawing/2014/main" id="{429BF37E-DA81-45AF-ABD4-C524BEDCA113}"/>
              </a:ext>
            </a:extLst>
          </p:cNvPr>
          <p:cNvSpPr>
            <a:spLocks noGrp="1"/>
          </p:cNvSpPr>
          <p:nvPr>
            <p:ph type="sldNum" sz="quarter" idx="12"/>
          </p:nvPr>
        </p:nvSpPr>
        <p:spPr/>
        <p:txBody>
          <a:bodyPr/>
          <a:lstStyle/>
          <a:p>
            <a:fld id="{F72B40EF-D53A-41AA-87B6-B9F74BA43E09}" type="slidenum">
              <a:rPr lang="es-ES" smtClean="0"/>
              <a:t>12</a:t>
            </a:fld>
            <a:endParaRPr lang="es-ES"/>
          </a:p>
        </p:txBody>
      </p:sp>
      <p:pic>
        <p:nvPicPr>
          <p:cNvPr id="6" name="Imagen 5">
            <a:extLst>
              <a:ext uri="{FF2B5EF4-FFF2-40B4-BE49-F238E27FC236}">
                <a16:creationId xmlns:a16="http://schemas.microsoft.com/office/drawing/2014/main" id="{284ED6CA-5F7A-4AAD-BEE7-D10F7DF4B6A1}"/>
              </a:ext>
            </a:extLst>
          </p:cNvPr>
          <p:cNvPicPr>
            <a:picLocks noChangeAspect="1"/>
          </p:cNvPicPr>
          <p:nvPr/>
        </p:nvPicPr>
        <p:blipFill>
          <a:blip r:embed="rId2"/>
          <a:stretch>
            <a:fillRect/>
          </a:stretch>
        </p:blipFill>
        <p:spPr>
          <a:xfrm>
            <a:off x="2303495" y="4079118"/>
            <a:ext cx="4956382" cy="2387663"/>
          </a:xfrm>
          <a:prstGeom prst="rect">
            <a:avLst/>
          </a:prstGeom>
        </p:spPr>
      </p:pic>
    </p:spTree>
    <p:extLst>
      <p:ext uri="{BB962C8B-B14F-4D97-AF65-F5344CB8AC3E}">
        <p14:creationId xmlns:p14="http://schemas.microsoft.com/office/powerpoint/2010/main" val="17859315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5" name="Google Shape;125;p4"/>
          <p:cNvSpPr/>
          <p:nvPr/>
        </p:nvSpPr>
        <p:spPr>
          <a:xfrm>
            <a:off x="406364" y="1284367"/>
            <a:ext cx="570706" cy="570706"/>
          </a:xfrm>
          <a:prstGeom prst="ellipse">
            <a:avLst/>
          </a:prstGeom>
          <a:solidFill>
            <a:srgbClr val="B7CCE4"/>
          </a:solidFill>
          <a:ln w="57150" cap="flat" cmpd="sng">
            <a:solidFill>
              <a:srgbClr val="006D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26" name="Google Shape;126;p4"/>
          <p:cNvPicPr preferRelativeResize="0"/>
          <p:nvPr/>
        </p:nvPicPr>
        <p:blipFill rotWithShape="1">
          <a:blip r:embed="rId3">
            <a:alphaModFix/>
          </a:blip>
          <a:srcRect/>
          <a:stretch/>
        </p:blipFill>
        <p:spPr>
          <a:xfrm>
            <a:off x="512062" y="1394183"/>
            <a:ext cx="346458" cy="346458"/>
          </a:xfrm>
          <a:prstGeom prst="rect">
            <a:avLst/>
          </a:prstGeom>
          <a:noFill/>
          <a:ln>
            <a:noFill/>
          </a:ln>
        </p:spPr>
      </p:pic>
      <p:cxnSp>
        <p:nvCxnSpPr>
          <p:cNvPr id="127" name="Google Shape;127;p4"/>
          <p:cNvCxnSpPr/>
          <p:nvPr/>
        </p:nvCxnSpPr>
        <p:spPr>
          <a:xfrm rot="10800000" flipH="1">
            <a:off x="-37" y="1569720"/>
            <a:ext cx="406401" cy="3437"/>
          </a:xfrm>
          <a:prstGeom prst="straightConnector1">
            <a:avLst/>
          </a:prstGeom>
          <a:noFill/>
          <a:ln w="57150" cap="flat" cmpd="sng">
            <a:solidFill>
              <a:srgbClr val="006DA5"/>
            </a:solidFill>
            <a:prstDash val="solid"/>
            <a:round/>
            <a:headEnd type="none" w="sm" len="sm"/>
            <a:tailEnd type="none" w="sm" len="sm"/>
          </a:ln>
        </p:spPr>
      </p:cxnSp>
      <p:sp>
        <p:nvSpPr>
          <p:cNvPr id="128" name="Google Shape;128;p4"/>
          <p:cNvSpPr txBox="1"/>
          <p:nvPr/>
        </p:nvSpPr>
        <p:spPr>
          <a:xfrm>
            <a:off x="1211485" y="1185684"/>
            <a:ext cx="6644891" cy="763455"/>
          </a:xfrm>
          <a:prstGeom prst="rect">
            <a:avLst/>
          </a:prstGeom>
          <a:noFill/>
          <a:ln>
            <a:noFill/>
          </a:ln>
        </p:spPr>
        <p:txBody>
          <a:bodyPr spcFirstLastPara="1" wrap="square" lIns="91425" tIns="45700" rIns="91425" bIns="45700" anchor="ctr" anchorCtr="0">
            <a:normAutofit/>
          </a:bodyPr>
          <a:lstStyle/>
          <a:p>
            <a:pPr lvl="0">
              <a:lnSpc>
                <a:spcPct val="90000"/>
              </a:lnSpc>
              <a:buSzPts val="2800"/>
            </a:pPr>
            <a:r>
              <a:rPr lang="en-US" sz="2800" b="1" dirty="0">
                <a:latin typeface="Calibri"/>
                <a:ea typeface="Calibri"/>
                <a:cs typeface="Calibri"/>
                <a:sym typeface="Calibri"/>
              </a:rPr>
              <a:t>Generalización de Modelos Supervisados</a:t>
            </a:r>
            <a:endParaRPr lang="en-US" dirty="0"/>
          </a:p>
          <a:p>
            <a:pPr marL="0" marR="0" lvl="0" indent="0" algn="l" rtl="0">
              <a:lnSpc>
                <a:spcPct val="90000"/>
              </a:lnSpc>
              <a:spcBef>
                <a:spcPts val="0"/>
              </a:spcBef>
              <a:spcAft>
                <a:spcPts val="0"/>
              </a:spcAft>
              <a:buClr>
                <a:schemeClr val="dk1"/>
              </a:buClr>
              <a:buSzPts val="2800"/>
              <a:buFont typeface="Calibri"/>
              <a:buNone/>
            </a:pPr>
            <a:endParaRPr sz="1400" b="0" i="0" u="none" strike="noStrike" cap="none" dirty="0">
              <a:solidFill>
                <a:srgbClr val="000000"/>
              </a:solidFill>
              <a:latin typeface="Arial"/>
              <a:ea typeface="Arial"/>
              <a:cs typeface="Arial"/>
              <a:sym typeface="Arial"/>
            </a:endParaRPr>
          </a:p>
        </p:txBody>
      </p:sp>
      <p:sp>
        <p:nvSpPr>
          <p:cNvPr id="130" name="Google Shape;130;p4"/>
          <p:cNvSpPr txBox="1"/>
          <p:nvPr/>
        </p:nvSpPr>
        <p:spPr>
          <a:xfrm>
            <a:off x="6844146" y="6356355"/>
            <a:ext cx="20574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888888"/>
                </a:solidFill>
                <a:latin typeface="Calibri"/>
                <a:ea typeface="Calibri"/>
                <a:cs typeface="Calibri"/>
                <a:sym typeface="Calibri"/>
              </a:rPr>
              <a:t>13</a:t>
            </a:fld>
            <a:endParaRPr sz="1200" b="0" i="0" u="none" strike="noStrike" cap="none">
              <a:solidFill>
                <a:srgbClr val="888888"/>
              </a:solidFill>
              <a:latin typeface="Calibri"/>
              <a:ea typeface="Calibri"/>
              <a:cs typeface="Calibri"/>
              <a:sym typeface="Calibri"/>
            </a:endParaRPr>
          </a:p>
        </p:txBody>
      </p:sp>
      <p:sp>
        <p:nvSpPr>
          <p:cNvPr id="2" name="CuadroTexto 1">
            <a:extLst>
              <a:ext uri="{FF2B5EF4-FFF2-40B4-BE49-F238E27FC236}">
                <a16:creationId xmlns:a16="http://schemas.microsoft.com/office/drawing/2014/main" id="{31DE1A4D-EF7B-484A-B751-A992D1E718CD}"/>
              </a:ext>
            </a:extLst>
          </p:cNvPr>
          <p:cNvSpPr txBox="1"/>
          <p:nvPr/>
        </p:nvSpPr>
        <p:spPr>
          <a:xfrm>
            <a:off x="333711" y="2058955"/>
            <a:ext cx="8213129" cy="2123658"/>
          </a:xfrm>
          <a:prstGeom prst="rect">
            <a:avLst/>
          </a:prstGeom>
          <a:noFill/>
        </p:spPr>
        <p:txBody>
          <a:bodyPr wrap="square" rtlCol="0">
            <a:spAutoFit/>
          </a:bodyPr>
          <a:lstStyle/>
          <a:p>
            <a:pPr marL="342900" indent="-342900" algn="just">
              <a:buFont typeface="Arial" panose="020B0604020202020204" pitchFamily="34" charset="0"/>
              <a:buChar char="•"/>
            </a:pPr>
            <a:r>
              <a:rPr lang="es-ES" sz="2000" dirty="0">
                <a:latin typeface="Calibri"/>
                <a:cs typeface="Calibri"/>
                <a:sym typeface="Calibri"/>
              </a:rPr>
              <a:t>Un modelo con una cantidad de datos de entrenamiento tiene que ser capaz de hacer predicción incluso para ejemplos que </a:t>
            </a:r>
            <a:r>
              <a:rPr lang="es-ES" sz="2000" u="sng" dirty="0">
                <a:latin typeface="Calibri"/>
                <a:cs typeface="Calibri"/>
                <a:sym typeface="Calibri"/>
              </a:rPr>
              <a:t>nunca ha visto antes</a:t>
            </a:r>
            <a:r>
              <a:rPr lang="es-ES" sz="2000" dirty="0">
                <a:latin typeface="Calibri"/>
                <a:cs typeface="Calibri"/>
                <a:sym typeface="Calibri"/>
              </a:rPr>
              <a:t>.</a:t>
            </a:r>
          </a:p>
          <a:p>
            <a:pPr marL="342900" indent="-342900" algn="just">
              <a:buFont typeface="Arial" panose="020B0604020202020204" pitchFamily="34" charset="0"/>
              <a:buChar char="•"/>
            </a:pPr>
            <a:r>
              <a:rPr lang="es-ES" sz="2000" dirty="0">
                <a:latin typeface="Calibri"/>
                <a:cs typeface="Calibri"/>
                <a:sym typeface="Calibri"/>
              </a:rPr>
              <a:t>Tener buenas métricas en el entrenamiento está bien, pero no es suficiente, el verdadero objetivo es tener </a:t>
            </a:r>
            <a:r>
              <a:rPr lang="es-ES" sz="2000" u="sng" dirty="0">
                <a:latin typeface="Calibri"/>
                <a:cs typeface="Calibri"/>
                <a:sym typeface="Calibri"/>
              </a:rPr>
              <a:t>buen rendimiento en instancias nuevas</a:t>
            </a:r>
            <a:r>
              <a:rPr lang="es-ES" sz="2000" dirty="0">
                <a:latin typeface="Calibri"/>
                <a:cs typeface="Calibri"/>
                <a:sym typeface="Calibri"/>
              </a:rPr>
              <a:t>.</a:t>
            </a:r>
          </a:p>
          <a:p>
            <a:pPr marL="342900" indent="-342900" algn="just">
              <a:buFont typeface="Arial" panose="020B0604020202020204" pitchFamily="34" charset="0"/>
              <a:buChar char="•"/>
            </a:pPr>
            <a:endParaRPr lang="es-ES" sz="1100" dirty="0">
              <a:latin typeface="Calibri"/>
              <a:cs typeface="Calibri"/>
              <a:sym typeface="Calibri"/>
            </a:endParaRPr>
          </a:p>
          <a:p>
            <a:pPr algn="just"/>
            <a:r>
              <a:rPr lang="es-ES" sz="1800" b="1" dirty="0">
                <a:latin typeface="Calibri"/>
                <a:cs typeface="Calibri"/>
                <a:sym typeface="Calibri"/>
              </a:rPr>
              <a:t>Ejemplo 1: </a:t>
            </a:r>
          </a:p>
        </p:txBody>
      </p:sp>
      <p:pic>
        <p:nvPicPr>
          <p:cNvPr id="4" name="Imagen 3">
            <a:extLst>
              <a:ext uri="{FF2B5EF4-FFF2-40B4-BE49-F238E27FC236}">
                <a16:creationId xmlns:a16="http://schemas.microsoft.com/office/drawing/2014/main" id="{AA4607D9-38C0-4267-B54C-F47C0CD1F184}"/>
              </a:ext>
            </a:extLst>
          </p:cNvPr>
          <p:cNvPicPr>
            <a:picLocks noChangeAspect="1"/>
          </p:cNvPicPr>
          <p:nvPr/>
        </p:nvPicPr>
        <p:blipFill>
          <a:blip r:embed="rId4"/>
          <a:stretch>
            <a:fillRect/>
          </a:stretch>
        </p:blipFill>
        <p:spPr>
          <a:xfrm>
            <a:off x="461671" y="4127361"/>
            <a:ext cx="3360515" cy="2376580"/>
          </a:xfrm>
          <a:prstGeom prst="rect">
            <a:avLst/>
          </a:prstGeom>
        </p:spPr>
      </p:pic>
      <p:pic>
        <p:nvPicPr>
          <p:cNvPr id="6" name="Imagen 5">
            <a:extLst>
              <a:ext uri="{FF2B5EF4-FFF2-40B4-BE49-F238E27FC236}">
                <a16:creationId xmlns:a16="http://schemas.microsoft.com/office/drawing/2014/main" id="{4793F0DC-F0D0-4176-9091-83BE81B999B0}"/>
              </a:ext>
            </a:extLst>
          </p:cNvPr>
          <p:cNvPicPr>
            <a:picLocks noChangeAspect="1"/>
          </p:cNvPicPr>
          <p:nvPr/>
        </p:nvPicPr>
        <p:blipFill rotWithShape="1">
          <a:blip r:embed="rId5"/>
          <a:srcRect l="17310" t="3447" r="17309" b="3583"/>
          <a:stretch/>
        </p:blipFill>
        <p:spPr>
          <a:xfrm>
            <a:off x="4336197" y="4317519"/>
            <a:ext cx="4188206" cy="2431342"/>
          </a:xfrm>
          <a:prstGeom prst="rect">
            <a:avLst/>
          </a:prstGeom>
        </p:spPr>
      </p:pic>
      <p:pic>
        <p:nvPicPr>
          <p:cNvPr id="8" name="Imagen 7">
            <a:extLst>
              <a:ext uri="{FF2B5EF4-FFF2-40B4-BE49-F238E27FC236}">
                <a16:creationId xmlns:a16="http://schemas.microsoft.com/office/drawing/2014/main" id="{0B4A3712-683C-4BBD-8286-560EE3E86EE0}"/>
              </a:ext>
            </a:extLst>
          </p:cNvPr>
          <p:cNvPicPr>
            <a:picLocks noChangeAspect="1"/>
          </p:cNvPicPr>
          <p:nvPr/>
        </p:nvPicPr>
        <p:blipFill>
          <a:blip r:embed="rId6"/>
          <a:stretch>
            <a:fillRect/>
          </a:stretch>
        </p:blipFill>
        <p:spPr>
          <a:xfrm>
            <a:off x="4722249" y="3627576"/>
            <a:ext cx="3416101" cy="622490"/>
          </a:xfrm>
          <a:prstGeom prst="rect">
            <a:avLst/>
          </a:prstGeom>
        </p:spPr>
      </p:pic>
      <p:sp>
        <p:nvSpPr>
          <p:cNvPr id="9" name="Flecha: a la derecha 8">
            <a:extLst>
              <a:ext uri="{FF2B5EF4-FFF2-40B4-BE49-F238E27FC236}">
                <a16:creationId xmlns:a16="http://schemas.microsoft.com/office/drawing/2014/main" id="{485A537F-B72D-43CA-A272-AB76CA89A9C1}"/>
              </a:ext>
            </a:extLst>
          </p:cNvPr>
          <p:cNvSpPr/>
          <p:nvPr/>
        </p:nvSpPr>
        <p:spPr>
          <a:xfrm>
            <a:off x="3637570" y="5241909"/>
            <a:ext cx="625151" cy="2912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17852121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C6CACA6E-5585-4D63-AE02-FB88FC5504BA}"/>
              </a:ext>
            </a:extLst>
          </p:cNvPr>
          <p:cNvSpPr>
            <a:spLocks noGrp="1"/>
          </p:cNvSpPr>
          <p:nvPr>
            <p:ph type="body" idx="1"/>
          </p:nvPr>
        </p:nvSpPr>
        <p:spPr>
          <a:xfrm>
            <a:off x="479360" y="1520891"/>
            <a:ext cx="7886700" cy="4760820"/>
          </a:xfrm>
        </p:spPr>
        <p:txBody>
          <a:bodyPr/>
          <a:lstStyle/>
          <a:p>
            <a:pPr algn="just"/>
            <a:r>
              <a:rPr lang="es-ES" b="1" dirty="0"/>
              <a:t>Modelo regresión lineal: </a:t>
            </a:r>
            <a:r>
              <a:rPr lang="es-ES" dirty="0"/>
              <a:t>Introducimos datos de entrenamiento a nuestro modelo lineal seleccionado, con el objetivo de encontrar los parámetros que mejor se ajustan a nuestros datos.</a:t>
            </a:r>
          </a:p>
        </p:txBody>
      </p:sp>
      <p:pic>
        <p:nvPicPr>
          <p:cNvPr id="4" name="Imagen 3">
            <a:extLst>
              <a:ext uri="{FF2B5EF4-FFF2-40B4-BE49-F238E27FC236}">
                <a16:creationId xmlns:a16="http://schemas.microsoft.com/office/drawing/2014/main" id="{EA0DBBBD-5F7E-4C4C-851B-DF16E1F69C6A}"/>
              </a:ext>
            </a:extLst>
          </p:cNvPr>
          <p:cNvPicPr>
            <a:picLocks noChangeAspect="1"/>
          </p:cNvPicPr>
          <p:nvPr/>
        </p:nvPicPr>
        <p:blipFill>
          <a:blip r:embed="rId2"/>
          <a:stretch>
            <a:fillRect/>
          </a:stretch>
        </p:blipFill>
        <p:spPr>
          <a:xfrm>
            <a:off x="2027648" y="2785364"/>
            <a:ext cx="5088699" cy="2850016"/>
          </a:xfrm>
          <a:prstGeom prst="rect">
            <a:avLst/>
          </a:prstGeom>
        </p:spPr>
      </p:pic>
      <p:sp>
        <p:nvSpPr>
          <p:cNvPr id="5" name="CuadroTexto 4">
            <a:extLst>
              <a:ext uri="{FF2B5EF4-FFF2-40B4-BE49-F238E27FC236}">
                <a16:creationId xmlns:a16="http://schemas.microsoft.com/office/drawing/2014/main" id="{F194CB91-E8DE-4E82-92E0-2DF0264DF6CD}"/>
              </a:ext>
            </a:extLst>
          </p:cNvPr>
          <p:cNvSpPr txBox="1"/>
          <p:nvPr/>
        </p:nvSpPr>
        <p:spPr>
          <a:xfrm>
            <a:off x="1101009" y="5869120"/>
            <a:ext cx="6941975" cy="646331"/>
          </a:xfrm>
          <a:prstGeom prst="rect">
            <a:avLst/>
          </a:prstGeom>
          <a:noFill/>
        </p:spPr>
        <p:txBody>
          <a:bodyPr wrap="square" rtlCol="0">
            <a:spAutoFit/>
          </a:bodyPr>
          <a:lstStyle/>
          <a:p>
            <a:r>
              <a:rPr lang="es-ES" sz="1800" b="1" dirty="0">
                <a:latin typeface="Calibri" panose="020F0502020204030204" pitchFamily="34" charset="0"/>
                <a:cs typeface="Calibri" panose="020F0502020204030204" pitchFamily="34" charset="0"/>
              </a:rPr>
              <a:t>Nota: </a:t>
            </a:r>
            <a:r>
              <a:rPr lang="es-ES" sz="1800" dirty="0">
                <a:latin typeface="Calibri" panose="020F0502020204030204" pitchFamily="34" charset="0"/>
                <a:cs typeface="Calibri" panose="020F0502020204030204" pitchFamily="34" charset="0"/>
              </a:rPr>
              <a:t>El modelo en este primer ejemplo muestra un buen ajuste global de los datos.</a:t>
            </a:r>
          </a:p>
        </p:txBody>
      </p:sp>
    </p:spTree>
    <p:extLst>
      <p:ext uri="{BB962C8B-B14F-4D97-AF65-F5344CB8AC3E}">
        <p14:creationId xmlns:p14="http://schemas.microsoft.com/office/powerpoint/2010/main" val="16382888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C3C98939-106E-4736-9358-FF764CA41459}"/>
              </a:ext>
            </a:extLst>
          </p:cNvPr>
          <p:cNvSpPr>
            <a:spLocks noGrp="1"/>
          </p:cNvSpPr>
          <p:nvPr>
            <p:ph type="body" idx="1"/>
          </p:nvPr>
        </p:nvSpPr>
        <p:spPr>
          <a:xfrm>
            <a:off x="628650" y="1362269"/>
            <a:ext cx="7886700" cy="4994086"/>
          </a:xfrm>
        </p:spPr>
        <p:txBody>
          <a:bodyPr>
            <a:normAutofit/>
          </a:bodyPr>
          <a:lstStyle/>
          <a:p>
            <a:pPr marL="114300" indent="0">
              <a:buNone/>
            </a:pPr>
            <a:r>
              <a:rPr lang="es-ES" b="1" dirty="0"/>
              <a:t>¿Cómo iniciar a entrenar el ejemplo 1 con un Modelo Lineal y datos reales?</a:t>
            </a:r>
          </a:p>
        </p:txBody>
      </p:sp>
      <p:pic>
        <p:nvPicPr>
          <p:cNvPr id="4" name="Imagen 3">
            <a:extLst>
              <a:ext uri="{FF2B5EF4-FFF2-40B4-BE49-F238E27FC236}">
                <a16:creationId xmlns:a16="http://schemas.microsoft.com/office/drawing/2014/main" id="{FB56B57B-9E1C-4EF6-9F57-55C02E901258}"/>
              </a:ext>
            </a:extLst>
          </p:cNvPr>
          <p:cNvPicPr>
            <a:picLocks noChangeAspect="1"/>
          </p:cNvPicPr>
          <p:nvPr/>
        </p:nvPicPr>
        <p:blipFill>
          <a:blip r:embed="rId2"/>
          <a:stretch>
            <a:fillRect/>
          </a:stretch>
        </p:blipFill>
        <p:spPr>
          <a:xfrm>
            <a:off x="628650" y="2097584"/>
            <a:ext cx="4250288" cy="4365711"/>
          </a:xfrm>
          <a:prstGeom prst="rect">
            <a:avLst/>
          </a:prstGeom>
        </p:spPr>
      </p:pic>
      <p:pic>
        <p:nvPicPr>
          <p:cNvPr id="6" name="Imagen 5">
            <a:extLst>
              <a:ext uri="{FF2B5EF4-FFF2-40B4-BE49-F238E27FC236}">
                <a16:creationId xmlns:a16="http://schemas.microsoft.com/office/drawing/2014/main" id="{F6F70DC8-9B60-4213-85C1-31931FAEEB02}"/>
              </a:ext>
            </a:extLst>
          </p:cNvPr>
          <p:cNvPicPr>
            <a:picLocks noChangeAspect="1"/>
          </p:cNvPicPr>
          <p:nvPr/>
        </p:nvPicPr>
        <p:blipFill rotWithShape="1">
          <a:blip r:embed="rId3"/>
          <a:srcRect t="28941" r="11068"/>
          <a:stretch/>
        </p:blipFill>
        <p:spPr>
          <a:xfrm>
            <a:off x="4878938" y="5762500"/>
            <a:ext cx="3415005" cy="942397"/>
          </a:xfrm>
          <a:prstGeom prst="rect">
            <a:avLst/>
          </a:prstGeom>
        </p:spPr>
      </p:pic>
      <p:sp>
        <p:nvSpPr>
          <p:cNvPr id="7" name="CuadroTexto 6">
            <a:extLst>
              <a:ext uri="{FF2B5EF4-FFF2-40B4-BE49-F238E27FC236}">
                <a16:creationId xmlns:a16="http://schemas.microsoft.com/office/drawing/2014/main" id="{817E23C5-50FC-486F-B3C4-CAAD7BFA1AAD}"/>
              </a:ext>
            </a:extLst>
          </p:cNvPr>
          <p:cNvSpPr txBox="1"/>
          <p:nvPr/>
        </p:nvSpPr>
        <p:spPr>
          <a:xfrm>
            <a:off x="3285442" y="4942532"/>
            <a:ext cx="5325497" cy="307777"/>
          </a:xfrm>
          <a:prstGeom prst="rect">
            <a:avLst/>
          </a:prstGeom>
          <a:noFill/>
        </p:spPr>
        <p:txBody>
          <a:bodyPr wrap="none" rtlCol="0">
            <a:spAutoFit/>
          </a:bodyPr>
          <a:lstStyle/>
          <a:p>
            <a:r>
              <a:rPr lang="es-ES" b="1" dirty="0"/>
              <a:t>Nota: </a:t>
            </a:r>
            <a:r>
              <a:rPr lang="es-ES" dirty="0"/>
              <a:t>Se puede cambiar el modelo de entrenamiento fácilmente!</a:t>
            </a:r>
          </a:p>
        </p:txBody>
      </p:sp>
      <p:sp>
        <p:nvSpPr>
          <p:cNvPr id="8" name="Flecha: a la derecha 7">
            <a:extLst>
              <a:ext uri="{FF2B5EF4-FFF2-40B4-BE49-F238E27FC236}">
                <a16:creationId xmlns:a16="http://schemas.microsoft.com/office/drawing/2014/main" id="{9C31A02B-6D3C-4DAF-8912-32EC7675BD25}"/>
              </a:ext>
            </a:extLst>
          </p:cNvPr>
          <p:cNvSpPr/>
          <p:nvPr/>
        </p:nvSpPr>
        <p:spPr>
          <a:xfrm>
            <a:off x="2753794" y="5016859"/>
            <a:ext cx="323428" cy="15388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Flecha: hacia abajo 8">
            <a:extLst>
              <a:ext uri="{FF2B5EF4-FFF2-40B4-BE49-F238E27FC236}">
                <a16:creationId xmlns:a16="http://schemas.microsoft.com/office/drawing/2014/main" id="{3978BA37-0A02-4E43-A93C-BA80050958F0}"/>
              </a:ext>
            </a:extLst>
          </p:cNvPr>
          <p:cNvSpPr/>
          <p:nvPr/>
        </p:nvSpPr>
        <p:spPr>
          <a:xfrm>
            <a:off x="6808951" y="5251785"/>
            <a:ext cx="188970" cy="40748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901215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A802B06E-DD8F-4A38-B27F-9C33AD640A98}"/>
              </a:ext>
            </a:extLst>
          </p:cNvPr>
          <p:cNvSpPr>
            <a:spLocks noGrp="1"/>
          </p:cNvSpPr>
          <p:nvPr>
            <p:ph type="body" idx="1"/>
          </p:nvPr>
        </p:nvSpPr>
        <p:spPr>
          <a:xfrm>
            <a:off x="384111" y="1735494"/>
            <a:ext cx="8048819" cy="4452910"/>
          </a:xfrm>
        </p:spPr>
        <p:txBody>
          <a:bodyPr/>
          <a:lstStyle/>
          <a:p>
            <a:pPr algn="just">
              <a:buAutoNum type="arabicPeriod"/>
            </a:pPr>
            <a:r>
              <a:rPr lang="es-ES" b="1" dirty="0"/>
              <a:t>Cantidad insuficiente de datos: </a:t>
            </a:r>
            <a:r>
              <a:rPr lang="es-ES" dirty="0"/>
              <a:t>Se necesitan de miles o millones de datos para tener muchas veces un modelo robusto y generalizado para diversos escenarios.</a:t>
            </a:r>
          </a:p>
          <a:p>
            <a:pPr algn="just">
              <a:buAutoNum type="arabicPeriod"/>
            </a:pPr>
            <a:r>
              <a:rPr lang="es-ES" b="1" dirty="0"/>
              <a:t>Datos de entrenamiento no representativos: </a:t>
            </a:r>
            <a:r>
              <a:rPr lang="es-ES" dirty="0"/>
              <a:t>Una mala generalización omite datos representativos en el entrenamiento.  </a:t>
            </a:r>
          </a:p>
        </p:txBody>
      </p:sp>
      <p:sp>
        <p:nvSpPr>
          <p:cNvPr id="3" name="CuadroTexto 2">
            <a:extLst>
              <a:ext uri="{FF2B5EF4-FFF2-40B4-BE49-F238E27FC236}">
                <a16:creationId xmlns:a16="http://schemas.microsoft.com/office/drawing/2014/main" id="{0100079B-066F-4E78-B841-CDB6E237CFD3}"/>
              </a:ext>
            </a:extLst>
          </p:cNvPr>
          <p:cNvSpPr txBox="1"/>
          <p:nvPr/>
        </p:nvSpPr>
        <p:spPr>
          <a:xfrm>
            <a:off x="625151" y="1250302"/>
            <a:ext cx="7931020" cy="461665"/>
          </a:xfrm>
          <a:prstGeom prst="rect">
            <a:avLst/>
          </a:prstGeom>
          <a:noFill/>
        </p:spPr>
        <p:txBody>
          <a:bodyPr wrap="square" rtlCol="0">
            <a:spAutoFit/>
          </a:bodyPr>
          <a:lstStyle/>
          <a:p>
            <a:pPr algn="ctr"/>
            <a:r>
              <a:rPr lang="es-ES" sz="2400" b="1" dirty="0">
                <a:latin typeface="Calibri" panose="020F0502020204030204" pitchFamily="34" charset="0"/>
                <a:cs typeface="Calibri" panose="020F0502020204030204" pitchFamily="34" charset="0"/>
              </a:rPr>
              <a:t>Retos comunes en ajustes de modelos supervisados</a:t>
            </a:r>
          </a:p>
        </p:txBody>
      </p:sp>
      <p:pic>
        <p:nvPicPr>
          <p:cNvPr id="5" name="Imagen 4">
            <a:extLst>
              <a:ext uri="{FF2B5EF4-FFF2-40B4-BE49-F238E27FC236}">
                <a16:creationId xmlns:a16="http://schemas.microsoft.com/office/drawing/2014/main" id="{D96CE61C-DE3F-4759-B6EF-07AF388ECAA6}"/>
              </a:ext>
            </a:extLst>
          </p:cNvPr>
          <p:cNvPicPr>
            <a:picLocks noChangeAspect="1"/>
          </p:cNvPicPr>
          <p:nvPr/>
        </p:nvPicPr>
        <p:blipFill>
          <a:blip r:embed="rId2"/>
          <a:stretch>
            <a:fillRect/>
          </a:stretch>
        </p:blipFill>
        <p:spPr>
          <a:xfrm>
            <a:off x="1120160" y="4210562"/>
            <a:ext cx="6903680" cy="2453914"/>
          </a:xfrm>
          <a:prstGeom prst="rect">
            <a:avLst/>
          </a:prstGeom>
        </p:spPr>
      </p:pic>
      <p:sp>
        <p:nvSpPr>
          <p:cNvPr id="6" name="CuadroTexto 5">
            <a:extLst>
              <a:ext uri="{FF2B5EF4-FFF2-40B4-BE49-F238E27FC236}">
                <a16:creationId xmlns:a16="http://schemas.microsoft.com/office/drawing/2014/main" id="{D899347D-F703-4384-8FE4-D6877C0B3A70}"/>
              </a:ext>
            </a:extLst>
          </p:cNvPr>
          <p:cNvSpPr txBox="1"/>
          <p:nvPr/>
        </p:nvSpPr>
        <p:spPr>
          <a:xfrm>
            <a:off x="662473" y="3498914"/>
            <a:ext cx="7856376" cy="646331"/>
          </a:xfrm>
          <a:prstGeom prst="rect">
            <a:avLst/>
          </a:prstGeom>
          <a:noFill/>
        </p:spPr>
        <p:txBody>
          <a:bodyPr wrap="square" rtlCol="0">
            <a:spAutoFit/>
          </a:bodyPr>
          <a:lstStyle/>
          <a:p>
            <a:r>
              <a:rPr lang="es-ES" sz="1800" dirty="0">
                <a:latin typeface="Calibri" panose="020F0502020204030204" pitchFamily="34" charset="0"/>
                <a:cs typeface="Calibri" panose="020F0502020204030204" pitchFamily="34" charset="0"/>
              </a:rPr>
              <a:t>¿Qué pasaría si quisiéramos predecir valores fuera de rango? ¿Sería válido nuestro modelo de regresión lineal?</a:t>
            </a:r>
          </a:p>
        </p:txBody>
      </p:sp>
    </p:spTree>
    <p:extLst>
      <p:ext uri="{BB962C8B-B14F-4D97-AF65-F5344CB8AC3E}">
        <p14:creationId xmlns:p14="http://schemas.microsoft.com/office/powerpoint/2010/main" val="40309739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84A6CD6B-CEF2-48AA-B958-CC299BD5B106}"/>
              </a:ext>
            </a:extLst>
          </p:cNvPr>
          <p:cNvSpPr>
            <a:spLocks noGrp="1"/>
          </p:cNvSpPr>
          <p:nvPr>
            <p:ph type="body" idx="1"/>
          </p:nvPr>
        </p:nvSpPr>
        <p:spPr>
          <a:xfrm>
            <a:off x="628650" y="1707502"/>
            <a:ext cx="8020828" cy="4648853"/>
          </a:xfrm>
        </p:spPr>
        <p:txBody>
          <a:bodyPr/>
          <a:lstStyle/>
          <a:p>
            <a:pPr marL="114300" indent="0">
              <a:buNone/>
            </a:pPr>
            <a:r>
              <a:rPr lang="es-ES" dirty="0"/>
              <a:t>3. </a:t>
            </a:r>
            <a:r>
              <a:rPr lang="es-ES" b="1" dirty="0"/>
              <a:t>Datos de mala calidad: </a:t>
            </a:r>
            <a:r>
              <a:rPr lang="es-ES" dirty="0"/>
              <a:t>Errores, valores atípicos y ruido pueden presentarse en los datos que deseamos usar para entrenar nuestros modelos.</a:t>
            </a:r>
          </a:p>
          <a:p>
            <a:pPr marL="114300" indent="0">
              <a:buNone/>
            </a:pPr>
            <a:r>
              <a:rPr lang="es-ES" dirty="0"/>
              <a:t>	</a:t>
            </a:r>
            <a:r>
              <a:rPr lang="es-ES" i="1" dirty="0"/>
              <a:t>Tip 1: </a:t>
            </a:r>
            <a:r>
              <a:rPr lang="es-ES" dirty="0"/>
              <a:t>Tratamiento de datos faltantes (técnicas de media, mediana, etc.)</a:t>
            </a:r>
          </a:p>
          <a:p>
            <a:pPr marL="114300" indent="0">
              <a:buNone/>
            </a:pPr>
            <a:r>
              <a:rPr lang="es-ES" dirty="0"/>
              <a:t>	</a:t>
            </a:r>
            <a:r>
              <a:rPr lang="es-ES" i="1" dirty="0"/>
              <a:t>Tip 2: </a:t>
            </a:r>
            <a:r>
              <a:rPr lang="es-ES" dirty="0"/>
              <a:t>Descartar valores atípicos que puedan interferir en el		entrenamiento de datos.</a:t>
            </a:r>
          </a:p>
        </p:txBody>
      </p:sp>
      <p:pic>
        <p:nvPicPr>
          <p:cNvPr id="2050" name="Picture 2" descr="Qué hacemos con los valores atípicos (outliers)? – El blog de Víctor Yepes">
            <a:extLst>
              <a:ext uri="{FF2B5EF4-FFF2-40B4-BE49-F238E27FC236}">
                <a16:creationId xmlns:a16="http://schemas.microsoft.com/office/drawing/2014/main" id="{C4FA4A2A-A6F2-4095-BF83-7D7202E996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8650" y="3994155"/>
            <a:ext cx="2838450" cy="23622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Identificar valores atípicos - Minitab">
            <a:extLst>
              <a:ext uri="{FF2B5EF4-FFF2-40B4-BE49-F238E27FC236}">
                <a16:creationId xmlns:a16="http://schemas.microsoft.com/office/drawing/2014/main" id="{B7B8C258-2998-4CB1-B04E-253A9B0D3E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89835" y="4326585"/>
            <a:ext cx="2476500" cy="1647825"/>
          </a:xfrm>
          <a:prstGeom prst="rect">
            <a:avLst/>
          </a:prstGeom>
          <a:noFill/>
          <a:extLst>
            <a:ext uri="{909E8E84-426E-40DD-AFC4-6F175D3DCCD1}">
              <a14:hiddenFill xmlns:a14="http://schemas.microsoft.com/office/drawing/2010/main">
                <a:solidFill>
                  <a:srgbClr val="FFFFFF"/>
                </a:solidFill>
              </a14:hiddenFill>
            </a:ext>
          </a:extLst>
        </p:spPr>
      </p:pic>
      <p:sp>
        <p:nvSpPr>
          <p:cNvPr id="3" name="Elipse 2">
            <a:extLst>
              <a:ext uri="{FF2B5EF4-FFF2-40B4-BE49-F238E27FC236}">
                <a16:creationId xmlns:a16="http://schemas.microsoft.com/office/drawing/2014/main" id="{B3BB3320-EB63-44B6-8CB8-27B7D0427F44}"/>
              </a:ext>
            </a:extLst>
          </p:cNvPr>
          <p:cNvSpPr/>
          <p:nvPr/>
        </p:nvSpPr>
        <p:spPr>
          <a:xfrm>
            <a:off x="1063690" y="3844212"/>
            <a:ext cx="1231641" cy="373225"/>
          </a:xfrm>
          <a:prstGeom prst="ellipse">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s-ES"/>
          </a:p>
        </p:txBody>
      </p:sp>
      <p:sp>
        <p:nvSpPr>
          <p:cNvPr id="4" name="Flecha: a la derecha 3">
            <a:extLst>
              <a:ext uri="{FF2B5EF4-FFF2-40B4-BE49-F238E27FC236}">
                <a16:creationId xmlns:a16="http://schemas.microsoft.com/office/drawing/2014/main" id="{707B471C-2EA8-438A-9609-6F13B1A4A289}"/>
              </a:ext>
            </a:extLst>
          </p:cNvPr>
          <p:cNvSpPr/>
          <p:nvPr/>
        </p:nvSpPr>
        <p:spPr>
          <a:xfrm>
            <a:off x="3817920" y="4977880"/>
            <a:ext cx="821094" cy="34523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CuadroTexto 6">
            <a:extLst>
              <a:ext uri="{FF2B5EF4-FFF2-40B4-BE49-F238E27FC236}">
                <a16:creationId xmlns:a16="http://schemas.microsoft.com/office/drawing/2014/main" id="{2C0CE759-CF4C-4F9B-9FAF-221ADD98437B}"/>
              </a:ext>
            </a:extLst>
          </p:cNvPr>
          <p:cNvSpPr txBox="1"/>
          <p:nvPr/>
        </p:nvSpPr>
        <p:spPr>
          <a:xfrm>
            <a:off x="625151" y="1250302"/>
            <a:ext cx="7931020" cy="461665"/>
          </a:xfrm>
          <a:prstGeom prst="rect">
            <a:avLst/>
          </a:prstGeom>
          <a:noFill/>
        </p:spPr>
        <p:txBody>
          <a:bodyPr wrap="square" rtlCol="0">
            <a:spAutoFit/>
          </a:bodyPr>
          <a:lstStyle/>
          <a:p>
            <a:pPr algn="ctr"/>
            <a:r>
              <a:rPr lang="es-ES" sz="2400" b="1" dirty="0">
                <a:latin typeface="Calibri" panose="020F0502020204030204" pitchFamily="34" charset="0"/>
                <a:cs typeface="Calibri" panose="020F0502020204030204" pitchFamily="34" charset="0"/>
              </a:rPr>
              <a:t>Retos comunes en ajustes de modelos supervisados</a:t>
            </a:r>
          </a:p>
        </p:txBody>
      </p:sp>
    </p:spTree>
    <p:extLst>
      <p:ext uri="{BB962C8B-B14F-4D97-AF65-F5344CB8AC3E}">
        <p14:creationId xmlns:p14="http://schemas.microsoft.com/office/powerpoint/2010/main" val="42735797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84A6CD6B-CEF2-48AA-B958-CC299BD5B106}"/>
              </a:ext>
            </a:extLst>
          </p:cNvPr>
          <p:cNvSpPr>
            <a:spLocks noGrp="1"/>
          </p:cNvSpPr>
          <p:nvPr>
            <p:ph type="body" idx="1"/>
          </p:nvPr>
        </p:nvSpPr>
        <p:spPr>
          <a:xfrm>
            <a:off x="498021" y="1922107"/>
            <a:ext cx="8020828" cy="4648853"/>
          </a:xfrm>
        </p:spPr>
        <p:txBody>
          <a:bodyPr/>
          <a:lstStyle/>
          <a:p>
            <a:pPr marL="114300" indent="0" algn="just">
              <a:buNone/>
            </a:pPr>
            <a:r>
              <a:rPr lang="es-ES" sz="2000" dirty="0"/>
              <a:t>4. </a:t>
            </a:r>
            <a:r>
              <a:rPr lang="es-ES" sz="2000" b="1" dirty="0"/>
              <a:t>Selección de características o atributos relevantes: </a:t>
            </a:r>
            <a:r>
              <a:rPr lang="es-ES" dirty="0"/>
              <a:t>Seleccionar características útiles con las que entrenar un modelo.</a:t>
            </a:r>
          </a:p>
          <a:p>
            <a:pPr marL="114300" indent="0" algn="just">
              <a:buNone/>
            </a:pPr>
            <a:r>
              <a:rPr lang="es-ES" i="1" dirty="0"/>
              <a:t>Tip 1: </a:t>
            </a:r>
            <a:r>
              <a:rPr lang="es-ES" dirty="0"/>
              <a:t>Extraer las características importantes (Matriz de correlación, técnicas de reducción de la dimensionalidad, etc.)</a:t>
            </a:r>
          </a:p>
          <a:p>
            <a:pPr marL="114300" indent="0" algn="just">
              <a:buNone/>
            </a:pPr>
            <a:r>
              <a:rPr lang="es-ES" i="1" dirty="0"/>
              <a:t>Tip 2: </a:t>
            </a:r>
            <a:r>
              <a:rPr lang="es-ES" dirty="0"/>
              <a:t>Crear nuevas características en caso de no ser muy relevantes con datos nuevos.</a:t>
            </a:r>
          </a:p>
        </p:txBody>
      </p:sp>
      <p:sp>
        <p:nvSpPr>
          <p:cNvPr id="7" name="CuadroTexto 6">
            <a:extLst>
              <a:ext uri="{FF2B5EF4-FFF2-40B4-BE49-F238E27FC236}">
                <a16:creationId xmlns:a16="http://schemas.microsoft.com/office/drawing/2014/main" id="{2C0CE759-CF4C-4F9B-9FAF-221ADD98437B}"/>
              </a:ext>
            </a:extLst>
          </p:cNvPr>
          <p:cNvSpPr txBox="1"/>
          <p:nvPr/>
        </p:nvSpPr>
        <p:spPr>
          <a:xfrm>
            <a:off x="625151" y="1250302"/>
            <a:ext cx="7931020" cy="461665"/>
          </a:xfrm>
          <a:prstGeom prst="rect">
            <a:avLst/>
          </a:prstGeom>
          <a:noFill/>
        </p:spPr>
        <p:txBody>
          <a:bodyPr wrap="square" rtlCol="0">
            <a:spAutoFit/>
          </a:bodyPr>
          <a:lstStyle/>
          <a:p>
            <a:pPr algn="ctr"/>
            <a:r>
              <a:rPr lang="es-ES" sz="2400" b="1" dirty="0">
                <a:latin typeface="Calibri" panose="020F0502020204030204" pitchFamily="34" charset="0"/>
                <a:cs typeface="Calibri" panose="020F0502020204030204" pitchFamily="34" charset="0"/>
              </a:rPr>
              <a:t>Retos comunes en ajustes de modelos supervisados</a:t>
            </a:r>
          </a:p>
        </p:txBody>
      </p:sp>
      <p:pic>
        <p:nvPicPr>
          <p:cNvPr id="3074" name="Picture 2" descr="Cómo Crear un Mapa de Calor de Correlaciones en Python">
            <a:extLst>
              <a:ext uri="{FF2B5EF4-FFF2-40B4-BE49-F238E27FC236}">
                <a16:creationId xmlns:a16="http://schemas.microsoft.com/office/drawing/2014/main" id="{F934791D-C988-4A14-92B8-BA100FFE47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5151" y="3979381"/>
            <a:ext cx="3169298" cy="2376974"/>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PCA con Python">
            <a:extLst>
              <a:ext uri="{FF2B5EF4-FFF2-40B4-BE49-F238E27FC236}">
                <a16:creationId xmlns:a16="http://schemas.microsoft.com/office/drawing/2014/main" id="{F9EC98DC-33BB-4695-9612-B18FE5939D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4422515"/>
            <a:ext cx="3730616" cy="1623915"/>
          </a:xfrm>
          <a:prstGeom prst="rect">
            <a:avLst/>
          </a:prstGeom>
          <a:noFill/>
          <a:extLst>
            <a:ext uri="{909E8E84-426E-40DD-AFC4-6F175D3DCCD1}">
              <a14:hiddenFill xmlns:a14="http://schemas.microsoft.com/office/drawing/2010/main">
                <a:solidFill>
                  <a:srgbClr val="FFFFFF"/>
                </a:solidFill>
              </a14:hiddenFill>
            </a:ext>
          </a:extLst>
        </p:spPr>
      </p:pic>
      <p:sp>
        <p:nvSpPr>
          <p:cNvPr id="5" name="Flecha: a la derecha 4">
            <a:extLst>
              <a:ext uri="{FF2B5EF4-FFF2-40B4-BE49-F238E27FC236}">
                <a16:creationId xmlns:a16="http://schemas.microsoft.com/office/drawing/2014/main" id="{D69BB582-BC75-4DF4-B19C-8EA510C80195}"/>
              </a:ext>
            </a:extLst>
          </p:cNvPr>
          <p:cNvSpPr/>
          <p:nvPr/>
        </p:nvSpPr>
        <p:spPr>
          <a:xfrm>
            <a:off x="3664635" y="5094514"/>
            <a:ext cx="606490" cy="36389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8401460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1">
            <a:extLst>
              <a:ext uri="{FF2B5EF4-FFF2-40B4-BE49-F238E27FC236}">
                <a16:creationId xmlns:a16="http://schemas.microsoft.com/office/drawing/2014/main" id="{87DF798A-F346-4D38-BC19-8D47691E146D}"/>
              </a:ext>
            </a:extLst>
          </p:cNvPr>
          <p:cNvSpPr>
            <a:spLocks noGrp="1"/>
          </p:cNvSpPr>
          <p:nvPr>
            <p:ph type="body" idx="1"/>
          </p:nvPr>
        </p:nvSpPr>
        <p:spPr>
          <a:xfrm>
            <a:off x="563333" y="1947539"/>
            <a:ext cx="7886700" cy="4119562"/>
          </a:xfrm>
        </p:spPr>
        <p:txBody>
          <a:bodyPr/>
          <a:lstStyle/>
          <a:p>
            <a:pPr marL="114300" indent="0" algn="just">
              <a:buNone/>
            </a:pPr>
            <a:r>
              <a:rPr lang="es-ES" sz="2000" dirty="0"/>
              <a:t>5. </a:t>
            </a:r>
            <a:r>
              <a:rPr lang="es-ES" sz="2000" b="1" dirty="0"/>
              <a:t>Sobreajustar datos de entrenamiento: </a:t>
            </a:r>
            <a:r>
              <a:rPr lang="es-ES" sz="2000" dirty="0"/>
              <a:t>Los modelos complejos (Redes Neuronales) pueden tener sobreajuste de modelos los cuales son poco fiables.</a:t>
            </a:r>
          </a:p>
          <a:p>
            <a:pPr marL="114300" indent="0" algn="just">
              <a:buNone/>
            </a:pPr>
            <a:endParaRPr lang="es-ES" sz="900" dirty="0"/>
          </a:p>
          <a:p>
            <a:pPr marL="114300" indent="0" algn="just">
              <a:buNone/>
            </a:pPr>
            <a:r>
              <a:rPr lang="es-ES" sz="2000" i="1" dirty="0"/>
              <a:t>Tip 1: </a:t>
            </a:r>
            <a:r>
              <a:rPr lang="es-ES" sz="2000" dirty="0"/>
              <a:t>Iniciar con modelos sencillos. Aplicar modelos que se adapten a la complejidad de los datos.</a:t>
            </a:r>
            <a:endParaRPr lang="es-ES" dirty="0"/>
          </a:p>
        </p:txBody>
      </p:sp>
      <p:sp>
        <p:nvSpPr>
          <p:cNvPr id="4" name="CuadroTexto 3">
            <a:extLst>
              <a:ext uri="{FF2B5EF4-FFF2-40B4-BE49-F238E27FC236}">
                <a16:creationId xmlns:a16="http://schemas.microsoft.com/office/drawing/2014/main" id="{C303C986-F9A1-4A3E-81E9-64DC9218A0AD}"/>
              </a:ext>
            </a:extLst>
          </p:cNvPr>
          <p:cNvSpPr txBox="1"/>
          <p:nvPr/>
        </p:nvSpPr>
        <p:spPr>
          <a:xfrm>
            <a:off x="625151" y="1250302"/>
            <a:ext cx="7931020" cy="461665"/>
          </a:xfrm>
          <a:prstGeom prst="rect">
            <a:avLst/>
          </a:prstGeom>
          <a:noFill/>
        </p:spPr>
        <p:txBody>
          <a:bodyPr wrap="square" rtlCol="0">
            <a:spAutoFit/>
          </a:bodyPr>
          <a:lstStyle/>
          <a:p>
            <a:pPr algn="ctr"/>
            <a:r>
              <a:rPr lang="es-ES" sz="2400" b="1" dirty="0">
                <a:latin typeface="Calibri" panose="020F0502020204030204" pitchFamily="34" charset="0"/>
                <a:cs typeface="Calibri" panose="020F0502020204030204" pitchFamily="34" charset="0"/>
              </a:rPr>
              <a:t>Retos comunes en ajustes de modelos supervisados</a:t>
            </a:r>
          </a:p>
        </p:txBody>
      </p:sp>
      <p:pic>
        <p:nvPicPr>
          <p:cNvPr id="6" name="Imagen 5">
            <a:extLst>
              <a:ext uri="{FF2B5EF4-FFF2-40B4-BE49-F238E27FC236}">
                <a16:creationId xmlns:a16="http://schemas.microsoft.com/office/drawing/2014/main" id="{EE4F29DE-ECDA-43C6-8478-58366FB327A5}"/>
              </a:ext>
            </a:extLst>
          </p:cNvPr>
          <p:cNvPicPr>
            <a:picLocks noChangeAspect="1"/>
          </p:cNvPicPr>
          <p:nvPr/>
        </p:nvPicPr>
        <p:blipFill>
          <a:blip r:embed="rId2"/>
          <a:stretch>
            <a:fillRect/>
          </a:stretch>
        </p:blipFill>
        <p:spPr>
          <a:xfrm>
            <a:off x="1434001" y="4224160"/>
            <a:ext cx="6443954" cy="2325924"/>
          </a:xfrm>
          <a:prstGeom prst="rect">
            <a:avLst/>
          </a:prstGeom>
        </p:spPr>
      </p:pic>
    </p:spTree>
    <p:extLst>
      <p:ext uri="{BB962C8B-B14F-4D97-AF65-F5344CB8AC3E}">
        <p14:creationId xmlns:p14="http://schemas.microsoft.com/office/powerpoint/2010/main" val="30725792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7D16C34D-C4FD-4A42-9D5F-654E55829789}"/>
              </a:ext>
            </a:extLst>
          </p:cNvPr>
          <p:cNvSpPr>
            <a:spLocks noGrp="1"/>
          </p:cNvSpPr>
          <p:nvPr>
            <p:ph type="body" idx="1"/>
          </p:nvPr>
        </p:nvSpPr>
        <p:spPr>
          <a:xfrm>
            <a:off x="311409" y="1425754"/>
            <a:ext cx="8483568" cy="1380428"/>
          </a:xfrm>
        </p:spPr>
        <p:txBody>
          <a:bodyPr>
            <a:normAutofit lnSpcReduction="10000"/>
          </a:bodyPr>
          <a:lstStyle/>
          <a:p>
            <a:r>
              <a:rPr lang="es-ES" sz="2000" dirty="0"/>
              <a:t>Regularización reduce el riego de hacer sobreajuste, esto se controla en los hiperparametros. </a:t>
            </a:r>
          </a:p>
          <a:p>
            <a:r>
              <a:rPr lang="es-ES" sz="2000" dirty="0"/>
              <a:t>Usar una muestra representativa y modelo sencillo es la mejor opción si estas empezando a usar modelos supervisados.</a:t>
            </a:r>
          </a:p>
        </p:txBody>
      </p:sp>
      <p:pic>
        <p:nvPicPr>
          <p:cNvPr id="4" name="Imagen 3">
            <a:extLst>
              <a:ext uri="{FF2B5EF4-FFF2-40B4-BE49-F238E27FC236}">
                <a16:creationId xmlns:a16="http://schemas.microsoft.com/office/drawing/2014/main" id="{4BA2C6B8-4B89-4565-B606-E38CB129C110}"/>
              </a:ext>
            </a:extLst>
          </p:cNvPr>
          <p:cNvPicPr>
            <a:picLocks noChangeAspect="1"/>
          </p:cNvPicPr>
          <p:nvPr/>
        </p:nvPicPr>
        <p:blipFill>
          <a:blip r:embed="rId2"/>
          <a:stretch>
            <a:fillRect/>
          </a:stretch>
        </p:blipFill>
        <p:spPr>
          <a:xfrm>
            <a:off x="1219539" y="3189676"/>
            <a:ext cx="6910193" cy="2849564"/>
          </a:xfrm>
          <a:prstGeom prst="rect">
            <a:avLst/>
          </a:prstGeom>
        </p:spPr>
      </p:pic>
    </p:spTree>
    <p:extLst>
      <p:ext uri="{BB962C8B-B14F-4D97-AF65-F5344CB8AC3E}">
        <p14:creationId xmlns:p14="http://schemas.microsoft.com/office/powerpoint/2010/main" val="8627959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a:xfrm>
            <a:off x="6457950" y="6275849"/>
            <a:ext cx="2057400" cy="365125"/>
          </a:xfrm>
        </p:spPr>
        <p:txBody>
          <a:bodyPr/>
          <a:lstStyle/>
          <a:p>
            <a:fld id="{F72B40EF-D53A-41AA-87B6-B9F74BA43E09}" type="slidenum">
              <a:rPr lang="es-ES" smtClean="0"/>
              <a:t>21</a:t>
            </a:fld>
            <a:endParaRPr lang="es-ES"/>
          </a:p>
        </p:txBody>
      </p:sp>
      <p:sp>
        <p:nvSpPr>
          <p:cNvPr id="6" name="Elipse 5"/>
          <p:cNvSpPr/>
          <p:nvPr/>
        </p:nvSpPr>
        <p:spPr>
          <a:xfrm>
            <a:off x="1813983" y="2796116"/>
            <a:ext cx="794598" cy="794598"/>
          </a:xfrm>
          <a:prstGeom prst="ellipse">
            <a:avLst/>
          </a:prstGeom>
          <a:solidFill>
            <a:schemeClr val="accent1">
              <a:lumMod val="40000"/>
              <a:lumOff val="60000"/>
            </a:schemeClr>
          </a:solidFill>
          <a:ln w="571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Elipse 6"/>
          <p:cNvSpPr/>
          <p:nvPr/>
        </p:nvSpPr>
        <p:spPr>
          <a:xfrm>
            <a:off x="3241931" y="2813071"/>
            <a:ext cx="794598" cy="794598"/>
          </a:xfrm>
          <a:prstGeom prst="ellipse">
            <a:avLst/>
          </a:prstGeom>
          <a:solidFill>
            <a:schemeClr val="accent1">
              <a:lumMod val="40000"/>
              <a:lumOff val="60000"/>
            </a:schemeClr>
          </a:solidFill>
          <a:ln w="571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Elipse 7"/>
          <p:cNvSpPr/>
          <p:nvPr/>
        </p:nvSpPr>
        <p:spPr>
          <a:xfrm>
            <a:off x="4561130" y="2804109"/>
            <a:ext cx="794598" cy="794598"/>
          </a:xfrm>
          <a:prstGeom prst="ellipse">
            <a:avLst/>
          </a:prstGeom>
          <a:solidFill>
            <a:schemeClr val="accent1">
              <a:lumMod val="40000"/>
              <a:lumOff val="60000"/>
            </a:schemeClr>
          </a:solidFill>
          <a:ln w="571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Elipse 8"/>
          <p:cNvSpPr/>
          <p:nvPr/>
        </p:nvSpPr>
        <p:spPr>
          <a:xfrm>
            <a:off x="4561683" y="4042853"/>
            <a:ext cx="794598" cy="794598"/>
          </a:xfrm>
          <a:prstGeom prst="ellipse">
            <a:avLst/>
          </a:prstGeom>
          <a:solidFill>
            <a:schemeClr val="accent1">
              <a:lumMod val="40000"/>
              <a:lumOff val="60000"/>
            </a:schemeClr>
          </a:solidFill>
          <a:ln w="571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Elipse 9"/>
          <p:cNvSpPr/>
          <p:nvPr/>
        </p:nvSpPr>
        <p:spPr>
          <a:xfrm>
            <a:off x="5878896" y="2802565"/>
            <a:ext cx="794598" cy="794598"/>
          </a:xfrm>
          <a:prstGeom prst="ellipse">
            <a:avLst/>
          </a:prstGeom>
          <a:solidFill>
            <a:schemeClr val="accent1">
              <a:lumMod val="40000"/>
              <a:lumOff val="60000"/>
            </a:schemeClr>
          </a:solidFill>
          <a:ln w="571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Elipse 10"/>
          <p:cNvSpPr/>
          <p:nvPr/>
        </p:nvSpPr>
        <p:spPr>
          <a:xfrm>
            <a:off x="7213641" y="2796116"/>
            <a:ext cx="794598" cy="794598"/>
          </a:xfrm>
          <a:prstGeom prst="ellipse">
            <a:avLst/>
          </a:prstGeom>
          <a:solidFill>
            <a:schemeClr val="accent1">
              <a:lumMod val="40000"/>
              <a:lumOff val="60000"/>
            </a:schemeClr>
          </a:solidFill>
          <a:ln w="571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Elipse 11"/>
          <p:cNvSpPr/>
          <p:nvPr/>
        </p:nvSpPr>
        <p:spPr>
          <a:xfrm>
            <a:off x="7225879" y="4648954"/>
            <a:ext cx="794598" cy="794598"/>
          </a:xfrm>
          <a:prstGeom prst="ellipse">
            <a:avLst/>
          </a:prstGeom>
          <a:solidFill>
            <a:schemeClr val="accent1">
              <a:lumMod val="40000"/>
              <a:lumOff val="60000"/>
            </a:schemeClr>
          </a:solidFill>
          <a:ln w="571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Elipse 12"/>
          <p:cNvSpPr/>
          <p:nvPr/>
        </p:nvSpPr>
        <p:spPr>
          <a:xfrm>
            <a:off x="526970" y="2813071"/>
            <a:ext cx="794598" cy="794598"/>
          </a:xfrm>
          <a:prstGeom prst="ellipse">
            <a:avLst/>
          </a:prstGeom>
          <a:solidFill>
            <a:schemeClr val="accent1">
              <a:lumMod val="40000"/>
              <a:lumOff val="60000"/>
            </a:schemeClr>
          </a:solidFill>
          <a:ln w="571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Imagen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69746" y="4128862"/>
            <a:ext cx="600301" cy="600301"/>
          </a:xfrm>
          <a:prstGeom prst="rect">
            <a:avLst/>
          </a:prstGeom>
        </p:spPr>
      </p:pic>
      <p:pic>
        <p:nvPicPr>
          <p:cNvPr id="16" name="Imagen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94545" y="2991219"/>
            <a:ext cx="438303" cy="438303"/>
          </a:xfrm>
          <a:prstGeom prst="rect">
            <a:avLst/>
          </a:prstGeom>
        </p:spPr>
      </p:pic>
      <p:pic>
        <p:nvPicPr>
          <p:cNvPr id="17" name="Imagen 1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647088" y="2903419"/>
            <a:ext cx="641747" cy="641747"/>
          </a:xfrm>
          <a:prstGeom prst="rect">
            <a:avLst/>
          </a:prstGeom>
        </p:spPr>
      </p:pic>
      <p:pic>
        <p:nvPicPr>
          <p:cNvPr id="18" name="Imagen 1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317728" y="4747405"/>
            <a:ext cx="610899" cy="610899"/>
          </a:xfrm>
          <a:prstGeom prst="rect">
            <a:avLst/>
          </a:prstGeom>
        </p:spPr>
      </p:pic>
      <p:pic>
        <p:nvPicPr>
          <p:cNvPr id="19" name="Imagen 1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313738" y="5277961"/>
            <a:ext cx="568332" cy="568332"/>
          </a:xfrm>
          <a:prstGeom prst="rect">
            <a:avLst/>
          </a:prstGeom>
        </p:spPr>
      </p:pic>
      <p:pic>
        <p:nvPicPr>
          <p:cNvPr id="20" name="Imagen 19"/>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714650" y="4146514"/>
            <a:ext cx="532523" cy="532523"/>
          </a:xfrm>
          <a:prstGeom prst="rect">
            <a:avLst/>
          </a:prstGeom>
        </p:spPr>
      </p:pic>
      <p:pic>
        <p:nvPicPr>
          <p:cNvPr id="21" name="Imagen 20"/>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946921" y="2936063"/>
            <a:ext cx="528721" cy="528721"/>
          </a:xfrm>
          <a:prstGeom prst="rect">
            <a:avLst/>
          </a:prstGeom>
        </p:spPr>
      </p:pic>
      <p:sp>
        <p:nvSpPr>
          <p:cNvPr id="22" name="CuadroTexto 21"/>
          <p:cNvSpPr txBox="1"/>
          <p:nvPr/>
        </p:nvSpPr>
        <p:spPr>
          <a:xfrm>
            <a:off x="393743" y="2286614"/>
            <a:ext cx="1039905" cy="400110"/>
          </a:xfrm>
          <a:prstGeom prst="rect">
            <a:avLst/>
          </a:prstGeom>
          <a:noFill/>
        </p:spPr>
        <p:txBody>
          <a:bodyPr wrap="square" rtlCol="0">
            <a:spAutoFit/>
          </a:bodyPr>
          <a:lstStyle/>
          <a:p>
            <a:pPr algn="ctr"/>
            <a:r>
              <a:rPr lang="es-ES" sz="1000" b="1" dirty="0">
                <a:solidFill>
                  <a:srgbClr val="002060"/>
                </a:solidFill>
              </a:rPr>
              <a:t>CONJUNTO DE DATOS</a:t>
            </a:r>
            <a:endParaRPr lang="en-US" sz="1000" b="1" dirty="0">
              <a:solidFill>
                <a:srgbClr val="002060"/>
              </a:solidFill>
            </a:endParaRPr>
          </a:p>
        </p:txBody>
      </p:sp>
      <p:sp>
        <p:nvSpPr>
          <p:cNvPr id="23" name="CuadroTexto 22"/>
          <p:cNvSpPr txBox="1"/>
          <p:nvPr/>
        </p:nvSpPr>
        <p:spPr>
          <a:xfrm>
            <a:off x="1560819" y="2272270"/>
            <a:ext cx="1307119" cy="400110"/>
          </a:xfrm>
          <a:prstGeom prst="rect">
            <a:avLst/>
          </a:prstGeom>
          <a:noFill/>
        </p:spPr>
        <p:txBody>
          <a:bodyPr wrap="square" rtlCol="0">
            <a:spAutoFit/>
          </a:bodyPr>
          <a:lstStyle>
            <a:defPPr>
              <a:defRPr lang="es-ES"/>
            </a:defPPr>
            <a:lvl1pPr>
              <a:defRPr sz="1400" b="1">
                <a:solidFill>
                  <a:srgbClr val="002060"/>
                </a:solidFill>
              </a:defRPr>
            </a:lvl1pPr>
          </a:lstStyle>
          <a:p>
            <a:pPr algn="ctr"/>
            <a:r>
              <a:rPr lang="es-ES" sz="1000" dirty="0"/>
              <a:t>1. COMPRENDER LOS DATOS</a:t>
            </a:r>
            <a:endParaRPr lang="en-US" sz="1000" dirty="0"/>
          </a:p>
        </p:txBody>
      </p:sp>
      <p:sp>
        <p:nvSpPr>
          <p:cNvPr id="24" name="CuadroTexto 23"/>
          <p:cNvSpPr txBox="1"/>
          <p:nvPr/>
        </p:nvSpPr>
        <p:spPr>
          <a:xfrm>
            <a:off x="2980987" y="2249841"/>
            <a:ext cx="1249021" cy="400110"/>
          </a:xfrm>
          <a:prstGeom prst="rect">
            <a:avLst/>
          </a:prstGeom>
          <a:noFill/>
        </p:spPr>
        <p:txBody>
          <a:bodyPr wrap="square" rtlCol="0">
            <a:spAutoFit/>
          </a:bodyPr>
          <a:lstStyle/>
          <a:p>
            <a:pPr algn="ctr"/>
            <a:r>
              <a:rPr lang="es-ES" sz="1000" b="1" dirty="0">
                <a:solidFill>
                  <a:srgbClr val="002060"/>
                </a:solidFill>
              </a:rPr>
              <a:t>2. PREPARAR LOS DATOS</a:t>
            </a:r>
            <a:endParaRPr lang="en-US" sz="1000" b="1" dirty="0">
              <a:solidFill>
                <a:srgbClr val="002060"/>
              </a:solidFill>
            </a:endParaRPr>
          </a:p>
        </p:txBody>
      </p:sp>
      <p:pic>
        <p:nvPicPr>
          <p:cNvPr id="25" name="Imagen 24"/>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344339" y="6196878"/>
            <a:ext cx="536034" cy="536034"/>
          </a:xfrm>
          <a:prstGeom prst="rect">
            <a:avLst/>
          </a:prstGeom>
        </p:spPr>
      </p:pic>
      <p:pic>
        <p:nvPicPr>
          <p:cNvPr id="26" name="Imagen 25"/>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6020704" y="2949602"/>
            <a:ext cx="506816" cy="506816"/>
          </a:xfrm>
          <a:prstGeom prst="rect">
            <a:avLst/>
          </a:prstGeom>
        </p:spPr>
      </p:pic>
      <p:pic>
        <p:nvPicPr>
          <p:cNvPr id="27" name="Imagen 2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1899764" y="4103189"/>
            <a:ext cx="658893" cy="658893"/>
          </a:xfrm>
          <a:prstGeom prst="rect">
            <a:avLst/>
          </a:prstGeom>
        </p:spPr>
      </p:pic>
      <p:pic>
        <p:nvPicPr>
          <p:cNvPr id="28" name="Imagen 27"/>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924772" y="5154856"/>
            <a:ext cx="603188" cy="603188"/>
          </a:xfrm>
          <a:prstGeom prst="rect">
            <a:avLst/>
          </a:prstGeom>
        </p:spPr>
      </p:pic>
      <p:sp>
        <p:nvSpPr>
          <p:cNvPr id="29" name="Rectángulo 28"/>
          <p:cNvSpPr/>
          <p:nvPr/>
        </p:nvSpPr>
        <p:spPr>
          <a:xfrm>
            <a:off x="3040788" y="3706083"/>
            <a:ext cx="1099570" cy="415498"/>
          </a:xfrm>
          <a:prstGeom prst="rect">
            <a:avLst/>
          </a:prstGeom>
        </p:spPr>
        <p:txBody>
          <a:bodyPr wrap="square">
            <a:spAutoFit/>
          </a:bodyPr>
          <a:lstStyle/>
          <a:p>
            <a:pPr algn="ctr"/>
            <a:r>
              <a:rPr lang="es-ES" sz="1050" b="1" dirty="0">
                <a:solidFill>
                  <a:srgbClr val="0070C0"/>
                </a:solidFill>
              </a:rPr>
              <a:t>LIMPIEZA DE DATOS</a:t>
            </a:r>
            <a:endParaRPr lang="en-US" sz="1050" b="1" dirty="0">
              <a:solidFill>
                <a:srgbClr val="0070C0"/>
              </a:solidFill>
            </a:endParaRPr>
          </a:p>
        </p:txBody>
      </p:sp>
      <p:sp>
        <p:nvSpPr>
          <p:cNvPr id="30" name="Rectángulo 29"/>
          <p:cNvSpPr/>
          <p:nvPr/>
        </p:nvSpPr>
        <p:spPr>
          <a:xfrm>
            <a:off x="2971026" y="4856036"/>
            <a:ext cx="1259559" cy="415498"/>
          </a:xfrm>
          <a:prstGeom prst="rect">
            <a:avLst/>
          </a:prstGeom>
        </p:spPr>
        <p:txBody>
          <a:bodyPr wrap="square">
            <a:spAutoFit/>
          </a:bodyPr>
          <a:lstStyle/>
          <a:p>
            <a:pPr algn="ctr"/>
            <a:r>
              <a:rPr lang="es-ES" sz="1050" b="1" dirty="0">
                <a:solidFill>
                  <a:srgbClr val="0070C0"/>
                </a:solidFill>
              </a:rPr>
              <a:t>SELECCIÓN DE ATRIBUTOS</a:t>
            </a:r>
            <a:endParaRPr lang="en-US" sz="1050" b="1" dirty="0">
              <a:solidFill>
                <a:srgbClr val="0070C0"/>
              </a:solidFill>
            </a:endParaRPr>
          </a:p>
        </p:txBody>
      </p:sp>
      <p:sp>
        <p:nvSpPr>
          <p:cNvPr id="31" name="Rectángulo 30"/>
          <p:cNvSpPr/>
          <p:nvPr/>
        </p:nvSpPr>
        <p:spPr>
          <a:xfrm>
            <a:off x="2900525" y="5941044"/>
            <a:ext cx="1445474" cy="230832"/>
          </a:xfrm>
          <a:prstGeom prst="rect">
            <a:avLst/>
          </a:prstGeom>
        </p:spPr>
        <p:txBody>
          <a:bodyPr wrap="square">
            <a:spAutoFit/>
          </a:bodyPr>
          <a:lstStyle/>
          <a:p>
            <a:pPr algn="ctr"/>
            <a:r>
              <a:rPr lang="es-ES" sz="900" b="1" dirty="0">
                <a:solidFill>
                  <a:srgbClr val="0070C0"/>
                </a:solidFill>
              </a:rPr>
              <a:t>TRANSFORMACIÓN</a:t>
            </a:r>
            <a:endParaRPr lang="en-US" sz="900" b="1" dirty="0">
              <a:solidFill>
                <a:srgbClr val="0070C0"/>
              </a:solidFill>
            </a:endParaRPr>
          </a:p>
        </p:txBody>
      </p:sp>
      <p:pic>
        <p:nvPicPr>
          <p:cNvPr id="32" name="Imagen 3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3347161" y="2886747"/>
            <a:ext cx="578037" cy="578037"/>
          </a:xfrm>
          <a:prstGeom prst="rect">
            <a:avLst/>
          </a:prstGeom>
        </p:spPr>
      </p:pic>
      <p:pic>
        <p:nvPicPr>
          <p:cNvPr id="33" name="Imagen 32"/>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7374205" y="2949602"/>
            <a:ext cx="495769" cy="495769"/>
          </a:xfrm>
          <a:prstGeom prst="rect">
            <a:avLst/>
          </a:prstGeom>
        </p:spPr>
      </p:pic>
      <p:sp>
        <p:nvSpPr>
          <p:cNvPr id="34" name="Rectángulo 33"/>
          <p:cNvSpPr/>
          <p:nvPr/>
        </p:nvSpPr>
        <p:spPr>
          <a:xfrm>
            <a:off x="1621286" y="3715706"/>
            <a:ext cx="1231310" cy="415498"/>
          </a:xfrm>
          <a:prstGeom prst="rect">
            <a:avLst/>
          </a:prstGeom>
        </p:spPr>
        <p:txBody>
          <a:bodyPr wrap="square">
            <a:spAutoFit/>
          </a:bodyPr>
          <a:lstStyle/>
          <a:p>
            <a:pPr algn="ctr"/>
            <a:r>
              <a:rPr lang="es-ES" sz="1050" b="1" dirty="0">
                <a:solidFill>
                  <a:srgbClr val="0070C0"/>
                </a:solidFill>
              </a:rPr>
              <a:t>ESTADÍSTICA DESCRIPTIVA</a:t>
            </a:r>
            <a:endParaRPr lang="en-US" sz="1050" b="1" dirty="0">
              <a:solidFill>
                <a:srgbClr val="0070C0"/>
              </a:solidFill>
            </a:endParaRPr>
          </a:p>
        </p:txBody>
      </p:sp>
      <p:sp>
        <p:nvSpPr>
          <p:cNvPr id="35" name="Rectángulo 34"/>
          <p:cNvSpPr/>
          <p:nvPr/>
        </p:nvSpPr>
        <p:spPr>
          <a:xfrm>
            <a:off x="1628803" y="4882931"/>
            <a:ext cx="1223793" cy="261610"/>
          </a:xfrm>
          <a:prstGeom prst="rect">
            <a:avLst/>
          </a:prstGeom>
        </p:spPr>
        <p:txBody>
          <a:bodyPr wrap="square">
            <a:spAutoFit/>
          </a:bodyPr>
          <a:lstStyle/>
          <a:p>
            <a:pPr algn="ctr"/>
            <a:r>
              <a:rPr lang="es-ES" sz="1050" b="1" dirty="0">
                <a:solidFill>
                  <a:srgbClr val="0070C0"/>
                </a:solidFill>
              </a:rPr>
              <a:t>VISUALIZACIÓN</a:t>
            </a:r>
            <a:endParaRPr lang="en-US" sz="1050" b="1" dirty="0">
              <a:solidFill>
                <a:srgbClr val="0070C0"/>
              </a:solidFill>
            </a:endParaRPr>
          </a:p>
        </p:txBody>
      </p:sp>
      <p:sp>
        <p:nvSpPr>
          <p:cNvPr id="36" name="CuadroTexto 35"/>
          <p:cNvSpPr txBox="1"/>
          <p:nvPr/>
        </p:nvSpPr>
        <p:spPr>
          <a:xfrm>
            <a:off x="4217278" y="2256711"/>
            <a:ext cx="1519015" cy="246221"/>
          </a:xfrm>
          <a:prstGeom prst="rect">
            <a:avLst/>
          </a:prstGeom>
          <a:noFill/>
        </p:spPr>
        <p:txBody>
          <a:bodyPr wrap="square" rtlCol="0">
            <a:spAutoFit/>
          </a:bodyPr>
          <a:lstStyle/>
          <a:p>
            <a:pPr algn="ctr"/>
            <a:r>
              <a:rPr lang="es-ES" sz="1000" b="1" dirty="0">
                <a:solidFill>
                  <a:srgbClr val="002060"/>
                </a:solidFill>
              </a:rPr>
              <a:t>3. DIVIDIR DATOS</a:t>
            </a:r>
            <a:endParaRPr lang="en-US" sz="1000" b="1" dirty="0">
              <a:solidFill>
                <a:srgbClr val="002060"/>
              </a:solidFill>
            </a:endParaRPr>
          </a:p>
        </p:txBody>
      </p:sp>
      <p:sp>
        <p:nvSpPr>
          <p:cNvPr id="37" name="CuadroTexto 36"/>
          <p:cNvSpPr txBox="1"/>
          <p:nvPr/>
        </p:nvSpPr>
        <p:spPr>
          <a:xfrm>
            <a:off x="5598260" y="2246727"/>
            <a:ext cx="1426152" cy="553998"/>
          </a:xfrm>
          <a:prstGeom prst="rect">
            <a:avLst/>
          </a:prstGeom>
          <a:noFill/>
        </p:spPr>
        <p:txBody>
          <a:bodyPr wrap="square" rtlCol="0">
            <a:spAutoFit/>
          </a:bodyPr>
          <a:lstStyle/>
          <a:p>
            <a:pPr algn="ctr"/>
            <a:r>
              <a:rPr lang="en-US" sz="1000" b="1" dirty="0">
                <a:solidFill>
                  <a:srgbClr val="002060"/>
                </a:solidFill>
              </a:rPr>
              <a:t>4. CONSTRUCCIÓN Y EVALUACIÓN DE MODELO</a:t>
            </a:r>
          </a:p>
        </p:txBody>
      </p:sp>
      <p:sp>
        <p:nvSpPr>
          <p:cNvPr id="38" name="CuadroTexto 37"/>
          <p:cNvSpPr txBox="1"/>
          <p:nvPr/>
        </p:nvSpPr>
        <p:spPr>
          <a:xfrm>
            <a:off x="6893933" y="2196051"/>
            <a:ext cx="1621417" cy="553998"/>
          </a:xfrm>
          <a:prstGeom prst="rect">
            <a:avLst/>
          </a:prstGeom>
          <a:noFill/>
        </p:spPr>
        <p:txBody>
          <a:bodyPr wrap="square" rtlCol="0">
            <a:spAutoFit/>
          </a:bodyPr>
          <a:lstStyle/>
          <a:p>
            <a:pPr algn="ctr"/>
            <a:r>
              <a:rPr lang="en-US" sz="1000" b="1" dirty="0">
                <a:solidFill>
                  <a:srgbClr val="002060"/>
                </a:solidFill>
              </a:rPr>
              <a:t>5. AJUSTAR HIPERPARÁMETROS DEL MODELO</a:t>
            </a:r>
          </a:p>
        </p:txBody>
      </p:sp>
      <p:sp>
        <p:nvSpPr>
          <p:cNvPr id="39" name="CuadroTexto 38"/>
          <p:cNvSpPr txBox="1"/>
          <p:nvPr/>
        </p:nvSpPr>
        <p:spPr>
          <a:xfrm>
            <a:off x="6930064" y="4095712"/>
            <a:ext cx="1372279" cy="553998"/>
          </a:xfrm>
          <a:prstGeom prst="rect">
            <a:avLst/>
          </a:prstGeom>
          <a:noFill/>
        </p:spPr>
        <p:txBody>
          <a:bodyPr wrap="square" rtlCol="0">
            <a:spAutoFit/>
          </a:bodyPr>
          <a:lstStyle/>
          <a:p>
            <a:pPr algn="ctr"/>
            <a:r>
              <a:rPr lang="en-US" sz="1000" b="1" dirty="0">
                <a:solidFill>
                  <a:srgbClr val="002060"/>
                </a:solidFill>
              </a:rPr>
              <a:t>6. EVALUACIÓN FINAL DEL MODELO</a:t>
            </a:r>
          </a:p>
        </p:txBody>
      </p:sp>
      <p:sp>
        <p:nvSpPr>
          <p:cNvPr id="40" name="Rectángulo 39"/>
          <p:cNvSpPr/>
          <p:nvPr/>
        </p:nvSpPr>
        <p:spPr>
          <a:xfrm>
            <a:off x="4396927" y="2419580"/>
            <a:ext cx="1191354" cy="415498"/>
          </a:xfrm>
          <a:prstGeom prst="rect">
            <a:avLst/>
          </a:prstGeom>
        </p:spPr>
        <p:txBody>
          <a:bodyPr wrap="square">
            <a:spAutoFit/>
          </a:bodyPr>
          <a:lstStyle/>
          <a:p>
            <a:pPr algn="ctr"/>
            <a:r>
              <a:rPr lang="es-ES" sz="1050" b="1" dirty="0">
                <a:solidFill>
                  <a:srgbClr val="0070C0"/>
                </a:solidFill>
              </a:rPr>
              <a:t>ENTRENAR DATOS</a:t>
            </a:r>
            <a:endParaRPr lang="en-US" sz="1050" b="1" dirty="0">
              <a:solidFill>
                <a:srgbClr val="0070C0"/>
              </a:solidFill>
            </a:endParaRPr>
          </a:p>
        </p:txBody>
      </p:sp>
      <p:sp>
        <p:nvSpPr>
          <p:cNvPr id="41" name="Rectángulo 40"/>
          <p:cNvSpPr/>
          <p:nvPr/>
        </p:nvSpPr>
        <p:spPr>
          <a:xfrm>
            <a:off x="4325304" y="3755370"/>
            <a:ext cx="1323811" cy="253916"/>
          </a:xfrm>
          <a:prstGeom prst="rect">
            <a:avLst/>
          </a:prstGeom>
        </p:spPr>
        <p:txBody>
          <a:bodyPr wrap="square">
            <a:spAutoFit/>
          </a:bodyPr>
          <a:lstStyle/>
          <a:p>
            <a:pPr algn="ctr"/>
            <a:r>
              <a:rPr lang="es-ES" sz="1050" b="1" dirty="0">
                <a:solidFill>
                  <a:srgbClr val="0070C0"/>
                </a:solidFill>
              </a:rPr>
              <a:t>PRUEBA DATOS</a:t>
            </a:r>
            <a:endParaRPr lang="en-US" sz="1050" b="1" dirty="0">
              <a:solidFill>
                <a:srgbClr val="0070C0"/>
              </a:solidFill>
            </a:endParaRPr>
          </a:p>
        </p:txBody>
      </p:sp>
      <p:sp>
        <p:nvSpPr>
          <p:cNvPr id="42" name="Rectángulo redondeado 41"/>
          <p:cNvSpPr/>
          <p:nvPr/>
        </p:nvSpPr>
        <p:spPr>
          <a:xfrm>
            <a:off x="1628803" y="2171684"/>
            <a:ext cx="1223793" cy="3670169"/>
          </a:xfrm>
          <a:prstGeom prst="roundRect">
            <a:avLst/>
          </a:prstGeom>
          <a:no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ángulo redondeado 42"/>
          <p:cNvSpPr/>
          <p:nvPr/>
        </p:nvSpPr>
        <p:spPr>
          <a:xfrm>
            <a:off x="5671693" y="2164492"/>
            <a:ext cx="1266838" cy="1653117"/>
          </a:xfrm>
          <a:prstGeom prst="roundRect">
            <a:avLst/>
          </a:prstGeom>
          <a:no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ángulo redondeado 43"/>
          <p:cNvSpPr/>
          <p:nvPr/>
        </p:nvSpPr>
        <p:spPr>
          <a:xfrm>
            <a:off x="7007388" y="2164493"/>
            <a:ext cx="1399987" cy="1653117"/>
          </a:xfrm>
          <a:prstGeom prst="roundRect">
            <a:avLst/>
          </a:prstGeom>
          <a:no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ángulo redondeado 44"/>
          <p:cNvSpPr/>
          <p:nvPr/>
        </p:nvSpPr>
        <p:spPr>
          <a:xfrm>
            <a:off x="7012872" y="4083062"/>
            <a:ext cx="1191355" cy="1480055"/>
          </a:xfrm>
          <a:prstGeom prst="roundRect">
            <a:avLst/>
          </a:prstGeom>
          <a:no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ángulo redondeado 45"/>
          <p:cNvSpPr/>
          <p:nvPr/>
        </p:nvSpPr>
        <p:spPr>
          <a:xfrm>
            <a:off x="4378400" y="2174595"/>
            <a:ext cx="1191355" cy="2762126"/>
          </a:xfrm>
          <a:prstGeom prst="roundRect">
            <a:avLst/>
          </a:prstGeom>
          <a:no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ángulo redondeado 46"/>
          <p:cNvSpPr/>
          <p:nvPr/>
        </p:nvSpPr>
        <p:spPr>
          <a:xfrm>
            <a:off x="3025923" y="2188009"/>
            <a:ext cx="1191355" cy="4639962"/>
          </a:xfrm>
          <a:prstGeom prst="roundRect">
            <a:avLst/>
          </a:prstGeom>
          <a:no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ángulo redondeado 47"/>
          <p:cNvSpPr/>
          <p:nvPr/>
        </p:nvSpPr>
        <p:spPr>
          <a:xfrm>
            <a:off x="308418" y="2188009"/>
            <a:ext cx="1191355" cy="1629600"/>
          </a:xfrm>
          <a:prstGeom prst="roundRect">
            <a:avLst/>
          </a:prstGeom>
          <a:no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9" name="Conector recto de flecha 48"/>
          <p:cNvCxnSpPr/>
          <p:nvPr/>
        </p:nvCxnSpPr>
        <p:spPr>
          <a:xfrm>
            <a:off x="1314416" y="3175765"/>
            <a:ext cx="480517" cy="0"/>
          </a:xfrm>
          <a:prstGeom prst="straightConnector1">
            <a:avLst/>
          </a:prstGeom>
          <a:ln w="571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50" name="Conector recto de flecha 49"/>
          <p:cNvCxnSpPr/>
          <p:nvPr/>
        </p:nvCxnSpPr>
        <p:spPr>
          <a:xfrm>
            <a:off x="2582129" y="3175765"/>
            <a:ext cx="640752" cy="0"/>
          </a:xfrm>
          <a:prstGeom prst="straightConnector1">
            <a:avLst/>
          </a:prstGeom>
          <a:ln w="571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51" name="Conector recto de flecha 50"/>
          <p:cNvCxnSpPr/>
          <p:nvPr/>
        </p:nvCxnSpPr>
        <p:spPr>
          <a:xfrm>
            <a:off x="4052535" y="3193415"/>
            <a:ext cx="493712" cy="0"/>
          </a:xfrm>
          <a:prstGeom prst="straightConnector1">
            <a:avLst/>
          </a:prstGeom>
          <a:ln w="571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52" name="Conector recto de flecha 51"/>
          <p:cNvCxnSpPr/>
          <p:nvPr/>
        </p:nvCxnSpPr>
        <p:spPr>
          <a:xfrm>
            <a:off x="5365109" y="3199864"/>
            <a:ext cx="493712" cy="0"/>
          </a:xfrm>
          <a:prstGeom prst="straightConnector1">
            <a:avLst/>
          </a:prstGeom>
          <a:ln w="571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53" name="Conector recto de flecha 52"/>
          <p:cNvCxnSpPr/>
          <p:nvPr/>
        </p:nvCxnSpPr>
        <p:spPr>
          <a:xfrm>
            <a:off x="6691424" y="3199864"/>
            <a:ext cx="493712" cy="0"/>
          </a:xfrm>
          <a:prstGeom prst="straightConnector1">
            <a:avLst/>
          </a:prstGeom>
          <a:ln w="571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54" name="Conector recto de flecha 53"/>
          <p:cNvCxnSpPr>
            <a:stCxn id="9" idx="6"/>
          </p:cNvCxnSpPr>
          <p:nvPr/>
        </p:nvCxnSpPr>
        <p:spPr>
          <a:xfrm>
            <a:off x="5356281" y="4440152"/>
            <a:ext cx="1618338" cy="0"/>
          </a:xfrm>
          <a:prstGeom prst="straightConnector1">
            <a:avLst/>
          </a:prstGeom>
          <a:ln w="571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Conector recto de flecha 54"/>
          <p:cNvCxnSpPr/>
          <p:nvPr/>
        </p:nvCxnSpPr>
        <p:spPr>
          <a:xfrm>
            <a:off x="7622089" y="3607669"/>
            <a:ext cx="0" cy="458438"/>
          </a:xfrm>
          <a:prstGeom prst="straightConnector1">
            <a:avLst/>
          </a:prstGeom>
          <a:ln w="571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56" name="Conector angular 55"/>
          <p:cNvCxnSpPr/>
          <p:nvPr/>
        </p:nvCxnSpPr>
        <p:spPr>
          <a:xfrm rot="16200000" flipH="1" flipV="1">
            <a:off x="4949258" y="809944"/>
            <a:ext cx="23517" cy="2678832"/>
          </a:xfrm>
          <a:prstGeom prst="bentConnector3">
            <a:avLst>
              <a:gd name="adj1" fmla="val -972063"/>
            </a:avLst>
          </a:prstGeom>
          <a:ln w="571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57" name="Conector angular 56"/>
          <p:cNvCxnSpPr>
            <a:stCxn id="45" idx="2"/>
          </p:cNvCxnSpPr>
          <p:nvPr/>
        </p:nvCxnSpPr>
        <p:spPr>
          <a:xfrm rot="5400000">
            <a:off x="5848985" y="3944140"/>
            <a:ext cx="140589" cy="3378542"/>
          </a:xfrm>
          <a:prstGeom prst="bentConnector2">
            <a:avLst/>
          </a:prstGeom>
          <a:ln w="5715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58" name="CuadroTexto 57"/>
          <p:cNvSpPr txBox="1"/>
          <p:nvPr/>
        </p:nvSpPr>
        <p:spPr>
          <a:xfrm>
            <a:off x="4342676" y="5751697"/>
            <a:ext cx="3991478" cy="461665"/>
          </a:xfrm>
          <a:prstGeom prst="rect">
            <a:avLst/>
          </a:prstGeom>
          <a:noFill/>
        </p:spPr>
        <p:txBody>
          <a:bodyPr wrap="square" rtlCol="0">
            <a:spAutoFit/>
          </a:bodyPr>
          <a:lstStyle/>
          <a:p>
            <a:r>
              <a:rPr lang="es-ES" sz="1200" i="1" dirty="0"/>
              <a:t>Si los resultados no son los esperados, se comienza de nuevo</a:t>
            </a:r>
            <a:endParaRPr lang="en-US" sz="1200" i="1" dirty="0"/>
          </a:p>
        </p:txBody>
      </p:sp>
      <p:sp>
        <p:nvSpPr>
          <p:cNvPr id="59" name="Rectángulo 58"/>
          <p:cNvSpPr/>
          <p:nvPr/>
        </p:nvSpPr>
        <p:spPr>
          <a:xfrm>
            <a:off x="4251508" y="1587208"/>
            <a:ext cx="1311578" cy="338554"/>
          </a:xfrm>
          <a:prstGeom prst="rect">
            <a:avLst/>
          </a:prstGeom>
        </p:spPr>
        <p:txBody>
          <a:bodyPr wrap="none">
            <a:spAutoFit/>
          </a:bodyPr>
          <a:lstStyle/>
          <a:p>
            <a:r>
              <a:rPr lang="en-US" sz="1600" i="1" dirty="0">
                <a:latin typeface="medium-content-serif-font"/>
              </a:rPr>
              <a:t>Fase iterativa</a:t>
            </a:r>
            <a:endParaRPr lang="en-US" sz="1600" dirty="0"/>
          </a:p>
        </p:txBody>
      </p:sp>
      <p:sp>
        <p:nvSpPr>
          <p:cNvPr id="63" name="Elipse 62">
            <a:extLst>
              <a:ext uri="{FF2B5EF4-FFF2-40B4-BE49-F238E27FC236}">
                <a16:creationId xmlns:a16="http://schemas.microsoft.com/office/drawing/2014/main" id="{1D0A02D5-6FFB-4F8C-98B8-D0EA00DB75ED}"/>
              </a:ext>
            </a:extLst>
          </p:cNvPr>
          <p:cNvSpPr/>
          <p:nvPr/>
        </p:nvSpPr>
        <p:spPr>
          <a:xfrm>
            <a:off x="406364" y="1284367"/>
            <a:ext cx="570706" cy="570706"/>
          </a:xfrm>
          <a:prstGeom prst="ellipse">
            <a:avLst/>
          </a:prstGeom>
          <a:solidFill>
            <a:schemeClr val="accent1">
              <a:lumMod val="40000"/>
              <a:lumOff val="60000"/>
            </a:schemeClr>
          </a:solidFill>
          <a:ln w="57150">
            <a:solidFill>
              <a:srgbClr val="006DA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65" name="Conector recto 64">
            <a:extLst>
              <a:ext uri="{FF2B5EF4-FFF2-40B4-BE49-F238E27FC236}">
                <a16:creationId xmlns:a16="http://schemas.microsoft.com/office/drawing/2014/main" id="{0AD0E46B-B808-4FEC-89A3-4FB5D251B28A}"/>
              </a:ext>
            </a:extLst>
          </p:cNvPr>
          <p:cNvCxnSpPr/>
          <p:nvPr/>
        </p:nvCxnSpPr>
        <p:spPr>
          <a:xfrm flipV="1">
            <a:off x="-37" y="1635037"/>
            <a:ext cx="406401" cy="3437"/>
          </a:xfrm>
          <a:prstGeom prst="line">
            <a:avLst/>
          </a:prstGeom>
          <a:ln w="57150">
            <a:solidFill>
              <a:srgbClr val="006DA5"/>
            </a:solidFill>
          </a:ln>
        </p:spPr>
        <p:style>
          <a:lnRef idx="1">
            <a:schemeClr val="accent1"/>
          </a:lnRef>
          <a:fillRef idx="0">
            <a:schemeClr val="accent1"/>
          </a:fillRef>
          <a:effectRef idx="0">
            <a:schemeClr val="accent1"/>
          </a:effectRef>
          <a:fontRef idx="minor">
            <a:schemeClr val="tx1"/>
          </a:fontRef>
        </p:style>
      </p:cxnSp>
      <p:pic>
        <p:nvPicPr>
          <p:cNvPr id="64" name="Imagen 63"/>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490416" y="1386338"/>
            <a:ext cx="363725" cy="363725"/>
          </a:xfrm>
          <a:prstGeom prst="rect">
            <a:avLst/>
          </a:prstGeom>
        </p:spPr>
      </p:pic>
      <p:sp>
        <p:nvSpPr>
          <p:cNvPr id="60" name="CuadroTexto 59">
            <a:extLst>
              <a:ext uri="{FF2B5EF4-FFF2-40B4-BE49-F238E27FC236}">
                <a16:creationId xmlns:a16="http://schemas.microsoft.com/office/drawing/2014/main" id="{C742C0F9-3FC5-4EFD-8C8E-E4978137B581}"/>
              </a:ext>
            </a:extLst>
          </p:cNvPr>
          <p:cNvSpPr txBox="1"/>
          <p:nvPr/>
        </p:nvSpPr>
        <p:spPr>
          <a:xfrm>
            <a:off x="792223" y="1108759"/>
            <a:ext cx="7931020" cy="461665"/>
          </a:xfrm>
          <a:prstGeom prst="rect">
            <a:avLst/>
          </a:prstGeom>
          <a:noFill/>
        </p:spPr>
        <p:txBody>
          <a:bodyPr wrap="square" rtlCol="0">
            <a:spAutoFit/>
          </a:bodyPr>
          <a:lstStyle/>
          <a:p>
            <a:pPr algn="ctr"/>
            <a:r>
              <a:rPr lang="es-ES" sz="2400" b="1" dirty="0">
                <a:latin typeface="Calibri" panose="020F0502020204030204" pitchFamily="34" charset="0"/>
                <a:cs typeface="Calibri" panose="020F0502020204030204" pitchFamily="34" charset="0"/>
              </a:rPr>
              <a:t>Pasos para aplicar modelos supervisados</a:t>
            </a:r>
          </a:p>
        </p:txBody>
      </p:sp>
    </p:spTree>
    <p:extLst>
      <p:ext uri="{BB962C8B-B14F-4D97-AF65-F5344CB8AC3E}">
        <p14:creationId xmlns:p14="http://schemas.microsoft.com/office/powerpoint/2010/main" val="30225211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5" name="Google Shape;125;p4"/>
          <p:cNvSpPr/>
          <p:nvPr/>
        </p:nvSpPr>
        <p:spPr>
          <a:xfrm>
            <a:off x="406364" y="1284367"/>
            <a:ext cx="570706" cy="570706"/>
          </a:xfrm>
          <a:prstGeom prst="ellipse">
            <a:avLst/>
          </a:prstGeom>
          <a:solidFill>
            <a:srgbClr val="B7CCE4"/>
          </a:solidFill>
          <a:ln w="57150" cap="flat" cmpd="sng">
            <a:solidFill>
              <a:srgbClr val="006D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26" name="Google Shape;126;p4"/>
          <p:cNvPicPr preferRelativeResize="0"/>
          <p:nvPr/>
        </p:nvPicPr>
        <p:blipFill rotWithShape="1">
          <a:blip r:embed="rId3">
            <a:alphaModFix/>
          </a:blip>
          <a:srcRect/>
          <a:stretch/>
        </p:blipFill>
        <p:spPr>
          <a:xfrm>
            <a:off x="512062" y="1394183"/>
            <a:ext cx="346458" cy="346458"/>
          </a:xfrm>
          <a:prstGeom prst="rect">
            <a:avLst/>
          </a:prstGeom>
          <a:noFill/>
          <a:ln>
            <a:noFill/>
          </a:ln>
        </p:spPr>
      </p:pic>
      <p:cxnSp>
        <p:nvCxnSpPr>
          <p:cNvPr id="127" name="Google Shape;127;p4"/>
          <p:cNvCxnSpPr/>
          <p:nvPr/>
        </p:nvCxnSpPr>
        <p:spPr>
          <a:xfrm rot="10800000" flipH="1">
            <a:off x="-37" y="1569720"/>
            <a:ext cx="406401" cy="3437"/>
          </a:xfrm>
          <a:prstGeom prst="straightConnector1">
            <a:avLst/>
          </a:prstGeom>
          <a:noFill/>
          <a:ln w="57150" cap="flat" cmpd="sng">
            <a:solidFill>
              <a:srgbClr val="006DA5"/>
            </a:solidFill>
            <a:prstDash val="solid"/>
            <a:round/>
            <a:headEnd type="none" w="sm" len="sm"/>
            <a:tailEnd type="none" w="sm" len="sm"/>
          </a:ln>
        </p:spPr>
      </p:cxnSp>
      <p:sp>
        <p:nvSpPr>
          <p:cNvPr id="128" name="Google Shape;128;p4"/>
          <p:cNvSpPr txBox="1"/>
          <p:nvPr/>
        </p:nvSpPr>
        <p:spPr>
          <a:xfrm>
            <a:off x="1211485" y="1185684"/>
            <a:ext cx="4584605" cy="763455"/>
          </a:xfrm>
          <a:prstGeom prst="rect">
            <a:avLst/>
          </a:prstGeom>
          <a:noFill/>
          <a:ln>
            <a:noFill/>
          </a:ln>
        </p:spPr>
        <p:txBody>
          <a:bodyPr spcFirstLastPara="1" wrap="square" lIns="91425" tIns="45700" rIns="91425" bIns="45700" anchor="ctr" anchorCtr="0">
            <a:normAutofit/>
          </a:bodyPr>
          <a:lstStyle/>
          <a:p>
            <a:pPr lvl="0">
              <a:lnSpc>
                <a:spcPct val="90000"/>
              </a:lnSpc>
              <a:buSzPts val="2800"/>
            </a:pPr>
            <a:r>
              <a:rPr lang="en-US" sz="2800" b="1" dirty="0">
                <a:latin typeface="Calibri"/>
                <a:ea typeface="Calibri"/>
                <a:cs typeface="Calibri"/>
                <a:sym typeface="Calibri"/>
              </a:rPr>
              <a:t>Modelos Existentes </a:t>
            </a:r>
            <a:endParaRPr lang="en-US" dirty="0"/>
          </a:p>
          <a:p>
            <a:pPr marL="0" marR="0" lvl="0" indent="0" algn="l" rtl="0">
              <a:lnSpc>
                <a:spcPct val="90000"/>
              </a:lnSpc>
              <a:spcBef>
                <a:spcPts val="0"/>
              </a:spcBef>
              <a:spcAft>
                <a:spcPts val="0"/>
              </a:spcAft>
              <a:buClr>
                <a:schemeClr val="dk1"/>
              </a:buClr>
              <a:buSzPts val="2800"/>
              <a:buFont typeface="Calibri"/>
              <a:buNone/>
            </a:pPr>
            <a:endParaRPr sz="1400" b="0" i="0" u="none" strike="noStrike" cap="none" dirty="0">
              <a:solidFill>
                <a:srgbClr val="000000"/>
              </a:solidFill>
              <a:latin typeface="Arial"/>
              <a:ea typeface="Arial"/>
              <a:cs typeface="Arial"/>
              <a:sym typeface="Arial"/>
            </a:endParaRPr>
          </a:p>
        </p:txBody>
      </p:sp>
      <p:sp>
        <p:nvSpPr>
          <p:cNvPr id="130" name="Google Shape;130;p4"/>
          <p:cNvSpPr txBox="1"/>
          <p:nvPr/>
        </p:nvSpPr>
        <p:spPr>
          <a:xfrm>
            <a:off x="6844146" y="6356355"/>
            <a:ext cx="20574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888888"/>
                </a:solidFill>
                <a:latin typeface="Calibri"/>
                <a:ea typeface="Calibri"/>
                <a:cs typeface="Calibri"/>
                <a:sym typeface="Calibri"/>
              </a:rPr>
              <a:t>22</a:t>
            </a:fld>
            <a:endParaRPr sz="1200" b="0" i="0" u="none" strike="noStrike" cap="none">
              <a:solidFill>
                <a:srgbClr val="888888"/>
              </a:solidFill>
              <a:latin typeface="Calibri"/>
              <a:ea typeface="Calibri"/>
              <a:cs typeface="Calibri"/>
              <a:sym typeface="Calibri"/>
            </a:endParaRPr>
          </a:p>
        </p:txBody>
      </p:sp>
      <p:sp>
        <p:nvSpPr>
          <p:cNvPr id="2" name="Rectángulo 1"/>
          <p:cNvSpPr/>
          <p:nvPr/>
        </p:nvSpPr>
        <p:spPr>
          <a:xfrm>
            <a:off x="691717" y="2058955"/>
            <a:ext cx="4572000" cy="3016210"/>
          </a:xfrm>
          <a:prstGeom prst="rect">
            <a:avLst/>
          </a:prstGeom>
        </p:spPr>
        <p:txBody>
          <a:bodyPr>
            <a:spAutoFit/>
          </a:bodyPr>
          <a:lstStyle/>
          <a:p>
            <a:pPr>
              <a:spcBef>
                <a:spcPts val="1000"/>
              </a:spcBef>
            </a:pPr>
            <a:r>
              <a:rPr lang="en-US" sz="1600" b="1" dirty="0">
                <a:solidFill>
                  <a:schemeClr val="tx1"/>
                </a:solidFill>
                <a:latin typeface="Calibri" panose="020F0502020204030204" pitchFamily="34" charset="0"/>
                <a:cs typeface="Calibri" panose="020F0502020204030204" pitchFamily="34" charset="0"/>
              </a:rPr>
              <a:t>Scikit Learn ofrece varios modelos de regresión</a:t>
            </a:r>
          </a:p>
          <a:p>
            <a:pPr fontAlgn="base">
              <a:spcBef>
                <a:spcPts val="1000"/>
              </a:spcBef>
              <a:buFont typeface="Arial" panose="020B0604020202020204" pitchFamily="34" charset="0"/>
              <a:buChar char="•"/>
            </a:pPr>
            <a:r>
              <a:rPr lang="en-US" sz="1600" dirty="0">
                <a:solidFill>
                  <a:schemeClr val="tx1"/>
                </a:solidFill>
                <a:latin typeface="Calibri" panose="020F0502020204030204" pitchFamily="34" charset="0"/>
                <a:cs typeface="Calibri" panose="020F0502020204030204" pitchFamily="34" charset="0"/>
              </a:rPr>
              <a:t> Support Vector Machine</a:t>
            </a:r>
          </a:p>
          <a:p>
            <a:pPr fontAlgn="base">
              <a:spcBef>
                <a:spcPts val="1000"/>
              </a:spcBef>
              <a:buFont typeface="Arial" panose="020B0604020202020204" pitchFamily="34" charset="0"/>
              <a:buChar char="•"/>
            </a:pPr>
            <a:r>
              <a:rPr lang="en-US" sz="1600" dirty="0">
                <a:solidFill>
                  <a:schemeClr val="tx1"/>
                </a:solidFill>
                <a:latin typeface="Calibri" panose="020F0502020204030204" pitchFamily="34" charset="0"/>
                <a:cs typeface="Calibri" panose="020F0502020204030204" pitchFamily="34" charset="0"/>
              </a:rPr>
              <a:t> Nearest Neighbors regression</a:t>
            </a:r>
          </a:p>
          <a:p>
            <a:pPr fontAlgn="base">
              <a:spcBef>
                <a:spcPts val="1000"/>
              </a:spcBef>
              <a:buFont typeface="Arial" panose="020B0604020202020204" pitchFamily="34" charset="0"/>
              <a:buChar char="•"/>
            </a:pPr>
            <a:r>
              <a:rPr lang="en-US" sz="1600" dirty="0">
                <a:solidFill>
                  <a:schemeClr val="tx1"/>
                </a:solidFill>
                <a:latin typeface="Calibri" panose="020F0502020204030204" pitchFamily="34" charset="0"/>
                <a:cs typeface="Calibri" panose="020F0502020204030204" pitchFamily="34" charset="0"/>
              </a:rPr>
              <a:t> Gaussian Process regression</a:t>
            </a:r>
          </a:p>
          <a:p>
            <a:pPr fontAlgn="base">
              <a:spcBef>
                <a:spcPts val="1000"/>
              </a:spcBef>
              <a:buFont typeface="Arial" panose="020B0604020202020204" pitchFamily="34" charset="0"/>
              <a:buChar char="•"/>
            </a:pPr>
            <a:r>
              <a:rPr lang="en-US" sz="1600" dirty="0">
                <a:solidFill>
                  <a:schemeClr val="tx1"/>
                </a:solidFill>
                <a:latin typeface="Calibri" panose="020F0502020204030204" pitchFamily="34" charset="0"/>
                <a:cs typeface="Calibri" panose="020F0502020204030204" pitchFamily="34" charset="0"/>
              </a:rPr>
              <a:t> Decision trees</a:t>
            </a:r>
          </a:p>
          <a:p>
            <a:pPr fontAlgn="base">
              <a:spcBef>
                <a:spcPts val="1000"/>
              </a:spcBef>
              <a:buFont typeface="Arial" panose="020B0604020202020204" pitchFamily="34" charset="0"/>
              <a:buChar char="•"/>
            </a:pPr>
            <a:r>
              <a:rPr lang="en-US" sz="1600" dirty="0">
                <a:solidFill>
                  <a:schemeClr val="tx1"/>
                </a:solidFill>
                <a:latin typeface="Calibri" panose="020F0502020204030204" pitchFamily="34" charset="0"/>
                <a:cs typeface="Calibri" panose="020F0502020204030204" pitchFamily="34" charset="0"/>
              </a:rPr>
              <a:t> Random Forest</a:t>
            </a:r>
          </a:p>
          <a:p>
            <a:pPr fontAlgn="base">
              <a:spcBef>
                <a:spcPts val="1000"/>
              </a:spcBef>
              <a:buFont typeface="Arial" panose="020B0604020202020204" pitchFamily="34" charset="0"/>
              <a:buChar char="•"/>
            </a:pPr>
            <a:r>
              <a:rPr lang="en-US" sz="1600" dirty="0">
                <a:solidFill>
                  <a:schemeClr val="tx1"/>
                </a:solidFill>
                <a:latin typeface="Calibri" panose="020F0502020204030204" pitchFamily="34" charset="0"/>
                <a:cs typeface="Calibri" panose="020F0502020204030204" pitchFamily="34" charset="0"/>
              </a:rPr>
              <a:t> Ensemble Methods</a:t>
            </a:r>
          </a:p>
          <a:p>
            <a:br>
              <a:rPr lang="en-US" dirty="0">
                <a:solidFill>
                  <a:schemeClr val="tx1"/>
                </a:solidFill>
                <a:latin typeface="Calibri" panose="020F0502020204030204" pitchFamily="34" charset="0"/>
                <a:cs typeface="Calibri" panose="020F0502020204030204" pitchFamily="34" charset="0"/>
              </a:rPr>
            </a:br>
            <a:endParaRPr lang="en-US" dirty="0">
              <a:solidFill>
                <a:schemeClr val="tx1"/>
              </a:solidFill>
              <a:latin typeface="Calibri" panose="020F0502020204030204" pitchFamily="34" charset="0"/>
              <a:cs typeface="Calibri" panose="020F0502020204030204" pitchFamily="34" charset="0"/>
            </a:endParaRPr>
          </a:p>
        </p:txBody>
      </p:sp>
      <p:sp>
        <p:nvSpPr>
          <p:cNvPr id="3" name="Rectángulo 2"/>
          <p:cNvSpPr/>
          <p:nvPr/>
        </p:nvSpPr>
        <p:spPr>
          <a:xfrm>
            <a:off x="4812145" y="2402638"/>
            <a:ext cx="2918691" cy="2267287"/>
          </a:xfrm>
          <a:prstGeom prst="rect">
            <a:avLst/>
          </a:prstGeom>
        </p:spPr>
        <p:txBody>
          <a:bodyPr wrap="square">
            <a:spAutoFit/>
          </a:bodyPr>
          <a:lstStyle/>
          <a:p>
            <a:pPr fontAlgn="base">
              <a:buFont typeface="Arial" panose="020B0604020202020204" pitchFamily="34" charset="0"/>
              <a:buChar char="•"/>
            </a:pPr>
            <a:r>
              <a:rPr lang="es-ES" sz="1600" dirty="0">
                <a:solidFill>
                  <a:schemeClr val="tx1"/>
                </a:solidFill>
                <a:latin typeface="Calibri" panose="020F0502020204030204" pitchFamily="34" charset="0"/>
                <a:cs typeface="Calibri" panose="020F0502020204030204" pitchFamily="34" charset="0"/>
              </a:rPr>
              <a:t> Linear regression</a:t>
            </a:r>
          </a:p>
          <a:p>
            <a:pPr fontAlgn="base">
              <a:spcBef>
                <a:spcPts val="1000"/>
              </a:spcBef>
              <a:buFont typeface="Arial" panose="020B0604020202020204" pitchFamily="34" charset="0"/>
              <a:buChar char="•"/>
            </a:pPr>
            <a:r>
              <a:rPr lang="es-ES" sz="1600" dirty="0">
                <a:solidFill>
                  <a:schemeClr val="tx1"/>
                </a:solidFill>
                <a:latin typeface="Calibri" panose="020F0502020204030204" pitchFamily="34" charset="0"/>
                <a:cs typeface="Calibri" panose="020F0502020204030204" pitchFamily="34" charset="0"/>
              </a:rPr>
              <a:t> Ridge regression</a:t>
            </a:r>
          </a:p>
          <a:p>
            <a:pPr fontAlgn="base">
              <a:spcBef>
                <a:spcPts val="1000"/>
              </a:spcBef>
              <a:buFont typeface="Arial" panose="020B0604020202020204" pitchFamily="34" charset="0"/>
              <a:buChar char="•"/>
            </a:pPr>
            <a:r>
              <a:rPr lang="es-ES" sz="1600" dirty="0">
                <a:solidFill>
                  <a:schemeClr val="tx1"/>
                </a:solidFill>
                <a:latin typeface="Calibri" panose="020F0502020204030204" pitchFamily="34" charset="0"/>
                <a:cs typeface="Calibri" panose="020F0502020204030204" pitchFamily="34" charset="0"/>
              </a:rPr>
              <a:t> Bayesian regression</a:t>
            </a:r>
          </a:p>
          <a:p>
            <a:pPr fontAlgn="base">
              <a:spcBef>
                <a:spcPts val="1000"/>
              </a:spcBef>
              <a:buFont typeface="Arial" panose="020B0604020202020204" pitchFamily="34" charset="0"/>
              <a:buChar char="•"/>
            </a:pPr>
            <a:r>
              <a:rPr lang="es-ES" sz="1600" dirty="0">
                <a:solidFill>
                  <a:schemeClr val="tx1"/>
                </a:solidFill>
                <a:latin typeface="Calibri" panose="020F0502020204030204" pitchFamily="34" charset="0"/>
                <a:cs typeface="Calibri" panose="020F0502020204030204" pitchFamily="34" charset="0"/>
              </a:rPr>
              <a:t> Generalized linear regression</a:t>
            </a:r>
          </a:p>
          <a:p>
            <a:pPr fontAlgn="base">
              <a:spcBef>
                <a:spcPts val="1000"/>
              </a:spcBef>
              <a:buFont typeface="Arial" panose="020B0604020202020204" pitchFamily="34" charset="0"/>
              <a:buChar char="•"/>
            </a:pPr>
            <a:r>
              <a:rPr lang="es-ES" sz="1600" dirty="0">
                <a:solidFill>
                  <a:schemeClr val="tx1"/>
                </a:solidFill>
                <a:latin typeface="Calibri" panose="020F0502020204030204" pitchFamily="34" charset="0"/>
                <a:cs typeface="Calibri" panose="020F0502020204030204" pitchFamily="34" charset="0"/>
              </a:rPr>
              <a:t> Quantile regression</a:t>
            </a:r>
          </a:p>
          <a:p>
            <a:br>
              <a:rPr lang="es-ES" dirty="0">
                <a:latin typeface="Calibri" panose="020F0502020204030204" pitchFamily="34" charset="0"/>
                <a:cs typeface="Calibri" panose="020F0502020204030204" pitchFamily="34" charset="0"/>
              </a:rPr>
            </a:br>
            <a:endParaRPr lang="en-US" dirty="0">
              <a:latin typeface="Calibri" panose="020F0502020204030204" pitchFamily="34" charset="0"/>
              <a:cs typeface="Calibri" panose="020F0502020204030204" pitchFamily="34" charset="0"/>
            </a:endParaRPr>
          </a:p>
        </p:txBody>
      </p:sp>
      <p:sp>
        <p:nvSpPr>
          <p:cNvPr id="5" name="Rectángulo 4"/>
          <p:cNvSpPr/>
          <p:nvPr/>
        </p:nvSpPr>
        <p:spPr>
          <a:xfrm>
            <a:off x="685291" y="4789113"/>
            <a:ext cx="4230645" cy="338554"/>
          </a:xfrm>
          <a:prstGeom prst="rect">
            <a:avLst/>
          </a:prstGeom>
        </p:spPr>
        <p:txBody>
          <a:bodyPr wrap="none">
            <a:spAutoFit/>
          </a:bodyPr>
          <a:lstStyle/>
          <a:p>
            <a:pPr>
              <a:spcBef>
                <a:spcPts val="1000"/>
              </a:spcBef>
            </a:pPr>
            <a:r>
              <a:rPr lang="en-US" sz="1600" b="1" dirty="0">
                <a:latin typeface="Calibri" panose="020F0502020204030204" pitchFamily="34" charset="0"/>
              </a:rPr>
              <a:t>También existen otros models de otras librerías</a:t>
            </a:r>
            <a:endParaRPr lang="en-US" sz="1600" b="1" dirty="0"/>
          </a:p>
        </p:txBody>
      </p:sp>
      <p:sp>
        <p:nvSpPr>
          <p:cNvPr id="12" name="Rectángulo 11"/>
          <p:cNvSpPr/>
          <p:nvPr/>
        </p:nvSpPr>
        <p:spPr>
          <a:xfrm>
            <a:off x="691717" y="5143422"/>
            <a:ext cx="2918691" cy="1162113"/>
          </a:xfrm>
          <a:prstGeom prst="rect">
            <a:avLst/>
          </a:prstGeom>
        </p:spPr>
        <p:txBody>
          <a:bodyPr wrap="square">
            <a:spAutoFit/>
          </a:bodyPr>
          <a:lstStyle/>
          <a:p>
            <a:pPr fontAlgn="base">
              <a:lnSpc>
                <a:spcPct val="150000"/>
              </a:lnSpc>
              <a:buFont typeface="Arial" panose="020B0604020202020204" pitchFamily="34" charset="0"/>
              <a:buChar char="•"/>
            </a:pPr>
            <a:r>
              <a:rPr lang="es-ES" sz="1600" dirty="0">
                <a:solidFill>
                  <a:schemeClr val="tx1"/>
                </a:solidFill>
                <a:latin typeface="Calibri" panose="020F0502020204030204" pitchFamily="34" charset="0"/>
                <a:cs typeface="Calibri" panose="020F0502020204030204" pitchFamily="34" charset="0"/>
              </a:rPr>
              <a:t> Redes Neuronales </a:t>
            </a:r>
          </a:p>
          <a:p>
            <a:pPr fontAlgn="base">
              <a:lnSpc>
                <a:spcPct val="150000"/>
              </a:lnSpc>
              <a:buFont typeface="Arial" panose="020B0604020202020204" pitchFamily="34" charset="0"/>
              <a:buChar char="•"/>
            </a:pPr>
            <a:r>
              <a:rPr lang="es-ES" sz="1600" dirty="0">
                <a:solidFill>
                  <a:schemeClr val="tx1"/>
                </a:solidFill>
                <a:latin typeface="Calibri" panose="020F0502020204030204" pitchFamily="34" charset="0"/>
                <a:cs typeface="Calibri" panose="020F0502020204030204" pitchFamily="34" charset="0"/>
              </a:rPr>
              <a:t> XGboost</a:t>
            </a:r>
            <a:br>
              <a:rPr lang="es-ES" sz="1600" dirty="0">
                <a:solidFill>
                  <a:schemeClr val="tx1"/>
                </a:solidFill>
                <a:latin typeface="Calibri" panose="020F0502020204030204" pitchFamily="34" charset="0"/>
                <a:cs typeface="Calibri" panose="020F0502020204030204" pitchFamily="34" charset="0"/>
              </a:rPr>
            </a:br>
            <a:endParaRPr lang="en-US" sz="1600" dirty="0">
              <a:solidFill>
                <a:schemeClr val="tx1"/>
              </a:solidFill>
              <a:latin typeface="Calibri" panose="020F0502020204030204" pitchFamily="34" charset="0"/>
              <a:cs typeface="Calibri" panose="020F0502020204030204" pitchFamily="34" charset="0"/>
            </a:endParaRPr>
          </a:p>
        </p:txBody>
      </p:sp>
      <p:pic>
        <p:nvPicPr>
          <p:cNvPr id="3074" name="Picture 2" descr="TensorFlow - Wikipedi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25484" y="4419293"/>
            <a:ext cx="1341211" cy="858375"/>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n 6"/>
          <p:cNvPicPr>
            <a:picLocks noChangeAspect="1"/>
          </p:cNvPicPr>
          <p:nvPr/>
        </p:nvPicPr>
        <p:blipFill>
          <a:blip r:embed="rId5"/>
          <a:stretch>
            <a:fillRect/>
          </a:stretch>
        </p:blipFill>
        <p:spPr>
          <a:xfrm>
            <a:off x="6609381" y="4516037"/>
            <a:ext cx="1928464" cy="964232"/>
          </a:xfrm>
          <a:prstGeom prst="rect">
            <a:avLst/>
          </a:prstGeom>
        </p:spPr>
      </p:pic>
      <p:pic>
        <p:nvPicPr>
          <p:cNvPr id="3078" name="Picture 6" descr="https://lh4.googleusercontent.com/OFLVCJFgPM-xSNTjRrjm8o6WA-cVXoB4JrOMXjTcBBlV0wNJ8JHOmFWR_bKX5HCsRftOgFuylH2PFOT4pv-rkEmdOZkzec33uNnet9kr0xpcq0WJRwFS0Zei8QboUT0pwWhlxfhtmyB3biel8W1rp7uEZ9dHl7GrFNxahdL3Be6kGJ67bltn988bz62uh7EFmQ"/>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25484" y="5510314"/>
            <a:ext cx="2412162" cy="928210"/>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n 5"/>
          <p:cNvPicPr>
            <a:picLocks noChangeAspect="1"/>
          </p:cNvPicPr>
          <p:nvPr/>
        </p:nvPicPr>
        <p:blipFill rotWithShape="1">
          <a:blip r:embed="rId7"/>
          <a:srcRect r="39445"/>
          <a:stretch/>
        </p:blipFill>
        <p:spPr>
          <a:xfrm>
            <a:off x="7040880" y="1256392"/>
            <a:ext cx="1805940" cy="1197362"/>
          </a:xfrm>
          <a:prstGeom prst="rect">
            <a:avLst/>
          </a:prstGeom>
        </p:spPr>
      </p:pic>
    </p:spTree>
    <p:extLst>
      <p:ext uri="{BB962C8B-B14F-4D97-AF65-F5344CB8AC3E}">
        <p14:creationId xmlns:p14="http://schemas.microsoft.com/office/powerpoint/2010/main" val="12935142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Jackie Chan Confused Meme Template - Piñata Farms - The best meme generator  and meme maker for video &amp; image mem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75363" y="2461824"/>
            <a:ext cx="4596172" cy="3081725"/>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28;p4"/>
          <p:cNvSpPr txBox="1"/>
          <p:nvPr/>
        </p:nvSpPr>
        <p:spPr>
          <a:xfrm>
            <a:off x="251786" y="1316488"/>
            <a:ext cx="4584605" cy="763455"/>
          </a:xfrm>
          <a:prstGeom prst="rect">
            <a:avLst/>
          </a:prstGeom>
          <a:noFill/>
          <a:ln>
            <a:noFill/>
          </a:ln>
        </p:spPr>
        <p:txBody>
          <a:bodyPr spcFirstLastPara="1" wrap="square" lIns="91425" tIns="45700" rIns="91425" bIns="45700" anchor="ctr" anchorCtr="0">
            <a:normAutofit fontScale="92500" lnSpcReduction="20000"/>
          </a:bodyPr>
          <a:lstStyle/>
          <a:p>
            <a:pPr marL="114300" lvl="0">
              <a:lnSpc>
                <a:spcPct val="90000"/>
              </a:lnSpc>
              <a:spcBef>
                <a:spcPts val="1000"/>
              </a:spcBef>
              <a:buSzPts val="1800"/>
            </a:pPr>
            <a:endParaRPr lang="en-US" sz="1800" dirty="0">
              <a:latin typeface="Calibri"/>
              <a:cs typeface="Calibri"/>
              <a:sym typeface="Calibri"/>
            </a:endParaRPr>
          </a:p>
          <a:p>
            <a:pPr marL="114300" lvl="0">
              <a:lnSpc>
                <a:spcPct val="90000"/>
              </a:lnSpc>
              <a:spcBef>
                <a:spcPts val="1000"/>
              </a:spcBef>
              <a:buSzPts val="1800"/>
            </a:pPr>
            <a:r>
              <a:rPr lang="en-US" sz="2200" b="1" dirty="0">
                <a:latin typeface="Calibri"/>
                <a:cs typeface="Calibri"/>
                <a:sym typeface="Calibri"/>
              </a:rPr>
              <a:t>¿Cuál modelo tengo que usar? </a:t>
            </a:r>
          </a:p>
          <a:p>
            <a:pPr marL="0" marR="0" lvl="0" indent="0" algn="l" rtl="0">
              <a:lnSpc>
                <a:spcPct val="90000"/>
              </a:lnSpc>
              <a:spcBef>
                <a:spcPts val="0"/>
              </a:spcBef>
              <a:spcAft>
                <a:spcPts val="0"/>
              </a:spcAft>
              <a:buClr>
                <a:schemeClr val="dk1"/>
              </a:buClr>
              <a:buSzPts val="2800"/>
              <a:buFont typeface="Calibri"/>
              <a:buNone/>
            </a:pP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29731970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r>
              <a:rPr lang="en-US" dirty="0"/>
              <a:t>Teorema “No free lunch”</a:t>
            </a:r>
          </a:p>
          <a:p>
            <a:pPr marL="114300" indent="0">
              <a:buNone/>
            </a:pPr>
            <a:endParaRPr lang="en-US" dirty="0"/>
          </a:p>
        </p:txBody>
      </p:sp>
      <p:sp>
        <p:nvSpPr>
          <p:cNvPr id="4" name="Google Shape;128;p4"/>
          <p:cNvSpPr txBox="1"/>
          <p:nvPr/>
        </p:nvSpPr>
        <p:spPr>
          <a:xfrm>
            <a:off x="251786" y="1316488"/>
            <a:ext cx="4584605" cy="763455"/>
          </a:xfrm>
          <a:prstGeom prst="rect">
            <a:avLst/>
          </a:prstGeom>
          <a:noFill/>
          <a:ln>
            <a:noFill/>
          </a:ln>
        </p:spPr>
        <p:txBody>
          <a:bodyPr spcFirstLastPara="1" wrap="square" lIns="91425" tIns="45700" rIns="91425" bIns="45700" anchor="ctr" anchorCtr="0">
            <a:normAutofit fontScale="92500" lnSpcReduction="20000"/>
          </a:bodyPr>
          <a:lstStyle/>
          <a:p>
            <a:pPr marL="114300" lvl="0">
              <a:lnSpc>
                <a:spcPct val="90000"/>
              </a:lnSpc>
              <a:spcBef>
                <a:spcPts val="1000"/>
              </a:spcBef>
              <a:buSzPts val="1800"/>
            </a:pPr>
            <a:endParaRPr lang="en-US" sz="1800" dirty="0">
              <a:latin typeface="Calibri"/>
              <a:cs typeface="Calibri"/>
              <a:sym typeface="Calibri"/>
            </a:endParaRPr>
          </a:p>
          <a:p>
            <a:pPr marL="114300" lvl="0">
              <a:lnSpc>
                <a:spcPct val="90000"/>
              </a:lnSpc>
              <a:spcBef>
                <a:spcPts val="1000"/>
              </a:spcBef>
              <a:buSzPts val="1800"/>
            </a:pPr>
            <a:r>
              <a:rPr lang="en-US" sz="2200" b="1" dirty="0">
                <a:latin typeface="Calibri"/>
                <a:cs typeface="Calibri"/>
                <a:sym typeface="Calibri"/>
              </a:rPr>
              <a:t>¿Cuál modelo tengo que usar? </a:t>
            </a:r>
          </a:p>
          <a:p>
            <a:pPr marL="0" marR="0" lvl="0" indent="0" algn="l" rtl="0">
              <a:lnSpc>
                <a:spcPct val="90000"/>
              </a:lnSpc>
              <a:spcBef>
                <a:spcPts val="0"/>
              </a:spcBef>
              <a:spcAft>
                <a:spcPts val="0"/>
              </a:spcAft>
              <a:buClr>
                <a:schemeClr val="dk1"/>
              </a:buClr>
              <a:buSzPts val="2800"/>
              <a:buFont typeface="Calibri"/>
              <a:buNone/>
            </a:pPr>
            <a:endParaRPr sz="1400" b="0" i="0" u="none" strike="noStrike" cap="none" dirty="0">
              <a:solidFill>
                <a:srgbClr val="000000"/>
              </a:solidFill>
              <a:latin typeface="Arial"/>
              <a:ea typeface="Arial"/>
              <a:cs typeface="Arial"/>
              <a:sym typeface="Arial"/>
            </a:endParaRPr>
          </a:p>
        </p:txBody>
      </p:sp>
      <p:pic>
        <p:nvPicPr>
          <p:cNvPr id="6146" name="Picture 2" descr="What is No Free Lunch Theorem - GeeksforGeek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6833" y="3207696"/>
            <a:ext cx="5859318" cy="3543300"/>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5B1A7511-72EF-4A57-8D16-408CE992D69C}"/>
              </a:ext>
            </a:extLst>
          </p:cNvPr>
          <p:cNvSpPr txBox="1"/>
          <p:nvPr/>
        </p:nvSpPr>
        <p:spPr>
          <a:xfrm>
            <a:off x="4753650" y="2170668"/>
            <a:ext cx="3183466" cy="738664"/>
          </a:xfrm>
          <a:prstGeom prst="rect">
            <a:avLst/>
          </a:prstGeom>
          <a:noFill/>
        </p:spPr>
        <p:txBody>
          <a:bodyPr wrap="square">
            <a:spAutoFit/>
          </a:bodyPr>
          <a:lstStyle/>
          <a:p>
            <a:pPr algn="just"/>
            <a:r>
              <a:rPr lang="es-ES" i="1" dirty="0">
                <a:solidFill>
                  <a:srgbClr val="202122"/>
                </a:solidFill>
                <a:latin typeface="Arial" panose="020B0604020202020204" pitchFamily="34" charset="0"/>
              </a:rPr>
              <a:t>N</a:t>
            </a:r>
            <a:r>
              <a:rPr lang="es-ES" b="0" i="1" dirty="0">
                <a:solidFill>
                  <a:srgbClr val="202122"/>
                </a:solidFill>
                <a:effectLst/>
                <a:latin typeface="Arial" panose="020B0604020202020204" pitchFamily="34" charset="0"/>
              </a:rPr>
              <a:t>o existe un algoritmo óptimo universal para todos los problemas de optimización.</a:t>
            </a:r>
            <a:endParaRPr lang="es-ES" i="1" dirty="0"/>
          </a:p>
        </p:txBody>
      </p:sp>
      <p:sp>
        <p:nvSpPr>
          <p:cNvPr id="5" name="Flecha: a la derecha 4">
            <a:extLst>
              <a:ext uri="{FF2B5EF4-FFF2-40B4-BE49-F238E27FC236}">
                <a16:creationId xmlns:a16="http://schemas.microsoft.com/office/drawing/2014/main" id="{D6CFC4C6-E2AB-441C-95FD-C9527CFC65AA}"/>
              </a:ext>
            </a:extLst>
          </p:cNvPr>
          <p:cNvSpPr/>
          <p:nvPr/>
        </p:nvSpPr>
        <p:spPr>
          <a:xfrm>
            <a:off x="3886200" y="2438400"/>
            <a:ext cx="504152" cy="203200"/>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s-ES"/>
          </a:p>
        </p:txBody>
      </p:sp>
    </p:spTree>
    <p:extLst>
      <p:ext uri="{BB962C8B-B14F-4D97-AF65-F5344CB8AC3E}">
        <p14:creationId xmlns:p14="http://schemas.microsoft.com/office/powerpoint/2010/main" val="36664585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5A112C6E-C6FF-411D-AF13-B8AA48100BEB}"/>
              </a:ext>
            </a:extLst>
          </p:cNvPr>
          <p:cNvSpPr>
            <a:spLocks noGrp="1"/>
          </p:cNvSpPr>
          <p:nvPr>
            <p:ph idx="1"/>
          </p:nvPr>
        </p:nvSpPr>
        <p:spPr>
          <a:xfrm>
            <a:off x="609387" y="2057887"/>
            <a:ext cx="7781731" cy="553998"/>
          </a:xfrm>
        </p:spPr>
        <p:txBody>
          <a:bodyPr/>
          <a:lstStyle/>
          <a:p>
            <a:pPr algn="just"/>
            <a:r>
              <a:rPr lang="es-ES" dirty="0"/>
              <a:t>Una práctica común es evaluar diversos modelos candidatos a una predicción y seleccionar el mejor basado en el que obtenga el mejor rendimiento.</a:t>
            </a:r>
          </a:p>
        </p:txBody>
      </p:sp>
      <p:sp>
        <p:nvSpPr>
          <p:cNvPr id="4" name="Marcador de número de diapositiva 3">
            <a:extLst>
              <a:ext uri="{FF2B5EF4-FFF2-40B4-BE49-F238E27FC236}">
                <a16:creationId xmlns:a16="http://schemas.microsoft.com/office/drawing/2014/main" id="{43AA9B88-4484-4DF2-8EFE-79D88551BAF7}"/>
              </a:ext>
            </a:extLst>
          </p:cNvPr>
          <p:cNvSpPr>
            <a:spLocks noGrp="1"/>
          </p:cNvSpPr>
          <p:nvPr>
            <p:ph type="sldNum" sz="quarter" idx="12"/>
          </p:nvPr>
        </p:nvSpPr>
        <p:spPr/>
        <p:txBody>
          <a:bodyPr/>
          <a:lstStyle/>
          <a:p>
            <a:fld id="{F72B40EF-D53A-41AA-87B6-B9F74BA43E09}" type="slidenum">
              <a:rPr lang="es-ES" smtClean="0"/>
              <a:t>25</a:t>
            </a:fld>
            <a:endParaRPr lang="es-ES"/>
          </a:p>
        </p:txBody>
      </p:sp>
      <p:sp>
        <p:nvSpPr>
          <p:cNvPr id="5" name="CuadroTexto 4">
            <a:extLst>
              <a:ext uri="{FF2B5EF4-FFF2-40B4-BE49-F238E27FC236}">
                <a16:creationId xmlns:a16="http://schemas.microsoft.com/office/drawing/2014/main" id="{A1EFBBE3-CFEA-4F79-B9EA-DB367DB3E71A}"/>
              </a:ext>
            </a:extLst>
          </p:cNvPr>
          <p:cNvSpPr txBox="1"/>
          <p:nvPr/>
        </p:nvSpPr>
        <p:spPr>
          <a:xfrm>
            <a:off x="755780" y="1218578"/>
            <a:ext cx="7931020" cy="461665"/>
          </a:xfrm>
          <a:prstGeom prst="rect">
            <a:avLst/>
          </a:prstGeom>
          <a:noFill/>
        </p:spPr>
        <p:txBody>
          <a:bodyPr wrap="square" rtlCol="0">
            <a:spAutoFit/>
          </a:bodyPr>
          <a:lstStyle/>
          <a:p>
            <a:pPr algn="ctr"/>
            <a:r>
              <a:rPr lang="es-ES" sz="2400" b="1" dirty="0">
                <a:latin typeface="Calibri" panose="020F0502020204030204" pitchFamily="34" charset="0"/>
                <a:cs typeface="Calibri" panose="020F0502020204030204" pitchFamily="34" charset="0"/>
              </a:rPr>
              <a:t>Pasos para seleccionar el mejor modelo supervisado</a:t>
            </a:r>
          </a:p>
        </p:txBody>
      </p:sp>
      <p:pic>
        <p:nvPicPr>
          <p:cNvPr id="7" name="Imagen 6">
            <a:extLst>
              <a:ext uri="{FF2B5EF4-FFF2-40B4-BE49-F238E27FC236}">
                <a16:creationId xmlns:a16="http://schemas.microsoft.com/office/drawing/2014/main" id="{168C5BBE-AD23-4B7D-BDF7-C0EB551448F9}"/>
              </a:ext>
            </a:extLst>
          </p:cNvPr>
          <p:cNvPicPr>
            <a:picLocks noChangeAspect="1"/>
          </p:cNvPicPr>
          <p:nvPr/>
        </p:nvPicPr>
        <p:blipFill>
          <a:blip r:embed="rId2"/>
          <a:stretch>
            <a:fillRect/>
          </a:stretch>
        </p:blipFill>
        <p:spPr>
          <a:xfrm>
            <a:off x="1622943" y="2896224"/>
            <a:ext cx="6345983" cy="3477251"/>
          </a:xfrm>
          <a:prstGeom prst="rect">
            <a:avLst/>
          </a:prstGeom>
        </p:spPr>
      </p:pic>
    </p:spTree>
    <p:extLst>
      <p:ext uri="{BB962C8B-B14F-4D97-AF65-F5344CB8AC3E}">
        <p14:creationId xmlns:p14="http://schemas.microsoft.com/office/powerpoint/2010/main" val="25946184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6ED00E1-231E-4399-B5FE-116E9507F42D}"/>
              </a:ext>
            </a:extLst>
          </p:cNvPr>
          <p:cNvSpPr>
            <a:spLocks noGrp="1"/>
          </p:cNvSpPr>
          <p:nvPr>
            <p:ph idx="1"/>
          </p:nvPr>
        </p:nvSpPr>
        <p:spPr>
          <a:xfrm>
            <a:off x="457200" y="1288627"/>
            <a:ext cx="8229600" cy="2308324"/>
          </a:xfrm>
        </p:spPr>
        <p:txBody>
          <a:bodyPr/>
          <a:lstStyle/>
          <a:p>
            <a:pPr algn="ctr"/>
            <a:r>
              <a:rPr lang="es-ES" sz="2400" b="1" dirty="0"/>
              <a:t>Seleccionar una medida de rendimiento</a:t>
            </a:r>
          </a:p>
          <a:p>
            <a:pPr algn="just"/>
            <a:endParaRPr lang="es-ES" dirty="0"/>
          </a:p>
          <a:p>
            <a:pPr algn="just"/>
            <a:r>
              <a:rPr lang="es-ES" b="1" dirty="0"/>
              <a:t>Raíz de Error Medio Cuadrático (RECM, en inglés RMSE): </a:t>
            </a:r>
            <a:r>
              <a:rPr lang="es-ES" dirty="0"/>
              <a:t>Es una medida de rendimiento típica para los problemas de regresión es la raíz de error medio cuadrático (RMSE), que da una idea de qué nivel de error tienen las predicciones del modelo, dándoles un peso mayor a los errores grandes.</a:t>
            </a:r>
          </a:p>
          <a:p>
            <a:pPr algn="just"/>
            <a:endParaRPr lang="es-ES" dirty="0"/>
          </a:p>
          <a:p>
            <a:pPr algn="just"/>
            <a:endParaRPr lang="es-ES" dirty="0"/>
          </a:p>
        </p:txBody>
      </p:sp>
      <p:sp>
        <p:nvSpPr>
          <p:cNvPr id="4" name="Marcador de número de diapositiva 3">
            <a:extLst>
              <a:ext uri="{FF2B5EF4-FFF2-40B4-BE49-F238E27FC236}">
                <a16:creationId xmlns:a16="http://schemas.microsoft.com/office/drawing/2014/main" id="{5CA20410-2B36-4602-BE80-153A3F53B1A4}"/>
              </a:ext>
            </a:extLst>
          </p:cNvPr>
          <p:cNvSpPr>
            <a:spLocks noGrp="1"/>
          </p:cNvSpPr>
          <p:nvPr>
            <p:ph type="sldNum" sz="quarter" idx="12"/>
          </p:nvPr>
        </p:nvSpPr>
        <p:spPr/>
        <p:txBody>
          <a:bodyPr/>
          <a:lstStyle/>
          <a:p>
            <a:fld id="{F72B40EF-D53A-41AA-87B6-B9F74BA43E09}" type="slidenum">
              <a:rPr lang="es-ES" smtClean="0"/>
              <a:t>26</a:t>
            </a:fld>
            <a:endParaRPr lang="es-ES"/>
          </a:p>
        </p:txBody>
      </p:sp>
      <p:pic>
        <p:nvPicPr>
          <p:cNvPr id="6" name="Imagen 5">
            <a:extLst>
              <a:ext uri="{FF2B5EF4-FFF2-40B4-BE49-F238E27FC236}">
                <a16:creationId xmlns:a16="http://schemas.microsoft.com/office/drawing/2014/main" id="{234FD276-E989-4D05-B2C8-6C934323E949}"/>
              </a:ext>
            </a:extLst>
          </p:cNvPr>
          <p:cNvPicPr>
            <a:picLocks noChangeAspect="1"/>
          </p:cNvPicPr>
          <p:nvPr/>
        </p:nvPicPr>
        <p:blipFill>
          <a:blip r:embed="rId2"/>
          <a:stretch>
            <a:fillRect/>
          </a:stretch>
        </p:blipFill>
        <p:spPr>
          <a:xfrm>
            <a:off x="2697421" y="3359843"/>
            <a:ext cx="4029075" cy="828675"/>
          </a:xfrm>
          <a:prstGeom prst="rect">
            <a:avLst/>
          </a:prstGeom>
        </p:spPr>
      </p:pic>
      <p:sp>
        <p:nvSpPr>
          <p:cNvPr id="7" name="CuadroTexto 6">
            <a:extLst>
              <a:ext uri="{FF2B5EF4-FFF2-40B4-BE49-F238E27FC236}">
                <a16:creationId xmlns:a16="http://schemas.microsoft.com/office/drawing/2014/main" id="{3FB8FDD5-C904-4FC9-BE64-B8F882863DF1}"/>
              </a:ext>
            </a:extLst>
          </p:cNvPr>
          <p:cNvSpPr txBox="1"/>
          <p:nvPr/>
        </p:nvSpPr>
        <p:spPr>
          <a:xfrm>
            <a:off x="625151" y="4637314"/>
            <a:ext cx="7893698" cy="646331"/>
          </a:xfrm>
          <a:prstGeom prst="rect">
            <a:avLst/>
          </a:prstGeom>
          <a:noFill/>
        </p:spPr>
        <p:txBody>
          <a:bodyPr wrap="square" rtlCol="0">
            <a:spAutoFit/>
          </a:bodyPr>
          <a:lstStyle/>
          <a:p>
            <a:r>
              <a:rPr lang="es-ES" sz="1800" b="1" dirty="0">
                <a:latin typeface="Calibri"/>
                <a:cs typeface="Calibri"/>
                <a:sym typeface="Calibri"/>
              </a:rPr>
              <a:t>Error Absoluto Medio (EAM, en inglés MAE): </a:t>
            </a:r>
            <a:r>
              <a:rPr lang="es-ES" sz="1800" dirty="0">
                <a:latin typeface="Calibri"/>
                <a:cs typeface="Calibri"/>
                <a:sym typeface="Calibri"/>
              </a:rPr>
              <a:t>Es conveniente usar esta métrica cuando existen muchos valores atípicos. </a:t>
            </a:r>
          </a:p>
        </p:txBody>
      </p:sp>
      <p:pic>
        <p:nvPicPr>
          <p:cNvPr id="9" name="Imagen 8">
            <a:extLst>
              <a:ext uri="{FF2B5EF4-FFF2-40B4-BE49-F238E27FC236}">
                <a16:creationId xmlns:a16="http://schemas.microsoft.com/office/drawing/2014/main" id="{8B2F9B83-1215-4F7F-8536-360AF9099AC4}"/>
              </a:ext>
            </a:extLst>
          </p:cNvPr>
          <p:cNvPicPr>
            <a:picLocks noChangeAspect="1"/>
          </p:cNvPicPr>
          <p:nvPr/>
        </p:nvPicPr>
        <p:blipFill>
          <a:blip r:embed="rId3"/>
          <a:stretch>
            <a:fillRect/>
          </a:stretch>
        </p:blipFill>
        <p:spPr>
          <a:xfrm>
            <a:off x="2949834" y="5461324"/>
            <a:ext cx="3524250" cy="790575"/>
          </a:xfrm>
          <a:prstGeom prst="rect">
            <a:avLst/>
          </a:prstGeom>
        </p:spPr>
      </p:pic>
    </p:spTree>
    <p:extLst>
      <p:ext uri="{BB962C8B-B14F-4D97-AF65-F5344CB8AC3E}">
        <p14:creationId xmlns:p14="http://schemas.microsoft.com/office/powerpoint/2010/main" val="38680241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p:cNvSpPr>
            <a:spLocks noGrp="1"/>
          </p:cNvSpPr>
          <p:nvPr>
            <p:ph type="body" idx="1"/>
          </p:nvPr>
        </p:nvSpPr>
        <p:spPr/>
        <p:txBody>
          <a:bodyPr/>
          <a:lstStyle/>
          <a:p>
            <a:r>
              <a:rPr lang="en-US" dirty="0"/>
              <a:t>Experiencia </a:t>
            </a:r>
          </a:p>
          <a:p>
            <a:endParaRPr lang="en-US" dirty="0"/>
          </a:p>
          <a:p>
            <a:endParaRPr lang="en-US" dirty="0"/>
          </a:p>
          <a:p>
            <a:endParaRPr lang="en-US" dirty="0"/>
          </a:p>
          <a:p>
            <a:r>
              <a:rPr lang="en-US" dirty="0"/>
              <a:t>Conocimiento sobre los modelos </a:t>
            </a:r>
          </a:p>
          <a:p>
            <a:endParaRPr lang="en-US" dirty="0"/>
          </a:p>
          <a:p>
            <a:pPr marL="114300" indent="0">
              <a:buNone/>
            </a:pPr>
            <a:endParaRPr lang="en-US" dirty="0"/>
          </a:p>
        </p:txBody>
      </p:sp>
      <p:sp>
        <p:nvSpPr>
          <p:cNvPr id="3" name="Google Shape;128;p4"/>
          <p:cNvSpPr txBox="1"/>
          <p:nvPr/>
        </p:nvSpPr>
        <p:spPr>
          <a:xfrm>
            <a:off x="251786" y="1316488"/>
            <a:ext cx="4584605" cy="763455"/>
          </a:xfrm>
          <a:prstGeom prst="rect">
            <a:avLst/>
          </a:prstGeom>
          <a:noFill/>
          <a:ln>
            <a:noFill/>
          </a:ln>
        </p:spPr>
        <p:txBody>
          <a:bodyPr spcFirstLastPara="1" wrap="square" lIns="91425" tIns="45700" rIns="91425" bIns="45700" anchor="ctr" anchorCtr="0">
            <a:normAutofit fontScale="92500" lnSpcReduction="20000"/>
          </a:bodyPr>
          <a:lstStyle/>
          <a:p>
            <a:pPr marL="114300" lvl="0">
              <a:lnSpc>
                <a:spcPct val="90000"/>
              </a:lnSpc>
              <a:spcBef>
                <a:spcPts val="1000"/>
              </a:spcBef>
              <a:buSzPts val="1800"/>
            </a:pPr>
            <a:endParaRPr lang="en-US" sz="1800" dirty="0">
              <a:latin typeface="Calibri"/>
              <a:cs typeface="Calibri"/>
              <a:sym typeface="Calibri"/>
            </a:endParaRPr>
          </a:p>
          <a:p>
            <a:pPr marL="114300" lvl="0">
              <a:lnSpc>
                <a:spcPct val="90000"/>
              </a:lnSpc>
              <a:spcBef>
                <a:spcPts val="1000"/>
              </a:spcBef>
              <a:buSzPts val="1800"/>
            </a:pPr>
            <a:r>
              <a:rPr lang="en-US" sz="2200" b="1" dirty="0">
                <a:latin typeface="Calibri"/>
                <a:cs typeface="Calibri"/>
                <a:sym typeface="Calibri"/>
              </a:rPr>
              <a:t>¿Cómo mejorar mi manera de escoger?</a:t>
            </a:r>
          </a:p>
          <a:p>
            <a:pPr marL="0" marR="0" lvl="0" indent="0" algn="l" rtl="0">
              <a:lnSpc>
                <a:spcPct val="90000"/>
              </a:lnSpc>
              <a:spcBef>
                <a:spcPts val="0"/>
              </a:spcBef>
              <a:spcAft>
                <a:spcPts val="0"/>
              </a:spcAft>
              <a:buClr>
                <a:schemeClr val="dk1"/>
              </a:buClr>
              <a:buSzPts val="2800"/>
              <a:buFont typeface="Calibri"/>
              <a:buNone/>
            </a:pPr>
            <a:endParaRPr sz="1400" b="0" i="0" u="none" strike="noStrike" cap="none" dirty="0">
              <a:solidFill>
                <a:srgbClr val="000000"/>
              </a:solidFill>
              <a:latin typeface="Arial"/>
              <a:ea typeface="Arial"/>
              <a:cs typeface="Arial"/>
              <a:sym typeface="Arial"/>
            </a:endParaRPr>
          </a:p>
        </p:txBody>
      </p:sp>
      <p:pic>
        <p:nvPicPr>
          <p:cNvPr id="7170" name="Picture 2" descr="5 Ways To Boost Your Computer Speed Without Going Crazy | IT Fixed NZ"/>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52028" y="1902691"/>
            <a:ext cx="2871790" cy="2058116"/>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undefin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92913" y="4444009"/>
            <a:ext cx="1478540" cy="1996029"/>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descr="undefine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47228" y="4241216"/>
            <a:ext cx="1592118" cy="24016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65830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3D68D2F7-CD23-4F37-B674-A7710456FEC3}"/>
              </a:ext>
            </a:extLst>
          </p:cNvPr>
          <p:cNvSpPr>
            <a:spLocks noGrp="1"/>
          </p:cNvSpPr>
          <p:nvPr>
            <p:ph type="body" idx="1"/>
          </p:nvPr>
        </p:nvSpPr>
        <p:spPr>
          <a:xfrm>
            <a:off x="2771192" y="1623527"/>
            <a:ext cx="5744158" cy="4732828"/>
          </a:xfrm>
        </p:spPr>
        <p:txBody>
          <a:bodyPr/>
          <a:lstStyle/>
          <a:p>
            <a:r>
              <a:rPr lang="es-ES" dirty="0"/>
              <a:t>Sitios con datos open Access:</a:t>
            </a:r>
          </a:p>
          <a:p>
            <a:endParaRPr lang="es-ES" dirty="0"/>
          </a:p>
          <a:p>
            <a:endParaRPr lang="es-ES" dirty="0"/>
          </a:p>
        </p:txBody>
      </p:sp>
      <p:pic>
        <p:nvPicPr>
          <p:cNvPr id="4100" name="Picture 4" descr="Hands-On Machine Learning with Scikit-Learn, Keras, and TensorFlow:  Concepts, Tools, and Techniques to Build Intelligent Systems (Spiral Bound)">
            <a:extLst>
              <a:ext uri="{FF2B5EF4-FFF2-40B4-BE49-F238E27FC236}">
                <a16:creationId xmlns:a16="http://schemas.microsoft.com/office/drawing/2014/main" id="{118660B9-4F6C-4C81-9D9F-54D1B380D8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 y="1259633"/>
            <a:ext cx="2645229" cy="2645229"/>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n 3">
            <a:extLst>
              <a:ext uri="{FF2B5EF4-FFF2-40B4-BE49-F238E27FC236}">
                <a16:creationId xmlns:a16="http://schemas.microsoft.com/office/drawing/2014/main" id="{085AA8F1-8BE9-49BB-9448-E2DBE4699298}"/>
              </a:ext>
            </a:extLst>
          </p:cNvPr>
          <p:cNvPicPr>
            <a:picLocks noChangeAspect="1"/>
          </p:cNvPicPr>
          <p:nvPr/>
        </p:nvPicPr>
        <p:blipFill rotWithShape="1">
          <a:blip r:embed="rId3"/>
          <a:srcRect t="29009"/>
          <a:stretch/>
        </p:blipFill>
        <p:spPr>
          <a:xfrm>
            <a:off x="3018453" y="2280840"/>
            <a:ext cx="2733675" cy="604554"/>
          </a:xfrm>
          <a:prstGeom prst="rect">
            <a:avLst/>
          </a:prstGeom>
        </p:spPr>
      </p:pic>
      <p:pic>
        <p:nvPicPr>
          <p:cNvPr id="6" name="Imagen 5">
            <a:extLst>
              <a:ext uri="{FF2B5EF4-FFF2-40B4-BE49-F238E27FC236}">
                <a16:creationId xmlns:a16="http://schemas.microsoft.com/office/drawing/2014/main" id="{B26235C7-1A9C-4A0A-8CEB-D64B0A216060}"/>
              </a:ext>
            </a:extLst>
          </p:cNvPr>
          <p:cNvPicPr>
            <a:picLocks noChangeAspect="1"/>
          </p:cNvPicPr>
          <p:nvPr/>
        </p:nvPicPr>
        <p:blipFill>
          <a:blip r:embed="rId4"/>
          <a:stretch>
            <a:fillRect/>
          </a:stretch>
        </p:blipFill>
        <p:spPr>
          <a:xfrm>
            <a:off x="2836701" y="2885394"/>
            <a:ext cx="4474029" cy="3154764"/>
          </a:xfrm>
          <a:prstGeom prst="rect">
            <a:avLst/>
          </a:prstGeom>
        </p:spPr>
      </p:pic>
    </p:spTree>
    <p:extLst>
      <p:ext uri="{BB962C8B-B14F-4D97-AF65-F5344CB8AC3E}">
        <p14:creationId xmlns:p14="http://schemas.microsoft.com/office/powerpoint/2010/main" val="33043229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pic>
        <p:nvPicPr>
          <p:cNvPr id="157" name="Google Shape;157;p23" descr="What is Git and GitHub? And how to use GitHub? - DEV Community"/>
          <p:cNvPicPr preferRelativeResize="0"/>
          <p:nvPr/>
        </p:nvPicPr>
        <p:blipFill rotWithShape="1">
          <a:blip r:embed="rId3">
            <a:alphaModFix/>
          </a:blip>
          <a:srcRect/>
          <a:stretch/>
        </p:blipFill>
        <p:spPr>
          <a:xfrm>
            <a:off x="2655306" y="4038488"/>
            <a:ext cx="3613355" cy="2032512"/>
          </a:xfrm>
          <a:prstGeom prst="rect">
            <a:avLst/>
          </a:prstGeom>
          <a:noFill/>
          <a:ln>
            <a:noFill/>
          </a:ln>
        </p:spPr>
      </p:pic>
      <p:sp>
        <p:nvSpPr>
          <p:cNvPr id="158" name="Google Shape;158;p23"/>
          <p:cNvSpPr txBox="1">
            <a:spLocks noGrp="1"/>
          </p:cNvSpPr>
          <p:nvPr>
            <p:ph type="sldNum" idx="4294967295"/>
          </p:nvPr>
        </p:nvSpPr>
        <p:spPr>
          <a:xfrm>
            <a:off x="7086600" y="6356350"/>
            <a:ext cx="20574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29</a:t>
            </a:fld>
            <a:endParaRPr/>
          </a:p>
        </p:txBody>
      </p:sp>
      <p:sp>
        <p:nvSpPr>
          <p:cNvPr id="159" name="Google Shape;159;p23"/>
          <p:cNvSpPr/>
          <p:nvPr/>
        </p:nvSpPr>
        <p:spPr>
          <a:xfrm>
            <a:off x="977070" y="3028931"/>
            <a:ext cx="7031494" cy="40006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000" b="0" i="0" u="sng" strike="noStrike" cap="none" dirty="0">
                <a:solidFill>
                  <a:schemeClr val="dk1"/>
                </a:solidFill>
                <a:latin typeface="Roboto"/>
                <a:ea typeface="Roboto"/>
                <a:cs typeface="Roboto"/>
                <a:sym typeface="Roboto"/>
              </a:rPr>
              <a:t>https://github.com/marcjene/Mecatronica-BDyML-2425</a:t>
            </a:r>
            <a:endParaRPr sz="2000" b="0" i="0" u="none" strike="noStrike" cap="none" dirty="0">
              <a:solidFill>
                <a:schemeClr val="dk1"/>
              </a:solidFill>
              <a:latin typeface="Calibri"/>
              <a:ea typeface="Calibri"/>
              <a:cs typeface="Calibri"/>
              <a:sym typeface="Calibri"/>
            </a:endParaRPr>
          </a:p>
        </p:txBody>
      </p:sp>
      <p:sp>
        <p:nvSpPr>
          <p:cNvPr id="160" name="Google Shape;160;p23"/>
          <p:cNvSpPr/>
          <p:nvPr/>
        </p:nvSpPr>
        <p:spPr>
          <a:xfrm>
            <a:off x="406364" y="1284367"/>
            <a:ext cx="570706" cy="570706"/>
          </a:xfrm>
          <a:prstGeom prst="ellipse">
            <a:avLst/>
          </a:prstGeom>
          <a:solidFill>
            <a:srgbClr val="B7CCE4"/>
          </a:solidFill>
          <a:ln w="57150" cap="flat" cmpd="sng">
            <a:solidFill>
              <a:srgbClr val="006D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61" name="Google Shape;161;p23"/>
          <p:cNvPicPr preferRelativeResize="0"/>
          <p:nvPr/>
        </p:nvPicPr>
        <p:blipFill rotWithShape="1">
          <a:blip r:embed="rId4">
            <a:alphaModFix/>
          </a:blip>
          <a:srcRect/>
          <a:stretch/>
        </p:blipFill>
        <p:spPr>
          <a:xfrm>
            <a:off x="512062" y="1394183"/>
            <a:ext cx="346458" cy="346458"/>
          </a:xfrm>
          <a:prstGeom prst="rect">
            <a:avLst/>
          </a:prstGeom>
          <a:noFill/>
          <a:ln>
            <a:noFill/>
          </a:ln>
        </p:spPr>
      </p:pic>
      <p:cxnSp>
        <p:nvCxnSpPr>
          <p:cNvPr id="162" name="Google Shape;162;p23"/>
          <p:cNvCxnSpPr/>
          <p:nvPr/>
        </p:nvCxnSpPr>
        <p:spPr>
          <a:xfrm rot="10800000" flipH="1">
            <a:off x="-37" y="1569720"/>
            <a:ext cx="406401" cy="3437"/>
          </a:xfrm>
          <a:prstGeom prst="straightConnector1">
            <a:avLst/>
          </a:prstGeom>
          <a:noFill/>
          <a:ln w="57150" cap="flat" cmpd="sng">
            <a:solidFill>
              <a:srgbClr val="006DA5"/>
            </a:solidFill>
            <a:prstDash val="solid"/>
            <a:round/>
            <a:headEnd type="none" w="sm" len="sm"/>
            <a:tailEnd type="none" w="sm" len="sm"/>
          </a:ln>
        </p:spPr>
      </p:cxnSp>
      <p:sp>
        <p:nvSpPr>
          <p:cNvPr id="163" name="Google Shape;163;p23"/>
          <p:cNvSpPr txBox="1"/>
          <p:nvPr/>
        </p:nvSpPr>
        <p:spPr>
          <a:xfrm>
            <a:off x="1044392" y="1198152"/>
            <a:ext cx="7886700" cy="1092514"/>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2800"/>
              <a:buFont typeface="Calibri"/>
              <a:buNone/>
            </a:pPr>
            <a:r>
              <a:rPr lang="en-US" sz="2800" b="1" i="0" u="none" strike="noStrike" cap="none">
                <a:solidFill>
                  <a:schemeClr val="dk1"/>
                </a:solidFill>
                <a:latin typeface="Calibri"/>
                <a:ea typeface="Calibri"/>
                <a:cs typeface="Calibri"/>
                <a:sym typeface="Calibri"/>
              </a:rPr>
              <a:t>Repositorio de GitHub del Módulo Big Data y Machine Learning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Mecatronica">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1924</TotalTime>
  <Words>1321</Words>
  <Application>Microsoft Office PowerPoint</Application>
  <PresentationFormat>Presentación en pantalla (4:3)</PresentationFormat>
  <Paragraphs>225</Paragraphs>
  <Slides>29</Slides>
  <Notes>13</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29</vt:i4>
      </vt:variant>
    </vt:vector>
  </HeadingPairs>
  <TitlesOfParts>
    <vt:vector size="35" baseType="lpstr">
      <vt:lpstr>Arial</vt:lpstr>
      <vt:lpstr>Cambria Math</vt:lpstr>
      <vt:lpstr>Calibri</vt:lpstr>
      <vt:lpstr>medium-content-serif-font</vt:lpstr>
      <vt:lpstr>Roboto</vt:lpstr>
      <vt:lpstr>Mecatronica</vt:lpstr>
      <vt:lpstr>Presentación de PowerPoint</vt:lpstr>
      <vt:lpstr>Presentación de PowerPoint</vt:lpstr>
      <vt:lpstr>Calendario </vt:lpstr>
      <vt:lpstr>Presentación de PowerPoint</vt:lpstr>
      <vt:lpstr>Presentación de PowerPoint</vt:lpstr>
      <vt:lpstr>Presentación de PowerPoint</vt:lpstr>
      <vt:lpstr>Recapitulemos…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Domin</dc:creator>
  <cp:lastModifiedBy>Antonio Saldana Gonzalez</cp:lastModifiedBy>
  <cp:revision>33</cp:revision>
  <dcterms:created xsi:type="dcterms:W3CDTF">2019-10-15T08:45:43Z</dcterms:created>
  <dcterms:modified xsi:type="dcterms:W3CDTF">2025-03-30T23:35:51Z</dcterms:modified>
</cp:coreProperties>
</file>