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664" r:id="rId2"/>
    <p:sldId id="405" r:id="rId3"/>
    <p:sldId id="665" r:id="rId4"/>
    <p:sldId id="368" r:id="rId5"/>
    <p:sldId id="675" r:id="rId6"/>
    <p:sldId id="325" r:id="rId7"/>
    <p:sldId id="676" r:id="rId8"/>
    <p:sldId id="677" r:id="rId9"/>
    <p:sldId id="678" r:id="rId10"/>
    <p:sldId id="679" r:id="rId11"/>
    <p:sldId id="680" r:id="rId12"/>
    <p:sldId id="681" r:id="rId13"/>
    <p:sldId id="673" r:id="rId14"/>
    <p:sldId id="683" r:id="rId15"/>
    <p:sldId id="684" r:id="rId16"/>
    <p:sldId id="685" r:id="rId17"/>
    <p:sldId id="686" r:id="rId18"/>
    <p:sldId id="682" r:id="rId19"/>
    <p:sldId id="674" r:id="rId20"/>
    <p:sldId id="687" r:id="rId21"/>
    <p:sldId id="688" r:id="rId22"/>
    <p:sldId id="689" r:id="rId23"/>
    <p:sldId id="690" r:id="rId24"/>
    <p:sldId id="372" r:id="rId25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 Barja" initials="SB" lastIdx="2" clrIdx="0">
    <p:extLst>
      <p:ext uri="{19B8F6BF-5375-455C-9EA6-DF929625EA0E}">
        <p15:presenceInfo xmlns:p15="http://schemas.microsoft.com/office/powerpoint/2012/main" userId="da342cd9508bf5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A5"/>
    <a:srgbClr val="E42352"/>
    <a:srgbClr val="F17D21"/>
    <a:srgbClr val="179EB0"/>
    <a:srgbClr val="66CCFF"/>
    <a:srgbClr val="9966FF"/>
    <a:srgbClr val="FF6699"/>
    <a:srgbClr val="FF9966"/>
    <a:srgbClr val="A3E0FF"/>
    <a:srgbClr val="B3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0" autoAdjust="0"/>
    <p:restoredTop sz="95153" autoAdjust="0"/>
  </p:normalViewPr>
  <p:slideViewPr>
    <p:cSldViewPr snapToGrid="0">
      <p:cViewPr>
        <p:scale>
          <a:sx n="125" d="100"/>
          <a:sy n="125" d="100"/>
        </p:scale>
        <p:origin x="1728" y="-240"/>
      </p:cViewPr>
      <p:guideLst/>
    </p:cSldViewPr>
  </p:slideViewPr>
  <p:outlineViewPr>
    <p:cViewPr>
      <p:scale>
        <a:sx n="33" d="100"/>
        <a:sy n="33" d="100"/>
      </p:scale>
      <p:origin x="0" y="-33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8"/>
          </a:xfrm>
          <a:prstGeom prst="rect">
            <a:avLst/>
          </a:prstGeom>
        </p:spPr>
        <p:txBody>
          <a:bodyPr vert="horz" lIns="99041" tIns="49520" rIns="99041" bIns="49520" rtlCol="0"/>
          <a:lstStyle>
            <a:lvl1pPr algn="r">
              <a:defRPr sz="1200"/>
            </a:lvl1pPr>
          </a:lstStyle>
          <a:p>
            <a:fld id="{2A6BC019-1E72-4903-8B7A-00363907A5D3}" type="datetimeFigureOut">
              <a:rPr lang="es-ES" smtClean="0"/>
              <a:t>02/04/2025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1" tIns="49520" rIns="99041" bIns="495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1" tIns="49520" rIns="99041" bIns="495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7"/>
          </a:xfrm>
          <a:prstGeom prst="rect">
            <a:avLst/>
          </a:prstGeom>
        </p:spPr>
        <p:txBody>
          <a:bodyPr vert="horz" lIns="99041" tIns="49520" rIns="99041" bIns="49520" rtlCol="0" anchor="b"/>
          <a:lstStyle>
            <a:lvl1pPr algn="r">
              <a:defRPr sz="1200"/>
            </a:lvl1pPr>
          </a:lstStyle>
          <a:p>
            <a:fld id="{5BC05090-5C0E-45B5-BB81-37C4A9E4751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76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5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 txBox="1">
            <a:spLocks noGrp="1"/>
          </p:cNvSpPr>
          <p:nvPr>
            <p:ph type="sldNum" idx="12"/>
          </p:nvPr>
        </p:nvSpPr>
        <p:spPr>
          <a:xfrm>
            <a:off x="4021296" y="9721108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418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3289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682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725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3729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655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7742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15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117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305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0180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911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043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7152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54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06325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05090-5C0E-45B5-BB81-37C4A9E4751F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24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40348"/>
            <a:ext cx="6858000" cy="1017352"/>
          </a:xfrm>
        </p:spPr>
        <p:txBody>
          <a:bodyPr>
            <a:noAutofit/>
          </a:bodyPr>
          <a:lstStyle>
            <a:lvl1pPr marL="0" indent="0" algn="ctr">
              <a:buNone/>
              <a:defRPr sz="32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 dirty="0"/>
              <a:t>Elementos para la digitalización de la industria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6559-6F40-4FA9-AAE4-499CDB4C02D0}" type="datetime1">
              <a:rPr lang="es-ES" smtClean="0"/>
              <a:t>02/04/2025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  <p:sp>
        <p:nvSpPr>
          <p:cNvPr id="13" name="Rectángulo 12"/>
          <p:cNvSpPr/>
          <p:nvPr userDrawn="1"/>
        </p:nvSpPr>
        <p:spPr>
          <a:xfrm>
            <a:off x="1226025" y="1786800"/>
            <a:ext cx="66919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4400" b="0" dirty="0"/>
              <a:t>Big Data y Machine </a:t>
            </a:r>
            <a:r>
              <a:rPr lang="es-ES" sz="4400" b="0" dirty="0" err="1"/>
              <a:t>Learning</a:t>
            </a:r>
            <a:endParaRPr lang="es-ES" sz="4400" b="0" dirty="0"/>
          </a:p>
        </p:txBody>
      </p:sp>
    </p:spTree>
    <p:extLst>
      <p:ext uri="{BB962C8B-B14F-4D97-AF65-F5344CB8AC3E}">
        <p14:creationId xmlns:p14="http://schemas.microsoft.com/office/powerpoint/2010/main" val="234717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8650" y="1131248"/>
            <a:ext cx="7886700" cy="76345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2237517"/>
            <a:ext cx="78867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</p:spPr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001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1235674"/>
            <a:ext cx="7886700" cy="57858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2002441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826353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2" y="2002441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2" y="2826353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</p:spPr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45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8650" y="1213627"/>
            <a:ext cx="7886700" cy="73874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s-ES" dirty="0"/>
              <a:t>Título:</a:t>
            </a:r>
          </a:p>
        </p:txBody>
      </p:sp>
      <p:sp>
        <p:nvSpPr>
          <p:cNvPr id="6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</p:spPr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10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B68E0-FAC8-4F30-AD52-604EBF9A7ACC}" type="datetime1">
              <a:rPr lang="es-ES" smtClean="0"/>
              <a:t>02/04/2025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541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42D25-F51B-487B-8A91-2A3A438D2793}" type="datetime1">
              <a:rPr lang="es-ES" smtClean="0"/>
              <a:t>02/04/2025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46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BE6D-21B2-47ED-BEFD-2FA4906D2D91}" type="datetime1">
              <a:rPr lang="es-ES" smtClean="0"/>
              <a:t>02/04/2025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0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5051-C02C-4F92-808C-6DDE8132874F}" type="datetime1">
              <a:rPr lang="es-ES" smtClean="0"/>
              <a:t>02/04/2025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936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7301-4279-4E57-AC39-5416D71BBDA7}" type="datetime1">
              <a:rPr lang="es-ES" smtClean="0"/>
              <a:t>02/04/2025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466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A87B2-8191-4381-8384-6BD2051CDF1D}" type="datetime1">
              <a:rPr lang="es-ES" smtClean="0"/>
              <a:t>02/04/2025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B40EF-D53A-41AA-87B6-B9F74BA43E09}" type="slidenum">
              <a:rPr lang="es-ES" smtClean="0"/>
              <a:t>‹#›</a:t>
            </a:fld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50440" cy="1079157"/>
          </a:xfrm>
          <a:prstGeom prst="rect">
            <a:avLst/>
          </a:prstGeom>
        </p:spPr>
      </p:pic>
      <p:sp>
        <p:nvSpPr>
          <p:cNvPr id="7" name="Rectángulo 6"/>
          <p:cNvSpPr/>
          <p:nvPr userDrawn="1"/>
        </p:nvSpPr>
        <p:spPr>
          <a:xfrm>
            <a:off x="3649362" y="0"/>
            <a:ext cx="3023287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/>
          <p:cNvSpPr/>
          <p:nvPr userDrawn="1"/>
        </p:nvSpPr>
        <p:spPr>
          <a:xfrm>
            <a:off x="-6440" y="660400"/>
            <a:ext cx="9150440" cy="418755"/>
          </a:xfrm>
          <a:prstGeom prst="rect">
            <a:avLst/>
          </a:prstGeom>
          <a:solidFill>
            <a:srgbClr val="006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noFill/>
              </a:ln>
            </a:endParaRPr>
          </a:p>
        </p:txBody>
      </p:sp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12"/>
          <a:srcRect b="14569"/>
          <a:stretch/>
        </p:blipFill>
        <p:spPr>
          <a:xfrm>
            <a:off x="4768233" y="-20733"/>
            <a:ext cx="1923126" cy="1098862"/>
          </a:xfrm>
          <a:prstGeom prst="rect">
            <a:avLst/>
          </a:prstGeom>
        </p:spPr>
      </p:pic>
      <p:sp>
        <p:nvSpPr>
          <p:cNvPr id="13" name="Marcador de fecha 3"/>
          <p:cNvSpPr txBox="1">
            <a:spLocks/>
          </p:cNvSpPr>
          <p:nvPr userDrawn="1"/>
        </p:nvSpPr>
        <p:spPr>
          <a:xfrm>
            <a:off x="183498" y="400620"/>
            <a:ext cx="4128526" cy="947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1" dirty="0">
                <a:solidFill>
                  <a:schemeClr val="bg1"/>
                </a:solidFill>
              </a:rPr>
              <a:t>MÁSTER MECATRÓNICA</a:t>
            </a:r>
          </a:p>
        </p:txBody>
      </p:sp>
      <p:sp>
        <p:nvSpPr>
          <p:cNvPr id="15" name="Google Shape;20;p17">
            <a:extLst>
              <a:ext uri="{FF2B5EF4-FFF2-40B4-BE49-F238E27FC236}">
                <a16:creationId xmlns:a16="http://schemas.microsoft.com/office/drawing/2014/main" id="{7440A721-1357-4836-95C0-9792C204CEB1}"/>
              </a:ext>
            </a:extLst>
          </p:cNvPr>
          <p:cNvSpPr txBox="1"/>
          <p:nvPr userDrawn="1"/>
        </p:nvSpPr>
        <p:spPr>
          <a:xfrm>
            <a:off x="6718175" y="58368"/>
            <a:ext cx="2405449" cy="94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Digitalización en la Industria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Big Data y Machine Learning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662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icard.ferrer.san.jose@upc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dpi.com/1996-1073/16/24/8102" TargetMode="Externa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Posgrado de Técnicas para la Digitalización en la Industria</a:t>
            </a:r>
          </a:p>
        </p:txBody>
      </p:sp>
      <p:sp>
        <p:nvSpPr>
          <p:cNvPr id="7" name="1 Título"/>
          <p:cNvSpPr txBox="1">
            <a:spLocks/>
          </p:cNvSpPr>
          <p:nvPr/>
        </p:nvSpPr>
        <p:spPr>
          <a:xfrm>
            <a:off x="685800" y="4650657"/>
            <a:ext cx="7772400" cy="186770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/>
              <a:t>Sesión 6 – IA de la nueva generación</a:t>
            </a:r>
          </a:p>
          <a:p>
            <a:endParaRPr lang="es-ES_tradnl" sz="3200" dirty="0"/>
          </a:p>
          <a:p>
            <a:r>
              <a:rPr lang="es-ES_tradnl" sz="2400" dirty="0"/>
              <a:t>Marc Jené: </a:t>
            </a:r>
            <a:r>
              <a:rPr lang="es-ES_tradnl" sz="2400" dirty="0">
                <a:hlinkClick r:id="rId2"/>
              </a:rPr>
              <a:t>marc.jene@upc.edu</a:t>
            </a:r>
            <a:endParaRPr lang="es-ES_tradnl" sz="2400" dirty="0"/>
          </a:p>
          <a:p>
            <a:endParaRPr lang="es-ES_tradnl" sz="2400" dirty="0"/>
          </a:p>
          <a:p>
            <a:r>
              <a:rPr lang="es-ES_tradnl" sz="2400" dirty="0"/>
              <a:t> </a:t>
            </a:r>
            <a:endParaRPr lang="ca-ES" sz="2400" dirty="0"/>
          </a:p>
        </p:txBody>
      </p:sp>
    </p:spTree>
    <p:extLst>
      <p:ext uri="{BB962C8B-B14F-4D97-AF65-F5344CB8AC3E}">
        <p14:creationId xmlns:p14="http://schemas.microsoft.com/office/powerpoint/2010/main" val="1193692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sldNum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2"/>
          <p:cNvGraphicFramePr/>
          <p:nvPr/>
        </p:nvGraphicFramePr>
        <p:xfrm>
          <a:off x="667706" y="1676435"/>
          <a:ext cx="7920025" cy="449894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37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0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Lunes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Martes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Miércoles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Jueves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885825" y="1122903"/>
            <a:ext cx="7886700" cy="76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ES" sz="2800" noProof="0" dirty="0"/>
              <a:t>Calendario </a:t>
            </a:r>
          </a:p>
        </p:txBody>
      </p:sp>
      <p:sp>
        <p:nvSpPr>
          <p:cNvPr id="178" name="Google Shape;178;p12"/>
          <p:cNvSpPr txBox="1"/>
          <p:nvPr/>
        </p:nvSpPr>
        <p:spPr>
          <a:xfrm>
            <a:off x="770696" y="2613275"/>
            <a:ext cx="2627841" cy="584775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S1 –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a Big Data y Machine Learning  </a:t>
            </a:r>
            <a:endParaRPr dirty="0"/>
          </a:p>
        </p:txBody>
      </p:sp>
      <p:sp>
        <p:nvSpPr>
          <p:cNvPr id="179" name="Google Shape;179;p12"/>
          <p:cNvSpPr txBox="1"/>
          <p:nvPr/>
        </p:nvSpPr>
        <p:spPr>
          <a:xfrm>
            <a:off x="4738367" y="2613275"/>
            <a:ext cx="2627841" cy="54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S2 –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a Python</a:t>
            </a:r>
            <a:endParaRPr sz="1600" b="1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770698" y="3556308"/>
            <a:ext cx="2627841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S3 –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Estadística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descriptiva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770695" y="5479374"/>
            <a:ext cx="2627841" cy="5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S5 –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aprendizaje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supervisado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(I):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770695" y="4555664"/>
            <a:ext cx="2627841" cy="5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S7 –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aprendizaje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supervisado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(II):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endParaRPr sz="1600" b="1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4700267" y="3556308"/>
            <a:ext cx="2627842" cy="524330"/>
          </a:xfrm>
          <a:prstGeom prst="rect">
            <a:avLst/>
          </a:prstGeom>
          <a:noFill/>
          <a:ln w="28575"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S4 –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aprendizaje</a:t>
            </a: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supervisado</a:t>
            </a:r>
            <a:endParaRPr sz="1600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4738368" y="4497394"/>
            <a:ext cx="2589742" cy="54104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S6 – Image Recognition y IA de la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nueva</a:t>
            </a: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endParaRPr sz="1600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4738367" y="5455197"/>
            <a:ext cx="235203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S8 – </a:t>
            </a: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Exámen</a:t>
            </a:r>
            <a:endParaRPr sz="1600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 rot="-5400000">
            <a:off x="-485338" y="3085584"/>
            <a:ext cx="1936756" cy="369332"/>
          </a:xfrm>
          <a:prstGeom prst="rect">
            <a:avLst/>
          </a:prstGeom>
          <a:solidFill>
            <a:srgbClr val="A3E0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Marzo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 rot="-5400000">
            <a:off x="-485338" y="5022340"/>
            <a:ext cx="1936756" cy="369332"/>
          </a:xfrm>
          <a:prstGeom prst="rect">
            <a:avLst/>
          </a:prstGeom>
          <a:solidFill>
            <a:srgbClr val="B3FFB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Abril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79;p12">
            <a:extLst>
              <a:ext uri="{FF2B5EF4-FFF2-40B4-BE49-F238E27FC236}">
                <a16:creationId xmlns:a16="http://schemas.microsoft.com/office/drawing/2014/main" id="{1A9B47B8-E1AC-4342-A996-97FB2FCDCFC1}"/>
              </a:ext>
            </a:extLst>
          </p:cNvPr>
          <p:cNvSpPr txBox="1"/>
          <p:nvPr/>
        </p:nvSpPr>
        <p:spPr>
          <a:xfrm>
            <a:off x="770695" y="6203957"/>
            <a:ext cx="2627841" cy="57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1600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Online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Presencial</a:t>
            </a:r>
            <a:endParaRPr sz="1600" b="1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3</a:t>
            </a:fld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1119045" y="2116522"/>
            <a:ext cx="7287248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Introducir</a:t>
            </a:r>
            <a:r>
              <a:rPr lang="en-US" sz="2000" dirty="0"/>
              <a:t> </a:t>
            </a:r>
            <a:r>
              <a:rPr lang="en-US" sz="2000" dirty="0" err="1"/>
              <a:t>algunos</a:t>
            </a:r>
            <a:r>
              <a:rPr lang="en-US" sz="2000" dirty="0"/>
              <a:t> de los </a:t>
            </a:r>
            <a:r>
              <a:rPr lang="en-US" sz="2000" b="1" dirty="0" err="1"/>
              <a:t>avances</a:t>
            </a:r>
            <a:r>
              <a:rPr lang="en-US" sz="2000" b="1" dirty="0"/>
              <a:t> </a:t>
            </a:r>
            <a:r>
              <a:rPr lang="en-US" sz="2000" b="1" dirty="0" err="1"/>
              <a:t>más</a:t>
            </a:r>
            <a:r>
              <a:rPr lang="en-US" sz="2000" b="1" dirty="0"/>
              <a:t> </a:t>
            </a:r>
            <a:r>
              <a:rPr lang="en-US" sz="2000" b="1" dirty="0" err="1"/>
              <a:t>recientes</a:t>
            </a:r>
            <a:r>
              <a:rPr lang="en-US" sz="2000" dirty="0"/>
              <a:t> la </a:t>
            </a:r>
            <a:r>
              <a:rPr lang="en-US" sz="2000" dirty="0" err="1"/>
              <a:t>Inteligencia</a:t>
            </a:r>
            <a:r>
              <a:rPr lang="en-US" sz="2000" dirty="0"/>
              <a:t> Artificial que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tener</a:t>
            </a:r>
            <a:r>
              <a:rPr lang="en-US" sz="2000" dirty="0"/>
              <a:t> un alto </a:t>
            </a:r>
            <a:r>
              <a:rPr lang="en-US" sz="2000" dirty="0" err="1"/>
              <a:t>impacto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indústria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Entender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b="1" dirty="0" err="1"/>
              <a:t>concepto</a:t>
            </a:r>
            <a:r>
              <a:rPr lang="en-US" sz="2000" dirty="0"/>
              <a:t>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tecnología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Tener una </a:t>
            </a:r>
            <a:r>
              <a:rPr lang="en-US" sz="2000" b="1" dirty="0"/>
              <a:t>idea de los </a:t>
            </a:r>
            <a:r>
              <a:rPr lang="en-US" sz="2000" b="1" dirty="0" err="1"/>
              <a:t>algoritmos</a:t>
            </a:r>
            <a:r>
              <a:rPr lang="en-US" sz="2000" b="1" dirty="0"/>
              <a:t> </a:t>
            </a:r>
            <a:r>
              <a:rPr lang="en-US" sz="2000" dirty="0"/>
              <a:t>clave y </a:t>
            </a:r>
            <a:r>
              <a:rPr lang="en-US" sz="2000" dirty="0" err="1"/>
              <a:t>cómo</a:t>
            </a:r>
            <a:r>
              <a:rPr lang="en-US" sz="2000" dirty="0"/>
              <a:t> </a:t>
            </a:r>
            <a:r>
              <a:rPr lang="en-US" sz="2000" dirty="0" err="1"/>
              <a:t>funcionan</a:t>
            </a:r>
            <a:r>
              <a:rPr lang="en-US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Visión</a:t>
            </a:r>
            <a:r>
              <a:rPr lang="en-US" sz="2000" dirty="0"/>
              <a:t> de los </a:t>
            </a:r>
            <a:r>
              <a:rPr lang="en-US" sz="2000" b="1" dirty="0" err="1"/>
              <a:t>casos</a:t>
            </a:r>
            <a:r>
              <a:rPr lang="en-US" sz="2000" b="1" dirty="0"/>
              <a:t> de </a:t>
            </a:r>
            <a:r>
              <a:rPr lang="en-US" sz="2000" b="1" dirty="0" err="1"/>
              <a:t>uso</a:t>
            </a:r>
            <a:r>
              <a:rPr lang="en-US" sz="2000" b="1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la </a:t>
            </a:r>
            <a:r>
              <a:rPr lang="en-US" sz="2000" dirty="0" err="1"/>
              <a:t>indústria</a:t>
            </a:r>
            <a:r>
              <a:rPr lang="en-US" sz="2000" dirty="0"/>
              <a:t> actual,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impacto</a:t>
            </a:r>
            <a:r>
              <a:rPr lang="en-US" sz="2000" dirty="0"/>
              <a:t> actual y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potencial</a:t>
            </a:r>
            <a:r>
              <a:rPr lang="en-US" sz="2000" dirty="0"/>
              <a:t> que </a:t>
            </a:r>
            <a:r>
              <a:rPr lang="en-US" sz="2000" dirty="0" err="1"/>
              <a:t>tienen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Adicional</a:t>
            </a:r>
            <a:r>
              <a:rPr lang="en-US" sz="2000" dirty="0"/>
              <a:t>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Notebook con </a:t>
            </a:r>
            <a:r>
              <a:rPr lang="en-US" sz="2000" dirty="0" err="1"/>
              <a:t>ejercicio</a:t>
            </a:r>
            <a:r>
              <a:rPr lang="en-US" sz="2000" dirty="0"/>
              <a:t> de </a:t>
            </a:r>
            <a:r>
              <a:rPr lang="en-US" sz="2000" dirty="0" err="1"/>
              <a:t>mantenimiento</a:t>
            </a:r>
            <a:r>
              <a:rPr lang="en-US" sz="2000" dirty="0"/>
              <a:t> </a:t>
            </a:r>
            <a:r>
              <a:rPr lang="en-US" sz="2000" dirty="0" err="1"/>
              <a:t>predictivo</a:t>
            </a:r>
            <a:r>
              <a:rPr lang="en-US" sz="2000" dirty="0"/>
              <a:t> (regression). 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52B6126-B404-41FD-912A-365287D17DB7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0C02F8-96A6-4D38-B7E8-5996ADAD0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07" y="1259257"/>
            <a:ext cx="553521" cy="55352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726EB86-DC28-442A-A886-08E163A4306F}"/>
              </a:ext>
            </a:extLst>
          </p:cNvPr>
          <p:cNvSpPr txBox="1">
            <a:spLocks/>
          </p:cNvSpPr>
          <p:nvPr/>
        </p:nvSpPr>
        <p:spPr>
          <a:xfrm>
            <a:off x="1044392" y="1198152"/>
            <a:ext cx="458460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/>
              <a:t>Objetivos de la sesión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18096BB-C784-4E06-B59B-0E1BAA8E344E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74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4</a:t>
            </a:fld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99944" y="2247071"/>
            <a:ext cx="8291655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 err="1">
                <a:solidFill>
                  <a:srgbClr val="006DA5"/>
                </a:solidFill>
              </a:rPr>
              <a:t>Computer</a:t>
            </a:r>
            <a:r>
              <a:rPr lang="es-ES" sz="2400" b="1" dirty="0">
                <a:solidFill>
                  <a:srgbClr val="006DA5"/>
                </a:solidFill>
              </a:rPr>
              <a:t> </a:t>
            </a:r>
            <a:r>
              <a:rPr lang="es-ES" sz="2400" b="1" dirty="0" err="1">
                <a:solidFill>
                  <a:srgbClr val="006DA5"/>
                </a:solidFill>
              </a:rPr>
              <a:t>Vision</a:t>
            </a:r>
            <a:r>
              <a:rPr lang="es-ES" sz="2400" b="1" dirty="0">
                <a:solidFill>
                  <a:srgbClr val="006DA5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Generative AI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Reinforcement Learning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20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5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01505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Computer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Vision</a:t>
            </a:r>
            <a:endParaRPr lang="es-ES" sz="2400" b="1" dirty="0">
              <a:latin typeface="+mn-lt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31317" y="2348317"/>
            <a:ext cx="788136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El </a:t>
            </a:r>
            <a:r>
              <a:rPr lang="es-ES" sz="2000" b="1" dirty="0" err="1"/>
              <a:t>computer</a:t>
            </a:r>
            <a:r>
              <a:rPr lang="es-ES" sz="2000" b="1" dirty="0"/>
              <a:t> </a:t>
            </a:r>
            <a:r>
              <a:rPr lang="es-ES" sz="2000" b="1" dirty="0" err="1"/>
              <a:t>vision</a:t>
            </a:r>
            <a:r>
              <a:rPr lang="es-ES" sz="2000" b="1" dirty="0"/>
              <a:t> </a:t>
            </a:r>
            <a:r>
              <a:rPr lang="es-ES" sz="2000" dirty="0"/>
              <a:t>(o visión artificial), es un campo de la inteligencia artificial permite a las máquinas interpretar y comprender el contenido visual del mundo, como imágenes y videos. Generalmente se usan algoritmos </a:t>
            </a:r>
            <a:r>
              <a:rPr lang="es-ES" sz="2000" b="1" dirty="0"/>
              <a:t>supervisados o </a:t>
            </a:r>
            <a:r>
              <a:rPr lang="es-ES" sz="2000" b="1" dirty="0" err="1"/>
              <a:t>semisupervisados</a:t>
            </a:r>
            <a:r>
              <a:rPr lang="es-ES" sz="2000" dirty="0"/>
              <a:t>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Entre las distintas aplicaciones de este campo, una de las más importantes es el </a:t>
            </a:r>
            <a:r>
              <a:rPr lang="es-ES" sz="2000" b="1" dirty="0"/>
              <a:t>reconocimiento de imágenes</a:t>
            </a:r>
            <a:r>
              <a:rPr lang="es-ES" sz="2000" dirty="0"/>
              <a:t>, la cual implica la capacidad de un ordenador para reconocer y clasificar objetos, personas, escenas y otros elementos visuales dentro de una imagen o vídeo.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detection, recognition and image classification with machine  learning. | by Renukasoni | AITS Journal | Medium">
            <a:extLst>
              <a:ext uri="{FF2B5EF4-FFF2-40B4-BE49-F238E27FC236}">
                <a16:creationId xmlns:a16="http://schemas.microsoft.com/office/drawing/2014/main" id="{E67AF08D-BC1B-4C8A-A097-EFD9DA112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720" y="5056751"/>
            <a:ext cx="2956560" cy="147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9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6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01505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Computer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Vision</a:t>
            </a:r>
            <a:endParaRPr lang="es-ES" sz="2400" b="1" dirty="0">
              <a:latin typeface="+mn-lt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33984" y="2074783"/>
            <a:ext cx="78813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La </a:t>
            </a:r>
            <a:r>
              <a:rPr lang="es-ES" sz="2000" b="1" dirty="0"/>
              <a:t>visión humana </a:t>
            </a:r>
            <a:r>
              <a:rPr lang="es-ES" sz="2000" dirty="0"/>
              <a:t>es una fuente clave de información en la industria (desde control de calidad a navegación de vehículos). La idea de la </a:t>
            </a:r>
            <a:r>
              <a:rPr lang="es-ES" sz="2000" b="1" dirty="0"/>
              <a:t>visión artificial </a:t>
            </a:r>
            <a:r>
              <a:rPr lang="es-ES" sz="2000" dirty="0"/>
              <a:t>es automatizar esta capacidad.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Algunas de las técnicas clave de la visión artificial son la </a:t>
            </a:r>
            <a:r>
              <a:rPr lang="es-ES" sz="2000" b="1" dirty="0"/>
              <a:t>extracción de características</a:t>
            </a:r>
            <a:r>
              <a:rPr lang="es-ES" sz="2000" dirty="0"/>
              <a:t>, la </a:t>
            </a:r>
            <a:r>
              <a:rPr lang="es-ES" sz="2000" b="1" dirty="0"/>
              <a:t>detección</a:t>
            </a:r>
            <a:r>
              <a:rPr lang="es-ES" sz="2000" dirty="0"/>
              <a:t> de objetos, la </a:t>
            </a:r>
            <a:r>
              <a:rPr lang="es-ES" sz="2000" b="1" dirty="0"/>
              <a:t>clasificación</a:t>
            </a:r>
            <a:r>
              <a:rPr lang="es-ES" sz="2000" dirty="0"/>
              <a:t> de imágenes y el </a:t>
            </a:r>
            <a:r>
              <a:rPr lang="es-ES" sz="2000" b="1" dirty="0"/>
              <a:t>seguimiento</a:t>
            </a:r>
            <a:r>
              <a:rPr lang="es-ES" sz="2000" dirty="0"/>
              <a:t> de objetos.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El campo de la visión artificial avanzó drásticamente con la aparición de las </a:t>
            </a:r>
            <a:r>
              <a:rPr lang="es-ES" sz="2000" b="1" dirty="0"/>
              <a:t>redes neuronales convolucionales </a:t>
            </a:r>
            <a:r>
              <a:rPr lang="es-ES" sz="2000" dirty="0"/>
              <a:t>(</a:t>
            </a:r>
            <a:r>
              <a:rPr lang="es-ES" sz="2000" b="1" dirty="0" err="1"/>
              <a:t>CNNs</a:t>
            </a:r>
            <a:r>
              <a:rPr lang="es-ES" sz="2000" dirty="0"/>
              <a:t>).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75E4C45-15BE-482A-A36D-B062CCDA6C10}"/>
              </a:ext>
            </a:extLst>
          </p:cNvPr>
          <p:cNvGrpSpPr/>
          <p:nvPr/>
        </p:nvGrpSpPr>
        <p:grpSpPr>
          <a:xfrm>
            <a:off x="321943" y="5230368"/>
            <a:ext cx="8500115" cy="1030224"/>
            <a:chOff x="203163" y="5230368"/>
            <a:chExt cx="8500115" cy="1030224"/>
          </a:xfrm>
        </p:grpSpPr>
        <p:pic>
          <p:nvPicPr>
            <p:cNvPr id="1032" name="Picture 8" descr="CNN Vs RNN: Amazing Differences for 2024">
              <a:extLst>
                <a:ext uri="{FF2B5EF4-FFF2-40B4-BE49-F238E27FC236}">
                  <a16:creationId xmlns:a16="http://schemas.microsoft.com/office/drawing/2014/main" id="{0B98A2FF-B739-40FE-A40C-41340EDA23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562" b="8151"/>
            <a:stretch/>
          </p:blipFill>
          <p:spPr bwMode="auto">
            <a:xfrm>
              <a:off x="4493037" y="5230368"/>
              <a:ext cx="4210241" cy="1030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CNN Vs RNN: Amazing Differences for 2024">
              <a:extLst>
                <a:ext uri="{FF2B5EF4-FFF2-40B4-BE49-F238E27FC236}">
                  <a16:creationId xmlns:a16="http://schemas.microsoft.com/office/drawing/2014/main" id="{CEE662DF-3D59-42E2-8AAF-2B923E3B40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68" b="57172"/>
            <a:stretch/>
          </p:blipFill>
          <p:spPr bwMode="auto">
            <a:xfrm>
              <a:off x="203163" y="5279525"/>
              <a:ext cx="4210241" cy="931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9988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7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290068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Convolutional</a:t>
            </a:r>
            <a:r>
              <a:rPr lang="es-ES" sz="2400" b="1" dirty="0">
                <a:latin typeface="+mn-lt"/>
              </a:rPr>
              <a:t> Neural Networks (</a:t>
            </a:r>
            <a:r>
              <a:rPr lang="es-ES" sz="2400" b="1" dirty="0" err="1">
                <a:latin typeface="+mn-lt"/>
              </a:rPr>
              <a:t>CNNs</a:t>
            </a:r>
            <a:r>
              <a:rPr lang="es-ES" sz="2400" b="1" dirty="0">
                <a:latin typeface="+mn-lt"/>
              </a:rPr>
              <a:t>)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802805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Las </a:t>
            </a:r>
            <a:r>
              <a:rPr lang="es-ES" sz="2000" b="1" dirty="0" err="1"/>
              <a:t>CNNs</a:t>
            </a:r>
            <a:r>
              <a:rPr lang="es-ES" sz="2000" dirty="0"/>
              <a:t> utilizan capas de </a:t>
            </a:r>
            <a:r>
              <a:rPr lang="es-ES" sz="2000" b="1" dirty="0"/>
              <a:t>convolución</a:t>
            </a:r>
            <a:r>
              <a:rPr lang="es-ES" sz="2000" dirty="0"/>
              <a:t> para </a:t>
            </a:r>
            <a:r>
              <a:rPr lang="es-ES" sz="2000" b="1" dirty="0"/>
              <a:t>extraer características visuales de una imagen</a:t>
            </a:r>
            <a:r>
              <a:rPr lang="es-ES" sz="2000" dirty="0"/>
              <a:t>: desde bordes y texturas en capas iniciales, hasta formas complejas en capas profundas.</a:t>
            </a:r>
          </a:p>
          <a:p>
            <a:pPr algn="just">
              <a:spcAft>
                <a:spcPts val="600"/>
              </a:spcAft>
            </a:pPr>
            <a:r>
              <a:rPr lang="es-ES" sz="1600" dirty="0"/>
              <a:t>Están formadas por: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1" dirty="0"/>
              <a:t>Capas de convolución</a:t>
            </a:r>
            <a:r>
              <a:rPr lang="es-ES" sz="1600" dirty="0"/>
              <a:t>: aplican filtros para detectar patrones locales.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1" dirty="0"/>
              <a:t>Funciones de activación </a:t>
            </a:r>
            <a:r>
              <a:rPr lang="es-ES" sz="1600" dirty="0"/>
              <a:t>(</a:t>
            </a:r>
            <a:r>
              <a:rPr lang="es-ES" sz="1600" dirty="0" err="1"/>
              <a:t>ReLU</a:t>
            </a:r>
            <a:r>
              <a:rPr lang="es-ES" sz="1600" dirty="0"/>
              <a:t>): introducen no linealidad.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1" dirty="0"/>
              <a:t>Capas de </a:t>
            </a:r>
            <a:r>
              <a:rPr lang="es-ES" sz="1600" b="1" dirty="0" err="1"/>
              <a:t>pooling</a:t>
            </a:r>
            <a:r>
              <a:rPr lang="es-ES" sz="1600" dirty="0"/>
              <a:t>: reducen la dimensionalidad preservando características relevantes.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1" dirty="0"/>
              <a:t>Capas completamente conectadas</a:t>
            </a:r>
            <a:r>
              <a:rPr lang="es-ES" sz="1600" dirty="0"/>
              <a:t>: sintetizan las características para realizar predicciones.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Comprehensive Guide to Convolutional Neural Networks — the ELI5 way | by  Sumit Saha | TDS Archive | Medium">
            <a:extLst>
              <a:ext uri="{FF2B5EF4-FFF2-40B4-BE49-F238E27FC236}">
                <a16:creationId xmlns:a16="http://schemas.microsoft.com/office/drawing/2014/main" id="{2A2077B2-BF6C-43B7-A506-391BB294E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869" y="4807601"/>
            <a:ext cx="5626261" cy="190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7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8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290068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Convolutional</a:t>
            </a:r>
            <a:r>
              <a:rPr lang="es-ES" sz="2400" b="1" dirty="0">
                <a:latin typeface="+mn-lt"/>
              </a:rPr>
              <a:t> Neural Networks (</a:t>
            </a:r>
            <a:r>
              <a:rPr lang="es-ES" sz="2400" b="1" dirty="0" err="1">
                <a:latin typeface="+mn-lt"/>
              </a:rPr>
              <a:t>CNNs</a:t>
            </a:r>
            <a:r>
              <a:rPr lang="es-ES" sz="2400" b="1" dirty="0">
                <a:latin typeface="+mn-lt"/>
              </a:rPr>
              <a:t>)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802805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Se entrenan mediante </a:t>
            </a:r>
            <a:r>
              <a:rPr lang="es-ES" sz="2000" dirty="0" err="1"/>
              <a:t>retropropagación</a:t>
            </a:r>
            <a:r>
              <a:rPr lang="es-ES" sz="2000" dirty="0"/>
              <a:t> (</a:t>
            </a:r>
            <a:r>
              <a:rPr lang="es-ES" sz="2000" b="1" i="1" dirty="0" err="1"/>
              <a:t>backpropagation</a:t>
            </a:r>
            <a:r>
              <a:rPr lang="es-ES" sz="2000" dirty="0"/>
              <a:t>)</a:t>
            </a:r>
            <a:r>
              <a:rPr lang="es-ES" sz="2000" i="1" dirty="0"/>
              <a:t>,</a:t>
            </a:r>
            <a:r>
              <a:rPr lang="es-ES" sz="2000" dirty="0"/>
              <a:t> ajustando millones de parámetros.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Son muy efectivas en </a:t>
            </a:r>
            <a:r>
              <a:rPr lang="es-ES" sz="2000" b="1" dirty="0"/>
              <a:t>clasificación de imágenes</a:t>
            </a:r>
            <a:r>
              <a:rPr lang="es-ES" sz="2000" dirty="0"/>
              <a:t>, </a:t>
            </a:r>
            <a:r>
              <a:rPr lang="es-ES" sz="2000" b="1" dirty="0"/>
              <a:t>detección de objetos</a:t>
            </a:r>
            <a:r>
              <a:rPr lang="es-ES" sz="2000" dirty="0"/>
              <a:t>, </a:t>
            </a:r>
            <a:r>
              <a:rPr lang="es-ES" sz="2000" b="1" dirty="0"/>
              <a:t>segmentación semántica</a:t>
            </a:r>
            <a:r>
              <a:rPr lang="es-ES" sz="2000" dirty="0"/>
              <a:t>…  Aunque su uso ha trascendido la visión artificial y ha llegado en campos como el </a:t>
            </a:r>
            <a:r>
              <a:rPr lang="es-ES" sz="2000" b="1" dirty="0"/>
              <a:t>procesamiento de audio y señales</a:t>
            </a:r>
            <a:r>
              <a:rPr lang="es-ES" sz="2000" dirty="0"/>
              <a:t>, el procesamiento de lenguaje natural (</a:t>
            </a:r>
            <a:r>
              <a:rPr lang="es-ES" sz="2000" b="1" dirty="0"/>
              <a:t>NLP</a:t>
            </a:r>
            <a:r>
              <a:rPr lang="es-ES" sz="2000" dirty="0"/>
              <a:t>) o el </a:t>
            </a:r>
            <a:r>
              <a:rPr lang="es-ES" sz="2000" b="1" dirty="0"/>
              <a:t>análisis de series temporales</a:t>
            </a:r>
            <a:r>
              <a:rPr lang="es-ES" sz="2000" dirty="0"/>
              <a:t>.</a:t>
            </a:r>
            <a:endParaRPr lang="es-ES" sz="160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Embedded - Training convolutional neural networks">
            <a:extLst>
              <a:ext uri="{FF2B5EF4-FFF2-40B4-BE49-F238E27FC236}">
                <a16:creationId xmlns:a16="http://schemas.microsoft.com/office/drawing/2014/main" id="{603DAC27-7000-4D35-BF5B-35DF3EC7A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352" y="4337493"/>
            <a:ext cx="4273296" cy="227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82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9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7387092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Transfer </a:t>
            </a:r>
            <a:r>
              <a:rPr lang="es-ES" sz="2400" b="1" dirty="0" err="1">
                <a:latin typeface="+mn-lt"/>
              </a:rPr>
              <a:t>learning</a:t>
            </a:r>
            <a:endParaRPr lang="es-ES" sz="2400" b="1" dirty="0">
              <a:latin typeface="+mn-lt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802805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dirty="0"/>
              <a:t>Entrenar una red desde cero requiere grandes volúmenes de datos y recursos. </a:t>
            </a:r>
          </a:p>
          <a:p>
            <a:pPr algn="just">
              <a:spcAft>
                <a:spcPts val="600"/>
              </a:spcAft>
            </a:pPr>
            <a:r>
              <a:rPr lang="es-ES" dirty="0"/>
              <a:t>El transfer </a:t>
            </a:r>
            <a:r>
              <a:rPr lang="es-ES" dirty="0" err="1"/>
              <a:t>learning</a:t>
            </a:r>
            <a:r>
              <a:rPr lang="es-ES" dirty="0"/>
              <a:t> consiste en </a:t>
            </a:r>
            <a:r>
              <a:rPr lang="es-ES" b="1" dirty="0"/>
              <a:t>tomar una red </a:t>
            </a:r>
            <a:r>
              <a:rPr lang="es-ES" b="1" dirty="0" err="1"/>
              <a:t>preentrenada</a:t>
            </a:r>
            <a:r>
              <a:rPr lang="es-ES" b="1" dirty="0"/>
              <a:t> </a:t>
            </a:r>
            <a:r>
              <a:rPr lang="es-ES" dirty="0"/>
              <a:t>y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/>
              <a:t>Usarla directamente </a:t>
            </a:r>
            <a:r>
              <a:rPr lang="es-ES" dirty="0"/>
              <a:t>como extractor de características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/>
              <a:t>Ajustar sólo las capas finales </a:t>
            </a:r>
            <a:r>
              <a:rPr lang="es-ES" dirty="0"/>
              <a:t>para una tarea específica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Reentrenar (</a:t>
            </a:r>
            <a:r>
              <a:rPr lang="es-ES" b="1" i="1" dirty="0"/>
              <a:t>fine-tune</a:t>
            </a:r>
            <a:r>
              <a:rPr lang="es-ES" dirty="0"/>
              <a:t>) parcialmente o completamente con datos propios.</a:t>
            </a:r>
          </a:p>
          <a:p>
            <a:pPr algn="just">
              <a:spcAft>
                <a:spcPts val="600"/>
              </a:spcAft>
            </a:pPr>
            <a:r>
              <a:rPr lang="es-ES" dirty="0"/>
              <a:t>Algunos modelos populares son el </a:t>
            </a:r>
            <a:r>
              <a:rPr lang="es-ES" i="1" dirty="0" err="1"/>
              <a:t>ResNet</a:t>
            </a:r>
            <a:r>
              <a:rPr lang="es-ES" dirty="0"/>
              <a:t>, </a:t>
            </a:r>
            <a:r>
              <a:rPr lang="es-ES" i="1" dirty="0" err="1"/>
              <a:t>ImageNet</a:t>
            </a:r>
            <a:r>
              <a:rPr lang="es-ES" dirty="0"/>
              <a:t>, </a:t>
            </a:r>
            <a:r>
              <a:rPr lang="es-ES" i="1" dirty="0" err="1"/>
              <a:t>MobileNet</a:t>
            </a:r>
            <a:r>
              <a:rPr lang="es-ES" dirty="0"/>
              <a:t> y </a:t>
            </a:r>
            <a:r>
              <a:rPr lang="es-ES" i="1" dirty="0" err="1"/>
              <a:t>EfficientNet</a:t>
            </a:r>
            <a:r>
              <a:rPr lang="es-ES" dirty="0"/>
              <a:t>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Transfer learning. Concepts: | by Saba Hesaraki | Medium">
            <a:extLst>
              <a:ext uri="{FF2B5EF4-FFF2-40B4-BE49-F238E27FC236}">
                <a16:creationId xmlns:a16="http://schemas.microsoft.com/office/drawing/2014/main" id="{7D2FCB9B-7C22-4082-9CA9-82CE916E3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60" y="4431069"/>
            <a:ext cx="4823680" cy="229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7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10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7387092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 la visión artificial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813123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1. Control de calidad automatizado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Inspección de productos en líneas de producción.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Identificación de defectos superficiales o dimensionales en tiempo real.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dirty="0"/>
          </a:p>
          <a:p>
            <a:pPr algn="just">
              <a:spcAft>
                <a:spcPts val="600"/>
              </a:spcAft>
            </a:pPr>
            <a:r>
              <a:rPr lang="es-ES" b="1" dirty="0"/>
              <a:t>2. Supervisión de procesos industriales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Monitorización visual de maquinaria para mantenimiento predictivo.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Identificación de anomalías en el funcionamiento mediante patrones visuales.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Ai Build introduces computer vision for 3D printing quality control - 3D  Printing Industry">
            <a:extLst>
              <a:ext uri="{FF2B5EF4-FFF2-40B4-BE49-F238E27FC236}">
                <a16:creationId xmlns:a16="http://schemas.microsoft.com/office/drawing/2014/main" id="{165F2343-13F0-427B-A1DD-DADFBBEE7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4701269"/>
            <a:ext cx="1745863" cy="174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implifying AI Deployment for Quality Inspection | ManufacturingTomorrow">
            <a:extLst>
              <a:ext uri="{FF2B5EF4-FFF2-40B4-BE49-F238E27FC236}">
                <a16:creationId xmlns:a16="http://schemas.microsoft.com/office/drawing/2014/main" id="{30685CE7-3066-4258-B080-8EEFA8AD1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366" y="4739490"/>
            <a:ext cx="3415284" cy="170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58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11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7387092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 la visión artificial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4818697" cy="395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3. Visión para movilidad autónoma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Reconocimiento de señales, peatones y otros vehículos.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Estimación de distancia, detección de carriles.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Soporte a la conducción autónoma y asistencia al conductor.</a:t>
            </a:r>
          </a:p>
          <a:p>
            <a:pPr algn="just">
              <a:spcAft>
                <a:spcPts val="600"/>
              </a:spcAft>
            </a:pPr>
            <a:endParaRPr lang="es-ES" dirty="0"/>
          </a:p>
          <a:p>
            <a:pPr algn="just">
              <a:spcAft>
                <a:spcPts val="600"/>
              </a:spcAft>
            </a:pPr>
            <a:r>
              <a:rPr lang="es-ES" b="1" dirty="0"/>
              <a:t>4. Robótica industrial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Sistemas de visión para manipulación de objetos.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Colaboración con brazos robóticos en tareas de ensamblaje.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mputer vision Icon - Free PNG &amp; SVG 1828899 - Noun Project">
            <a:extLst>
              <a:ext uri="{FF2B5EF4-FFF2-40B4-BE49-F238E27FC236}">
                <a16:creationId xmlns:a16="http://schemas.microsoft.com/office/drawing/2014/main" id="{66E25D9C-55A9-4B0C-A0B4-136D819A4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" y="1315538"/>
            <a:ext cx="508363" cy="50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KUKA.VisionTech | KUKA AG">
            <a:extLst>
              <a:ext uri="{FF2B5EF4-FFF2-40B4-BE49-F238E27FC236}">
                <a16:creationId xmlns:a16="http://schemas.microsoft.com/office/drawing/2014/main" id="{7C0E7FBB-8277-42A3-9311-2D765B69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872" y="4495277"/>
            <a:ext cx="3011424" cy="169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Vehicle Detection and Tracking Project | Computer Vision Lab">
            <a:extLst>
              <a:ext uri="{FF2B5EF4-FFF2-40B4-BE49-F238E27FC236}">
                <a16:creationId xmlns:a16="http://schemas.microsoft.com/office/drawing/2014/main" id="{9D811494-4BEC-4C01-8CAE-A58AA82F59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872" y="2291334"/>
            <a:ext cx="3048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61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12</a:t>
            </a:fld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99944" y="2247071"/>
            <a:ext cx="8291655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 err="1">
                <a:solidFill>
                  <a:schemeClr val="bg1">
                    <a:lumMod val="75000"/>
                  </a:schemeClr>
                </a:solidFill>
              </a:rPr>
              <a:t>Computer</a:t>
            </a: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75000"/>
                  </a:schemeClr>
                </a:solidFill>
              </a:rPr>
              <a:t>Vision</a:t>
            </a: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rgbClr val="006DA5"/>
                </a:solidFill>
              </a:rPr>
              <a:t>Generative AI</a:t>
            </a:r>
            <a:endParaRPr lang="en-US" sz="2400" b="1" dirty="0">
              <a:solidFill>
                <a:srgbClr val="006DA5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Reinforcement Learning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931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13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01505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Generative AI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670754" y="2199359"/>
            <a:ext cx="780249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2000" dirty="0"/>
              <a:t>La inteligencia artificial generativa es una rama de la IA que permite a las máquinas </a:t>
            </a:r>
            <a:r>
              <a:rPr lang="es-ES" sz="2000" b="1" dirty="0"/>
              <a:t>crear contenido nuevo</a:t>
            </a:r>
            <a:r>
              <a:rPr lang="es-ES" sz="2000" dirty="0"/>
              <a:t>: imágenes, texto, audio, código, etc. Pasamos de modelos que analizan y predicen a modelos que imagina, sintetizan y generan datos.</a:t>
            </a:r>
          </a:p>
          <a:p>
            <a:pPr algn="just">
              <a:spcAft>
                <a:spcPts val="600"/>
              </a:spcAft>
            </a:pPr>
            <a:r>
              <a:rPr lang="es-ES" sz="2000" dirty="0"/>
              <a:t>La mayoría de modelos son de aprendizaje profundo (</a:t>
            </a:r>
            <a:r>
              <a:rPr lang="es-ES" sz="2000" b="1" i="1" dirty="0" err="1"/>
              <a:t>deep</a:t>
            </a:r>
            <a:r>
              <a:rPr lang="es-ES" sz="2000" b="1" i="1" dirty="0"/>
              <a:t> </a:t>
            </a:r>
            <a:r>
              <a:rPr lang="es-ES" sz="2000" b="1" i="1" dirty="0" err="1"/>
              <a:t>learning</a:t>
            </a:r>
            <a:r>
              <a:rPr lang="es-ES" sz="2000" dirty="0"/>
              <a:t>).</a:t>
            </a:r>
          </a:p>
          <a:p>
            <a:pPr algn="just">
              <a:spcAft>
                <a:spcPts val="600"/>
              </a:spcAft>
            </a:pPr>
            <a:r>
              <a:rPr lang="es-ES" sz="2000" dirty="0"/>
              <a:t>Algunos de estos modelos han vivido un boom durante los últimos años: </a:t>
            </a:r>
            <a:r>
              <a:rPr lang="es-ES" sz="2000" dirty="0" err="1"/>
              <a:t>ChatGPT</a:t>
            </a:r>
            <a:r>
              <a:rPr lang="es-ES" sz="2000" dirty="0"/>
              <a:t>, DALL-E, </a:t>
            </a:r>
            <a:r>
              <a:rPr lang="es-ES" sz="2000" dirty="0" err="1"/>
              <a:t>Copilot</a:t>
            </a:r>
            <a:r>
              <a:rPr lang="es-ES" sz="2000" dirty="0"/>
              <a:t>, generadores de voces artificiales…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Generative - Free networking icons">
            <a:extLst>
              <a:ext uri="{FF2B5EF4-FFF2-40B4-BE49-F238E27FC236}">
                <a16:creationId xmlns:a16="http://schemas.microsoft.com/office/drawing/2014/main" id="{83265004-7D4F-4D0F-B82E-1465949EC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18" y="1343121"/>
            <a:ext cx="453198" cy="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he ChatGPT, AI-Generated Studio Ghibli Trend, Explained">
            <a:extLst>
              <a:ext uri="{FF2B5EF4-FFF2-40B4-BE49-F238E27FC236}">
                <a16:creationId xmlns:a16="http://schemas.microsoft.com/office/drawing/2014/main" id="{0B26C496-80D2-46B9-8636-A9943217D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69" y="4858512"/>
            <a:ext cx="2436876" cy="16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30+ ChatGPT Memes Madness [Not generated by ChatGPT 🤣] | Engati">
            <a:extLst>
              <a:ext uri="{FF2B5EF4-FFF2-40B4-BE49-F238E27FC236}">
                <a16:creationId xmlns:a16="http://schemas.microsoft.com/office/drawing/2014/main" id="{53647D7A-BBDD-48AC-A1EF-097B1A47C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168" y="4797128"/>
            <a:ext cx="2121509" cy="168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26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14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576580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Generative Adversarial Networks (</a:t>
            </a:r>
            <a:r>
              <a:rPr lang="es-ES" sz="2400" b="1" dirty="0" err="1">
                <a:latin typeface="+mn-lt"/>
              </a:rPr>
              <a:t>GANs</a:t>
            </a:r>
            <a:r>
              <a:rPr lang="es-ES" sz="2400" b="1" dirty="0">
                <a:latin typeface="+mn-lt"/>
              </a:rPr>
              <a:t>)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80280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Dos redes compiten entre sí, el </a:t>
            </a:r>
            <a:r>
              <a:rPr lang="es-ES" sz="2000" b="1" dirty="0"/>
              <a:t>generador</a:t>
            </a:r>
            <a:r>
              <a:rPr lang="es-ES" sz="2000" dirty="0"/>
              <a:t> intenta crear datos falsos que parezcan rales, mientras que el </a:t>
            </a:r>
            <a:r>
              <a:rPr lang="es-ES" sz="2000" b="1" dirty="0"/>
              <a:t>discriminador</a:t>
            </a:r>
            <a:r>
              <a:rPr lang="es-ES" sz="2000" dirty="0"/>
              <a:t> intenta distinguir los reales de los generados artificialmente.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Se entrenan hasta que el generador engaña regularmente al discriminador.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Example of GAN Architecture | Download Scientific Diagram">
            <a:extLst>
              <a:ext uri="{FF2B5EF4-FFF2-40B4-BE49-F238E27FC236}">
                <a16:creationId xmlns:a16="http://schemas.microsoft.com/office/drawing/2014/main" id="{E6C63A42-D9CE-4732-92FB-5B5918D38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029" y="3717765"/>
            <a:ext cx="4873942" cy="282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enerative - Free networking icons">
            <a:extLst>
              <a:ext uri="{FF2B5EF4-FFF2-40B4-BE49-F238E27FC236}">
                <a16:creationId xmlns:a16="http://schemas.microsoft.com/office/drawing/2014/main" id="{8B3F8943-054F-4441-98A2-4364C6004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18" y="1343121"/>
            <a:ext cx="453198" cy="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16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15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576580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Transformers generativos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57975" y="2074783"/>
            <a:ext cx="609885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000" dirty="0"/>
              <a:t>Arquitectura base de modelos como </a:t>
            </a:r>
            <a:r>
              <a:rPr lang="es-ES" sz="2000" dirty="0" err="1"/>
              <a:t>ChatGPT</a:t>
            </a:r>
            <a:r>
              <a:rPr lang="es-ES" sz="2000" dirty="0"/>
              <a:t>, </a:t>
            </a:r>
            <a:r>
              <a:rPr lang="es-ES" sz="2000" dirty="0" err="1"/>
              <a:t>Copilot</a:t>
            </a:r>
            <a:r>
              <a:rPr lang="es-ES" sz="2000" dirty="0"/>
              <a:t>, </a:t>
            </a:r>
            <a:r>
              <a:rPr lang="es-ES" sz="2000" dirty="0" err="1"/>
              <a:t>Bard</a:t>
            </a:r>
            <a:r>
              <a:rPr lang="es-ES" sz="2000" dirty="0"/>
              <a:t> o Claude (</a:t>
            </a:r>
            <a:r>
              <a:rPr lang="es-ES" sz="2000" b="1" dirty="0" err="1"/>
              <a:t>LLMs</a:t>
            </a:r>
            <a:r>
              <a:rPr lang="es-ES" sz="2000" dirty="0"/>
              <a:t>)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Introducen los mecanismos de </a:t>
            </a:r>
            <a:r>
              <a:rPr lang="es-ES" sz="2000" b="1" dirty="0"/>
              <a:t>atención</a:t>
            </a:r>
            <a:r>
              <a:rPr lang="es-ES" sz="2000" dirty="0"/>
              <a:t>, que permite a los modelos centrarse en las partes relevantes de una secuencia.</a:t>
            </a:r>
          </a:p>
          <a:p>
            <a:pPr algn="just">
              <a:spcAft>
                <a:spcPts val="1200"/>
              </a:spcAft>
            </a:pPr>
            <a:r>
              <a:rPr lang="es-ES" sz="2000" dirty="0"/>
              <a:t>Entrenamiento </a:t>
            </a:r>
            <a:r>
              <a:rPr lang="es-ES" sz="2000" b="1" dirty="0" err="1"/>
              <a:t>autoregresivo</a:t>
            </a:r>
            <a:r>
              <a:rPr lang="es-ES" sz="2000" dirty="0"/>
              <a:t>: los modelos predicen el siguiente token (palabra, carácter, símbolo) según el contexto previo.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 descr="An example of the self-attention mechanism following long-distance... |  Download Scientific Diagram">
            <a:extLst>
              <a:ext uri="{FF2B5EF4-FFF2-40B4-BE49-F238E27FC236}">
                <a16:creationId xmlns:a16="http://schemas.microsoft.com/office/drawing/2014/main" id="{1349F7B1-8D58-4524-9BAE-537B63E43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378" y="2264477"/>
            <a:ext cx="2172299" cy="205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Autoregressive sampling. The LLM is sampled to generate a single-token... |  Download Scientific Diagram">
            <a:extLst>
              <a:ext uri="{FF2B5EF4-FFF2-40B4-BE49-F238E27FC236}">
                <a16:creationId xmlns:a16="http://schemas.microsoft.com/office/drawing/2014/main" id="{B842A5E8-5CDD-4289-9EFB-C8AE9968C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435" y="4937105"/>
            <a:ext cx="3681130" cy="135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91300-B274-4D62-BCA8-D4D60867E468}"/>
              </a:ext>
            </a:extLst>
          </p:cNvPr>
          <p:cNvSpPr txBox="1"/>
          <p:nvPr/>
        </p:nvSpPr>
        <p:spPr>
          <a:xfrm>
            <a:off x="7117287" y="4425696"/>
            <a:ext cx="1554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Mecanismo</a:t>
            </a:r>
            <a:r>
              <a:rPr lang="en-US" sz="1050" dirty="0"/>
              <a:t> de </a:t>
            </a:r>
            <a:r>
              <a:rPr lang="en-US" sz="1050" dirty="0" err="1"/>
              <a:t>atención</a:t>
            </a:r>
            <a:endParaRPr lang="en-150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760D2-707D-4AAE-A474-50395B20E03A}"/>
              </a:ext>
            </a:extLst>
          </p:cNvPr>
          <p:cNvSpPr txBox="1"/>
          <p:nvPr/>
        </p:nvSpPr>
        <p:spPr>
          <a:xfrm>
            <a:off x="3794760" y="6324977"/>
            <a:ext cx="1554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LLM </a:t>
            </a:r>
            <a:r>
              <a:rPr lang="en-US" sz="1050" dirty="0" err="1"/>
              <a:t>autoregresivo</a:t>
            </a:r>
            <a:endParaRPr lang="en-150" sz="1050" dirty="0"/>
          </a:p>
        </p:txBody>
      </p:sp>
      <p:pic>
        <p:nvPicPr>
          <p:cNvPr id="13" name="Picture 2" descr="Generative - Free networking icons">
            <a:extLst>
              <a:ext uri="{FF2B5EF4-FFF2-40B4-BE49-F238E27FC236}">
                <a16:creationId xmlns:a16="http://schemas.microsoft.com/office/drawing/2014/main" id="{BDBEA6ED-B2FD-4AE0-B4AF-1FF0BC01F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18" y="1343121"/>
            <a:ext cx="453198" cy="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48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16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576580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 la IA generativa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10">
            <a:extLst>
              <a:ext uri="{FF2B5EF4-FFF2-40B4-BE49-F238E27FC236}">
                <a16:creationId xmlns:a16="http://schemas.microsoft.com/office/drawing/2014/main" id="{C75363AA-E544-4493-87CD-6A274F4A94F9}"/>
              </a:ext>
            </a:extLst>
          </p:cNvPr>
          <p:cNvSpPr/>
          <p:nvPr/>
        </p:nvSpPr>
        <p:spPr>
          <a:xfrm>
            <a:off x="557975" y="2074783"/>
            <a:ext cx="813123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1. Diseño generativo de componentes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Algoritmos que exploran miles de opciones de diseño bajo restricciones físicas.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Generación de estructuras mecánicas optimizadas para peso, aerodinámica, etc.</a:t>
            </a:r>
          </a:p>
          <a:p>
            <a:pPr algn="just">
              <a:spcAft>
                <a:spcPts val="600"/>
              </a:spcAft>
            </a:pPr>
            <a:r>
              <a:rPr lang="es-ES" dirty="0"/>
              <a:t> </a:t>
            </a:r>
          </a:p>
          <a:p>
            <a:pPr algn="just">
              <a:spcAft>
                <a:spcPts val="600"/>
              </a:spcAft>
            </a:pPr>
            <a:r>
              <a:rPr lang="es-ES" b="1" dirty="0"/>
              <a:t>2. Simulación de datos y entornos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Generación de datos sintéticos para entrenar modelos sin necesidad de grandes </a:t>
            </a:r>
            <a:r>
              <a:rPr lang="es-ES" dirty="0" err="1"/>
              <a:t>datasets</a:t>
            </a:r>
            <a:r>
              <a:rPr lang="es-ES" dirty="0"/>
              <a:t> reales.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Simulación de fallos, condiciones extremas o rarezas en líneas de producción.</a:t>
            </a:r>
          </a:p>
        </p:txBody>
      </p:sp>
      <p:pic>
        <p:nvPicPr>
          <p:cNvPr id="12290" name="Picture 2" descr="Survey on Synthetic Data Generation, Evaluation Methods and GANs">
            <a:extLst>
              <a:ext uri="{FF2B5EF4-FFF2-40B4-BE49-F238E27FC236}">
                <a16:creationId xmlns:a16="http://schemas.microsoft.com/office/drawing/2014/main" id="{E699102C-5A42-4842-BD27-B761083E9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269" y="4917308"/>
            <a:ext cx="2195461" cy="175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enerative - Free networking icons">
            <a:extLst>
              <a:ext uri="{FF2B5EF4-FFF2-40B4-BE49-F238E27FC236}">
                <a16:creationId xmlns:a16="http://schemas.microsoft.com/office/drawing/2014/main" id="{6A5C2EC9-C1FF-42B4-B067-C016866D4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18" y="1343121"/>
            <a:ext cx="453198" cy="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729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17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576580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 la IA generativa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10">
            <a:extLst>
              <a:ext uri="{FF2B5EF4-FFF2-40B4-BE49-F238E27FC236}">
                <a16:creationId xmlns:a16="http://schemas.microsoft.com/office/drawing/2014/main" id="{C75363AA-E544-4493-87CD-6A274F4A94F9}"/>
              </a:ext>
            </a:extLst>
          </p:cNvPr>
          <p:cNvSpPr/>
          <p:nvPr/>
        </p:nvSpPr>
        <p:spPr>
          <a:xfrm>
            <a:off x="557975" y="2074783"/>
            <a:ext cx="551973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3. Asistentes inteligentes en mantenimiento y operación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 err="1"/>
              <a:t>LLMs</a:t>
            </a:r>
            <a:r>
              <a:rPr lang="es-ES" dirty="0"/>
              <a:t> personalizados para soporte técnico (</a:t>
            </a:r>
            <a:r>
              <a:rPr lang="es-ES" dirty="0" err="1"/>
              <a:t>chatbots</a:t>
            </a:r>
            <a:r>
              <a:rPr lang="es-ES" dirty="0"/>
              <a:t> avanzados)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Generación de manuales interactivos y resúmenes automáticos.</a:t>
            </a:r>
          </a:p>
          <a:p>
            <a:pPr algn="just">
              <a:spcAft>
                <a:spcPts val="600"/>
              </a:spcAft>
            </a:pPr>
            <a:endParaRPr lang="es-ES" dirty="0"/>
          </a:p>
          <a:p>
            <a:pPr algn="just">
              <a:spcAft>
                <a:spcPts val="600"/>
              </a:spcAft>
            </a:pPr>
            <a:r>
              <a:rPr lang="es-ES" b="1" dirty="0"/>
              <a:t>4. Generación de imágenes para control visual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Ampliar </a:t>
            </a:r>
            <a:r>
              <a:rPr lang="es-ES" dirty="0" err="1"/>
              <a:t>datasets</a:t>
            </a:r>
            <a:r>
              <a:rPr lang="es-ES" dirty="0"/>
              <a:t> con imágenes sintéticas en sistemas de visión artificial.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Aumenta la robustez de modelos de detección visual.</a:t>
            </a:r>
          </a:p>
        </p:txBody>
      </p:sp>
      <p:pic>
        <p:nvPicPr>
          <p:cNvPr id="13318" name="Picture 6" descr="Generative AI in Manufacturing: Smarter, More Efficient Factories">
            <a:extLst>
              <a:ext uri="{FF2B5EF4-FFF2-40B4-BE49-F238E27FC236}">
                <a16:creationId xmlns:a16="http://schemas.microsoft.com/office/drawing/2014/main" id="{E5487D47-BB1A-42CE-A6F6-51605995C7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0" t="29054" r="29375"/>
          <a:stretch/>
        </p:blipFill>
        <p:spPr bwMode="auto">
          <a:xfrm>
            <a:off x="6457950" y="2433755"/>
            <a:ext cx="2391208" cy="260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Generative - Free networking icons">
            <a:extLst>
              <a:ext uri="{FF2B5EF4-FFF2-40B4-BE49-F238E27FC236}">
                <a16:creationId xmlns:a16="http://schemas.microsoft.com/office/drawing/2014/main" id="{88A2F3DE-9F4F-47A9-AECB-39366510A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18" y="1343121"/>
            <a:ext cx="453198" cy="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950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18</a:t>
            </a:fld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99944" y="2247071"/>
            <a:ext cx="8291655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dirty="0" err="1">
                <a:solidFill>
                  <a:schemeClr val="bg1">
                    <a:lumMod val="75000"/>
                  </a:schemeClr>
                </a:solidFill>
              </a:rPr>
              <a:t>Computer</a:t>
            </a: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bg1">
                    <a:lumMod val="75000"/>
                  </a:schemeClr>
                </a:solidFill>
              </a:rPr>
              <a:t>Vision</a:t>
            </a: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2400" b="1" dirty="0">
                <a:solidFill>
                  <a:schemeClr val="bg1">
                    <a:lumMod val="75000"/>
                  </a:schemeClr>
                </a:solidFill>
              </a:rPr>
              <a:t>Generative AI</a:t>
            </a:r>
            <a:endParaRPr lang="en-US" sz="2400" b="1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6DA5"/>
                </a:solidFill>
              </a:rPr>
              <a:t>Reinforcement Learning</a:t>
            </a:r>
            <a:endParaRPr lang="es-ES" sz="2400" b="1" dirty="0">
              <a:solidFill>
                <a:srgbClr val="006D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169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19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01505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Reinforcement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Learning</a:t>
            </a:r>
            <a:endParaRPr lang="es-ES" sz="2400" b="1" dirty="0">
              <a:latin typeface="+mn-lt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712859" y="2250781"/>
            <a:ext cx="7802491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2000" dirty="0"/>
              <a:t>Tipo aprendizaje automático donde un agente aprende a tomar decisiones mediante prueba y error, interactuando con un entorno y recibiendo recompensas o penalizaciones.</a:t>
            </a:r>
          </a:p>
          <a:p>
            <a:pPr>
              <a:spcAft>
                <a:spcPts val="600"/>
              </a:spcAft>
            </a:pPr>
            <a:r>
              <a:rPr lang="es-ES" sz="2000" dirty="0"/>
              <a:t>Como entrenar a una mascota: se refuerzan las acciones deseadas y se penalizan las no deseadas.</a:t>
            </a:r>
          </a:p>
          <a:p>
            <a:pPr>
              <a:spcAft>
                <a:spcPts val="600"/>
              </a:spcAft>
            </a:pPr>
            <a:r>
              <a:rPr lang="es-ES" sz="2000" dirty="0"/>
              <a:t>Ideal para problemas donde no se tienen datos etiquetados, pero se puede simular o experimentar.</a:t>
            </a:r>
          </a:p>
          <a:p>
            <a:pPr algn="just">
              <a:spcAft>
                <a:spcPts val="600"/>
              </a:spcAft>
            </a:pPr>
            <a:endParaRPr lang="en-US" sz="200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Reinforcement learning - Free computer icons">
            <a:extLst>
              <a:ext uri="{FF2B5EF4-FFF2-40B4-BE49-F238E27FC236}">
                <a16:creationId xmlns:a16="http://schemas.microsoft.com/office/drawing/2014/main" id="{DDC3DF84-1628-43EB-93AF-7BA23FD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7" y="12997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≡ Reinforcement Learning • Reinforcement Learning Applications">
            <a:extLst>
              <a:ext uri="{FF2B5EF4-FFF2-40B4-BE49-F238E27FC236}">
                <a16:creationId xmlns:a16="http://schemas.microsoft.com/office/drawing/2014/main" id="{6355BE3A-8E46-49AE-98E0-B7678F12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609" y="4737593"/>
            <a:ext cx="4624989" cy="189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9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20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015055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Reinforcement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Learning</a:t>
            </a:r>
            <a:endParaRPr lang="es-ES" sz="2400" b="1" dirty="0">
              <a:latin typeface="+mn-lt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Reinforcement learning - Free computer icons">
            <a:extLst>
              <a:ext uri="{FF2B5EF4-FFF2-40B4-BE49-F238E27FC236}">
                <a16:creationId xmlns:a16="http://schemas.microsoft.com/office/drawing/2014/main" id="{DDC3DF84-1628-43EB-93AF-7BA23FD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7" y="12997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inforcement Learning 101. Learn the essentials of Reinforcement… | by  Shweta Bhatt | Towards Data Science">
            <a:extLst>
              <a:ext uri="{FF2B5EF4-FFF2-40B4-BE49-F238E27FC236}">
                <a16:creationId xmlns:a16="http://schemas.microsoft.com/office/drawing/2014/main" id="{0BC4C769-4343-4BA1-BEF4-7105CBE02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857" y="3903747"/>
            <a:ext cx="6166283" cy="237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40365E-3707-4BD7-9D46-A0FCBDD6BC4F}"/>
              </a:ext>
            </a:extLst>
          </p:cNvPr>
          <p:cNvSpPr txBox="1"/>
          <p:nvPr/>
        </p:nvSpPr>
        <p:spPr>
          <a:xfrm>
            <a:off x="591222" y="2002247"/>
            <a:ext cx="79615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/>
              <a:t>En el aprendizaje por refuerzo, un </a:t>
            </a:r>
            <a:r>
              <a:rPr lang="es-ES" sz="1800" b="1" dirty="0"/>
              <a:t>agente</a:t>
            </a:r>
            <a:r>
              <a:rPr lang="es-ES" sz="1800" dirty="0"/>
              <a:t> recibe información en forma de </a:t>
            </a:r>
            <a:r>
              <a:rPr lang="es-ES" sz="1800" b="1" dirty="0"/>
              <a:t>recompensas o castigos en función de sus acciones</a:t>
            </a:r>
            <a:r>
              <a:rPr lang="es-ES" sz="1800" dirty="0"/>
              <a:t>. El objetivo del agente es </a:t>
            </a:r>
            <a:r>
              <a:rPr lang="es-ES" sz="1800" b="1" dirty="0"/>
              <a:t>aprender una política que maximice la recompensa </a:t>
            </a:r>
            <a:r>
              <a:rPr lang="es-ES" sz="1800" dirty="0"/>
              <a:t>acumulada a lo largo del tiempo. En este proceso, el agente realiza acciones, recibe </a:t>
            </a:r>
            <a:r>
              <a:rPr lang="es-ES" sz="1800" b="1" dirty="0"/>
              <a:t>retroalimentación</a:t>
            </a:r>
            <a:r>
              <a:rPr lang="es-ES" sz="1800" dirty="0"/>
              <a:t> en forma de recompensas o castigos y </a:t>
            </a:r>
            <a:r>
              <a:rPr lang="es-ES" sz="1800" b="1" dirty="0"/>
              <a:t>actualiza su modelo </a:t>
            </a:r>
            <a:r>
              <a:rPr lang="es-ES" sz="1800" dirty="0"/>
              <a:t>interno del entorno basándose en esta retroalimentación.</a:t>
            </a:r>
          </a:p>
        </p:txBody>
      </p:sp>
    </p:spTree>
    <p:extLst>
      <p:ext uri="{BB962C8B-B14F-4D97-AF65-F5344CB8AC3E}">
        <p14:creationId xmlns:p14="http://schemas.microsoft.com/office/powerpoint/2010/main" val="333678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21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7569972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 err="1">
                <a:latin typeface="+mn-lt"/>
              </a:rPr>
              <a:t>Reinforcement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Learning</a:t>
            </a:r>
            <a:r>
              <a:rPr lang="es-ES" sz="2400" b="1" dirty="0">
                <a:latin typeface="+mn-lt"/>
              </a:rPr>
              <a:t> vs. Aprendizaje Supervisado 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Reinforcement learning - Free computer icons">
            <a:extLst>
              <a:ext uri="{FF2B5EF4-FFF2-40B4-BE49-F238E27FC236}">
                <a16:creationId xmlns:a16="http://schemas.microsoft.com/office/drawing/2014/main" id="{DDC3DF84-1628-43EB-93AF-7BA23FD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7" y="12997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a 4">
            <a:extLst>
              <a:ext uri="{FF2B5EF4-FFF2-40B4-BE49-F238E27FC236}">
                <a16:creationId xmlns:a16="http://schemas.microsoft.com/office/drawing/2014/main" id="{D00058A2-4081-4D76-84BE-311749041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93722"/>
              </p:ext>
            </p:extLst>
          </p:nvPr>
        </p:nvGraphicFramePr>
        <p:xfrm>
          <a:off x="628649" y="2072534"/>
          <a:ext cx="8029575" cy="4154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8604">
                  <a:extLst>
                    <a:ext uri="{9D8B030D-6E8A-4147-A177-3AD203B41FA5}">
                      <a16:colId xmlns:a16="http://schemas.microsoft.com/office/drawing/2014/main" val="964750674"/>
                    </a:ext>
                  </a:extLst>
                </a:gridCol>
                <a:gridCol w="2727222">
                  <a:extLst>
                    <a:ext uri="{9D8B030D-6E8A-4147-A177-3AD203B41FA5}">
                      <a16:colId xmlns:a16="http://schemas.microsoft.com/office/drawing/2014/main" val="1685349351"/>
                    </a:ext>
                  </a:extLst>
                </a:gridCol>
                <a:gridCol w="3333749">
                  <a:extLst>
                    <a:ext uri="{9D8B030D-6E8A-4147-A177-3AD203B41FA5}">
                      <a16:colId xmlns:a16="http://schemas.microsoft.com/office/drawing/2014/main" val="3463354384"/>
                    </a:ext>
                  </a:extLst>
                </a:gridCol>
              </a:tblGrid>
              <a:tr h="28678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>
                          <a:effectLst/>
                        </a:rPr>
                        <a:t>Característica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>
                          <a:effectLst/>
                        </a:rPr>
                        <a:t>Aprendizaje supervisado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1" u="none" strike="noStrike" dirty="0" err="1">
                          <a:effectLst/>
                        </a:rPr>
                        <a:t>Reinforcement</a:t>
                      </a:r>
                      <a:r>
                        <a:rPr lang="es-ES" sz="1400" b="1" u="none" strike="noStrike" dirty="0">
                          <a:effectLst/>
                        </a:rPr>
                        <a:t> </a:t>
                      </a:r>
                      <a:r>
                        <a:rPr lang="es-ES" sz="1400" b="1" u="none" strike="noStrike" dirty="0" err="1">
                          <a:effectLst/>
                        </a:rPr>
                        <a:t>Learning</a:t>
                      </a:r>
                      <a:endParaRPr lang="es-E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74412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Objetivo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aprender una función que asigne entradas a salidas basándose en ejemplos etiquetados.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aprender una política que maximice la recompensa acumulada a lo largo del tiempo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631584"/>
                  </a:ext>
                </a:extLst>
              </a:tr>
              <a:tr h="69997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Retroalimentación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el modelo recibe retroalimentación en forma de ejemplos etiquetados y sus salidas correctas.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el agente recibe retroalimentación en forma de recompensas o castigos basados en sus acciones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80785"/>
                  </a:ext>
                </a:extLst>
              </a:tr>
              <a:tr h="52498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>
                          <a:effectLst/>
                        </a:rPr>
                        <a:t>Datos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los datos suelen proporcionarse en forma de ejemplos etiquetados.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el agente puede interactuar con su entorno y recopilar datos mediante ensayo y error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481514"/>
                  </a:ext>
                </a:extLst>
              </a:tr>
              <a:tr h="874969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>
                          <a:effectLst/>
                        </a:rPr>
                        <a:t>Etiquetas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los datos deben etiquetarse con la salida correcta para cada entrada.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los datos no están necesariamente etiquetados, ya que el agente aprende por ensayo y error y recibe retroalimentación en forma de recompensas o castigos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035199"/>
                  </a:ext>
                </a:extLst>
              </a:tr>
              <a:tr h="104996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>
                          <a:effectLst/>
                        </a:rPr>
                        <a:t>Aplicaciones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más habitual en aplicaciones en las que la correspondencia entre entradas y salidas está bien definida y se dispone de una gran cantidad de datos etiquetados.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</a:rPr>
                        <a:t>se utiliza a menudo en entornos complejos y dinámicos, como la robótica y los sistemas autónomos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25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670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22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966724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del </a:t>
            </a:r>
            <a:r>
              <a:rPr lang="es-ES" sz="2400" b="1" dirty="0" err="1">
                <a:latin typeface="+mn-lt"/>
              </a:rPr>
              <a:t>Reinforcement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Learning</a:t>
            </a:r>
            <a:endParaRPr lang="es-ES" sz="2400" b="1" dirty="0">
              <a:latin typeface="+mn-lt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Reinforcement learning - Free computer icons">
            <a:extLst>
              <a:ext uri="{FF2B5EF4-FFF2-40B4-BE49-F238E27FC236}">
                <a16:creationId xmlns:a16="http://schemas.microsoft.com/office/drawing/2014/main" id="{DDC3DF84-1628-43EB-93AF-7BA23FD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7" y="12997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10">
            <a:extLst>
              <a:ext uri="{FF2B5EF4-FFF2-40B4-BE49-F238E27FC236}">
                <a16:creationId xmlns:a16="http://schemas.microsoft.com/office/drawing/2014/main" id="{1E2539F0-5618-436A-B552-C54CF241BCA1}"/>
              </a:ext>
            </a:extLst>
          </p:cNvPr>
          <p:cNvSpPr/>
          <p:nvPr/>
        </p:nvSpPr>
        <p:spPr>
          <a:xfrm>
            <a:off x="557975" y="2074783"/>
            <a:ext cx="4623625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1. Optimización de procesos industriales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Ajuste dinámico de parámetros en tiempo real (temperaturas, presiones, velocidades).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Minimizar residuos, maximizar eficiencia. </a:t>
            </a:r>
          </a:p>
          <a:p>
            <a:pPr algn="just">
              <a:spcAft>
                <a:spcPts val="600"/>
              </a:spcAft>
            </a:pPr>
            <a:endParaRPr lang="es-ES" dirty="0"/>
          </a:p>
          <a:p>
            <a:pPr algn="just">
              <a:spcAft>
                <a:spcPts val="600"/>
              </a:spcAft>
            </a:pPr>
            <a:r>
              <a:rPr lang="es-ES" b="1" dirty="0"/>
              <a:t>2. Control inteligente de robots y </a:t>
            </a:r>
            <a:r>
              <a:rPr lang="es-ES" b="1" dirty="0" err="1"/>
              <a:t>AGVs</a:t>
            </a:r>
            <a:endParaRPr lang="es-ES" b="1" dirty="0"/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Navegación y toma de decisiones de robots móviles (vehículos guiados automáticamente).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Aprenden a evitar obstáculos, optimizar rutas, y cooperar en entornos compartidos.</a:t>
            </a:r>
          </a:p>
        </p:txBody>
      </p:sp>
      <p:pic>
        <p:nvPicPr>
          <p:cNvPr id="14338" name="Picture 2" descr="Automated Guided Vehicles (AGVs): AGV Meaning &amp; Key Benefits">
            <a:extLst>
              <a:ext uri="{FF2B5EF4-FFF2-40B4-BE49-F238E27FC236}">
                <a16:creationId xmlns:a16="http://schemas.microsoft.com/office/drawing/2014/main" id="{8C5A38CA-1FE4-42B1-962F-8066FAA6A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159" y="4026588"/>
            <a:ext cx="2713634" cy="165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A Review of Deep Reinforcement Learning Approaches for Smart Manufacturing  in Industry 4.0 and 5.0 Framework">
            <a:extLst>
              <a:ext uri="{FF2B5EF4-FFF2-40B4-BE49-F238E27FC236}">
                <a16:creationId xmlns:a16="http://schemas.microsoft.com/office/drawing/2014/main" id="{416DB3F7-7C6A-4C1C-B83F-5CF115B96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029" y="2002245"/>
            <a:ext cx="2475894" cy="165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057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23</a:t>
            </a:fld>
            <a:endParaRPr lang="es-ES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080252" y="1238792"/>
            <a:ext cx="5966724" cy="763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b="1" dirty="0">
                <a:latin typeface="+mn-lt"/>
              </a:rPr>
              <a:t>Aplicaciones del </a:t>
            </a:r>
            <a:r>
              <a:rPr lang="es-ES" sz="2400" b="1" dirty="0" err="1">
                <a:latin typeface="+mn-lt"/>
              </a:rPr>
              <a:t>Reinforcement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Learning</a:t>
            </a:r>
            <a:endParaRPr lang="es-ES" sz="2400" b="1" dirty="0">
              <a:latin typeface="+mn-lt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38C6B96-5F53-4DF4-8816-1039A00A8608}"/>
              </a:ext>
            </a:extLst>
          </p:cNvPr>
          <p:cNvSpPr/>
          <p:nvPr/>
        </p:nvSpPr>
        <p:spPr>
          <a:xfrm>
            <a:off x="406364" y="1284367"/>
            <a:ext cx="570706" cy="5707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927D516-80D4-4AEC-8DB1-C02B4334C4C1}"/>
              </a:ext>
            </a:extLst>
          </p:cNvPr>
          <p:cNvCxnSpPr/>
          <p:nvPr/>
        </p:nvCxnSpPr>
        <p:spPr>
          <a:xfrm flipV="1">
            <a:off x="-37" y="1569720"/>
            <a:ext cx="406401" cy="3437"/>
          </a:xfrm>
          <a:prstGeom prst="line">
            <a:avLst/>
          </a:prstGeom>
          <a:ln w="57150">
            <a:solidFill>
              <a:srgbClr val="00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Reinforcement learning - Free computer icons">
            <a:extLst>
              <a:ext uri="{FF2B5EF4-FFF2-40B4-BE49-F238E27FC236}">
                <a16:creationId xmlns:a16="http://schemas.microsoft.com/office/drawing/2014/main" id="{DDC3DF84-1628-43EB-93AF-7BA23FD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17" y="12997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10">
            <a:extLst>
              <a:ext uri="{FF2B5EF4-FFF2-40B4-BE49-F238E27FC236}">
                <a16:creationId xmlns:a16="http://schemas.microsoft.com/office/drawing/2014/main" id="{1E2539F0-5618-436A-B552-C54CF241BCA1}"/>
              </a:ext>
            </a:extLst>
          </p:cNvPr>
          <p:cNvSpPr/>
          <p:nvPr/>
        </p:nvSpPr>
        <p:spPr>
          <a:xfrm>
            <a:off x="557975" y="2074783"/>
            <a:ext cx="79573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b="1" dirty="0"/>
              <a:t>3. Gestión de energía en vehículos eléctricos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Control óptimo de carga y descarga de baterías.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Predicción de uso y adaptación al comportamiento del conductor.</a:t>
            </a:r>
          </a:p>
        </p:txBody>
      </p:sp>
      <p:pic>
        <p:nvPicPr>
          <p:cNvPr id="15362" name="Picture 2" descr="Optimization of Electric Vehicles Charging Scheduling Based on Deep Reinforcement  Learning: A Decentralized Approach">
            <a:extLst>
              <a:ext uri="{FF2B5EF4-FFF2-40B4-BE49-F238E27FC236}">
                <a16:creationId xmlns:a16="http://schemas.microsoft.com/office/drawing/2014/main" id="{F0DB9B1A-4E7A-4839-9958-AA63037DC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070" y="3371711"/>
            <a:ext cx="4139184" cy="290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2675FF-BE28-49DF-926A-FF421BDAAAA1}"/>
              </a:ext>
            </a:extLst>
          </p:cNvPr>
          <p:cNvSpPr txBox="1"/>
          <p:nvPr/>
        </p:nvSpPr>
        <p:spPr>
          <a:xfrm>
            <a:off x="2615184" y="6307787"/>
            <a:ext cx="3913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Fuente: </a:t>
            </a:r>
            <a:r>
              <a:rPr lang="en-US" sz="1100" dirty="0">
                <a:hlinkClick r:id="rId5"/>
              </a:rPr>
              <a:t>https://www.mdpi.com/1996-1073/16/24/8102</a:t>
            </a:r>
            <a:r>
              <a:rPr lang="en-US" sz="1100" dirty="0"/>
              <a:t> </a:t>
            </a:r>
            <a:endParaRPr lang="en-150" sz="1100" dirty="0"/>
          </a:p>
        </p:txBody>
      </p:sp>
    </p:spTree>
    <p:extLst>
      <p:ext uri="{BB962C8B-B14F-4D97-AF65-F5344CB8AC3E}">
        <p14:creationId xmlns:p14="http://schemas.microsoft.com/office/powerpoint/2010/main" val="59016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40EF-D53A-41AA-87B6-B9F74BA43E09}" type="slidenum">
              <a:rPr lang="es-ES" smtClean="0"/>
              <a:t>24</a:t>
            </a:fld>
            <a:endParaRPr lang="es-ES"/>
          </a:p>
        </p:txBody>
      </p:sp>
      <p:pic>
        <p:nvPicPr>
          <p:cNvPr id="1026" name="Picture 2" descr="File:Jupyter logo.svg - Wikimedia Commons">
            <a:extLst>
              <a:ext uri="{FF2B5EF4-FFF2-40B4-BE49-F238E27FC236}">
                <a16:creationId xmlns:a16="http://schemas.microsoft.com/office/drawing/2014/main" id="{F40CB0B3-E51F-4F84-A6C6-18417C435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659" y="1908038"/>
            <a:ext cx="3754682" cy="435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92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EA6F462D-65E8-4C26-95CD-2D3D2413B20E}" vid="{C5BA857B-F713-422A-9ED6-EFEF4C09E75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25081</TotalTime>
  <Words>1483</Words>
  <Application>Microsoft Office PowerPoint</Application>
  <PresentationFormat>On-screen Show (4:3)</PresentationFormat>
  <Paragraphs>207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Tema1</vt:lpstr>
      <vt:lpstr>PowerPoint Presentation</vt:lpstr>
      <vt:lpstr>Calendario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Domin</dc:creator>
  <cp:lastModifiedBy>Marc Jené</cp:lastModifiedBy>
  <cp:revision>583</cp:revision>
  <cp:lastPrinted>2020-06-29T14:52:55Z</cp:lastPrinted>
  <dcterms:created xsi:type="dcterms:W3CDTF">2019-10-15T08:45:43Z</dcterms:created>
  <dcterms:modified xsi:type="dcterms:W3CDTF">2025-04-02T15:21:57Z</dcterms:modified>
</cp:coreProperties>
</file>