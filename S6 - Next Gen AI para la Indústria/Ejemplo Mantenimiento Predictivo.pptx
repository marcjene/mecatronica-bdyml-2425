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0"/>
  </p:notesMasterIdLst>
  <p:sldIdLst>
    <p:sldId id="664" r:id="rId2"/>
    <p:sldId id="665" r:id="rId3"/>
    <p:sldId id="405" r:id="rId4"/>
    <p:sldId id="406" r:id="rId5"/>
    <p:sldId id="410" r:id="rId6"/>
    <p:sldId id="411" r:id="rId7"/>
    <p:sldId id="412" r:id="rId8"/>
    <p:sldId id="413" r:id="rId9"/>
    <p:sldId id="415" r:id="rId10"/>
    <p:sldId id="407" r:id="rId11"/>
    <p:sldId id="417" r:id="rId12"/>
    <p:sldId id="418" r:id="rId13"/>
    <p:sldId id="420" r:id="rId14"/>
    <p:sldId id="423" r:id="rId15"/>
    <p:sldId id="424" r:id="rId16"/>
    <p:sldId id="421" r:id="rId17"/>
    <p:sldId id="422" r:id="rId18"/>
    <p:sldId id="425" r:id="rId19"/>
    <p:sldId id="426" r:id="rId20"/>
    <p:sldId id="427" r:id="rId21"/>
    <p:sldId id="428" r:id="rId22"/>
    <p:sldId id="429" r:id="rId23"/>
    <p:sldId id="431" r:id="rId24"/>
    <p:sldId id="430" r:id="rId25"/>
    <p:sldId id="432" r:id="rId26"/>
    <p:sldId id="375" r:id="rId27"/>
    <p:sldId id="336" r:id="rId28"/>
    <p:sldId id="306" r:id="rId29"/>
  </p:sldIdLst>
  <p:sldSz cx="9144000" cy="6858000" type="screen4x3"/>
  <p:notesSz cx="7099300"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ra Barja" initials="SB" lastIdx="2" clrIdx="0">
    <p:extLst>
      <p:ext uri="{19B8F6BF-5375-455C-9EA6-DF929625EA0E}">
        <p15:presenceInfo xmlns:p15="http://schemas.microsoft.com/office/powerpoint/2012/main" userId="da342cd9508bf5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DA5"/>
    <a:srgbClr val="E42352"/>
    <a:srgbClr val="F17D21"/>
    <a:srgbClr val="179EB0"/>
    <a:srgbClr val="66CCFF"/>
    <a:srgbClr val="9966FF"/>
    <a:srgbClr val="FF6699"/>
    <a:srgbClr val="FF9966"/>
    <a:srgbClr val="A3E0FF"/>
    <a:srgbClr val="B3FF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90" autoAdjust="0"/>
    <p:restoredTop sz="95153" autoAdjust="0"/>
  </p:normalViewPr>
  <p:slideViewPr>
    <p:cSldViewPr snapToGrid="0">
      <p:cViewPr varScale="1">
        <p:scale>
          <a:sx n="117" d="100"/>
          <a:sy n="117" d="100"/>
        </p:scale>
        <p:origin x="1968" y="96"/>
      </p:cViewPr>
      <p:guideLst/>
    </p:cSldViewPr>
  </p:slideViewPr>
  <p:outlineViewPr>
    <p:cViewPr>
      <p:scale>
        <a:sx n="33" d="100"/>
        <a:sy n="33" d="100"/>
      </p:scale>
      <p:origin x="0" y="-336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3076363" cy="513508"/>
          </a:xfrm>
          <a:prstGeom prst="rect">
            <a:avLst/>
          </a:prstGeom>
        </p:spPr>
        <p:txBody>
          <a:bodyPr vert="horz" lIns="99041" tIns="49520" rIns="99041" bIns="49520" rtlCol="0"/>
          <a:lstStyle>
            <a:lvl1pPr algn="l">
              <a:defRPr sz="1200"/>
            </a:lvl1pPr>
          </a:lstStyle>
          <a:p>
            <a:endParaRPr lang="es-ES"/>
          </a:p>
        </p:txBody>
      </p:sp>
      <p:sp>
        <p:nvSpPr>
          <p:cNvPr id="3" name="Marcador de fecha 2"/>
          <p:cNvSpPr>
            <a:spLocks noGrp="1"/>
          </p:cNvSpPr>
          <p:nvPr>
            <p:ph type="dt" idx="1"/>
          </p:nvPr>
        </p:nvSpPr>
        <p:spPr>
          <a:xfrm>
            <a:off x="4021296" y="1"/>
            <a:ext cx="3076363" cy="513508"/>
          </a:xfrm>
          <a:prstGeom prst="rect">
            <a:avLst/>
          </a:prstGeom>
        </p:spPr>
        <p:txBody>
          <a:bodyPr vert="horz" lIns="99041" tIns="49520" rIns="99041" bIns="49520" rtlCol="0"/>
          <a:lstStyle>
            <a:lvl1pPr algn="r">
              <a:defRPr sz="1200"/>
            </a:lvl1pPr>
          </a:lstStyle>
          <a:p>
            <a:fld id="{2A6BC019-1E72-4903-8B7A-00363907A5D3}" type="datetimeFigureOut">
              <a:rPr lang="es-ES" smtClean="0"/>
              <a:t>02/04/2025</a:t>
            </a:fld>
            <a:endParaRPr lang="es-ES"/>
          </a:p>
        </p:txBody>
      </p:sp>
      <p:sp>
        <p:nvSpPr>
          <p:cNvPr id="4" name="Marcador de imagen de diapositiva 3"/>
          <p:cNvSpPr>
            <a:spLocks noGrp="1" noRot="1" noChangeAspect="1"/>
          </p:cNvSpPr>
          <p:nvPr>
            <p:ph type="sldImg" idx="2"/>
          </p:nvPr>
        </p:nvSpPr>
        <p:spPr>
          <a:xfrm>
            <a:off x="1246188" y="1279525"/>
            <a:ext cx="4606925" cy="3455988"/>
          </a:xfrm>
          <a:prstGeom prst="rect">
            <a:avLst/>
          </a:prstGeom>
          <a:noFill/>
          <a:ln w="12700">
            <a:solidFill>
              <a:prstClr val="black"/>
            </a:solidFill>
          </a:ln>
        </p:spPr>
        <p:txBody>
          <a:bodyPr vert="horz" lIns="99041" tIns="49520" rIns="99041" bIns="49520" rtlCol="0" anchor="ctr"/>
          <a:lstStyle/>
          <a:p>
            <a:endParaRPr lang="es-ES"/>
          </a:p>
        </p:txBody>
      </p:sp>
      <p:sp>
        <p:nvSpPr>
          <p:cNvPr id="5" name="Marcador de notas 4"/>
          <p:cNvSpPr>
            <a:spLocks noGrp="1"/>
          </p:cNvSpPr>
          <p:nvPr>
            <p:ph type="body" sz="quarter" idx="3"/>
          </p:nvPr>
        </p:nvSpPr>
        <p:spPr>
          <a:xfrm>
            <a:off x="709930" y="4925407"/>
            <a:ext cx="5679440" cy="4029879"/>
          </a:xfrm>
          <a:prstGeom prst="rect">
            <a:avLst/>
          </a:prstGeom>
        </p:spPr>
        <p:txBody>
          <a:bodyPr vert="horz" lIns="99041" tIns="49520" rIns="99041" bIns="495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1" y="9721108"/>
            <a:ext cx="3076363" cy="513507"/>
          </a:xfrm>
          <a:prstGeom prst="rect">
            <a:avLst/>
          </a:prstGeom>
        </p:spPr>
        <p:txBody>
          <a:bodyPr vert="horz" lIns="99041" tIns="49520" rIns="99041" bIns="495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021296" y="9721108"/>
            <a:ext cx="3076363" cy="513507"/>
          </a:xfrm>
          <a:prstGeom prst="rect">
            <a:avLst/>
          </a:prstGeom>
        </p:spPr>
        <p:txBody>
          <a:bodyPr vert="horz" lIns="99041" tIns="49520" rIns="99041" bIns="49520" rtlCol="0" anchor="b"/>
          <a:lstStyle>
            <a:lvl1pPr algn="r">
              <a:defRPr sz="1200"/>
            </a:lvl1pPr>
          </a:lstStyle>
          <a:p>
            <a:fld id="{5BC05090-5C0E-45B5-BB81-37C4A9E4751F}" type="slidenum">
              <a:rPr lang="es-ES" smtClean="0"/>
              <a:t>‹#›</a:t>
            </a:fld>
            <a:endParaRPr lang="es-ES"/>
          </a:p>
        </p:txBody>
      </p:sp>
    </p:spTree>
    <p:extLst>
      <p:ext uri="{BB962C8B-B14F-4D97-AF65-F5344CB8AC3E}">
        <p14:creationId xmlns:p14="http://schemas.microsoft.com/office/powerpoint/2010/main" val="2758764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https://www.nasa.gov/content/prognostics-center-of-excellence-data-set-repository </a:t>
            </a:r>
          </a:p>
        </p:txBody>
      </p:sp>
      <p:sp>
        <p:nvSpPr>
          <p:cNvPr id="4" name="Slide Number Placeholder 3"/>
          <p:cNvSpPr>
            <a:spLocks noGrp="1"/>
          </p:cNvSpPr>
          <p:nvPr>
            <p:ph type="sldNum" sz="quarter" idx="5"/>
          </p:nvPr>
        </p:nvSpPr>
        <p:spPr/>
        <p:txBody>
          <a:bodyPr/>
          <a:lstStyle/>
          <a:p>
            <a:fld id="{5BC05090-5C0E-45B5-BB81-37C4A9E4751F}" type="slidenum">
              <a:rPr lang="es-ES" smtClean="0"/>
              <a:t>2</a:t>
            </a:fld>
            <a:endParaRPr lang="es-ES"/>
          </a:p>
        </p:txBody>
      </p:sp>
    </p:spTree>
    <p:extLst>
      <p:ext uri="{BB962C8B-B14F-4D97-AF65-F5344CB8AC3E}">
        <p14:creationId xmlns:p14="http://schemas.microsoft.com/office/powerpoint/2010/main" val="2967944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t>Reactive maintenance </a:t>
            </a:r>
            <a:r>
              <a:rPr lang="en-GB" sz="1200"/>
              <a:t>has absolutely no dependence on data, it waits for failure.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t>Preventative maintenance </a:t>
            </a:r>
            <a:r>
              <a:rPr lang="en-GB" sz="1200"/>
              <a:t>uses either time or usage to inform its maintenance schedule, it's not a lot of data - but it's a start!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t>Condition-based maintenance </a:t>
            </a:r>
            <a:r>
              <a:rPr lang="en-GB" sz="1200"/>
              <a:t>will look at a single metric and check against preset thresholds.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t>Predictive maintenance </a:t>
            </a:r>
            <a:r>
              <a:rPr lang="en-GB" sz="1200"/>
              <a:t>looks at a handful of data sets and relies on slightly better analytics to pick up on various trends in the data and the health of the asset.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a:t>Prescriptive maintenance </a:t>
            </a:r>
            <a:r>
              <a:rPr lang="en-GB" sz="1200"/>
              <a:t>uses many data sets and metrics and likely some proprietary analysis techniques to determine the root cause of a potential failure.</a:t>
            </a:r>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a:t>
            </a:fld>
            <a:endParaRPr lang="es-ES"/>
          </a:p>
        </p:txBody>
      </p:sp>
    </p:spTree>
    <p:extLst>
      <p:ext uri="{BB962C8B-B14F-4D97-AF65-F5344CB8AC3E}">
        <p14:creationId xmlns:p14="http://schemas.microsoft.com/office/powerpoint/2010/main" val="2092744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4</a:t>
            </a:fld>
            <a:endParaRPr lang="es-ES"/>
          </a:p>
        </p:txBody>
      </p:sp>
    </p:spTree>
    <p:extLst>
      <p:ext uri="{BB962C8B-B14F-4D97-AF65-F5344CB8AC3E}">
        <p14:creationId xmlns:p14="http://schemas.microsoft.com/office/powerpoint/2010/main" val="3749372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5</a:t>
            </a:fld>
            <a:endParaRPr lang="es-ES"/>
          </a:p>
        </p:txBody>
      </p:sp>
    </p:spTree>
    <p:extLst>
      <p:ext uri="{BB962C8B-B14F-4D97-AF65-F5344CB8AC3E}">
        <p14:creationId xmlns:p14="http://schemas.microsoft.com/office/powerpoint/2010/main" val="624746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6</a:t>
            </a:fld>
            <a:endParaRPr lang="es-ES"/>
          </a:p>
        </p:txBody>
      </p:sp>
    </p:spTree>
    <p:extLst>
      <p:ext uri="{BB962C8B-B14F-4D97-AF65-F5344CB8AC3E}">
        <p14:creationId xmlns:p14="http://schemas.microsoft.com/office/powerpoint/2010/main" val="529568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7</a:t>
            </a:fld>
            <a:endParaRPr lang="es-ES"/>
          </a:p>
        </p:txBody>
      </p:sp>
    </p:spTree>
    <p:extLst>
      <p:ext uri="{BB962C8B-B14F-4D97-AF65-F5344CB8AC3E}">
        <p14:creationId xmlns:p14="http://schemas.microsoft.com/office/powerpoint/2010/main" val="3393620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8</a:t>
            </a:fld>
            <a:endParaRPr lang="es-ES"/>
          </a:p>
        </p:txBody>
      </p:sp>
    </p:spTree>
    <p:extLst>
      <p:ext uri="{BB962C8B-B14F-4D97-AF65-F5344CB8AC3E}">
        <p14:creationId xmlns:p14="http://schemas.microsoft.com/office/powerpoint/2010/main" val="902872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9</a:t>
            </a:fld>
            <a:endParaRPr lang="es-ES"/>
          </a:p>
        </p:txBody>
      </p:sp>
    </p:spTree>
    <p:extLst>
      <p:ext uri="{BB962C8B-B14F-4D97-AF65-F5344CB8AC3E}">
        <p14:creationId xmlns:p14="http://schemas.microsoft.com/office/powerpoint/2010/main" val="3260440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10</a:t>
            </a:fld>
            <a:endParaRPr lang="es-ES"/>
          </a:p>
        </p:txBody>
      </p:sp>
    </p:spTree>
    <p:extLst>
      <p:ext uri="{BB962C8B-B14F-4D97-AF65-F5344CB8AC3E}">
        <p14:creationId xmlns:p14="http://schemas.microsoft.com/office/powerpoint/2010/main" val="2059690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https://www.nasa.gov/content/prognostics-center-of-excellence-data-set-repository </a:t>
            </a:r>
          </a:p>
        </p:txBody>
      </p:sp>
      <p:sp>
        <p:nvSpPr>
          <p:cNvPr id="4" name="Slide Number Placeholder 3"/>
          <p:cNvSpPr>
            <a:spLocks noGrp="1"/>
          </p:cNvSpPr>
          <p:nvPr>
            <p:ph type="sldNum" sz="quarter" idx="5"/>
          </p:nvPr>
        </p:nvSpPr>
        <p:spPr/>
        <p:txBody>
          <a:bodyPr/>
          <a:lstStyle/>
          <a:p>
            <a:fld id="{5BC05090-5C0E-45B5-BB81-37C4A9E4751F}" type="slidenum">
              <a:rPr lang="es-ES" smtClean="0"/>
              <a:t>11</a:t>
            </a:fld>
            <a:endParaRPr lang="es-ES"/>
          </a:p>
        </p:txBody>
      </p:sp>
    </p:spTree>
    <p:extLst>
      <p:ext uri="{BB962C8B-B14F-4D97-AF65-F5344CB8AC3E}">
        <p14:creationId xmlns:p14="http://schemas.microsoft.com/office/powerpoint/2010/main" val="1524852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12</a:t>
            </a:fld>
            <a:endParaRPr lang="es-ES"/>
          </a:p>
        </p:txBody>
      </p:sp>
    </p:spTree>
    <p:extLst>
      <p:ext uri="{BB962C8B-B14F-4D97-AF65-F5344CB8AC3E}">
        <p14:creationId xmlns:p14="http://schemas.microsoft.com/office/powerpoint/2010/main" val="562494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13</a:t>
            </a:fld>
            <a:endParaRPr lang="es-ES"/>
          </a:p>
        </p:txBody>
      </p:sp>
    </p:spTree>
    <p:extLst>
      <p:ext uri="{BB962C8B-B14F-4D97-AF65-F5344CB8AC3E}">
        <p14:creationId xmlns:p14="http://schemas.microsoft.com/office/powerpoint/2010/main" val="3236458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14</a:t>
            </a:fld>
            <a:endParaRPr lang="es-ES"/>
          </a:p>
        </p:txBody>
      </p:sp>
    </p:spTree>
    <p:extLst>
      <p:ext uri="{BB962C8B-B14F-4D97-AF65-F5344CB8AC3E}">
        <p14:creationId xmlns:p14="http://schemas.microsoft.com/office/powerpoint/2010/main" val="847371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15</a:t>
            </a:fld>
            <a:endParaRPr lang="es-ES"/>
          </a:p>
        </p:txBody>
      </p:sp>
    </p:spTree>
    <p:extLst>
      <p:ext uri="{BB962C8B-B14F-4D97-AF65-F5344CB8AC3E}">
        <p14:creationId xmlns:p14="http://schemas.microsoft.com/office/powerpoint/2010/main" val="380244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16</a:t>
            </a:fld>
            <a:endParaRPr lang="es-ES"/>
          </a:p>
        </p:txBody>
      </p:sp>
    </p:spTree>
    <p:extLst>
      <p:ext uri="{BB962C8B-B14F-4D97-AF65-F5344CB8AC3E}">
        <p14:creationId xmlns:p14="http://schemas.microsoft.com/office/powerpoint/2010/main" val="3251496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17</a:t>
            </a:fld>
            <a:endParaRPr lang="es-ES"/>
          </a:p>
        </p:txBody>
      </p:sp>
    </p:spTree>
    <p:extLst>
      <p:ext uri="{BB962C8B-B14F-4D97-AF65-F5344CB8AC3E}">
        <p14:creationId xmlns:p14="http://schemas.microsoft.com/office/powerpoint/2010/main" val="1693798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18</a:t>
            </a:fld>
            <a:endParaRPr lang="es-ES"/>
          </a:p>
        </p:txBody>
      </p:sp>
    </p:spTree>
    <p:extLst>
      <p:ext uri="{BB962C8B-B14F-4D97-AF65-F5344CB8AC3E}">
        <p14:creationId xmlns:p14="http://schemas.microsoft.com/office/powerpoint/2010/main" val="485935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19</a:t>
            </a:fld>
            <a:endParaRPr lang="es-ES"/>
          </a:p>
        </p:txBody>
      </p:sp>
    </p:spTree>
    <p:extLst>
      <p:ext uri="{BB962C8B-B14F-4D97-AF65-F5344CB8AC3E}">
        <p14:creationId xmlns:p14="http://schemas.microsoft.com/office/powerpoint/2010/main" val="210506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20</a:t>
            </a:fld>
            <a:endParaRPr lang="es-ES"/>
          </a:p>
        </p:txBody>
      </p:sp>
    </p:spTree>
    <p:extLst>
      <p:ext uri="{BB962C8B-B14F-4D97-AF65-F5344CB8AC3E}">
        <p14:creationId xmlns:p14="http://schemas.microsoft.com/office/powerpoint/2010/main" val="2692662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https://www.nasa.gov/content/prognostics-center-of-excellence-data-set-repository </a:t>
            </a:r>
          </a:p>
        </p:txBody>
      </p:sp>
      <p:sp>
        <p:nvSpPr>
          <p:cNvPr id="4" name="Slide Number Placeholder 3"/>
          <p:cNvSpPr>
            <a:spLocks noGrp="1"/>
          </p:cNvSpPr>
          <p:nvPr>
            <p:ph type="sldNum" sz="quarter" idx="5"/>
          </p:nvPr>
        </p:nvSpPr>
        <p:spPr/>
        <p:txBody>
          <a:bodyPr/>
          <a:lstStyle/>
          <a:p>
            <a:fld id="{5BC05090-5C0E-45B5-BB81-37C4A9E4751F}" type="slidenum">
              <a:rPr lang="es-ES" smtClean="0"/>
              <a:t>21</a:t>
            </a:fld>
            <a:endParaRPr lang="es-ES"/>
          </a:p>
        </p:txBody>
      </p:sp>
    </p:spTree>
    <p:extLst>
      <p:ext uri="{BB962C8B-B14F-4D97-AF65-F5344CB8AC3E}">
        <p14:creationId xmlns:p14="http://schemas.microsoft.com/office/powerpoint/2010/main" val="3330995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22</a:t>
            </a:fld>
            <a:endParaRPr lang="es-ES"/>
          </a:p>
        </p:txBody>
      </p:sp>
    </p:spTree>
    <p:extLst>
      <p:ext uri="{BB962C8B-B14F-4D97-AF65-F5344CB8AC3E}">
        <p14:creationId xmlns:p14="http://schemas.microsoft.com/office/powerpoint/2010/main" val="3227092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23</a:t>
            </a:fld>
            <a:endParaRPr lang="es-ES"/>
          </a:p>
        </p:txBody>
      </p:sp>
    </p:spTree>
    <p:extLst>
      <p:ext uri="{BB962C8B-B14F-4D97-AF65-F5344CB8AC3E}">
        <p14:creationId xmlns:p14="http://schemas.microsoft.com/office/powerpoint/2010/main" val="2148034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24</a:t>
            </a:fld>
            <a:endParaRPr lang="es-ES"/>
          </a:p>
        </p:txBody>
      </p:sp>
    </p:spTree>
    <p:extLst>
      <p:ext uri="{BB962C8B-B14F-4D97-AF65-F5344CB8AC3E}">
        <p14:creationId xmlns:p14="http://schemas.microsoft.com/office/powerpoint/2010/main" val="27379656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25</a:t>
            </a:fld>
            <a:endParaRPr lang="es-ES"/>
          </a:p>
        </p:txBody>
      </p:sp>
    </p:spTree>
    <p:extLst>
      <p:ext uri="{BB962C8B-B14F-4D97-AF65-F5344CB8AC3E}">
        <p14:creationId xmlns:p14="http://schemas.microsoft.com/office/powerpoint/2010/main" val="3329654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El machine </a:t>
            </a:r>
            <a:r>
              <a:rPr lang="es-ES" sz="1200" b="0" i="0" kern="1200" dirty="0" err="1">
                <a:solidFill>
                  <a:schemeClr val="tx1"/>
                </a:solidFill>
                <a:effectLst/>
                <a:latin typeface="+mn-lt"/>
                <a:ea typeface="+mn-ea"/>
                <a:cs typeface="+mn-cs"/>
              </a:rPr>
              <a:t>Learning</a:t>
            </a:r>
            <a:r>
              <a:rPr lang="es-ES" sz="1200" b="0" i="0" kern="1200" dirty="0">
                <a:solidFill>
                  <a:schemeClr val="tx1"/>
                </a:solidFill>
                <a:effectLst/>
                <a:latin typeface="+mn-lt"/>
                <a:ea typeface="+mn-ea"/>
                <a:cs typeface="+mn-cs"/>
              </a:rPr>
              <a:t> es una </a:t>
            </a:r>
            <a:r>
              <a:rPr lang="es-ES" sz="1200" b="0" i="0" kern="1200" dirty="0" err="1">
                <a:solidFill>
                  <a:schemeClr val="tx1"/>
                </a:solidFill>
                <a:effectLst/>
                <a:latin typeface="+mn-lt"/>
                <a:ea typeface="+mn-ea"/>
                <a:cs typeface="+mn-cs"/>
              </a:rPr>
              <a:t>sub-rama</a:t>
            </a:r>
            <a:r>
              <a:rPr lang="es-ES" sz="1200" b="0" i="0" kern="1200" dirty="0">
                <a:solidFill>
                  <a:schemeClr val="tx1"/>
                </a:solidFill>
                <a:effectLst/>
                <a:latin typeface="+mn-lt"/>
                <a:ea typeface="+mn-ea"/>
                <a:cs typeface="+mn-cs"/>
              </a:rPr>
              <a:t> de la Inteligencia Artificial.</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El desarrollo de aprendizaje automático se centra en </a:t>
            </a:r>
            <a:r>
              <a:rPr lang="es-ES" sz="1200" b="1" i="0" kern="1200" dirty="0">
                <a:solidFill>
                  <a:schemeClr val="tx1"/>
                </a:solidFill>
                <a:effectLst/>
                <a:latin typeface="+mn-lt"/>
                <a:ea typeface="+mn-ea"/>
                <a:cs typeface="+mn-cs"/>
              </a:rPr>
              <a:t>tres categorías</a:t>
            </a:r>
            <a:r>
              <a:rPr lang="es-ES" sz="1200" b="0" i="0" kern="1200" dirty="0">
                <a:solidFill>
                  <a:schemeClr val="tx1"/>
                </a:solidFill>
                <a:effectLst/>
                <a:latin typeface="+mn-lt"/>
                <a:ea typeface="+mn-ea"/>
                <a:cs typeface="+mn-cs"/>
              </a:rPr>
              <a:t> principales que se conocen como </a:t>
            </a:r>
            <a:r>
              <a:rPr lang="es-ES" sz="1200" b="1" i="0" kern="1200" dirty="0">
                <a:solidFill>
                  <a:schemeClr val="tx1"/>
                </a:solidFill>
                <a:effectLst/>
                <a:latin typeface="+mn-lt"/>
                <a:ea typeface="+mn-ea"/>
                <a:cs typeface="+mn-cs"/>
              </a:rPr>
              <a:t>aprendizaje supervisado, aprendizaje no supervisado, aprendizaje profundo</a:t>
            </a:r>
            <a:r>
              <a:rPr lang="es-ES" sz="1200" b="0" i="0" kern="1200" dirty="0">
                <a:solidFill>
                  <a:schemeClr val="tx1"/>
                </a:solidFill>
                <a:effectLst/>
                <a:latin typeface="+mn-lt"/>
                <a:ea typeface="+mn-ea"/>
                <a:cs typeface="+mn-cs"/>
              </a:rPr>
              <a:t>.</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26</a:t>
            </a:fld>
            <a:endParaRPr lang="es-ES"/>
          </a:p>
        </p:txBody>
      </p:sp>
    </p:spTree>
    <p:extLst>
      <p:ext uri="{BB962C8B-B14F-4D97-AF65-F5344CB8AC3E}">
        <p14:creationId xmlns:p14="http://schemas.microsoft.com/office/powerpoint/2010/main" val="984268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342900" indent="-342900">
              <a:buAutoNum type="arabicPeriod"/>
            </a:pPr>
            <a:r>
              <a:rPr lang="es-ES" sz="1200"/>
              <a:t>Entender/resumir el conjunto de datos.</a:t>
            </a:r>
            <a:endParaRPr lang="en-US" sz="1200"/>
          </a:p>
          <a:p>
            <a:pPr marL="342900" indent="-342900">
              <a:buAutoNum type="arabicPeriod"/>
            </a:pPr>
            <a:r>
              <a:rPr lang="en-US" sz="1200"/>
              <a:t>Preparar los datos</a:t>
            </a:r>
          </a:p>
          <a:p>
            <a:pPr marL="342900" indent="-342900">
              <a:buAutoNum type="arabicPeriod"/>
            </a:pPr>
            <a:r>
              <a:rPr lang="en-US" sz="1200"/>
              <a:t>Dividir en </a:t>
            </a:r>
            <a:r>
              <a:rPr lang="en-US" sz="1200" b="1"/>
              <a:t>train-test.</a:t>
            </a:r>
          </a:p>
          <a:p>
            <a:pPr marL="342900" indent="-342900">
              <a:buAutoNum type="arabicPeriod"/>
            </a:pPr>
            <a:r>
              <a:rPr lang="en-US" sz="1200"/>
              <a:t>Construcción y </a:t>
            </a:r>
            <a:r>
              <a:rPr lang="es-ES" sz="1200"/>
              <a:t>evaluación de los modelos en el conjunto de datos de </a:t>
            </a:r>
            <a:r>
              <a:rPr lang="es-ES" sz="1200" b="1"/>
              <a:t>validation </a:t>
            </a:r>
            <a:r>
              <a:rPr lang="es-ES" sz="1200"/>
              <a:t>y elegir el mejor</a:t>
            </a:r>
            <a:r>
              <a:rPr lang="en-US" sz="1200"/>
              <a:t>.</a:t>
            </a:r>
          </a:p>
          <a:p>
            <a:pPr marL="342900" indent="-342900">
              <a:buAutoNum type="arabicPeriod"/>
            </a:pPr>
            <a:r>
              <a:rPr lang="en-US" sz="1200"/>
              <a:t>Ajustar los hiperparámetros del modelo escogido</a:t>
            </a:r>
            <a:r>
              <a:rPr lang="en-US" sz="1200" b="1"/>
              <a:t>.</a:t>
            </a:r>
            <a:endParaRPr lang="en-US" sz="1200"/>
          </a:p>
          <a:p>
            <a:pPr marL="342900" indent="-342900">
              <a:buAutoNum type="arabicPeriod"/>
            </a:pPr>
            <a:r>
              <a:rPr lang="en-US" sz="1200"/>
              <a:t>Evaluar el modelo en el conjunto de datos de </a:t>
            </a:r>
            <a:r>
              <a:rPr lang="en-US" sz="1200" b="1"/>
              <a:t>test</a:t>
            </a:r>
            <a:r>
              <a:rPr lang="en-US" sz="1200"/>
              <a:t>.</a:t>
            </a:r>
            <a:endParaRPr lang="en-US"/>
          </a:p>
          <a:p>
            <a:endParaRPr lang="en-US"/>
          </a:p>
          <a:p>
            <a:r>
              <a:rPr lang="en-US"/>
              <a:t>Now</a:t>
            </a:r>
            <a:r>
              <a:rPr lang="en-US" dirty="0"/>
              <a:t>, is reasonable to ask the </a:t>
            </a:r>
            <a:r>
              <a:rPr lang="en-US" dirty="0" err="1"/>
              <a:t>the</a:t>
            </a:r>
            <a:r>
              <a:rPr lang="en-US" dirty="0"/>
              <a:t> following question : Why not having only two sets, training and testing? In that way, the process will be much simpler, just train the model on training data and test it on testing data.</a:t>
            </a:r>
          </a:p>
          <a:p>
            <a:r>
              <a:rPr lang="en-US" dirty="0"/>
              <a:t>The answer is that, developing a model involves </a:t>
            </a:r>
            <a:r>
              <a:rPr lang="en-US" dirty="0" err="1"/>
              <a:t>tunning</a:t>
            </a:r>
            <a:r>
              <a:rPr lang="en-US" dirty="0"/>
              <a:t> its configuration, in other words, choosing certain values for their </a:t>
            </a:r>
            <a:r>
              <a:rPr lang="en-US" dirty="0" err="1"/>
              <a:t>hyperparameters</a:t>
            </a:r>
            <a:r>
              <a:rPr lang="en-US" dirty="0"/>
              <a:t> (which are different from the parameters of the model — network’s weights). This </a:t>
            </a:r>
            <a:r>
              <a:rPr lang="en-US" dirty="0" err="1"/>
              <a:t>tunning</a:t>
            </a:r>
            <a:r>
              <a:rPr lang="en-US" dirty="0"/>
              <a:t> is done with the feedback </a:t>
            </a:r>
            <a:r>
              <a:rPr lang="en-US" dirty="0" err="1"/>
              <a:t>recieved</a:t>
            </a:r>
            <a:r>
              <a:rPr lang="en-US" dirty="0"/>
              <a:t> from the validation set, and is in essence, a form of learning</a:t>
            </a:r>
          </a:p>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28</a:t>
            </a:fld>
            <a:endParaRPr lang="es-ES"/>
          </a:p>
        </p:txBody>
      </p:sp>
    </p:spTree>
    <p:extLst>
      <p:ext uri="{BB962C8B-B14F-4D97-AF65-F5344CB8AC3E}">
        <p14:creationId xmlns:p14="http://schemas.microsoft.com/office/powerpoint/2010/main" val="3156908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1143000" y="3440348"/>
            <a:ext cx="6858000" cy="1017352"/>
          </a:xfrm>
        </p:spPr>
        <p:txBody>
          <a:bodyPr>
            <a:noAutofit/>
          </a:bodyPr>
          <a:lstStyle>
            <a:lvl1pPr marL="0" indent="0" algn="ctr">
              <a:buNone/>
              <a:defRPr sz="3200" baseline="0">
                <a:solidFill>
                  <a:schemeClr val="bg1">
                    <a:lumMod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dirty="0"/>
              <a:t>Elementos para la digitalización de la industria</a:t>
            </a:r>
          </a:p>
        </p:txBody>
      </p:sp>
      <p:sp>
        <p:nvSpPr>
          <p:cNvPr id="4" name="Marcador de fecha 3"/>
          <p:cNvSpPr>
            <a:spLocks noGrp="1"/>
          </p:cNvSpPr>
          <p:nvPr>
            <p:ph type="dt" sz="half" idx="10"/>
          </p:nvPr>
        </p:nvSpPr>
        <p:spPr/>
        <p:txBody>
          <a:bodyPr/>
          <a:lstStyle/>
          <a:p>
            <a:fld id="{2E4A6559-6F40-4FA9-AAE4-499CDB4C02D0}" type="datetime1">
              <a:rPr lang="es-ES" smtClean="0"/>
              <a:t>02/04/2025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F72B40EF-D53A-41AA-87B6-B9F74BA43E09}" type="slidenum">
              <a:rPr lang="es-ES" smtClean="0"/>
              <a:t>‹#›</a:t>
            </a:fld>
            <a:endParaRPr lang="es-ES"/>
          </a:p>
        </p:txBody>
      </p:sp>
      <p:sp>
        <p:nvSpPr>
          <p:cNvPr id="13" name="Rectángulo 12"/>
          <p:cNvSpPr/>
          <p:nvPr userDrawn="1"/>
        </p:nvSpPr>
        <p:spPr>
          <a:xfrm>
            <a:off x="1226025" y="1786800"/>
            <a:ext cx="6691961" cy="769441"/>
          </a:xfrm>
          <a:prstGeom prst="rect">
            <a:avLst/>
          </a:prstGeom>
        </p:spPr>
        <p:txBody>
          <a:bodyPr wrap="none">
            <a:spAutoFit/>
          </a:bodyPr>
          <a:lstStyle/>
          <a:p>
            <a:pPr algn="ctr"/>
            <a:r>
              <a:rPr lang="es-ES" sz="4400" b="0" dirty="0"/>
              <a:t>Big Data y Machine </a:t>
            </a:r>
            <a:r>
              <a:rPr lang="es-ES" sz="4400" b="0" dirty="0" err="1"/>
              <a:t>Learning</a:t>
            </a:r>
            <a:endParaRPr lang="es-ES" sz="4400" b="0" dirty="0"/>
          </a:p>
        </p:txBody>
      </p:sp>
    </p:spTree>
    <p:extLst>
      <p:ext uri="{BB962C8B-B14F-4D97-AF65-F5344CB8AC3E}">
        <p14:creationId xmlns:p14="http://schemas.microsoft.com/office/powerpoint/2010/main" val="234717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28650" y="1131248"/>
            <a:ext cx="7886700" cy="763455"/>
          </a:xfrm>
        </p:spPr>
        <p:txBody>
          <a:bodyPr>
            <a:normAutofit/>
          </a:bodyPr>
          <a:lstStyle>
            <a:lvl1pPr algn="ctr">
              <a:defRPr sz="4000"/>
            </a:lvl1pPr>
          </a:lstStyle>
          <a:p>
            <a:r>
              <a:rPr lang="es-ES" dirty="0"/>
              <a:t>Título Sección</a:t>
            </a:r>
          </a:p>
        </p:txBody>
      </p:sp>
      <p:sp>
        <p:nvSpPr>
          <p:cNvPr id="3" name="Marcador de contenido 2"/>
          <p:cNvSpPr>
            <a:spLocks noGrp="1"/>
          </p:cNvSpPr>
          <p:nvPr>
            <p:ph idx="1"/>
          </p:nvPr>
        </p:nvSpPr>
        <p:spPr>
          <a:xfrm>
            <a:off x="628650" y="2237517"/>
            <a:ext cx="78867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número de diapositiva 6"/>
          <p:cNvSpPr>
            <a:spLocks noGrp="1"/>
          </p:cNvSpPr>
          <p:nvPr>
            <p:ph type="sldNum" sz="quarter" idx="12"/>
          </p:nvPr>
        </p:nvSpPr>
        <p:spPr>
          <a:xfrm>
            <a:off x="6457950" y="6356355"/>
            <a:ext cx="2057400" cy="365125"/>
          </a:xfrm>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62001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29841" y="1235674"/>
            <a:ext cx="7886700" cy="578584"/>
          </a:xfrm>
        </p:spPr>
        <p:txBody>
          <a:bodyPr>
            <a:normAutofit/>
          </a:bodyPr>
          <a:lstStyle>
            <a:lvl1pPr>
              <a:defRPr sz="4000"/>
            </a:lvl1pPr>
          </a:lstStyle>
          <a:p>
            <a:r>
              <a:rPr lang="es-ES" dirty="0"/>
              <a:t>Título</a:t>
            </a:r>
          </a:p>
        </p:txBody>
      </p:sp>
      <p:sp>
        <p:nvSpPr>
          <p:cNvPr id="3" name="Marcador de texto 2"/>
          <p:cNvSpPr>
            <a:spLocks noGrp="1"/>
          </p:cNvSpPr>
          <p:nvPr>
            <p:ph type="body" idx="1"/>
          </p:nvPr>
        </p:nvSpPr>
        <p:spPr>
          <a:xfrm>
            <a:off x="629842" y="2002441"/>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629842" y="2826353"/>
            <a:ext cx="3868340"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4629152" y="2002441"/>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4629152" y="2826353"/>
            <a:ext cx="3887391"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0" name="Marcador de número de diapositiva 6"/>
          <p:cNvSpPr>
            <a:spLocks noGrp="1"/>
          </p:cNvSpPr>
          <p:nvPr>
            <p:ph type="sldNum" sz="quarter" idx="12"/>
          </p:nvPr>
        </p:nvSpPr>
        <p:spPr>
          <a:xfrm>
            <a:off x="6457950" y="6356355"/>
            <a:ext cx="2057400" cy="365125"/>
          </a:xfrm>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403845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28650" y="1213627"/>
            <a:ext cx="7886700" cy="738742"/>
          </a:xfrm>
        </p:spPr>
        <p:txBody>
          <a:bodyPr>
            <a:normAutofit/>
          </a:bodyPr>
          <a:lstStyle>
            <a:lvl1pPr algn="ctr">
              <a:defRPr sz="4000"/>
            </a:lvl1pPr>
          </a:lstStyle>
          <a:p>
            <a:r>
              <a:rPr lang="es-ES" dirty="0"/>
              <a:t>Título:</a:t>
            </a:r>
          </a:p>
        </p:txBody>
      </p:sp>
      <p:sp>
        <p:nvSpPr>
          <p:cNvPr id="6" name="Marcador de número de diapositiva 6"/>
          <p:cNvSpPr>
            <a:spLocks noGrp="1"/>
          </p:cNvSpPr>
          <p:nvPr>
            <p:ph type="sldNum" sz="quarter" idx="12"/>
          </p:nvPr>
        </p:nvSpPr>
        <p:spPr>
          <a:xfrm>
            <a:off x="6457950" y="6356355"/>
            <a:ext cx="2057400" cy="365125"/>
          </a:xfrm>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05310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B2BB68E0-FAC8-4F30-AD52-604EBF9A7ACC}" type="datetime1">
              <a:rPr lang="es-ES" smtClean="0"/>
              <a:t>02/04/2025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68541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3887391" y="987430"/>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D8A42D25-F51B-487B-8A91-2A3A438D2793}" type="datetime1">
              <a:rPr lang="es-ES" smtClean="0"/>
              <a:t>02/04/2025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832469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3887391" y="987430"/>
            <a:ext cx="462915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a:t>Haga clic en el icono para agregar una imagen</a:t>
            </a:r>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33C4BE6D-21B2-47ED-BEFD-2FA4906D2D91}" type="datetime1">
              <a:rPr lang="es-ES" smtClean="0"/>
              <a:t>02/04/2025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86601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C075051-C02C-4F92-808C-6DDE8132874F}" type="datetime1">
              <a:rPr lang="es-ES" smtClean="0"/>
              <a:t>02/04/2025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1319361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6" y="365125"/>
            <a:ext cx="1971675"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628652" y="365125"/>
            <a:ext cx="5800725"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374C7301-4279-4E57-AC39-5416D71BBDA7}" type="datetime1">
              <a:rPr lang="es-ES" smtClean="0"/>
              <a:t>02/04/2025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387466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7A87B2-8191-4381-8384-6BD2051CDF1D}" type="datetime1">
              <a:rPr lang="es-ES" smtClean="0"/>
              <a:t>02/04/2025</a:t>
            </a:fld>
            <a:endParaRPr lang="es-ES"/>
          </a:p>
        </p:txBody>
      </p:sp>
      <p:sp>
        <p:nvSpPr>
          <p:cNvPr id="5" name="Marcador de pie de página 4"/>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B40EF-D53A-41AA-87B6-B9F74BA43E09}" type="slidenum">
              <a:rPr lang="es-ES" smtClean="0"/>
              <a:t>‹#›</a:t>
            </a:fld>
            <a:endParaRPr lang="es-ES" dirty="0"/>
          </a:p>
        </p:txBody>
      </p:sp>
      <p:pic>
        <p:nvPicPr>
          <p:cNvPr id="9" name="Imagen 8"/>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2"/>
            <a:ext cx="9150440" cy="1079157"/>
          </a:xfrm>
          <a:prstGeom prst="rect">
            <a:avLst/>
          </a:prstGeom>
        </p:spPr>
      </p:pic>
      <p:sp>
        <p:nvSpPr>
          <p:cNvPr id="7" name="Rectángulo 6"/>
          <p:cNvSpPr/>
          <p:nvPr userDrawn="1"/>
        </p:nvSpPr>
        <p:spPr>
          <a:xfrm>
            <a:off x="3649362" y="0"/>
            <a:ext cx="3023287" cy="660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p:cNvSpPr/>
          <p:nvPr userDrawn="1"/>
        </p:nvSpPr>
        <p:spPr>
          <a:xfrm>
            <a:off x="-6440" y="660400"/>
            <a:ext cx="9150440" cy="418755"/>
          </a:xfrm>
          <a:prstGeom prst="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n>
                <a:noFill/>
              </a:ln>
            </a:endParaRPr>
          </a:p>
        </p:txBody>
      </p:sp>
      <p:pic>
        <p:nvPicPr>
          <p:cNvPr id="10" name="Imagen 9"/>
          <p:cNvPicPr>
            <a:picLocks noChangeAspect="1"/>
          </p:cNvPicPr>
          <p:nvPr userDrawn="1"/>
        </p:nvPicPr>
        <p:blipFill rotWithShape="1">
          <a:blip r:embed="rId12"/>
          <a:srcRect b="14569"/>
          <a:stretch/>
        </p:blipFill>
        <p:spPr>
          <a:xfrm>
            <a:off x="4768233" y="-20733"/>
            <a:ext cx="1923126" cy="1098862"/>
          </a:xfrm>
          <a:prstGeom prst="rect">
            <a:avLst/>
          </a:prstGeom>
        </p:spPr>
      </p:pic>
      <p:sp>
        <p:nvSpPr>
          <p:cNvPr id="13" name="Marcador de fecha 3"/>
          <p:cNvSpPr txBox="1">
            <a:spLocks/>
          </p:cNvSpPr>
          <p:nvPr userDrawn="1"/>
        </p:nvSpPr>
        <p:spPr>
          <a:xfrm>
            <a:off x="183498" y="400620"/>
            <a:ext cx="4128526" cy="947909"/>
          </a:xfrm>
          <a:prstGeom prst="rect">
            <a:avLst/>
          </a:prstGeom>
        </p:spPr>
        <p:txBody>
          <a:bodyPr vert="horz" lIns="91440" tIns="45720" rIns="91440" bIns="45720" rtlCol="0" anchor="ctr"/>
          <a:lstStyle>
            <a:defPPr>
              <a:defRPr lang="es-E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sz="2000" b="1" dirty="0">
                <a:solidFill>
                  <a:schemeClr val="bg1"/>
                </a:solidFill>
              </a:rPr>
              <a:t>MÁSTER MECATRÓNICA</a:t>
            </a:r>
          </a:p>
        </p:txBody>
      </p:sp>
      <p:sp>
        <p:nvSpPr>
          <p:cNvPr id="15" name="Google Shape;20;p17">
            <a:extLst>
              <a:ext uri="{FF2B5EF4-FFF2-40B4-BE49-F238E27FC236}">
                <a16:creationId xmlns:a16="http://schemas.microsoft.com/office/drawing/2014/main" id="{7440A721-1357-4836-95C0-9792C204CEB1}"/>
              </a:ext>
            </a:extLst>
          </p:cNvPr>
          <p:cNvSpPr txBox="1"/>
          <p:nvPr userDrawn="1"/>
        </p:nvSpPr>
        <p:spPr>
          <a:xfrm>
            <a:off x="6718175" y="58368"/>
            <a:ext cx="2405449" cy="9479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400" b="1" i="0" u="none" strike="noStrike" cap="none">
                <a:solidFill>
                  <a:schemeClr val="lt1"/>
                </a:solidFill>
                <a:latin typeface="Calibri"/>
                <a:ea typeface="Calibri"/>
                <a:cs typeface="Calibri"/>
                <a:sym typeface="Calibri"/>
              </a:rPr>
              <a:t>Digitalización en la Industria</a:t>
            </a:r>
            <a:endParaRPr/>
          </a:p>
          <a:p>
            <a:pPr marL="0" marR="0" lvl="0" indent="0" algn="l" rtl="0">
              <a:spcBef>
                <a:spcPts val="0"/>
              </a:spcBef>
              <a:spcAft>
                <a:spcPts val="0"/>
              </a:spcAft>
              <a:buNone/>
            </a:pPr>
            <a:endParaRPr sz="1400" b="1" i="0" u="none" strike="noStrike" cap="none">
              <a:solidFill>
                <a:schemeClr val="lt1"/>
              </a:solidFill>
              <a:latin typeface="Calibri"/>
              <a:ea typeface="Calibri"/>
              <a:cs typeface="Calibri"/>
              <a:sym typeface="Calibri"/>
            </a:endParaRPr>
          </a:p>
          <a:p>
            <a:pPr marL="0" marR="0" lvl="0" indent="0" algn="l" rtl="0">
              <a:spcBef>
                <a:spcPts val="0"/>
              </a:spcBef>
              <a:spcAft>
                <a:spcPts val="0"/>
              </a:spcAft>
              <a:buNone/>
            </a:pPr>
            <a:r>
              <a:rPr lang="en-US" sz="1400" b="1" i="0" u="none" strike="noStrike" cap="none">
                <a:solidFill>
                  <a:schemeClr val="lt1"/>
                </a:solidFill>
                <a:latin typeface="Calibri"/>
                <a:ea typeface="Calibri"/>
                <a:cs typeface="Calibri"/>
                <a:sym typeface="Calibri"/>
              </a:rPr>
              <a:t>Big Data y Machine Learning</a:t>
            </a:r>
            <a:endParaRPr sz="1400" b="1"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866233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5" r:id="rId3"/>
    <p:sldLayoutId id="2147483666" r:id="rId4"/>
    <p:sldLayoutId id="2147483667" r:id="rId5"/>
    <p:sldLayoutId id="2147483668" r:id="rId6"/>
    <p:sldLayoutId id="2147483669" r:id="rId7"/>
    <p:sldLayoutId id="2147483670" r:id="rId8"/>
    <p:sldLayoutId id="2147483671" r:id="rId9"/>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ricard.ferrer.san.jose@upc.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blog.endaq.com/differences-between-condition-based-predictive-and-prescriptive-maintenanc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data.nasa.gov/Aerospace/CMAPSS-Jet-Engine-Simulated-Data/ff5v-kuh6"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data.nasa.gov/Aerospace/CMAPSS-Jet-Engine-Simulated-Data/ff5v-kuh6"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blogs.oracle.com/datascience/types-of-machine-learning-and-top-10-algorithms-everyone-should-know-v2" TargetMode="Externa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26.xml"/><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ítulo 4"/>
          <p:cNvSpPr>
            <a:spLocks noGrp="1"/>
          </p:cNvSpPr>
          <p:nvPr>
            <p:ph type="subTitle" idx="1"/>
          </p:nvPr>
        </p:nvSpPr>
        <p:spPr/>
        <p:txBody>
          <a:bodyPr/>
          <a:lstStyle/>
          <a:p>
            <a:r>
              <a:rPr lang="es-ES" dirty="0"/>
              <a:t>Posgrado de Técnicas para la Digitalización en la Industria</a:t>
            </a:r>
          </a:p>
        </p:txBody>
      </p:sp>
      <p:sp>
        <p:nvSpPr>
          <p:cNvPr id="7" name="1 Título"/>
          <p:cNvSpPr txBox="1">
            <a:spLocks/>
          </p:cNvSpPr>
          <p:nvPr/>
        </p:nvSpPr>
        <p:spPr>
          <a:xfrm>
            <a:off x="685800" y="4650657"/>
            <a:ext cx="7772400" cy="18677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sz="3200" dirty="0"/>
              <a:t>Ejemplo Mantenimiento Predictivo</a:t>
            </a:r>
          </a:p>
          <a:p>
            <a:endParaRPr lang="es-ES_tradnl" sz="3200" dirty="0"/>
          </a:p>
          <a:p>
            <a:r>
              <a:rPr lang="es-ES_tradnl" sz="2400" dirty="0"/>
              <a:t>Marc Jené: </a:t>
            </a:r>
            <a:r>
              <a:rPr lang="es-ES_tradnl" sz="2400" dirty="0">
                <a:hlinkClick r:id="rId2"/>
              </a:rPr>
              <a:t>marc.jene@upc.edu</a:t>
            </a:r>
            <a:endParaRPr lang="es-ES_tradnl" sz="2400" dirty="0"/>
          </a:p>
          <a:p>
            <a:endParaRPr lang="es-ES_tradnl" sz="2400" dirty="0"/>
          </a:p>
          <a:p>
            <a:r>
              <a:rPr lang="es-ES_tradnl" sz="2400" dirty="0"/>
              <a:t> </a:t>
            </a:r>
            <a:endParaRPr lang="ca-ES" sz="2400" dirty="0"/>
          </a:p>
        </p:txBody>
      </p:sp>
    </p:spTree>
    <p:extLst>
      <p:ext uri="{BB962C8B-B14F-4D97-AF65-F5344CB8AC3E}">
        <p14:creationId xmlns:p14="http://schemas.microsoft.com/office/powerpoint/2010/main" val="119369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7D03AA28-728B-4D97-9539-03F818E8BA43}"/>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2</a:t>
            </a:fld>
            <a:endParaRPr lang="es-ES" dirty="0"/>
          </a:p>
        </p:txBody>
      </p:sp>
      <p:sp>
        <p:nvSpPr>
          <p:cNvPr id="3" name="CuadroTexto 2"/>
          <p:cNvSpPr txBox="1"/>
          <p:nvPr/>
        </p:nvSpPr>
        <p:spPr>
          <a:xfrm>
            <a:off x="977070" y="2110901"/>
            <a:ext cx="7688036" cy="28146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gl-ES" sz="2000" b="1" dirty="0"/>
              <a:t>Tipos de mantenimiento.</a:t>
            </a:r>
          </a:p>
          <a:p>
            <a:pPr marL="285750" indent="-285750">
              <a:lnSpc>
                <a:spcPct val="150000"/>
              </a:lnSpc>
              <a:buFont typeface="Arial" panose="020B0604020202020204" pitchFamily="34" charset="0"/>
              <a:buChar char="•"/>
            </a:pPr>
            <a:r>
              <a:rPr lang="gl-ES" sz="2000" dirty="0">
                <a:solidFill>
                  <a:schemeClr val="bg2">
                    <a:lumMod val="90000"/>
                  </a:schemeClr>
                </a:solidFill>
              </a:rPr>
              <a:t>Introducción al Mantenimiento Predictivo (MP).</a:t>
            </a:r>
          </a:p>
          <a:p>
            <a:pPr marL="285750" indent="-285750">
              <a:lnSpc>
                <a:spcPct val="150000"/>
              </a:lnSpc>
              <a:buFont typeface="Arial" panose="020B0604020202020204" pitchFamily="34" charset="0"/>
              <a:buChar char="•"/>
            </a:pPr>
            <a:r>
              <a:rPr lang="gl-ES" sz="2000" dirty="0">
                <a:solidFill>
                  <a:schemeClr val="bg2">
                    <a:lumMod val="90000"/>
                  </a:schemeClr>
                </a:solidFill>
              </a:rPr>
              <a:t>Explicación ejemplo motor NASA.</a:t>
            </a:r>
          </a:p>
          <a:p>
            <a:pPr marL="285750" indent="-285750">
              <a:lnSpc>
                <a:spcPct val="150000"/>
              </a:lnSpc>
              <a:buFont typeface="Arial" panose="020B0604020202020204" pitchFamily="34" charset="0"/>
              <a:buChar char="•"/>
            </a:pPr>
            <a:r>
              <a:rPr lang="gl-ES" sz="2000" dirty="0">
                <a:solidFill>
                  <a:schemeClr val="bg2">
                    <a:lumMod val="90000"/>
                  </a:schemeClr>
                </a:solidFill>
              </a:rPr>
              <a:t>Jupyter Notebook motor NASA.</a:t>
            </a:r>
          </a:p>
          <a:p>
            <a:pPr>
              <a:lnSpc>
                <a:spcPct val="150000"/>
              </a:lnSpc>
            </a:pPr>
            <a:endParaRPr lang="gl-ES" sz="2000" dirty="0"/>
          </a:p>
          <a:p>
            <a:pPr marL="285750" indent="-285750">
              <a:lnSpc>
                <a:spcPct val="150000"/>
              </a:lnSpc>
              <a:buFont typeface="Arial" panose="020B0604020202020204" pitchFamily="34" charset="0"/>
              <a:buChar char="•"/>
            </a:pPr>
            <a:endParaRPr lang="en-US" sz="2000" dirty="0"/>
          </a:p>
        </p:txBody>
      </p:sp>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607" y="1259257"/>
            <a:ext cx="553521" cy="553521"/>
          </a:xfrm>
          <a:prstGeom prst="rect">
            <a:avLst/>
          </a:prstGeom>
        </p:spPr>
      </p:pic>
      <p:sp>
        <p:nvSpPr>
          <p:cNvPr id="6" name="Título 1">
            <a:extLst>
              <a:ext uri="{FF2B5EF4-FFF2-40B4-BE49-F238E27FC236}">
                <a16:creationId xmlns:a16="http://schemas.microsoft.com/office/drawing/2014/main" id="{B55D0A9A-2C98-4C08-A588-4BB224D73EB4}"/>
              </a:ext>
            </a:extLst>
          </p:cNvPr>
          <p:cNvSpPr txBox="1">
            <a:spLocks/>
          </p:cNvSpPr>
          <p:nvPr/>
        </p:nvSpPr>
        <p:spPr>
          <a:xfrm>
            <a:off x="1044392" y="1198152"/>
            <a:ext cx="458460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Objetivos de la sesión</a:t>
            </a:r>
          </a:p>
        </p:txBody>
      </p:sp>
      <p:cxnSp>
        <p:nvCxnSpPr>
          <p:cNvPr id="8" name="Conector recto 7">
            <a:extLst>
              <a:ext uri="{FF2B5EF4-FFF2-40B4-BE49-F238E27FC236}">
                <a16:creationId xmlns:a16="http://schemas.microsoft.com/office/drawing/2014/main" id="{639E8254-F30D-4E18-BB89-27F244DA3A2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95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3</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Tipos de mantenimiento</a:t>
            </a:r>
            <a:endParaRPr lang="es-ES" sz="2400" b="1" dirty="0"/>
          </a:p>
        </p:txBody>
      </p:sp>
      <p:pic>
        <p:nvPicPr>
          <p:cNvPr id="18" name="Picture 2" descr="Evolution of Maintenance Reactive Preventative Condition Based Predictive Prescriptive Data">
            <a:extLst>
              <a:ext uri="{FF2B5EF4-FFF2-40B4-BE49-F238E27FC236}">
                <a16:creationId xmlns:a16="http://schemas.microsoft.com/office/drawing/2014/main" id="{92E3B71F-BB60-4B82-B1F8-5A4FFB745B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388" y="2136706"/>
            <a:ext cx="8305223" cy="38377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F2BF91D3-9F6C-48B3-BDC2-79496447CF92}"/>
              </a:ext>
            </a:extLst>
          </p:cNvPr>
          <p:cNvSpPr/>
          <p:nvPr/>
        </p:nvSpPr>
        <p:spPr>
          <a:xfrm>
            <a:off x="940144" y="6124771"/>
            <a:ext cx="7263712" cy="461665"/>
          </a:xfrm>
          <a:prstGeom prst="rect">
            <a:avLst/>
          </a:prstGeom>
        </p:spPr>
        <p:txBody>
          <a:bodyPr wrap="square">
            <a:spAutoFit/>
          </a:bodyPr>
          <a:lstStyle/>
          <a:p>
            <a:pPr algn="ctr"/>
            <a:r>
              <a:rPr lang="en-GB" sz="1200" dirty="0">
                <a:latin typeface="Calibri" panose="020F0502020204030204" pitchFamily="34" charset="0"/>
                <a:cs typeface="Calibri" panose="020F0502020204030204" pitchFamily="34" charset="0"/>
                <a:hlinkClick r:id="rId4"/>
              </a:rPr>
              <a:t>https://blog.endaq.com/differences-between-condition-based-predictive-and-prescriptive-maintenance</a:t>
            </a:r>
            <a:endParaRPr lang="en-GB" sz="1200" dirty="0">
              <a:latin typeface="Calibri" panose="020F0502020204030204" pitchFamily="34" charset="0"/>
              <a:cs typeface="Calibri" panose="020F0502020204030204" pitchFamily="34" charset="0"/>
            </a:endParaRPr>
          </a:p>
          <a:p>
            <a:pPr algn="ctr"/>
            <a:endParaRPr lang="en-GB" sz="1200" dirty="0">
              <a:latin typeface="Calibri" panose="020F0502020204030204" pitchFamily="34" charset="0"/>
              <a:cs typeface="Calibri" panose="020F0502020204030204" pitchFamily="34" charset="0"/>
            </a:endParaRPr>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210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4</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reactivo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6">
            <a:extLst>
              <a:ext uri="{FF2B5EF4-FFF2-40B4-BE49-F238E27FC236}">
                <a16:creationId xmlns:a16="http://schemas.microsoft.com/office/drawing/2014/main" id="{48E8544C-C987-4D74-9513-286799D3CFAC}"/>
              </a:ext>
            </a:extLst>
          </p:cNvPr>
          <p:cNvSpPr/>
          <p:nvPr/>
        </p:nvSpPr>
        <p:spPr>
          <a:xfrm>
            <a:off x="2470443" y="2002247"/>
            <a:ext cx="5895128" cy="4493538"/>
          </a:xfrm>
          <a:prstGeom prst="rect">
            <a:avLst/>
          </a:prstGeom>
        </p:spPr>
        <p:txBody>
          <a:bodyPr wrap="square">
            <a:spAutoFit/>
          </a:bodyPr>
          <a:lstStyle/>
          <a:p>
            <a:pPr lvl="0" algn="just">
              <a:spcAft>
                <a:spcPts val="600"/>
              </a:spcAft>
              <a:defRPr/>
            </a:pPr>
            <a:r>
              <a:rPr lang="es-ES" sz="1600"/>
              <a:t>El </a:t>
            </a:r>
            <a:r>
              <a:rPr lang="es-ES" sz="1600" b="1"/>
              <a:t>mantenimiento reactivo </a:t>
            </a:r>
            <a:r>
              <a:rPr lang="es-ES" sz="1600"/>
              <a:t>no depende en absoluto de los datos, sino que espera al fallo.</a:t>
            </a:r>
          </a:p>
          <a:p>
            <a:pPr lvl="0" algn="just">
              <a:spcAft>
                <a:spcPts val="600"/>
              </a:spcAft>
              <a:defRPr/>
            </a:pPr>
            <a:r>
              <a:rPr lang="es-ES" sz="1600"/>
              <a:t>Las medidas correctivas sólo se centran en arreglar el equipo y hacer que vuelva a funcionar. En muchos casos, se tiene que cambiar el equipo entero.</a:t>
            </a:r>
          </a:p>
          <a:p>
            <a:pPr lvl="0" algn="just">
              <a:spcAft>
                <a:spcPts val="600"/>
              </a:spcAft>
              <a:defRPr/>
            </a:pPr>
            <a:r>
              <a:rPr lang="es-ES" sz="1600"/>
              <a:t>Algunos tipos de mantenimiento reactivo son:</a:t>
            </a:r>
          </a:p>
          <a:p>
            <a:pPr marL="285750" lvl="0" indent="-285750" algn="just">
              <a:spcAft>
                <a:spcPts val="600"/>
              </a:spcAft>
              <a:buFont typeface="Arial" panose="020B0604020202020204" pitchFamily="34" charset="0"/>
              <a:buChar char="•"/>
              <a:defRPr/>
            </a:pPr>
            <a:r>
              <a:rPr lang="es-ES" sz="1600" b="1"/>
              <a:t>El mantenimiento de emergencia: </a:t>
            </a:r>
            <a:r>
              <a:rPr lang="es-ES" sz="1600"/>
              <a:t>cuando se estropea equipo importante. Se prioriza delante de otros procesos.</a:t>
            </a:r>
          </a:p>
          <a:p>
            <a:pPr marL="285750" lvl="0" indent="-285750" algn="just">
              <a:spcAft>
                <a:spcPts val="600"/>
              </a:spcAft>
              <a:buFont typeface="Arial" panose="020B0604020202020204" pitchFamily="34" charset="0"/>
              <a:buChar char="•"/>
              <a:defRPr/>
            </a:pPr>
            <a:r>
              <a:rPr lang="es-ES" sz="1600" b="1"/>
              <a:t>El mantenimiento de averías: </a:t>
            </a:r>
            <a:r>
              <a:rPr lang="es-ES" sz="1600"/>
              <a:t>cuando un componente se estropea inesperadamente y requiere de tareas de reparación costosas.</a:t>
            </a:r>
          </a:p>
          <a:p>
            <a:pPr marL="285750" lvl="0" indent="-285750" algn="just">
              <a:spcAft>
                <a:spcPts val="600"/>
              </a:spcAft>
              <a:buFont typeface="Arial" panose="020B0604020202020204" pitchFamily="34" charset="0"/>
              <a:buChar char="•"/>
              <a:defRPr/>
            </a:pPr>
            <a:r>
              <a:rPr lang="es-ES" sz="1600" b="1"/>
              <a:t>El mantenimiento correctivo:  </a:t>
            </a:r>
            <a:r>
              <a:rPr lang="es-ES" sz="1600"/>
              <a:t>se realiza antes de que la máquina se estropee del todo. Por ejemplo, cuando se encuentran defectos en la línea de producción.</a:t>
            </a:r>
          </a:p>
          <a:p>
            <a:pPr marL="285750" lvl="0" indent="-285750" algn="just">
              <a:spcAft>
                <a:spcPts val="600"/>
              </a:spcAft>
              <a:buFont typeface="Arial" panose="020B0604020202020204" pitchFamily="34" charset="0"/>
              <a:buChar char="•"/>
              <a:defRPr/>
            </a:pPr>
            <a:r>
              <a:rPr lang="es-ES" sz="1600" b="1"/>
              <a:t>Run-to-failure:</a:t>
            </a:r>
            <a:r>
              <a:rPr lang="es-ES" sz="1600"/>
              <a:t> es una estrategia planificada en la que se ordena deliberadamente a un activo que funcione hasta que se averíe.</a:t>
            </a:r>
          </a:p>
        </p:txBody>
      </p:sp>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r="75895" b="63"/>
          <a:stretch/>
        </p:blipFill>
        <p:spPr bwMode="auto">
          <a:xfrm>
            <a:off x="242057" y="2375022"/>
            <a:ext cx="2004647" cy="3840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91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5</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reactivo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6">
            <a:extLst>
              <a:ext uri="{FF2B5EF4-FFF2-40B4-BE49-F238E27FC236}">
                <a16:creationId xmlns:a16="http://schemas.microsoft.com/office/drawing/2014/main" id="{48E8544C-C987-4D74-9513-286799D3CFAC}"/>
              </a:ext>
            </a:extLst>
          </p:cNvPr>
          <p:cNvSpPr/>
          <p:nvPr/>
        </p:nvSpPr>
        <p:spPr>
          <a:xfrm>
            <a:off x="2348522" y="2147600"/>
            <a:ext cx="6338277" cy="4385816"/>
          </a:xfrm>
          <a:prstGeom prst="rect">
            <a:avLst/>
          </a:prstGeom>
        </p:spPr>
        <p:txBody>
          <a:bodyPr wrap="square">
            <a:spAutoFit/>
          </a:bodyPr>
          <a:lstStyle/>
          <a:p>
            <a:pPr lvl="0" algn="just">
              <a:spcAft>
                <a:spcPts val="600"/>
              </a:spcAft>
              <a:defRPr/>
            </a:pPr>
            <a:r>
              <a:rPr lang="es-ES" sz="1600" b="1"/>
              <a:t>Pros:</a:t>
            </a:r>
          </a:p>
          <a:p>
            <a:pPr marL="285750" lvl="0" indent="-285750" algn="just">
              <a:spcAft>
                <a:spcPts val="600"/>
              </a:spcAft>
              <a:buFont typeface="Arial" panose="020B0604020202020204" pitchFamily="34" charset="0"/>
              <a:buChar char="•"/>
              <a:defRPr/>
            </a:pPr>
            <a:r>
              <a:rPr lang="es-ES" sz="1600"/>
              <a:t>Los costos a corto plazo son menores (sin costes de puesta en marcha).</a:t>
            </a:r>
          </a:p>
          <a:p>
            <a:pPr marL="285750" lvl="0" indent="-285750" algn="just">
              <a:spcAft>
                <a:spcPts val="600"/>
              </a:spcAft>
              <a:buFont typeface="Arial" panose="020B0604020202020204" pitchFamily="34" charset="0"/>
              <a:buChar char="•"/>
              <a:defRPr/>
            </a:pPr>
            <a:r>
              <a:rPr lang="es-ES" sz="1600"/>
              <a:t>No se necesita planificación.</a:t>
            </a:r>
          </a:p>
          <a:p>
            <a:pPr marL="285750" lvl="0" indent="-285750" algn="just">
              <a:spcAft>
                <a:spcPts val="600"/>
              </a:spcAft>
              <a:buFont typeface="Arial" panose="020B0604020202020204" pitchFamily="34" charset="0"/>
              <a:buChar char="•"/>
              <a:defRPr/>
            </a:pPr>
            <a:r>
              <a:rPr lang="es-ES" sz="1600"/>
              <a:t>Sin inspecciones semanales ni servicios planificados, se necesita menos personal de mantenimiento.</a:t>
            </a:r>
          </a:p>
          <a:p>
            <a:pPr lvl="0" algn="just">
              <a:spcAft>
                <a:spcPts val="600"/>
              </a:spcAft>
              <a:defRPr/>
            </a:pPr>
            <a:r>
              <a:rPr lang="es-ES" sz="1600" b="1"/>
              <a:t>Contras:</a:t>
            </a:r>
          </a:p>
          <a:p>
            <a:pPr marL="285750" lvl="0" indent="-285750" algn="just">
              <a:spcAft>
                <a:spcPts val="600"/>
              </a:spcAft>
              <a:buFont typeface="Arial" panose="020B0604020202020204" pitchFamily="34" charset="0"/>
              <a:buChar char="•"/>
              <a:defRPr/>
            </a:pPr>
            <a:r>
              <a:rPr lang="es-ES" sz="1600"/>
              <a:t>Las paradas imprevistas de equipos esenciales provocan altas pérdidas.</a:t>
            </a:r>
          </a:p>
          <a:p>
            <a:pPr marL="285750" lvl="0" indent="-285750" algn="just">
              <a:spcAft>
                <a:spcPts val="600"/>
              </a:spcAft>
              <a:buFont typeface="Arial" panose="020B0604020202020204" pitchFamily="34" charset="0"/>
              <a:buChar char="•"/>
              <a:defRPr/>
            </a:pPr>
            <a:r>
              <a:rPr lang="es-ES" sz="1600"/>
              <a:t>Las reparaciones de emergencia y los costes de sustitución de equipos crean un presupuesto impredecible</a:t>
            </a:r>
          </a:p>
          <a:p>
            <a:pPr marL="285750" lvl="0" indent="-285750" algn="just">
              <a:spcAft>
                <a:spcPts val="600"/>
              </a:spcAft>
              <a:buFont typeface="Arial" panose="020B0604020202020204" pitchFamily="34" charset="0"/>
              <a:buChar char="•"/>
              <a:defRPr/>
            </a:pPr>
            <a:r>
              <a:rPr lang="es-ES" sz="1600"/>
              <a:t>La falta de piezas de repuesto disponibles retrasa las reparaciones.</a:t>
            </a:r>
          </a:p>
          <a:p>
            <a:pPr marL="285750" lvl="0" indent="-285750" algn="just">
              <a:spcAft>
                <a:spcPts val="600"/>
              </a:spcAft>
              <a:buFont typeface="Arial" panose="020B0604020202020204" pitchFamily="34" charset="0"/>
              <a:buChar char="•"/>
              <a:defRPr/>
            </a:pPr>
            <a:r>
              <a:rPr lang="es-ES" sz="1600"/>
              <a:t>Costos a largo plazo pueden ser mayores.</a:t>
            </a:r>
          </a:p>
          <a:p>
            <a:pPr lvl="0" algn="just">
              <a:spcAft>
                <a:spcPts val="600"/>
              </a:spcAft>
              <a:defRPr/>
            </a:pPr>
            <a:endParaRPr lang="es-ES" sz="1600" b="1"/>
          </a:p>
          <a:p>
            <a:pPr lvl="0" algn="just">
              <a:spcAft>
                <a:spcPts val="600"/>
              </a:spcAft>
              <a:defRPr/>
            </a:pPr>
            <a:r>
              <a:rPr lang="es-ES" sz="1600" b="1"/>
              <a:t>¿Cuando puede tener sentido?</a:t>
            </a:r>
          </a:p>
          <a:p>
            <a:pPr lvl="0" algn="just">
              <a:spcAft>
                <a:spcPts val="600"/>
              </a:spcAft>
              <a:defRPr/>
            </a:pPr>
            <a:endParaRPr lang="es-ES" sz="1600"/>
          </a:p>
        </p:txBody>
      </p:sp>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r="75895" b="63"/>
          <a:stretch/>
        </p:blipFill>
        <p:spPr bwMode="auto">
          <a:xfrm>
            <a:off x="242057" y="2375022"/>
            <a:ext cx="2004647" cy="3840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600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6</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preventivo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6">
            <a:extLst>
              <a:ext uri="{FF2B5EF4-FFF2-40B4-BE49-F238E27FC236}">
                <a16:creationId xmlns:a16="http://schemas.microsoft.com/office/drawing/2014/main" id="{48E8544C-C987-4D74-9513-286799D3CFAC}"/>
              </a:ext>
            </a:extLst>
          </p:cNvPr>
          <p:cNvSpPr/>
          <p:nvPr/>
        </p:nvSpPr>
        <p:spPr>
          <a:xfrm>
            <a:off x="2480603" y="2255322"/>
            <a:ext cx="5895128" cy="3847207"/>
          </a:xfrm>
          <a:prstGeom prst="rect">
            <a:avLst/>
          </a:prstGeom>
        </p:spPr>
        <p:txBody>
          <a:bodyPr wrap="square">
            <a:spAutoFit/>
          </a:bodyPr>
          <a:lstStyle/>
          <a:p>
            <a:pPr lvl="0" algn="just">
              <a:spcAft>
                <a:spcPts val="600"/>
              </a:spcAft>
              <a:defRPr/>
            </a:pPr>
            <a:r>
              <a:rPr lang="es-ES" sz="1600"/>
              <a:t>El </a:t>
            </a:r>
            <a:r>
              <a:rPr lang="es-ES" sz="1600" b="1"/>
              <a:t>mantenimiento preventivo </a:t>
            </a:r>
            <a:r>
              <a:rPr lang="es-ES" sz="1600"/>
              <a:t>consiste en mantener los activos mediante una limpieza, lubricación, inspección y sustitución de piezas periódicas.</a:t>
            </a:r>
          </a:p>
          <a:p>
            <a:pPr lvl="0" algn="just">
              <a:spcAft>
                <a:spcPts val="600"/>
              </a:spcAft>
              <a:defRPr/>
            </a:pPr>
            <a:r>
              <a:rPr lang="es-ES" sz="1600"/>
              <a:t>El mantenimiento preventivo puede reducir el tiempo de inactividad de los equipos y mantener a raya las reparaciones sorpresa. Alarga la vida útil de los componentes.</a:t>
            </a:r>
          </a:p>
          <a:p>
            <a:pPr lvl="0" algn="just">
              <a:spcAft>
                <a:spcPts val="600"/>
              </a:spcAft>
              <a:defRPr/>
            </a:pPr>
            <a:r>
              <a:rPr lang="es-ES" sz="1600"/>
              <a:t>Hay dos tipos de mantenimiento preventivo:</a:t>
            </a:r>
          </a:p>
          <a:p>
            <a:pPr marL="285750" lvl="0" indent="-285750" algn="just">
              <a:spcAft>
                <a:spcPts val="600"/>
              </a:spcAft>
              <a:buFont typeface="Arial" panose="020B0604020202020204" pitchFamily="34" charset="0"/>
              <a:buChar char="•"/>
              <a:defRPr/>
            </a:pPr>
            <a:r>
              <a:rPr lang="es-ES" sz="1600" b="1"/>
              <a:t>Mantenimiento basado en el calendario: </a:t>
            </a:r>
            <a:r>
              <a:rPr lang="es-ES" sz="1600"/>
              <a:t>también conocido como mantenimiento periódico. Se establece un programa de mantenimiento recurrente basado en el tiempo. Según el tipo de activo, los intervalos pueden ser semanales, mensuales, trimestrales o anuales.</a:t>
            </a:r>
          </a:p>
          <a:p>
            <a:pPr marL="285750" lvl="0" indent="-285750" algn="just">
              <a:spcAft>
                <a:spcPts val="600"/>
              </a:spcAft>
              <a:buFont typeface="Arial" panose="020B0604020202020204" pitchFamily="34" charset="0"/>
              <a:buChar char="•"/>
              <a:defRPr/>
            </a:pPr>
            <a:r>
              <a:rPr lang="es-ES" sz="1600" b="1"/>
              <a:t>Mantenimiento basado en el uso: </a:t>
            </a:r>
            <a:r>
              <a:rPr lang="es-ES" sz="1600"/>
              <a:t>confía en las operaciones que hace una máquina. </a:t>
            </a:r>
          </a:p>
        </p:txBody>
      </p:sp>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3478" t="-322" r="57951" b="2171"/>
          <a:stretch/>
        </p:blipFill>
        <p:spPr bwMode="auto">
          <a:xfrm>
            <a:off x="406364" y="2375022"/>
            <a:ext cx="1544356" cy="3771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1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7</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preventivo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3478" t="-322" r="57951" b="534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066320"/>
            <a:ext cx="6338277" cy="4385816"/>
          </a:xfrm>
          <a:prstGeom prst="rect">
            <a:avLst/>
          </a:prstGeom>
        </p:spPr>
        <p:txBody>
          <a:bodyPr wrap="square">
            <a:spAutoFit/>
          </a:bodyPr>
          <a:lstStyle/>
          <a:p>
            <a:pPr lvl="0" algn="just">
              <a:spcAft>
                <a:spcPts val="600"/>
              </a:spcAft>
              <a:defRPr/>
            </a:pPr>
            <a:r>
              <a:rPr lang="es-ES" sz="1600" b="1"/>
              <a:t>Pros:</a:t>
            </a:r>
          </a:p>
          <a:p>
            <a:pPr marL="285750" lvl="0" indent="-285750" algn="just">
              <a:spcAft>
                <a:spcPts val="600"/>
              </a:spcAft>
              <a:buFont typeface="Arial" panose="020B0604020202020204" pitchFamily="34" charset="0"/>
              <a:buChar char="•"/>
              <a:defRPr/>
            </a:pPr>
            <a:r>
              <a:rPr lang="es-ES" sz="1600"/>
              <a:t>Menos tiempo de inactividad de los equipos.</a:t>
            </a:r>
          </a:p>
          <a:p>
            <a:pPr marL="285750" lvl="0" indent="-285750" algn="just">
              <a:spcAft>
                <a:spcPts val="600"/>
              </a:spcAft>
              <a:buFont typeface="Arial" panose="020B0604020202020204" pitchFamily="34" charset="0"/>
              <a:buChar char="•"/>
              <a:defRPr/>
            </a:pPr>
            <a:r>
              <a:rPr lang="es-ES" sz="1600"/>
              <a:t>Mayor duración de los activos.</a:t>
            </a:r>
          </a:p>
          <a:p>
            <a:pPr marL="285750" lvl="0" indent="-285750" algn="just">
              <a:spcAft>
                <a:spcPts val="600"/>
              </a:spcAft>
              <a:buFont typeface="Arial" panose="020B0604020202020204" pitchFamily="34" charset="0"/>
              <a:buChar char="•"/>
              <a:defRPr/>
            </a:pPr>
            <a:r>
              <a:rPr lang="es-ES" sz="1600"/>
              <a:t>Menos interrupciones de las operaciones críticas.</a:t>
            </a:r>
          </a:p>
          <a:p>
            <a:pPr marL="285750" lvl="0" indent="-285750" algn="just">
              <a:spcAft>
                <a:spcPts val="600"/>
              </a:spcAft>
              <a:buFont typeface="Arial" panose="020B0604020202020204" pitchFamily="34" charset="0"/>
              <a:buChar char="•"/>
              <a:defRPr/>
            </a:pPr>
            <a:r>
              <a:rPr lang="es-ES" sz="1600"/>
              <a:t>Mayor eficiencia (los equipos en buen estado rinden más)</a:t>
            </a:r>
          </a:p>
          <a:p>
            <a:pPr lvl="0" algn="just">
              <a:spcAft>
                <a:spcPts val="600"/>
              </a:spcAft>
              <a:defRPr/>
            </a:pPr>
            <a:r>
              <a:rPr lang="es-ES" sz="1600" b="1"/>
              <a:t>Contras:</a:t>
            </a:r>
          </a:p>
          <a:p>
            <a:pPr marL="285750" lvl="0" indent="-285750" algn="just">
              <a:spcAft>
                <a:spcPts val="600"/>
              </a:spcAft>
              <a:buFont typeface="Arial" panose="020B0604020202020204" pitchFamily="34" charset="0"/>
              <a:buChar char="•"/>
              <a:defRPr/>
            </a:pPr>
            <a:r>
              <a:rPr lang="es-ES" sz="1600"/>
              <a:t>Costes iniciales: mantener los equipos en buen estado requiere una inversión.</a:t>
            </a:r>
          </a:p>
          <a:p>
            <a:pPr marL="285750" lvl="0" indent="-285750" algn="just">
              <a:spcAft>
                <a:spcPts val="600"/>
              </a:spcAft>
              <a:buFont typeface="Arial" panose="020B0604020202020204" pitchFamily="34" charset="0"/>
              <a:buChar char="•"/>
              <a:defRPr/>
            </a:pPr>
            <a:r>
              <a:rPr lang="es-ES" sz="1600"/>
              <a:t>Más mano de obra, por lo que necesitará más personal disponible.</a:t>
            </a:r>
          </a:p>
          <a:p>
            <a:pPr marL="285750" lvl="0" indent="-285750" algn="just">
              <a:spcAft>
                <a:spcPts val="600"/>
              </a:spcAft>
              <a:buFont typeface="Arial" panose="020B0604020202020204" pitchFamily="34" charset="0"/>
              <a:buChar char="•"/>
              <a:defRPr/>
            </a:pPr>
            <a:r>
              <a:rPr lang="es-ES" sz="1600"/>
              <a:t>Posibilidad de mantenimiento excesivo.</a:t>
            </a:r>
          </a:p>
          <a:p>
            <a:pPr marL="285750" lvl="0" indent="-285750" algn="just">
              <a:spcAft>
                <a:spcPts val="600"/>
              </a:spcAft>
              <a:buFont typeface="Arial" panose="020B0604020202020204" pitchFamily="34" charset="0"/>
              <a:buChar char="•"/>
              <a:defRPr/>
            </a:pPr>
            <a:r>
              <a:rPr lang="es-ES" sz="1600"/>
              <a:t>Algunos componentes se cambiarán antes de que lleguen al final de su vida útil.</a:t>
            </a:r>
          </a:p>
          <a:p>
            <a:pPr lvl="0" algn="just">
              <a:spcAft>
                <a:spcPts val="600"/>
              </a:spcAft>
              <a:defRPr/>
            </a:pPr>
            <a:endParaRPr lang="es-ES" sz="1600" b="1"/>
          </a:p>
          <a:p>
            <a:pPr lvl="0" algn="just">
              <a:spcAft>
                <a:spcPts val="600"/>
              </a:spcAft>
              <a:defRPr/>
            </a:pPr>
            <a:r>
              <a:rPr lang="es-ES" sz="1600" b="1"/>
              <a:t>¿Cuando puede tener sentido?</a:t>
            </a:r>
          </a:p>
        </p:txBody>
      </p:sp>
    </p:spTree>
    <p:extLst>
      <p:ext uri="{BB962C8B-B14F-4D97-AF65-F5344CB8AC3E}">
        <p14:creationId xmlns:p14="http://schemas.microsoft.com/office/powerpoint/2010/main" val="264894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8</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basado en las condiciones</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6">
            <a:extLst>
              <a:ext uri="{FF2B5EF4-FFF2-40B4-BE49-F238E27FC236}">
                <a16:creationId xmlns:a16="http://schemas.microsoft.com/office/drawing/2014/main" id="{48E8544C-C987-4D74-9513-286799D3CFAC}"/>
              </a:ext>
            </a:extLst>
          </p:cNvPr>
          <p:cNvSpPr/>
          <p:nvPr/>
        </p:nvSpPr>
        <p:spPr>
          <a:xfrm>
            <a:off x="1895686" y="2544619"/>
            <a:ext cx="5352627" cy="3200876"/>
          </a:xfrm>
          <a:prstGeom prst="rect">
            <a:avLst/>
          </a:prstGeom>
        </p:spPr>
        <p:txBody>
          <a:bodyPr wrap="square">
            <a:spAutoFit/>
          </a:bodyPr>
          <a:lstStyle/>
          <a:p>
            <a:pPr lvl="0" algn="just">
              <a:spcAft>
                <a:spcPts val="600"/>
              </a:spcAft>
              <a:defRPr/>
            </a:pPr>
            <a:r>
              <a:rPr lang="es-ES" sz="1600"/>
              <a:t>El </a:t>
            </a:r>
            <a:r>
              <a:rPr lang="es-ES" sz="1600" b="1"/>
              <a:t>mantenimiento basado en las condiciones </a:t>
            </a:r>
            <a:r>
              <a:rPr lang="es-ES" sz="1600"/>
              <a:t>consiste en supervisar el rendimiento de los equipos y la gestión de activos con inspecciones visuales, pruebas programadas y dispositivos sensores para determinar el momento más rentable para realizar el mantenimiento.</a:t>
            </a:r>
          </a:p>
          <a:p>
            <a:pPr lvl="0" algn="just">
              <a:spcAft>
                <a:spcPts val="600"/>
              </a:spcAft>
              <a:defRPr/>
            </a:pPr>
            <a:endParaRPr lang="es-ES" sz="1600"/>
          </a:p>
          <a:p>
            <a:pPr algn="just">
              <a:spcAft>
                <a:spcPts val="600"/>
              </a:spcAft>
              <a:defRPr/>
            </a:pPr>
            <a:r>
              <a:rPr lang="es-ES" sz="1600"/>
              <a:t>El </a:t>
            </a:r>
            <a:r>
              <a:rPr lang="es-ES" sz="1600" b="1"/>
              <a:t>mantenimiento predictivo </a:t>
            </a:r>
            <a:r>
              <a:rPr lang="es-ES" sz="1600"/>
              <a:t>es una forma avanzada de mantenimiento planificado que supervisa las condiciones de los activos en tiempo real. La estrategia proactiva se basa en sensores que alertan a los equipos de mantenimiento cuando es necesario un mantenimiento preventivo para mantener unos niveles óptimos de rendimiento. </a:t>
            </a:r>
          </a:p>
        </p:txBody>
      </p:sp>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2669" t="-492" r="38760" b="377"/>
          <a:stretch/>
        </p:blipFill>
        <p:spPr bwMode="auto">
          <a:xfrm>
            <a:off x="325084" y="2299593"/>
            <a:ext cx="1544356" cy="384720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Evolution of Maintenance Reactive Preventative Condition Based Predictive Prescriptive Data">
            <a:extLst>
              <a:ext uri="{FF2B5EF4-FFF2-40B4-BE49-F238E27FC236}">
                <a16:creationId xmlns:a16="http://schemas.microsoft.com/office/drawing/2014/main" id="{BDF391AC-3D3F-414C-A736-16298F6F057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2026" r="19750" b="-115"/>
          <a:stretch/>
        </p:blipFill>
        <p:spPr bwMode="auto">
          <a:xfrm>
            <a:off x="7349067" y="2299592"/>
            <a:ext cx="1515534" cy="3847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94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9</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basado en las condiciones</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2A0B8566-2F3B-4801-B62B-AD1CD067A05F}"/>
              </a:ext>
            </a:extLst>
          </p:cNvPr>
          <p:cNvGraphicFramePr>
            <a:graphicFrameLocks noGrp="1"/>
          </p:cNvGraphicFramePr>
          <p:nvPr/>
        </p:nvGraphicFramePr>
        <p:xfrm>
          <a:off x="749098" y="2167467"/>
          <a:ext cx="7645804" cy="4047913"/>
        </p:xfrm>
        <a:graphic>
          <a:graphicData uri="http://schemas.openxmlformats.org/drawingml/2006/table">
            <a:tbl>
              <a:tblPr firstRow="1" bandRow="1">
                <a:tableStyleId>{5C22544A-7EE6-4342-B048-85BDC9FD1C3A}</a:tableStyleId>
              </a:tblPr>
              <a:tblGrid>
                <a:gridCol w="3822902">
                  <a:extLst>
                    <a:ext uri="{9D8B030D-6E8A-4147-A177-3AD203B41FA5}">
                      <a16:colId xmlns:a16="http://schemas.microsoft.com/office/drawing/2014/main" val="3481285434"/>
                    </a:ext>
                  </a:extLst>
                </a:gridCol>
                <a:gridCol w="3822902">
                  <a:extLst>
                    <a:ext uri="{9D8B030D-6E8A-4147-A177-3AD203B41FA5}">
                      <a16:colId xmlns:a16="http://schemas.microsoft.com/office/drawing/2014/main" val="625416758"/>
                    </a:ext>
                  </a:extLst>
                </a:gridCol>
              </a:tblGrid>
              <a:tr h="630767">
                <a:tc>
                  <a:txBody>
                    <a:bodyPr/>
                    <a:lstStyle/>
                    <a:p>
                      <a:pPr algn="ctr"/>
                      <a:r>
                        <a:rPr lang="ca-ES"/>
                        <a:t>Mantenimiento basado en las condiciones</a:t>
                      </a:r>
                      <a:endParaRPr lang="en-US"/>
                    </a:p>
                  </a:txBody>
                  <a:tcPr/>
                </a:tc>
                <a:tc>
                  <a:txBody>
                    <a:bodyPr/>
                    <a:lstStyle/>
                    <a:p>
                      <a:pPr algn="ctr"/>
                      <a:r>
                        <a:rPr lang="ca-ES"/>
                        <a:t>Mantenimiento predictivo</a:t>
                      </a:r>
                      <a:endParaRPr lang="en-US"/>
                    </a:p>
                  </a:txBody>
                  <a:tcPr/>
                </a:tc>
                <a:extLst>
                  <a:ext uri="{0D108BD9-81ED-4DB2-BD59-A6C34878D82A}">
                    <a16:rowId xmlns:a16="http://schemas.microsoft.com/office/drawing/2014/main" val="2506793093"/>
                  </a:ext>
                </a:extLst>
              </a:tr>
              <a:tr h="630767">
                <a:tc>
                  <a:txBody>
                    <a:bodyPr/>
                    <a:lstStyle/>
                    <a:p>
                      <a:r>
                        <a:rPr lang="es-ES" sz="1400"/>
                        <a:t>Se basa en diagnósticos basados en el estado (ej. vibraciones, temperatura, presión, velocidad, tensión) para indicar cuándo es necesario el mantenimiento.	</a:t>
                      </a:r>
                      <a:endParaRPr lang="en-US" sz="1400"/>
                    </a:p>
                  </a:txBody>
                  <a:tcPr/>
                </a:tc>
                <a:tc>
                  <a:txBody>
                    <a:bodyPr/>
                    <a:lstStyle/>
                    <a:p>
                      <a:r>
                        <a:rPr lang="es-ES" sz="1400"/>
                        <a:t>Combina diagnósticos basados en el estado (ej. vibraciones, temperatura) con fórmulas predictivas complejas para predecir cuándo puede ser necesario el mantenimiento.</a:t>
                      </a:r>
                      <a:endParaRPr lang="en-US" sz="1400"/>
                    </a:p>
                  </a:txBody>
                  <a:tcPr/>
                </a:tc>
                <a:extLst>
                  <a:ext uri="{0D108BD9-81ED-4DB2-BD59-A6C34878D82A}">
                    <a16:rowId xmlns:a16="http://schemas.microsoft.com/office/drawing/2014/main" val="3745484828"/>
                  </a:ext>
                </a:extLst>
              </a:tr>
              <a:tr h="523240">
                <a:tc>
                  <a:txBody>
                    <a:bodyPr/>
                    <a:lstStyle/>
                    <a:p>
                      <a:r>
                        <a:rPr lang="es-ES" sz="1400"/>
                        <a:t>Se basa en reglas estáticas para la toma de decisiones.	</a:t>
                      </a:r>
                      <a:endParaRPr lang="en-US" sz="1400"/>
                    </a:p>
                  </a:txBody>
                  <a:tcPr/>
                </a:tc>
                <a:tc>
                  <a:txBody>
                    <a:bodyPr/>
                    <a:lstStyle/>
                    <a:p>
                      <a:r>
                        <a:rPr lang="es-ES" sz="1400"/>
                        <a:t>Se basa en reglas dinámicas para la toma de decisiones.</a:t>
                      </a:r>
                      <a:endParaRPr lang="en-US" sz="1400"/>
                    </a:p>
                  </a:txBody>
                  <a:tcPr/>
                </a:tc>
                <a:extLst>
                  <a:ext uri="{0D108BD9-81ED-4DB2-BD59-A6C34878D82A}">
                    <a16:rowId xmlns:a16="http://schemas.microsoft.com/office/drawing/2014/main" val="618525925"/>
                  </a:ext>
                </a:extLst>
              </a:tr>
              <a:tr h="364066">
                <a:tc>
                  <a:txBody>
                    <a:bodyPr/>
                    <a:lstStyle/>
                    <a:p>
                      <a:r>
                        <a:rPr lang="en-US" sz="1400"/>
                        <a:t>Muy sensible al ruido.</a:t>
                      </a:r>
                    </a:p>
                  </a:txBody>
                  <a:tcPr/>
                </a:tc>
                <a:tc>
                  <a:txBody>
                    <a:bodyPr/>
                    <a:lstStyle/>
                    <a:p>
                      <a:r>
                        <a:rPr lang="en-US" sz="1400"/>
                        <a:t>Menos sensible al ruido.</a:t>
                      </a:r>
                    </a:p>
                  </a:txBody>
                  <a:tcPr/>
                </a:tc>
                <a:extLst>
                  <a:ext uri="{0D108BD9-81ED-4DB2-BD59-A6C34878D82A}">
                    <a16:rowId xmlns:a16="http://schemas.microsoft.com/office/drawing/2014/main" val="3408167870"/>
                  </a:ext>
                </a:extLst>
              </a:tr>
              <a:tr h="630767">
                <a:tc>
                  <a:txBody>
                    <a:bodyPr/>
                    <a:lstStyle/>
                    <a:p>
                      <a:r>
                        <a:rPr lang="es-ES" sz="1400"/>
                        <a:t>Forma optimizada de mantenimiento preventivo basada en algoritmos de detección, diagnóstico y pronóstico continuos para informar sobre el mantenimiento. </a:t>
                      </a:r>
                      <a:endParaRPr lang="en-US" sz="1400"/>
                    </a:p>
                  </a:txBody>
                  <a:tcPr/>
                </a:tc>
                <a:tc>
                  <a:txBody>
                    <a:bodyPr/>
                    <a:lstStyle/>
                    <a:p>
                      <a:r>
                        <a:rPr lang="es-ES" sz="1400"/>
                        <a:t>Mantenimiento preventivo tecnológicamente avanzado basado en el reconocimiento algorítmico de patrones de las máquinas.</a:t>
                      </a:r>
                      <a:endParaRPr lang="en-US" sz="1400"/>
                    </a:p>
                  </a:txBody>
                  <a:tcPr/>
                </a:tc>
                <a:extLst>
                  <a:ext uri="{0D108BD9-81ED-4DB2-BD59-A6C34878D82A}">
                    <a16:rowId xmlns:a16="http://schemas.microsoft.com/office/drawing/2014/main" val="3518153410"/>
                  </a:ext>
                </a:extLst>
              </a:tr>
              <a:tr h="630767">
                <a:tc>
                  <a:txBody>
                    <a:bodyPr/>
                    <a:lstStyle/>
                    <a:p>
                      <a:r>
                        <a:rPr lang="es-ES" sz="1400"/>
                        <a:t>Alerta a los técnicos en el momento exacto en que algo va mal. </a:t>
                      </a:r>
                      <a:endParaRPr lang="en-US" sz="1400"/>
                    </a:p>
                  </a:txBody>
                  <a:tcPr/>
                </a:tc>
                <a:tc>
                  <a:txBody>
                    <a:bodyPr/>
                    <a:lstStyle/>
                    <a:p>
                      <a:r>
                        <a:rPr lang="es-ES" sz="1400"/>
                        <a:t>Predice fallos futuros con tecnología inteligente. </a:t>
                      </a:r>
                      <a:endParaRPr lang="en-US" sz="1400"/>
                    </a:p>
                  </a:txBody>
                  <a:tcPr/>
                </a:tc>
                <a:extLst>
                  <a:ext uri="{0D108BD9-81ED-4DB2-BD59-A6C34878D82A}">
                    <a16:rowId xmlns:a16="http://schemas.microsoft.com/office/drawing/2014/main" val="3588056949"/>
                  </a:ext>
                </a:extLst>
              </a:tr>
            </a:tbl>
          </a:graphicData>
        </a:graphic>
      </p:graphicFrame>
    </p:spTree>
    <p:extLst>
      <p:ext uri="{BB962C8B-B14F-4D97-AF65-F5344CB8AC3E}">
        <p14:creationId xmlns:p14="http://schemas.microsoft.com/office/powerpoint/2010/main" val="4025039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10</a:t>
            </a:fld>
            <a:endParaRPr lang="es-ES"/>
          </a:p>
        </p:txBody>
      </p:sp>
      <p:sp>
        <p:nvSpPr>
          <p:cNvPr id="18" name="Elipse 17">
            <a:extLst>
              <a:ext uri="{FF2B5EF4-FFF2-40B4-BE49-F238E27FC236}">
                <a16:creationId xmlns:a16="http://schemas.microsoft.com/office/drawing/2014/main" id="{0C954D3C-FD55-4C0F-A46D-BB59FAC57696}"/>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Conector recto 18">
            <a:extLst>
              <a:ext uri="{FF2B5EF4-FFF2-40B4-BE49-F238E27FC236}">
                <a16:creationId xmlns:a16="http://schemas.microsoft.com/office/drawing/2014/main" id="{DDE799C5-461D-450A-A0F6-D0672197D272}"/>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3" name="Título 1">
            <a:extLst>
              <a:ext uri="{FF2B5EF4-FFF2-40B4-BE49-F238E27FC236}">
                <a16:creationId xmlns:a16="http://schemas.microsoft.com/office/drawing/2014/main" id="{0DD919AC-1336-4204-AB39-783F1A0F20C8}"/>
              </a:ext>
            </a:extLst>
          </p:cNvPr>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 </a:t>
            </a:r>
            <a:r>
              <a:rPr lang="es-ES" sz="2400"/>
              <a:t>de motores, máquinas, aerogeneradores …</a:t>
            </a:r>
            <a:endParaRPr lang="es-ES" sz="2400" b="1" dirty="0"/>
          </a:p>
        </p:txBody>
      </p:sp>
      <p:pic>
        <p:nvPicPr>
          <p:cNvPr id="14" name="Picture 2" descr="Factory machine - Free industry icons">
            <a:extLst>
              <a:ext uri="{FF2B5EF4-FFF2-40B4-BE49-F238E27FC236}">
                <a16:creationId xmlns:a16="http://schemas.microsoft.com/office/drawing/2014/main" id="{6A148C49-3D29-4E3E-890E-612E6BBC29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ándo actúa cada tipo de mantenimiento y qué señales detecta?">
            <a:extLst>
              <a:ext uri="{FF2B5EF4-FFF2-40B4-BE49-F238E27FC236}">
                <a16:creationId xmlns:a16="http://schemas.microsoft.com/office/drawing/2014/main" id="{2E3067D9-6DCB-4C9E-9189-CD573C7B62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414"/>
          <a:stretch/>
        </p:blipFill>
        <p:spPr bwMode="auto">
          <a:xfrm>
            <a:off x="1246187" y="2128363"/>
            <a:ext cx="6651625" cy="458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86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7D03AA28-728B-4D97-9539-03F818E8BA43}"/>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11</a:t>
            </a:fld>
            <a:endParaRPr lang="es-ES" dirty="0"/>
          </a:p>
        </p:txBody>
      </p:sp>
      <p:sp>
        <p:nvSpPr>
          <p:cNvPr id="3" name="CuadroTexto 2"/>
          <p:cNvSpPr txBox="1"/>
          <p:nvPr/>
        </p:nvSpPr>
        <p:spPr>
          <a:xfrm>
            <a:off x="977070" y="2110901"/>
            <a:ext cx="7688036" cy="28146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gl-ES" sz="2000" dirty="0">
                <a:solidFill>
                  <a:schemeClr val="bg2">
                    <a:lumMod val="90000"/>
                  </a:schemeClr>
                </a:solidFill>
              </a:rPr>
              <a:t>Tipos de mantenimiento.</a:t>
            </a:r>
          </a:p>
          <a:p>
            <a:pPr marL="285750" indent="-285750">
              <a:lnSpc>
                <a:spcPct val="150000"/>
              </a:lnSpc>
              <a:buFont typeface="Arial" panose="020B0604020202020204" pitchFamily="34" charset="0"/>
              <a:buChar char="•"/>
            </a:pPr>
            <a:r>
              <a:rPr lang="gl-ES" sz="2000" b="1" dirty="0"/>
              <a:t>Introducción al Mantenimiento Predictivo (MP).</a:t>
            </a:r>
          </a:p>
          <a:p>
            <a:pPr marL="285750" indent="-285750">
              <a:lnSpc>
                <a:spcPct val="150000"/>
              </a:lnSpc>
              <a:buFont typeface="Arial" panose="020B0604020202020204" pitchFamily="34" charset="0"/>
              <a:buChar char="•"/>
            </a:pPr>
            <a:r>
              <a:rPr lang="gl-ES" sz="2000" dirty="0">
                <a:solidFill>
                  <a:schemeClr val="bg2">
                    <a:lumMod val="90000"/>
                  </a:schemeClr>
                </a:solidFill>
              </a:rPr>
              <a:t>Explicación ejemplo motor NASA.</a:t>
            </a:r>
          </a:p>
          <a:p>
            <a:pPr marL="285750" indent="-285750">
              <a:lnSpc>
                <a:spcPct val="150000"/>
              </a:lnSpc>
              <a:buFont typeface="Arial" panose="020B0604020202020204" pitchFamily="34" charset="0"/>
              <a:buChar char="•"/>
            </a:pPr>
            <a:r>
              <a:rPr lang="gl-ES" sz="2000" dirty="0">
                <a:solidFill>
                  <a:schemeClr val="bg2">
                    <a:lumMod val="90000"/>
                  </a:schemeClr>
                </a:solidFill>
              </a:rPr>
              <a:t>Jupyter Notebook motor NASA.</a:t>
            </a:r>
          </a:p>
          <a:p>
            <a:pPr>
              <a:lnSpc>
                <a:spcPct val="150000"/>
              </a:lnSpc>
            </a:pPr>
            <a:endParaRPr lang="gl-ES" sz="2000" dirty="0"/>
          </a:p>
          <a:p>
            <a:pPr marL="285750" indent="-285750">
              <a:lnSpc>
                <a:spcPct val="150000"/>
              </a:lnSpc>
              <a:buFont typeface="Arial" panose="020B0604020202020204" pitchFamily="34" charset="0"/>
              <a:buChar char="•"/>
            </a:pPr>
            <a:endParaRPr lang="en-US" sz="2000" dirty="0"/>
          </a:p>
        </p:txBody>
      </p:sp>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607" y="1259257"/>
            <a:ext cx="553521" cy="553521"/>
          </a:xfrm>
          <a:prstGeom prst="rect">
            <a:avLst/>
          </a:prstGeom>
        </p:spPr>
      </p:pic>
      <p:sp>
        <p:nvSpPr>
          <p:cNvPr id="6" name="Título 1">
            <a:extLst>
              <a:ext uri="{FF2B5EF4-FFF2-40B4-BE49-F238E27FC236}">
                <a16:creationId xmlns:a16="http://schemas.microsoft.com/office/drawing/2014/main" id="{B55D0A9A-2C98-4C08-A588-4BB224D73EB4}"/>
              </a:ext>
            </a:extLst>
          </p:cNvPr>
          <p:cNvSpPr txBox="1">
            <a:spLocks/>
          </p:cNvSpPr>
          <p:nvPr/>
        </p:nvSpPr>
        <p:spPr>
          <a:xfrm>
            <a:off x="1044392" y="1198152"/>
            <a:ext cx="458460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Objetivos de la sesión</a:t>
            </a:r>
          </a:p>
        </p:txBody>
      </p:sp>
      <p:cxnSp>
        <p:nvCxnSpPr>
          <p:cNvPr id="8" name="Conector recto 7">
            <a:extLst>
              <a:ext uri="{FF2B5EF4-FFF2-40B4-BE49-F238E27FC236}">
                <a16:creationId xmlns:a16="http://schemas.microsoft.com/office/drawing/2014/main" id="{639E8254-F30D-4E18-BB89-27F244DA3A2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360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12</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760" t="968" r="19669" b="405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184858"/>
            <a:ext cx="6338277" cy="3924151"/>
          </a:xfrm>
          <a:prstGeom prst="rect">
            <a:avLst/>
          </a:prstGeom>
        </p:spPr>
        <p:txBody>
          <a:bodyPr wrap="square">
            <a:spAutoFit/>
          </a:bodyPr>
          <a:lstStyle/>
          <a:p>
            <a:pPr lvl="0" algn="just">
              <a:spcAft>
                <a:spcPts val="600"/>
              </a:spcAft>
              <a:defRPr/>
            </a:pPr>
            <a:r>
              <a:rPr lang="es-ES" sz="1600"/>
              <a:t>El mantenimiento predictivo (PdM) utiliza los datos de los equipos para fundamentar las decisiones de mantenimiento rutinario. El PdM incluye tecnologías de aprendizaje automático capaces de establecer patrones de referencia del "funcionamiento normal de los equipos". </a:t>
            </a:r>
          </a:p>
          <a:p>
            <a:pPr lvl="0" algn="just">
              <a:spcAft>
                <a:spcPts val="600"/>
              </a:spcAft>
              <a:defRPr/>
            </a:pPr>
            <a:endParaRPr lang="es-ES" sz="1600"/>
          </a:p>
          <a:p>
            <a:pPr lvl="0" algn="just">
              <a:spcAft>
                <a:spcPts val="600"/>
              </a:spcAft>
              <a:defRPr/>
            </a:pPr>
            <a:r>
              <a:rPr lang="es-ES" sz="1600"/>
              <a:t>El objetivo del mantenimiento predictivo es triple:</a:t>
            </a:r>
          </a:p>
          <a:p>
            <a:pPr marL="285750" lvl="0" indent="-285750" algn="just">
              <a:spcAft>
                <a:spcPts val="600"/>
              </a:spcAft>
              <a:buFont typeface="Arial" panose="020B0604020202020204" pitchFamily="34" charset="0"/>
              <a:buChar char="•"/>
              <a:defRPr/>
            </a:pPr>
            <a:r>
              <a:rPr lang="es-ES" sz="1600"/>
              <a:t>Maximizar el tiempo de funcionamiento, mejorar la fiabilidad y aumentar la productividad reduciendo el número de averías imprevistas.</a:t>
            </a:r>
          </a:p>
          <a:p>
            <a:pPr marL="285750" lvl="0" indent="-285750" algn="just">
              <a:spcAft>
                <a:spcPts val="600"/>
              </a:spcAft>
              <a:buFont typeface="Arial" panose="020B0604020202020204" pitchFamily="34" charset="0"/>
              <a:buChar char="•"/>
              <a:defRPr/>
            </a:pPr>
            <a:r>
              <a:rPr lang="es-ES" sz="1600"/>
              <a:t>Reducir los costes operativos realizando las tareas de mantenimiento antes de que se conviertan en excesivas en costes, mano de obra y tiempo. </a:t>
            </a:r>
          </a:p>
          <a:p>
            <a:pPr marL="285750" lvl="0" indent="-285750" algn="just">
              <a:spcAft>
                <a:spcPts val="600"/>
              </a:spcAft>
              <a:buFont typeface="Arial" panose="020B0604020202020204" pitchFamily="34" charset="0"/>
              <a:buChar char="•"/>
              <a:defRPr/>
            </a:pPr>
            <a:r>
              <a:rPr lang="es-ES" sz="1600"/>
              <a:t>Prolongar la vida útil de los activos realizando el mantenimiento antes de que se produzcan fallos en los equipos. </a:t>
            </a:r>
          </a:p>
        </p:txBody>
      </p:sp>
    </p:spTree>
    <p:extLst>
      <p:ext uri="{BB962C8B-B14F-4D97-AF65-F5344CB8AC3E}">
        <p14:creationId xmlns:p14="http://schemas.microsoft.com/office/powerpoint/2010/main" val="425286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13</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760" t="968" r="19669" b="405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184858"/>
            <a:ext cx="6338277" cy="3924151"/>
          </a:xfrm>
          <a:prstGeom prst="rect">
            <a:avLst/>
          </a:prstGeom>
        </p:spPr>
        <p:txBody>
          <a:bodyPr wrap="square">
            <a:spAutoFit/>
          </a:bodyPr>
          <a:lstStyle/>
          <a:p>
            <a:pPr lvl="0" algn="just">
              <a:spcAft>
                <a:spcPts val="600"/>
              </a:spcAft>
              <a:defRPr/>
            </a:pPr>
            <a:r>
              <a:rPr lang="es-ES" sz="1600"/>
              <a:t>El mantenimiento predictivo es el futuro. Y no es sólo una teoría que se discute en las aulas universitarias; algunas de las empresas más grandes del mundo en </a:t>
            </a:r>
            <a:r>
              <a:rPr lang="es-ES" sz="1600" b="1"/>
              <a:t>fabricación</a:t>
            </a:r>
            <a:r>
              <a:rPr lang="es-ES" sz="1600"/>
              <a:t>, </a:t>
            </a:r>
            <a:r>
              <a:rPr lang="es-ES" sz="1600" b="1"/>
              <a:t>aviación</a:t>
            </a:r>
            <a:r>
              <a:rPr lang="es-ES" sz="1600"/>
              <a:t> y </a:t>
            </a:r>
            <a:r>
              <a:rPr lang="es-ES" sz="1600" b="1"/>
              <a:t>sanidad</a:t>
            </a:r>
            <a:r>
              <a:rPr lang="es-ES" sz="1600"/>
              <a:t> están experimentando increíbles ganancias en eficiencia, productividad y ahorro como resultado de sus programas de mantenimiento predictivo. </a:t>
            </a:r>
          </a:p>
          <a:p>
            <a:pPr lvl="0" algn="just">
              <a:spcAft>
                <a:spcPts val="600"/>
              </a:spcAft>
              <a:defRPr/>
            </a:pPr>
            <a:r>
              <a:rPr lang="es-ES" sz="1600"/>
              <a:t>A diferencia del mantenimiento preventivo, con el PdM no existe el riesgo de realizar demasiado o demasiado poco trabajo de mantenimiento.</a:t>
            </a:r>
          </a:p>
          <a:p>
            <a:pPr lvl="0" algn="just">
              <a:spcAft>
                <a:spcPts val="600"/>
              </a:spcAft>
              <a:defRPr/>
            </a:pPr>
            <a:r>
              <a:rPr lang="es-ES" sz="1600"/>
              <a:t>Algunos datos: </a:t>
            </a:r>
          </a:p>
          <a:p>
            <a:pPr marL="285750" lvl="0" indent="-285750" algn="just">
              <a:spcAft>
                <a:spcPts val="600"/>
              </a:spcAft>
              <a:buFont typeface="Arial" panose="020B0604020202020204" pitchFamily="34" charset="0"/>
              <a:buChar char="•"/>
              <a:defRPr/>
            </a:pPr>
            <a:r>
              <a:rPr lang="es-ES" sz="1600"/>
              <a:t>Según el Departamento de Energía de EE.UU., un programa de mantenimiento predictivo funcional puede aumentar la rentabilidad de la inversión hasta diez veces. </a:t>
            </a:r>
          </a:p>
          <a:p>
            <a:pPr marL="285750" lvl="0" indent="-285750" algn="just">
              <a:spcAft>
                <a:spcPts val="600"/>
              </a:spcAft>
              <a:buFont typeface="Arial" panose="020B0604020202020204" pitchFamily="34" charset="0"/>
              <a:buChar char="•"/>
              <a:defRPr/>
            </a:pPr>
            <a:r>
              <a:rPr lang="es-ES" sz="1600"/>
              <a:t>También puede reducir las averías de los activos en un 75 por ciento. </a:t>
            </a:r>
          </a:p>
          <a:p>
            <a:pPr marL="285750" lvl="0" indent="-285750" algn="just">
              <a:spcAft>
                <a:spcPts val="600"/>
              </a:spcAft>
              <a:buFont typeface="Arial" panose="020B0604020202020204" pitchFamily="34" charset="0"/>
              <a:buChar char="•"/>
              <a:defRPr/>
            </a:pPr>
            <a:r>
              <a:rPr lang="es-ES" sz="1600"/>
              <a:t>Esto se traduce en una reducción del 45% del tiempo de inactividad y del 30% de los costes de mantenimiento.</a:t>
            </a:r>
          </a:p>
        </p:txBody>
      </p:sp>
    </p:spTree>
    <p:extLst>
      <p:ext uri="{BB962C8B-B14F-4D97-AF65-F5344CB8AC3E}">
        <p14:creationId xmlns:p14="http://schemas.microsoft.com/office/powerpoint/2010/main" val="3622382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14</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760" t="968" r="19669" b="405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040922"/>
            <a:ext cx="6338277" cy="3916713"/>
          </a:xfrm>
          <a:prstGeom prst="rect">
            <a:avLst/>
          </a:prstGeom>
        </p:spPr>
        <p:txBody>
          <a:bodyPr wrap="square">
            <a:spAutoFit/>
          </a:bodyPr>
          <a:lstStyle/>
          <a:p>
            <a:pPr lvl="0" algn="just">
              <a:lnSpc>
                <a:spcPct val="150000"/>
              </a:lnSpc>
              <a:spcAft>
                <a:spcPts val="600"/>
              </a:spcAft>
              <a:defRPr/>
            </a:pPr>
            <a:r>
              <a:rPr lang="es-ES" sz="1600"/>
              <a:t>Como funciona?</a:t>
            </a:r>
          </a:p>
          <a:p>
            <a:pPr marL="342900" lvl="0" indent="-342900" algn="just">
              <a:lnSpc>
                <a:spcPct val="150000"/>
              </a:lnSpc>
              <a:spcAft>
                <a:spcPts val="600"/>
              </a:spcAft>
              <a:buFont typeface="+mj-lt"/>
              <a:buAutoNum type="arabicPeriod"/>
              <a:defRPr/>
            </a:pPr>
            <a:r>
              <a:rPr lang="es-ES" sz="1600"/>
              <a:t>Se instalan sensores al equipo a mantener.</a:t>
            </a:r>
          </a:p>
          <a:p>
            <a:pPr marL="342900" lvl="0" indent="-342900" algn="just">
              <a:lnSpc>
                <a:spcPct val="150000"/>
              </a:lnSpc>
              <a:spcAft>
                <a:spcPts val="600"/>
              </a:spcAft>
              <a:buFont typeface="+mj-lt"/>
              <a:buAutoNum type="arabicPeriod"/>
              <a:defRPr/>
            </a:pPr>
            <a:r>
              <a:rPr lang="es-ES" sz="1600"/>
              <a:t>Se recogen datos de estos sensores y datos operativos del equipo.</a:t>
            </a:r>
          </a:p>
          <a:p>
            <a:pPr marL="342900" lvl="0" indent="-342900" algn="just">
              <a:lnSpc>
                <a:spcPct val="150000"/>
              </a:lnSpc>
              <a:spcAft>
                <a:spcPts val="600"/>
              </a:spcAft>
              <a:buFont typeface="+mj-lt"/>
              <a:buAutoNum type="arabicPeriod"/>
              <a:defRPr/>
            </a:pPr>
            <a:r>
              <a:rPr lang="es-ES" sz="1600"/>
              <a:t>Se identifican las referencias y se establecen los parámetros necesarios.</a:t>
            </a:r>
          </a:p>
          <a:p>
            <a:pPr marL="342900" lvl="0" indent="-342900" algn="just">
              <a:lnSpc>
                <a:spcPct val="150000"/>
              </a:lnSpc>
              <a:spcAft>
                <a:spcPts val="600"/>
              </a:spcAft>
              <a:buFont typeface="+mj-lt"/>
              <a:buAutoNum type="arabicPeriod"/>
              <a:defRPr/>
            </a:pPr>
            <a:r>
              <a:rPr lang="es-ES" sz="1600"/>
              <a:t>Ejecutar el equipo como de costumbre.</a:t>
            </a:r>
          </a:p>
          <a:p>
            <a:pPr marL="342900" lvl="0" indent="-342900" algn="just">
              <a:lnSpc>
                <a:spcPct val="150000"/>
              </a:lnSpc>
              <a:spcAft>
                <a:spcPts val="600"/>
              </a:spcAft>
              <a:buFont typeface="+mj-lt"/>
              <a:buAutoNum type="arabicPeriod"/>
              <a:defRPr/>
            </a:pPr>
            <a:r>
              <a:rPr lang="es-ES" sz="1600"/>
              <a:t>Algun sensor detecta una anomalía en el sistema.</a:t>
            </a:r>
          </a:p>
          <a:p>
            <a:pPr marL="342900" lvl="0" indent="-342900" algn="just">
              <a:lnSpc>
                <a:spcPct val="150000"/>
              </a:lnSpc>
              <a:spcAft>
                <a:spcPts val="600"/>
              </a:spcAft>
              <a:buFont typeface="+mj-lt"/>
              <a:buAutoNum type="arabicPeriod"/>
              <a:defRPr/>
            </a:pPr>
            <a:r>
              <a:rPr lang="es-ES" sz="1600"/>
              <a:t>Se crea una orden de trabajo y se realiza la acción de mantenimiento.</a:t>
            </a:r>
          </a:p>
          <a:p>
            <a:pPr marL="342900" lvl="0" indent="-342900" algn="just">
              <a:lnSpc>
                <a:spcPct val="150000"/>
              </a:lnSpc>
              <a:spcAft>
                <a:spcPts val="600"/>
              </a:spcAft>
              <a:buFont typeface="+mj-lt"/>
              <a:buAutoNum type="arabicPeriod"/>
              <a:defRPr/>
            </a:pPr>
            <a:r>
              <a:rPr lang="es-ES" sz="1600"/>
              <a:t>Volvemos al paso 4.</a:t>
            </a:r>
          </a:p>
        </p:txBody>
      </p:sp>
    </p:spTree>
    <p:extLst>
      <p:ext uri="{BB962C8B-B14F-4D97-AF65-F5344CB8AC3E}">
        <p14:creationId xmlns:p14="http://schemas.microsoft.com/office/powerpoint/2010/main" val="2336138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15</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760" t="968" r="19669" b="405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184858"/>
            <a:ext cx="6338277" cy="338554"/>
          </a:xfrm>
          <a:prstGeom prst="rect">
            <a:avLst/>
          </a:prstGeom>
        </p:spPr>
        <p:txBody>
          <a:bodyPr wrap="square">
            <a:spAutoFit/>
          </a:bodyPr>
          <a:lstStyle/>
          <a:p>
            <a:pPr lvl="0" algn="just">
              <a:spcAft>
                <a:spcPts val="600"/>
              </a:spcAft>
              <a:defRPr/>
            </a:pPr>
            <a:r>
              <a:rPr lang="es-ES" sz="1600"/>
              <a:t>Como funciona?</a:t>
            </a:r>
          </a:p>
        </p:txBody>
      </p:sp>
      <p:pic>
        <p:nvPicPr>
          <p:cNvPr id="10" name="Picture 2" descr="What Is Predictive Maintenance? | MaintainX">
            <a:extLst>
              <a:ext uri="{FF2B5EF4-FFF2-40B4-BE49-F238E27FC236}">
                <a16:creationId xmlns:a16="http://schemas.microsoft.com/office/drawing/2014/main" id="{B6E34151-94CA-468D-AA4F-0E8E116CE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0693" y="2706023"/>
            <a:ext cx="6493933" cy="3044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150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16</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760" t="968" r="19669" b="405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184858"/>
            <a:ext cx="6338277" cy="4093428"/>
          </a:xfrm>
          <a:prstGeom prst="rect">
            <a:avLst/>
          </a:prstGeom>
        </p:spPr>
        <p:txBody>
          <a:bodyPr wrap="square">
            <a:spAutoFit/>
          </a:bodyPr>
          <a:lstStyle/>
          <a:p>
            <a:pPr lvl="0" algn="just">
              <a:spcAft>
                <a:spcPts val="600"/>
              </a:spcAft>
              <a:defRPr/>
            </a:pPr>
            <a:r>
              <a:rPr lang="es-ES" sz="1600"/>
              <a:t>Tipos de mantenimiento predictivo:</a:t>
            </a:r>
          </a:p>
          <a:p>
            <a:pPr marL="285750" lvl="0" indent="-285750" algn="just">
              <a:spcAft>
                <a:spcPts val="600"/>
              </a:spcAft>
              <a:buFont typeface="Arial" panose="020B0604020202020204" pitchFamily="34" charset="0"/>
              <a:buChar char="•"/>
              <a:defRPr/>
            </a:pPr>
            <a:r>
              <a:rPr lang="es-ES" sz="1600" b="1"/>
              <a:t>Análisis vibracional: </a:t>
            </a:r>
            <a:r>
              <a:rPr lang="es-ES" sz="1600"/>
              <a:t>Utilizado para maquinaria de alta rotación en plantas de fabricación; ayuda a detectar piezas sueltas de equipos, desalineación, desequilibrio y desgaste de rodamientos.</a:t>
            </a:r>
          </a:p>
          <a:p>
            <a:pPr marL="285750" lvl="0" indent="-285750" algn="just">
              <a:spcAft>
                <a:spcPts val="600"/>
              </a:spcAft>
              <a:buFont typeface="Arial" panose="020B0604020202020204" pitchFamily="34" charset="0"/>
              <a:buChar char="•"/>
              <a:defRPr/>
            </a:pPr>
            <a:r>
              <a:rPr lang="es-ES" sz="1600" b="1"/>
              <a:t>Análisis acústico sónico: </a:t>
            </a:r>
            <a:r>
              <a:rPr lang="es-ES" sz="1600"/>
              <a:t>Se utiliza tanto para maquinaria de baja como de alta rotación; es similar al análisis vibracional pero se centra en medidas proactivas de lubricación.</a:t>
            </a:r>
          </a:p>
          <a:p>
            <a:pPr marL="285750" lvl="0" indent="-285750" algn="just">
              <a:spcAft>
                <a:spcPts val="600"/>
              </a:spcAft>
              <a:buFont typeface="Arial" panose="020B0604020202020204" pitchFamily="34" charset="0"/>
              <a:buChar char="•"/>
              <a:defRPr/>
            </a:pPr>
            <a:r>
              <a:rPr lang="es-ES" sz="1600" b="1"/>
              <a:t>Análisis acústico ultrasónico: </a:t>
            </a:r>
            <a:r>
              <a:rPr lang="es-ES" sz="1600"/>
              <a:t>Identifica sonidos de tensión y fricción en un rango ultrasónico; se utiliza para equipos mecánicos y eléctricos. Este tipo de mantenimiento predictivo en particular es excelente para anticiparse a averías inminentes.</a:t>
            </a:r>
          </a:p>
          <a:p>
            <a:pPr marL="285750" lvl="0" indent="-285750" algn="just">
              <a:spcAft>
                <a:spcPts val="600"/>
              </a:spcAft>
              <a:buFont typeface="Arial" panose="020B0604020202020204" pitchFamily="34" charset="0"/>
              <a:buChar char="•"/>
              <a:defRPr/>
            </a:pPr>
            <a:r>
              <a:rPr lang="es-ES" sz="1600" b="1"/>
              <a:t>Análisis por infrarrojos: </a:t>
            </a:r>
            <a:r>
              <a:rPr lang="es-ES" sz="1600"/>
              <a:t>Adecuado para una serie de activos porque no depende de la velocidad de rotación o de la sonoridad de un activo; se puede utilizar para identificar problemas de flujo de aire, refrigeración y tensión del motor.</a:t>
            </a:r>
          </a:p>
        </p:txBody>
      </p:sp>
    </p:spTree>
    <p:extLst>
      <p:ext uri="{BB962C8B-B14F-4D97-AF65-F5344CB8AC3E}">
        <p14:creationId xmlns:p14="http://schemas.microsoft.com/office/powerpoint/2010/main" val="2650157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17</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volution of Maintenance Reactive Preventative Condition Based Predictive Prescriptive Data">
            <a:extLst>
              <a:ext uri="{FF2B5EF4-FFF2-40B4-BE49-F238E27FC236}">
                <a16:creationId xmlns:a16="http://schemas.microsoft.com/office/drawing/2014/main" id="{394B2EB6-312F-4B64-B17B-C99E80ADCB6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760" t="968" r="19669" b="4053"/>
          <a:stretch/>
        </p:blipFill>
        <p:spPr bwMode="auto">
          <a:xfrm>
            <a:off x="406364" y="2375022"/>
            <a:ext cx="1544356" cy="36498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2348522" y="2184858"/>
            <a:ext cx="6338277" cy="4093428"/>
          </a:xfrm>
          <a:prstGeom prst="rect">
            <a:avLst/>
          </a:prstGeom>
        </p:spPr>
        <p:txBody>
          <a:bodyPr wrap="square">
            <a:spAutoFit/>
          </a:bodyPr>
          <a:lstStyle/>
          <a:p>
            <a:pPr lvl="0" algn="just">
              <a:spcAft>
                <a:spcPts val="600"/>
              </a:spcAft>
              <a:defRPr/>
            </a:pPr>
            <a:r>
              <a:rPr lang="es-ES" sz="1600"/>
              <a:t>Ejemplos de mantenimiento predictivo:</a:t>
            </a:r>
          </a:p>
          <a:p>
            <a:pPr marL="285750" lvl="0" indent="-285750" algn="just">
              <a:spcAft>
                <a:spcPts val="600"/>
              </a:spcAft>
              <a:buFont typeface="Arial" panose="020B0604020202020204" pitchFamily="34" charset="0"/>
              <a:buChar char="•"/>
              <a:defRPr/>
            </a:pPr>
            <a:r>
              <a:rPr lang="es-ES" sz="1600" b="1"/>
              <a:t>Las empresas de servicios públicos </a:t>
            </a:r>
            <a:r>
              <a:rPr lang="es-ES" sz="1600"/>
              <a:t>utilizan el PdM para evitar cortes que podrían ser perjudiciales y costosos. Por ejemplo, algunas compañías eléctricas utilizan drones equipados con sensores para cartografiar las redes de servicios públicos e identificar los árboles que están demasiado cerca de las líneas eléctricas y corren el riesgo de caer sobre ellas.</a:t>
            </a:r>
          </a:p>
          <a:p>
            <a:pPr marL="285750" lvl="0" indent="-285750" algn="just">
              <a:spcAft>
                <a:spcPts val="600"/>
              </a:spcAft>
              <a:buFont typeface="Arial" panose="020B0604020202020204" pitchFamily="34" charset="0"/>
              <a:buChar char="•"/>
              <a:defRPr/>
            </a:pPr>
            <a:r>
              <a:rPr lang="es-ES" sz="1600" b="1"/>
              <a:t>El sector del transporte </a:t>
            </a:r>
            <a:r>
              <a:rPr lang="es-ES" sz="1600"/>
              <a:t>también es pionero en el mantenimiento predictivo. Se prevé que la industria, en concreto el transporte ferroviario, gastará casi 30.000 millones de dólares en proyectos de IoT en los próximos 15 años, con el objetivo de reducir los costes de mantenimiento imprevistos y mejorar la seguridad y la eficiencia.</a:t>
            </a:r>
          </a:p>
          <a:p>
            <a:pPr marL="285750" lvl="0" indent="-285750" algn="just">
              <a:spcAft>
                <a:spcPts val="600"/>
              </a:spcAft>
              <a:buFont typeface="Arial" panose="020B0604020202020204" pitchFamily="34" charset="0"/>
              <a:buChar char="•"/>
              <a:defRPr/>
            </a:pPr>
            <a:r>
              <a:rPr lang="es-ES" sz="1600" b="1"/>
              <a:t>Las plantas de fabricación </a:t>
            </a:r>
            <a:r>
              <a:rPr lang="es-ES" sz="1600"/>
              <a:t>utilizan cámaras de infrarrojos para controlar la temperatura de los equipos y evitar sobrecalentamientos inesperados.</a:t>
            </a:r>
          </a:p>
        </p:txBody>
      </p:sp>
    </p:spTree>
    <p:extLst>
      <p:ext uri="{BB962C8B-B14F-4D97-AF65-F5344CB8AC3E}">
        <p14:creationId xmlns:p14="http://schemas.microsoft.com/office/powerpoint/2010/main" val="427011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18</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 y Machine Learning</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841171" y="2073109"/>
            <a:ext cx="7461654" cy="2500941"/>
          </a:xfrm>
          <a:prstGeom prst="rect">
            <a:avLst/>
          </a:prstGeom>
        </p:spPr>
        <p:txBody>
          <a:bodyPr wrap="square">
            <a:spAutoFit/>
          </a:bodyPr>
          <a:lstStyle/>
          <a:p>
            <a:pPr lvl="0" algn="just">
              <a:lnSpc>
                <a:spcPct val="150000"/>
              </a:lnSpc>
              <a:spcAft>
                <a:spcPts val="600"/>
              </a:spcAft>
              <a:defRPr/>
            </a:pPr>
            <a:r>
              <a:rPr lang="es-ES" sz="1600"/>
              <a:t>Qué papel juega el Machine Learning en el Mantenimiento Predictivo?</a:t>
            </a:r>
          </a:p>
          <a:p>
            <a:pPr marL="285750" lvl="0" indent="-285750" algn="just">
              <a:lnSpc>
                <a:spcPct val="150000"/>
              </a:lnSpc>
              <a:spcAft>
                <a:spcPts val="600"/>
              </a:spcAft>
              <a:buFont typeface="Arial" panose="020B0604020202020204" pitchFamily="34" charset="0"/>
              <a:buChar char="•"/>
              <a:defRPr/>
            </a:pPr>
            <a:r>
              <a:rPr lang="es-ES" sz="1600"/>
              <a:t>Permite predecir la vida útil restante (</a:t>
            </a:r>
            <a:r>
              <a:rPr lang="es-ES" sz="1600" b="1"/>
              <a:t>RUL – Remaining Useful Life</a:t>
            </a:r>
            <a:r>
              <a:rPr lang="es-ES" sz="1600"/>
              <a:t>) de un equipo.</a:t>
            </a:r>
          </a:p>
          <a:p>
            <a:pPr marL="285750" lvl="0" indent="-285750" algn="just">
              <a:lnSpc>
                <a:spcPct val="150000"/>
              </a:lnSpc>
              <a:spcAft>
                <a:spcPts val="600"/>
              </a:spcAft>
              <a:buFont typeface="Arial" panose="020B0604020202020204" pitchFamily="34" charset="0"/>
              <a:buChar char="•"/>
              <a:defRPr/>
            </a:pPr>
            <a:r>
              <a:rPr lang="es-ES" sz="1600"/>
              <a:t>Puede </a:t>
            </a:r>
            <a:r>
              <a:rPr lang="es-ES" sz="1600" b="1"/>
              <a:t>señalar los comportamientos irregulares</a:t>
            </a:r>
            <a:r>
              <a:rPr lang="es-ES" sz="1600"/>
              <a:t>, detectando anomalías mediante el análisis de time series.</a:t>
            </a:r>
          </a:p>
          <a:p>
            <a:pPr marL="285750" lvl="0" indent="-285750" algn="just">
              <a:lnSpc>
                <a:spcPct val="150000"/>
              </a:lnSpc>
              <a:spcAft>
                <a:spcPts val="600"/>
              </a:spcAft>
              <a:buFont typeface="Arial" panose="020B0604020202020204" pitchFamily="34" charset="0"/>
              <a:buChar char="•"/>
              <a:defRPr/>
            </a:pPr>
            <a:r>
              <a:rPr lang="es-ES" sz="1600" b="1"/>
              <a:t>Diagnóstico de fallos </a:t>
            </a:r>
            <a:r>
              <a:rPr lang="es-ES" sz="1600"/>
              <a:t>y recomendación de acciones de mitigación o mantenimiento después del fallo.</a:t>
            </a:r>
          </a:p>
        </p:txBody>
      </p:sp>
      <p:pic>
        <p:nvPicPr>
          <p:cNvPr id="3076" name="Picture 4" descr="Why and how can the contributivity of a partner in a collaborative machine  learning project be assessed? — Labelia (ex Substra Foundation)">
            <a:extLst>
              <a:ext uri="{FF2B5EF4-FFF2-40B4-BE49-F238E27FC236}">
                <a16:creationId xmlns:a16="http://schemas.microsoft.com/office/drawing/2014/main" id="{5BBF561C-AB6C-4594-8B2B-DD418F24556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4012"/>
          <a:stretch/>
        </p:blipFill>
        <p:spPr bwMode="auto">
          <a:xfrm>
            <a:off x="3121518" y="4714689"/>
            <a:ext cx="2900961" cy="1894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222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19</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 y Machine Learning</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841171" y="2073109"/>
            <a:ext cx="7461654" cy="2131609"/>
          </a:xfrm>
          <a:prstGeom prst="rect">
            <a:avLst/>
          </a:prstGeom>
        </p:spPr>
        <p:txBody>
          <a:bodyPr wrap="square">
            <a:spAutoFit/>
          </a:bodyPr>
          <a:lstStyle/>
          <a:p>
            <a:pPr lvl="0" algn="just">
              <a:lnSpc>
                <a:spcPct val="150000"/>
              </a:lnSpc>
              <a:spcAft>
                <a:spcPts val="600"/>
              </a:spcAft>
              <a:defRPr/>
            </a:pPr>
            <a:r>
              <a:rPr lang="es-ES" sz="1600"/>
              <a:t>El éxito de los modelos de mantenimiento predictivo, depende de 3 componentes principales:</a:t>
            </a:r>
          </a:p>
          <a:p>
            <a:pPr marL="285750" lvl="0" indent="-285750" algn="just">
              <a:lnSpc>
                <a:spcPct val="150000"/>
              </a:lnSpc>
              <a:spcAft>
                <a:spcPts val="600"/>
              </a:spcAft>
              <a:buFont typeface="Arial" panose="020B0604020202020204" pitchFamily="34" charset="0"/>
              <a:buChar char="•"/>
              <a:defRPr/>
            </a:pPr>
            <a:r>
              <a:rPr lang="es-ES" sz="1600"/>
              <a:t>Tener los </a:t>
            </a:r>
            <a:r>
              <a:rPr lang="es-ES" sz="1600" b="1"/>
              <a:t>datos</a:t>
            </a:r>
            <a:r>
              <a:rPr lang="es-ES" sz="1600"/>
              <a:t> correctos disponibles (relevantes, suficientes y de calidad).</a:t>
            </a:r>
          </a:p>
          <a:p>
            <a:pPr marL="285750" lvl="0" indent="-285750" algn="just">
              <a:lnSpc>
                <a:spcPct val="150000"/>
              </a:lnSpc>
              <a:spcAft>
                <a:spcPts val="600"/>
              </a:spcAft>
              <a:buFont typeface="Arial" panose="020B0604020202020204" pitchFamily="34" charset="0"/>
              <a:buChar char="•"/>
              <a:defRPr/>
            </a:pPr>
            <a:r>
              <a:rPr lang="es-ES" sz="1600" b="1"/>
              <a:t>Entender</a:t>
            </a:r>
            <a:r>
              <a:rPr lang="es-ES" sz="1600"/>
              <a:t> bien el problema (Feature Engineering).</a:t>
            </a:r>
          </a:p>
          <a:p>
            <a:pPr marL="285750" lvl="0" indent="-285750" algn="just">
              <a:lnSpc>
                <a:spcPct val="150000"/>
              </a:lnSpc>
              <a:spcAft>
                <a:spcPts val="600"/>
              </a:spcAft>
              <a:buFont typeface="Arial" panose="020B0604020202020204" pitchFamily="34" charset="0"/>
              <a:buChar char="•"/>
              <a:defRPr/>
            </a:pPr>
            <a:r>
              <a:rPr lang="es-ES" sz="1600" b="1"/>
              <a:t>Evaluar</a:t>
            </a:r>
            <a:r>
              <a:rPr lang="es-ES" sz="1600"/>
              <a:t> las predicciones apropiadamente (Evaluación del modelo).</a:t>
            </a:r>
          </a:p>
        </p:txBody>
      </p:sp>
      <p:pic>
        <p:nvPicPr>
          <p:cNvPr id="6146" name="Picture 2" descr="Funny meme about machine learning - DEV Community 👩‍💻👨‍💻">
            <a:extLst>
              <a:ext uri="{FF2B5EF4-FFF2-40B4-BE49-F238E27FC236}">
                <a16:creationId xmlns:a16="http://schemas.microsoft.com/office/drawing/2014/main" id="{DC00D0E3-63B6-4250-A70B-4FA50F9778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82143" y="4275580"/>
            <a:ext cx="2961640" cy="2288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93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20</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Mantenimiento predictivo y Machine Learning</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841171" y="2073109"/>
            <a:ext cx="7461654" cy="2947217"/>
          </a:xfrm>
          <a:prstGeom prst="rect">
            <a:avLst/>
          </a:prstGeom>
        </p:spPr>
        <p:txBody>
          <a:bodyPr wrap="square">
            <a:spAutoFit/>
          </a:bodyPr>
          <a:lstStyle/>
          <a:p>
            <a:pPr lvl="0" algn="just">
              <a:lnSpc>
                <a:spcPct val="150000"/>
              </a:lnSpc>
              <a:spcAft>
                <a:spcPts val="600"/>
              </a:spcAft>
              <a:defRPr/>
            </a:pPr>
            <a:r>
              <a:rPr lang="es-ES" sz="1600" b="1" dirty="0"/>
              <a:t>Predicción de RUL</a:t>
            </a:r>
          </a:p>
          <a:p>
            <a:pPr marL="285750" lvl="0" indent="-285750" algn="just">
              <a:lnSpc>
                <a:spcPct val="150000"/>
              </a:lnSpc>
              <a:spcAft>
                <a:spcPts val="600"/>
              </a:spcAft>
              <a:buFont typeface="Arial" panose="020B0604020202020204" pitchFamily="34" charset="0"/>
              <a:buChar char="•"/>
              <a:defRPr/>
            </a:pPr>
            <a:r>
              <a:rPr lang="es-ES" sz="1600" dirty="0"/>
              <a:t>Se necesitan datos estáticos e históricos, y que todos los eventos </a:t>
            </a:r>
            <a:r>
              <a:rPr lang="es-ES" sz="1600" dirty="0" err="1"/>
              <a:t>esten</a:t>
            </a:r>
            <a:r>
              <a:rPr lang="es-ES" sz="1600" dirty="0"/>
              <a:t> clasificados (ya sea con un número de ciclo o la fecha).</a:t>
            </a:r>
          </a:p>
          <a:p>
            <a:pPr marL="285750" lvl="0" indent="-285750" algn="just">
              <a:lnSpc>
                <a:spcPct val="150000"/>
              </a:lnSpc>
              <a:spcAft>
                <a:spcPts val="600"/>
              </a:spcAft>
              <a:buFont typeface="Arial" panose="020B0604020202020204" pitchFamily="34" charset="0"/>
              <a:buChar char="•"/>
              <a:defRPr/>
            </a:pPr>
            <a:r>
              <a:rPr lang="es-ES" sz="1600" dirty="0"/>
              <a:t>En la industria 4.0, la regresión puede utilizarse para calcular una estimación de la vida útil restante (RUL) de un activo.</a:t>
            </a:r>
          </a:p>
          <a:p>
            <a:pPr marL="285750" lvl="0" indent="-285750" algn="just">
              <a:lnSpc>
                <a:spcPct val="150000"/>
              </a:lnSpc>
              <a:spcAft>
                <a:spcPts val="600"/>
              </a:spcAft>
              <a:buFont typeface="Arial" panose="020B0604020202020204" pitchFamily="34" charset="0"/>
              <a:buChar char="•"/>
              <a:defRPr/>
            </a:pPr>
            <a:r>
              <a:rPr lang="es-ES" sz="1600" b="1" dirty="0"/>
              <a:t>¿Se podrían usar también algoritmos de clasificación?</a:t>
            </a:r>
          </a:p>
          <a:p>
            <a:pPr marL="285750" lvl="0" indent="-285750" algn="just">
              <a:lnSpc>
                <a:spcPct val="150000"/>
              </a:lnSpc>
              <a:spcAft>
                <a:spcPts val="600"/>
              </a:spcAft>
              <a:buFont typeface="Arial" panose="020B0604020202020204" pitchFamily="34" charset="0"/>
              <a:buChar char="•"/>
              <a:defRPr/>
            </a:pPr>
            <a:endParaRPr lang="es-ES" sz="1600" dirty="0"/>
          </a:p>
        </p:txBody>
      </p:sp>
      <p:pic>
        <p:nvPicPr>
          <p:cNvPr id="7172" name="Picture 4" descr="Machine Learning for Predictive Maintenance: Challenges, Benefits, &amp;  Solutions">
            <a:extLst>
              <a:ext uri="{FF2B5EF4-FFF2-40B4-BE49-F238E27FC236}">
                <a16:creationId xmlns:a16="http://schemas.microsoft.com/office/drawing/2014/main" id="{30D50489-8190-41D9-8E24-6F4A618CE85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1201" y="4577858"/>
            <a:ext cx="4601593" cy="208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049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7D03AA28-728B-4D97-9539-03F818E8BA43}"/>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21</a:t>
            </a:fld>
            <a:endParaRPr lang="es-ES" dirty="0"/>
          </a:p>
        </p:txBody>
      </p:sp>
      <p:sp>
        <p:nvSpPr>
          <p:cNvPr id="3" name="CuadroTexto 2"/>
          <p:cNvSpPr txBox="1"/>
          <p:nvPr/>
        </p:nvSpPr>
        <p:spPr>
          <a:xfrm>
            <a:off x="977070" y="2110901"/>
            <a:ext cx="7688036" cy="28146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gl-ES" sz="2000">
                <a:solidFill>
                  <a:schemeClr val="bg2">
                    <a:lumMod val="90000"/>
                  </a:schemeClr>
                </a:solidFill>
              </a:rPr>
              <a:t>Tipos de mantenimiento.</a:t>
            </a:r>
            <a:endParaRPr lang="gl-ES" sz="2000" dirty="0">
              <a:solidFill>
                <a:schemeClr val="bg2">
                  <a:lumMod val="90000"/>
                </a:schemeClr>
              </a:solidFill>
            </a:endParaRPr>
          </a:p>
          <a:p>
            <a:pPr marL="285750" indent="-285750">
              <a:lnSpc>
                <a:spcPct val="150000"/>
              </a:lnSpc>
              <a:buFont typeface="Arial" panose="020B0604020202020204" pitchFamily="34" charset="0"/>
              <a:buChar char="•"/>
            </a:pPr>
            <a:r>
              <a:rPr lang="gl-ES" sz="2000">
                <a:solidFill>
                  <a:schemeClr val="bg2">
                    <a:lumMod val="90000"/>
                  </a:schemeClr>
                </a:solidFill>
              </a:rPr>
              <a:t>Introducción al Mantenimiento Predictivo (MP).</a:t>
            </a:r>
            <a:endParaRPr lang="gl-ES" sz="2000" dirty="0">
              <a:solidFill>
                <a:schemeClr val="bg2">
                  <a:lumMod val="90000"/>
                </a:schemeClr>
              </a:solidFill>
            </a:endParaRPr>
          </a:p>
          <a:p>
            <a:pPr marL="285750" indent="-285750">
              <a:lnSpc>
                <a:spcPct val="150000"/>
              </a:lnSpc>
              <a:buFont typeface="Arial" panose="020B0604020202020204" pitchFamily="34" charset="0"/>
              <a:buChar char="•"/>
            </a:pPr>
            <a:r>
              <a:rPr lang="gl-ES" sz="2000" b="1"/>
              <a:t>Explicación ejemplo motor NASA.</a:t>
            </a:r>
            <a:endParaRPr lang="gl-ES" sz="2000" b="1" dirty="0"/>
          </a:p>
          <a:p>
            <a:pPr marL="285750" indent="-285750">
              <a:lnSpc>
                <a:spcPct val="150000"/>
              </a:lnSpc>
              <a:buFont typeface="Arial" panose="020B0604020202020204" pitchFamily="34" charset="0"/>
              <a:buChar char="•"/>
            </a:pPr>
            <a:r>
              <a:rPr lang="gl-ES" sz="2000">
                <a:solidFill>
                  <a:schemeClr val="bg2">
                    <a:lumMod val="90000"/>
                  </a:schemeClr>
                </a:solidFill>
              </a:rPr>
              <a:t>Jupyter Notebook motor NASA.</a:t>
            </a:r>
            <a:endParaRPr lang="gl-ES" sz="2000" dirty="0">
              <a:solidFill>
                <a:schemeClr val="bg2">
                  <a:lumMod val="90000"/>
                </a:schemeClr>
              </a:solidFill>
            </a:endParaRPr>
          </a:p>
          <a:p>
            <a:pPr>
              <a:lnSpc>
                <a:spcPct val="150000"/>
              </a:lnSpc>
            </a:pPr>
            <a:endParaRPr lang="gl-ES" sz="2000" dirty="0"/>
          </a:p>
          <a:p>
            <a:pPr marL="285750" indent="-285750">
              <a:lnSpc>
                <a:spcPct val="150000"/>
              </a:lnSpc>
              <a:buFont typeface="Arial" panose="020B0604020202020204" pitchFamily="34" charset="0"/>
              <a:buChar char="•"/>
            </a:pPr>
            <a:endParaRPr lang="en-US" sz="2000" dirty="0"/>
          </a:p>
        </p:txBody>
      </p:sp>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607" y="1259257"/>
            <a:ext cx="553521" cy="553521"/>
          </a:xfrm>
          <a:prstGeom prst="rect">
            <a:avLst/>
          </a:prstGeom>
        </p:spPr>
      </p:pic>
      <p:sp>
        <p:nvSpPr>
          <p:cNvPr id="6" name="Título 1">
            <a:extLst>
              <a:ext uri="{FF2B5EF4-FFF2-40B4-BE49-F238E27FC236}">
                <a16:creationId xmlns:a16="http://schemas.microsoft.com/office/drawing/2014/main" id="{B55D0A9A-2C98-4C08-A588-4BB224D73EB4}"/>
              </a:ext>
            </a:extLst>
          </p:cNvPr>
          <p:cNvSpPr txBox="1">
            <a:spLocks/>
          </p:cNvSpPr>
          <p:nvPr/>
        </p:nvSpPr>
        <p:spPr>
          <a:xfrm>
            <a:off x="1044392" y="1198152"/>
            <a:ext cx="458460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Objetivos de la sesión</a:t>
            </a:r>
          </a:p>
        </p:txBody>
      </p:sp>
      <p:cxnSp>
        <p:nvCxnSpPr>
          <p:cNvPr id="8" name="Conector recto 7">
            <a:extLst>
              <a:ext uri="{FF2B5EF4-FFF2-40B4-BE49-F238E27FC236}">
                <a16:creationId xmlns:a16="http://schemas.microsoft.com/office/drawing/2014/main" id="{639E8254-F30D-4E18-BB89-27F244DA3A2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298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22</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Ejemplo motor NASA</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640080" y="2001989"/>
            <a:ext cx="7965425" cy="2870273"/>
          </a:xfrm>
          <a:prstGeom prst="rect">
            <a:avLst/>
          </a:prstGeom>
        </p:spPr>
        <p:txBody>
          <a:bodyPr wrap="square">
            <a:spAutoFit/>
          </a:bodyPr>
          <a:lstStyle/>
          <a:p>
            <a:pPr lvl="0" algn="just">
              <a:lnSpc>
                <a:spcPct val="150000"/>
              </a:lnSpc>
              <a:spcAft>
                <a:spcPts val="600"/>
              </a:spcAft>
              <a:defRPr/>
            </a:pPr>
            <a:r>
              <a:rPr lang="es-ES" sz="1600" b="1"/>
              <a:t>Introducción</a:t>
            </a:r>
          </a:p>
          <a:p>
            <a:pPr lvl="0" algn="just">
              <a:lnSpc>
                <a:spcPct val="150000"/>
              </a:lnSpc>
              <a:spcAft>
                <a:spcPts val="600"/>
              </a:spcAft>
              <a:defRPr/>
            </a:pPr>
            <a:r>
              <a:rPr lang="es-ES" sz="1600"/>
              <a:t>Ejercicio de mantenimiento predictivo de un motor turbofán.</a:t>
            </a:r>
          </a:p>
          <a:p>
            <a:pPr lvl="0" algn="just">
              <a:lnSpc>
                <a:spcPct val="150000"/>
              </a:lnSpc>
              <a:spcAft>
                <a:spcPts val="600"/>
              </a:spcAft>
              <a:defRPr/>
            </a:pPr>
            <a:r>
              <a:rPr lang="es-ES" sz="1600"/>
              <a:t>Los datos con los que trabajaremos provienen de una simulación realizada por la NASA.</a:t>
            </a:r>
          </a:p>
          <a:p>
            <a:pPr lvl="0" algn="just">
              <a:lnSpc>
                <a:spcPct val="150000"/>
              </a:lnSpc>
              <a:spcAft>
                <a:spcPts val="600"/>
              </a:spcAft>
              <a:defRPr/>
            </a:pPr>
            <a:r>
              <a:rPr lang="es-ES" sz="1600"/>
              <a:t>La simulación de la degradación del motor se llevó a cabo utilizando el Commercial Modular Aero-Propulsion System Simulation (C-MAPSS). Se simularon cuatro conjuntos diferentes bajo distintas combinaciones de condiciones operativas y modos de fallo. Se registraron varios canales de sensores para caracterizar la evolución de los fallos.</a:t>
            </a:r>
          </a:p>
        </p:txBody>
      </p:sp>
      <p:pic>
        <p:nvPicPr>
          <p:cNvPr id="10242" name="Picture 2" descr="NASA, Industry Advance Jet Engines and Sustainable Fuel Compatibility | NASA">
            <a:extLst>
              <a:ext uri="{FF2B5EF4-FFF2-40B4-BE49-F238E27FC236}">
                <a16:creationId xmlns:a16="http://schemas.microsoft.com/office/drawing/2014/main" id="{AADD3F8F-F78F-4598-98A3-6231BA4855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92120" y="4962015"/>
            <a:ext cx="3159760" cy="1758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292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23</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Ejemplo motor NASA</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640080" y="2073109"/>
            <a:ext cx="7965425" cy="3839769"/>
          </a:xfrm>
          <a:prstGeom prst="rect">
            <a:avLst/>
          </a:prstGeom>
        </p:spPr>
        <p:txBody>
          <a:bodyPr wrap="square">
            <a:spAutoFit/>
          </a:bodyPr>
          <a:lstStyle/>
          <a:p>
            <a:pPr lvl="0" algn="just">
              <a:lnSpc>
                <a:spcPct val="150000"/>
              </a:lnSpc>
              <a:spcAft>
                <a:spcPts val="600"/>
              </a:spcAft>
              <a:defRPr/>
            </a:pPr>
            <a:r>
              <a:rPr lang="es-ES" sz="1600" b="1"/>
              <a:t>Dataset</a:t>
            </a:r>
          </a:p>
          <a:p>
            <a:pPr lvl="0" algn="just">
              <a:lnSpc>
                <a:spcPct val="150000"/>
              </a:lnSpc>
              <a:spcAft>
                <a:spcPts val="600"/>
              </a:spcAft>
              <a:defRPr/>
            </a:pPr>
            <a:r>
              <a:rPr lang="es-ES" sz="1600"/>
              <a:t>Enlace </a:t>
            </a:r>
            <a:r>
              <a:rPr lang="es-ES" sz="1600">
                <a:hlinkClick r:id="rId4"/>
              </a:rPr>
              <a:t>https://data.nasa.gov/Aerospace/CMAPSS-Jet-Engine-Simulated-Data/ff5v-kuh6</a:t>
            </a:r>
            <a:r>
              <a:rPr lang="es-ES" sz="1600"/>
              <a:t> </a:t>
            </a:r>
          </a:p>
          <a:p>
            <a:pPr marL="285750" lvl="0" indent="-285750" algn="just">
              <a:lnSpc>
                <a:spcPct val="150000"/>
              </a:lnSpc>
              <a:spcAft>
                <a:spcPts val="600"/>
              </a:spcAft>
              <a:buFont typeface="Arial" panose="020B0604020202020204" pitchFamily="34" charset="0"/>
              <a:buChar char="•"/>
              <a:defRPr/>
            </a:pPr>
            <a:r>
              <a:rPr lang="es-ES" sz="1600"/>
              <a:t>El dataset consta de múltiples series temporales multivariantes.</a:t>
            </a:r>
          </a:p>
          <a:p>
            <a:pPr marL="285750" lvl="0" indent="-285750" algn="just">
              <a:lnSpc>
                <a:spcPct val="150000"/>
              </a:lnSpc>
              <a:spcAft>
                <a:spcPts val="600"/>
              </a:spcAft>
              <a:buFont typeface="Arial" panose="020B0604020202020204" pitchFamily="34" charset="0"/>
              <a:buChar char="•"/>
              <a:defRPr/>
            </a:pPr>
            <a:r>
              <a:rPr lang="es-ES" sz="1600"/>
              <a:t>Ya vienen divididos en entrenamiento y prueba.</a:t>
            </a:r>
          </a:p>
          <a:p>
            <a:pPr marL="285750" lvl="0" indent="-285750" algn="just">
              <a:lnSpc>
                <a:spcPct val="150000"/>
              </a:lnSpc>
              <a:spcAft>
                <a:spcPts val="600"/>
              </a:spcAft>
              <a:buFont typeface="Arial" panose="020B0604020202020204" pitchFamily="34" charset="0"/>
              <a:buChar char="•"/>
              <a:defRPr/>
            </a:pPr>
            <a:r>
              <a:rPr lang="es-ES" sz="1600"/>
              <a:t>Cada serie temporal procede de un motor diferente.</a:t>
            </a:r>
          </a:p>
          <a:p>
            <a:pPr marL="285750" lvl="0" indent="-285750" algn="just">
              <a:lnSpc>
                <a:spcPct val="150000"/>
              </a:lnSpc>
              <a:spcAft>
                <a:spcPts val="600"/>
              </a:spcAft>
              <a:buFont typeface="Arial" panose="020B0604020202020204" pitchFamily="34" charset="0"/>
              <a:buChar char="•"/>
              <a:defRPr/>
            </a:pPr>
            <a:r>
              <a:rPr lang="es-ES" sz="1600"/>
              <a:t>Hay tres ajustes operativos que tienen un efecto sustancial en el rendimiento del motor (también se incluyen en los datos).</a:t>
            </a:r>
          </a:p>
          <a:p>
            <a:pPr marL="285750" lvl="0" indent="-285750" algn="just">
              <a:lnSpc>
                <a:spcPct val="150000"/>
              </a:lnSpc>
              <a:spcAft>
                <a:spcPts val="600"/>
              </a:spcAft>
              <a:buFont typeface="Arial" panose="020B0604020202020204" pitchFamily="34" charset="0"/>
              <a:buChar char="•"/>
              <a:defRPr/>
            </a:pPr>
            <a:r>
              <a:rPr lang="es-ES" sz="1600"/>
              <a:t>El motor funciona con normalidad al principio de cada serie temporal y desarrolla un fallo en algún momento de la serie. </a:t>
            </a:r>
            <a:endParaRPr lang="es-ES" sz="1600" b="1"/>
          </a:p>
        </p:txBody>
      </p:sp>
    </p:spTree>
    <p:extLst>
      <p:ext uri="{BB962C8B-B14F-4D97-AF65-F5344CB8AC3E}">
        <p14:creationId xmlns:p14="http://schemas.microsoft.com/office/powerpoint/2010/main" val="2438174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24</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Ejemplo motor NASA</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640080" y="2073109"/>
            <a:ext cx="7965425" cy="4154984"/>
          </a:xfrm>
          <a:prstGeom prst="rect">
            <a:avLst/>
          </a:prstGeom>
        </p:spPr>
        <p:txBody>
          <a:bodyPr wrap="square">
            <a:spAutoFit/>
          </a:bodyPr>
          <a:lstStyle/>
          <a:p>
            <a:pPr lvl="0" algn="just">
              <a:lnSpc>
                <a:spcPct val="150000"/>
              </a:lnSpc>
              <a:spcAft>
                <a:spcPts val="600"/>
              </a:spcAft>
              <a:defRPr/>
            </a:pPr>
            <a:r>
              <a:rPr lang="es-ES" sz="1600" b="1"/>
              <a:t>Dataset</a:t>
            </a:r>
          </a:p>
          <a:p>
            <a:pPr lvl="0" algn="just">
              <a:lnSpc>
                <a:spcPct val="150000"/>
              </a:lnSpc>
              <a:spcAft>
                <a:spcPts val="600"/>
              </a:spcAft>
              <a:defRPr/>
            </a:pPr>
            <a:r>
              <a:rPr lang="es-ES" sz="1600"/>
              <a:t>Enlace </a:t>
            </a:r>
            <a:r>
              <a:rPr lang="es-ES" sz="1600">
                <a:hlinkClick r:id="rId4"/>
              </a:rPr>
              <a:t>https://data.nasa.gov/Aerospace/CMAPSS-Jet-Engine-Simulated-Data/ff5v-kuh6</a:t>
            </a:r>
            <a:r>
              <a:rPr lang="es-ES" sz="1600"/>
              <a:t> </a:t>
            </a:r>
          </a:p>
          <a:p>
            <a:pPr marL="285750" lvl="0" indent="-285750" algn="just">
              <a:lnSpc>
                <a:spcPct val="150000"/>
              </a:lnSpc>
              <a:spcAft>
                <a:spcPts val="600"/>
              </a:spcAft>
              <a:buFont typeface="Arial" panose="020B0604020202020204" pitchFamily="34" charset="0"/>
              <a:buChar char="•"/>
              <a:defRPr/>
            </a:pPr>
            <a:r>
              <a:rPr lang="es-ES" sz="1600"/>
              <a:t>Los datos se facilitan en forma de archivo de texto comprimido con 26 columnas de números, separadas por espacios.</a:t>
            </a:r>
          </a:p>
          <a:p>
            <a:pPr marL="285750" lvl="0" indent="-285750" algn="just">
              <a:lnSpc>
                <a:spcPct val="150000"/>
              </a:lnSpc>
              <a:spcAft>
                <a:spcPts val="600"/>
              </a:spcAft>
              <a:buFont typeface="Arial" panose="020B0604020202020204" pitchFamily="34" charset="0"/>
              <a:buChar char="•"/>
              <a:defRPr/>
            </a:pPr>
            <a:r>
              <a:rPr lang="es-ES" sz="1600"/>
              <a:t>Cada fila es una instantánea de los datos tomados durante un único ciclo operativo, cada columna es una variable diferente.</a:t>
            </a:r>
          </a:p>
          <a:p>
            <a:pPr marL="285750" lvl="0" indent="-285750" algn="just">
              <a:spcAft>
                <a:spcPts val="600"/>
              </a:spcAft>
              <a:buFont typeface="Arial" panose="020B0604020202020204" pitchFamily="34" charset="0"/>
              <a:buChar char="•"/>
              <a:defRPr/>
            </a:pPr>
            <a:r>
              <a:rPr lang="es-ES" sz="1600"/>
              <a:t>Las columnas corresponden a:</a:t>
            </a:r>
          </a:p>
          <a:p>
            <a:pPr marL="800100" lvl="1" indent="-342900" algn="just">
              <a:spcAft>
                <a:spcPts val="600"/>
              </a:spcAft>
              <a:buFont typeface="+mj-lt"/>
              <a:buAutoNum type="arabicPeriod"/>
              <a:defRPr/>
            </a:pPr>
            <a:r>
              <a:rPr lang="es-ES" sz="1600"/>
              <a:t>Número de unidad</a:t>
            </a:r>
          </a:p>
          <a:p>
            <a:pPr marL="800100" lvl="1" indent="-342900" algn="just">
              <a:spcAft>
                <a:spcPts val="600"/>
              </a:spcAft>
              <a:buFont typeface="+mj-lt"/>
              <a:buAutoNum type="arabicPeriod"/>
              <a:defRPr/>
            </a:pPr>
            <a:r>
              <a:rPr lang="es-ES" sz="1600"/>
              <a:t>Tiempo (en ciclos)</a:t>
            </a:r>
          </a:p>
          <a:p>
            <a:pPr marL="800100" lvl="1" indent="-342900" algn="just">
              <a:spcAft>
                <a:spcPts val="600"/>
              </a:spcAft>
              <a:buFont typeface="+mj-lt"/>
              <a:buAutoNum type="arabicPeriod"/>
              <a:defRPr/>
            </a:pPr>
            <a:r>
              <a:rPr lang="es-ES" sz="1600"/>
              <a:t>Operational Setting 1 (2 y 3)</a:t>
            </a:r>
          </a:p>
          <a:p>
            <a:pPr marL="800100" lvl="1" indent="-342900" algn="just">
              <a:spcAft>
                <a:spcPts val="600"/>
              </a:spcAft>
              <a:buFont typeface="+mj-lt"/>
              <a:buAutoNum type="arabicPeriod"/>
              <a:defRPr/>
            </a:pPr>
            <a:r>
              <a:rPr lang="es-ES" sz="1600"/>
              <a:t>Sensor measurement 1 (hasta 26)</a:t>
            </a:r>
          </a:p>
        </p:txBody>
      </p:sp>
    </p:spTree>
    <p:extLst>
      <p:ext uri="{BB962C8B-B14F-4D97-AF65-F5344CB8AC3E}">
        <p14:creationId xmlns:p14="http://schemas.microsoft.com/office/powerpoint/2010/main" val="868135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355604"/>
            <a:ext cx="2057400" cy="365125"/>
          </a:xfrm>
        </p:spPr>
        <p:txBody>
          <a:bodyPr/>
          <a:lstStyle/>
          <a:p>
            <a:fld id="{F72B40EF-D53A-41AA-87B6-B9F74BA43E09}" type="slidenum">
              <a:rPr lang="es-ES" smtClean="0"/>
              <a:t>25</a:t>
            </a:fld>
            <a:endParaRPr lang="es-ES"/>
          </a:p>
        </p:txBody>
      </p:sp>
      <p:sp>
        <p:nvSpPr>
          <p:cNvPr id="21" name="Título 1"/>
          <p:cNvSpPr>
            <a:spLocks noGrp="1"/>
          </p:cNvSpPr>
          <p:nvPr>
            <p:ph type="title"/>
          </p:nvPr>
        </p:nvSpPr>
        <p:spPr>
          <a:xfrm>
            <a:off x="1080251" y="1238792"/>
            <a:ext cx="7965425" cy="763455"/>
          </a:xfrm>
        </p:spPr>
        <p:txBody>
          <a:bodyPr>
            <a:normAutofit/>
          </a:bodyPr>
          <a:lstStyle/>
          <a:p>
            <a:pPr algn="l"/>
            <a:r>
              <a:rPr lang="es-ES" sz="2400" b="1">
                <a:solidFill>
                  <a:srgbClr val="006DA5"/>
                </a:solidFill>
              </a:rPr>
              <a:t>Ejemplo motor NASA</a:t>
            </a:r>
            <a:endParaRPr lang="es-ES" sz="2400" b="1" dirty="0"/>
          </a:p>
        </p:txBody>
      </p:sp>
      <p:sp>
        <p:nvSpPr>
          <p:cNvPr id="28" name="Elipse 27">
            <a:extLst>
              <a:ext uri="{FF2B5EF4-FFF2-40B4-BE49-F238E27FC236}">
                <a16:creationId xmlns:a16="http://schemas.microsoft.com/office/drawing/2014/main" id="{5B193800-B8D2-4CC4-9B3C-41730529F480}"/>
              </a:ext>
            </a:extLst>
          </p:cNvPr>
          <p:cNvSpPr/>
          <p:nvPr/>
        </p:nvSpPr>
        <p:spPr>
          <a:xfrm>
            <a:off x="406364" y="1335167"/>
            <a:ext cx="570706" cy="570706"/>
          </a:xfrm>
          <a:prstGeom prst="ellipse">
            <a:avLst/>
          </a:prstGeom>
          <a:no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BA931331-CCF6-4692-AF3E-82F93795A53D}"/>
              </a:ext>
            </a:extLst>
          </p:cNvPr>
          <p:cNvCxnSpPr/>
          <p:nvPr/>
        </p:nvCxnSpPr>
        <p:spPr>
          <a:xfrm flipV="1">
            <a:off x="-37" y="16205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Picture 2" descr="Factory machine - Free industry icons">
            <a:extLst>
              <a:ext uri="{FF2B5EF4-FFF2-40B4-BE49-F238E27FC236}">
                <a16:creationId xmlns:a16="http://schemas.microsoft.com/office/drawing/2014/main" id="{7AFA95E8-6C2B-4A6C-B758-3F1C2FB764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546" y="144051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8D16309-A977-41DF-8630-428F0960A987}"/>
              </a:ext>
            </a:extLst>
          </p:cNvPr>
          <p:cNvSpPr/>
          <p:nvPr/>
        </p:nvSpPr>
        <p:spPr>
          <a:xfrm>
            <a:off x="640080" y="2073109"/>
            <a:ext cx="7965425" cy="3547381"/>
          </a:xfrm>
          <a:prstGeom prst="rect">
            <a:avLst/>
          </a:prstGeom>
        </p:spPr>
        <p:txBody>
          <a:bodyPr wrap="square">
            <a:spAutoFit/>
          </a:bodyPr>
          <a:lstStyle/>
          <a:p>
            <a:pPr lvl="0" algn="just">
              <a:lnSpc>
                <a:spcPct val="150000"/>
              </a:lnSpc>
              <a:spcAft>
                <a:spcPts val="600"/>
              </a:spcAft>
              <a:defRPr/>
            </a:pPr>
            <a:r>
              <a:rPr lang="es-ES" sz="1600" b="1" dirty="0"/>
              <a:t>Objetivo</a:t>
            </a:r>
          </a:p>
          <a:p>
            <a:pPr lvl="0" algn="just">
              <a:lnSpc>
                <a:spcPct val="150000"/>
              </a:lnSpc>
              <a:spcAft>
                <a:spcPts val="600"/>
              </a:spcAft>
              <a:defRPr/>
            </a:pPr>
            <a:r>
              <a:rPr lang="es-ES" sz="1600" dirty="0"/>
              <a:t>Desarrollar un modelo que sea capaz de:</a:t>
            </a:r>
          </a:p>
          <a:p>
            <a:pPr marL="342900" lvl="0" indent="-342900" algn="just">
              <a:lnSpc>
                <a:spcPct val="150000"/>
              </a:lnSpc>
              <a:spcAft>
                <a:spcPts val="600"/>
              </a:spcAft>
              <a:buFont typeface="+mj-lt"/>
              <a:buAutoNum type="arabicPeriod"/>
              <a:defRPr/>
            </a:pPr>
            <a:r>
              <a:rPr lang="es-ES" sz="1600" dirty="0"/>
              <a:t>Predecir la RUL (en ciclos) según las variables disponibles.</a:t>
            </a:r>
          </a:p>
          <a:p>
            <a:pPr lvl="0" algn="just">
              <a:lnSpc>
                <a:spcPct val="150000"/>
              </a:lnSpc>
              <a:spcAft>
                <a:spcPts val="600"/>
              </a:spcAft>
              <a:defRPr/>
            </a:pPr>
            <a:endParaRPr lang="es-ES" sz="1600" dirty="0"/>
          </a:p>
          <a:p>
            <a:pPr lvl="0" algn="just">
              <a:lnSpc>
                <a:spcPct val="150000"/>
              </a:lnSpc>
              <a:spcAft>
                <a:spcPts val="600"/>
              </a:spcAft>
              <a:defRPr/>
            </a:pPr>
            <a:r>
              <a:rPr lang="es-ES" sz="1600" b="1" dirty="0"/>
              <a:t>Preguntas:</a:t>
            </a:r>
          </a:p>
          <a:p>
            <a:pPr lvl="0" algn="just">
              <a:lnSpc>
                <a:spcPct val="150000"/>
              </a:lnSpc>
              <a:spcAft>
                <a:spcPts val="600"/>
              </a:spcAft>
              <a:defRPr/>
            </a:pPr>
            <a:r>
              <a:rPr lang="es-ES" sz="1600" dirty="0"/>
              <a:t>¿Qué algoritmos debemos usar?</a:t>
            </a:r>
          </a:p>
          <a:p>
            <a:pPr lvl="0" algn="just">
              <a:lnSpc>
                <a:spcPct val="150000"/>
              </a:lnSpc>
              <a:spcAft>
                <a:spcPts val="600"/>
              </a:spcAft>
              <a:defRPr/>
            </a:pPr>
            <a:r>
              <a:rPr lang="es-ES" sz="1600" dirty="0"/>
              <a:t>¿Qué pasos deberemos seguir?</a:t>
            </a:r>
          </a:p>
          <a:p>
            <a:pPr lvl="0" algn="just">
              <a:lnSpc>
                <a:spcPct val="150000"/>
              </a:lnSpc>
              <a:spcAft>
                <a:spcPts val="600"/>
              </a:spcAft>
              <a:defRPr/>
            </a:pPr>
            <a:r>
              <a:rPr lang="es-ES" sz="1600" dirty="0"/>
              <a:t>Vamos a hacer un breve repaso.</a:t>
            </a:r>
          </a:p>
        </p:txBody>
      </p:sp>
    </p:spTree>
    <p:extLst>
      <p:ext uri="{BB962C8B-B14F-4D97-AF65-F5344CB8AC3E}">
        <p14:creationId xmlns:p14="http://schemas.microsoft.com/office/powerpoint/2010/main" val="2092069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095307" y="6057097"/>
            <a:ext cx="2057400" cy="365125"/>
          </a:xfrm>
        </p:spPr>
        <p:txBody>
          <a:bodyPr/>
          <a:lstStyle/>
          <a:p>
            <a:fld id="{F72B40EF-D53A-41AA-87B6-B9F74BA43E09}" type="slidenum">
              <a:rPr lang="es-ES" smtClean="0"/>
              <a:t>26</a:t>
            </a:fld>
            <a:endParaRPr lang="es-ES" dirty="0"/>
          </a:p>
        </p:txBody>
      </p:sp>
      <p:sp>
        <p:nvSpPr>
          <p:cNvPr id="12" name="Oval 23">
            <a:extLst>
              <a:ext uri="{FF2B5EF4-FFF2-40B4-BE49-F238E27FC236}">
                <a16:creationId xmlns:a16="http://schemas.microsoft.com/office/drawing/2014/main" id="{659FEA9A-D569-4AB3-BA14-C016954E4409}"/>
              </a:ext>
            </a:extLst>
          </p:cNvPr>
          <p:cNvSpPr/>
          <p:nvPr/>
        </p:nvSpPr>
        <p:spPr>
          <a:xfrm>
            <a:off x="3390988" y="2757499"/>
            <a:ext cx="2184869" cy="2068937"/>
          </a:xfrm>
          <a:prstGeom prst="ellipse">
            <a:avLst/>
          </a:prstGeom>
          <a:solidFill>
            <a:schemeClr val="bg1">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a-ES" sz="2400" b="1" dirty="0">
                <a:solidFill>
                  <a:schemeClr val="tx1"/>
                </a:solidFill>
                <a:latin typeface="Calibri" panose="020F0502020204030204" pitchFamily="34" charset="0"/>
                <a:cs typeface="Calibri" panose="020F0502020204030204" pitchFamily="34" charset="0"/>
              </a:rPr>
              <a:t>Machine </a:t>
            </a:r>
            <a:r>
              <a:rPr lang="ca-ES" sz="2400" b="1" dirty="0" err="1">
                <a:solidFill>
                  <a:schemeClr val="tx1"/>
                </a:solidFill>
                <a:latin typeface="Calibri" panose="020F0502020204030204" pitchFamily="34" charset="0"/>
                <a:cs typeface="Calibri" panose="020F0502020204030204" pitchFamily="34" charset="0"/>
              </a:rPr>
              <a:t>Learning</a:t>
            </a:r>
            <a:endParaRPr lang="ca-ES" sz="2400" b="1" dirty="0">
              <a:solidFill>
                <a:schemeClr val="tx1"/>
              </a:solidFill>
              <a:latin typeface="Calibri" panose="020F0502020204030204" pitchFamily="34" charset="0"/>
              <a:cs typeface="Calibri" panose="020F0502020204030204" pitchFamily="34" charset="0"/>
            </a:endParaRPr>
          </a:p>
        </p:txBody>
      </p:sp>
      <p:sp>
        <p:nvSpPr>
          <p:cNvPr id="21" name="Rectangle 1">
            <a:extLst>
              <a:ext uri="{FF2B5EF4-FFF2-40B4-BE49-F238E27FC236}">
                <a16:creationId xmlns:a16="http://schemas.microsoft.com/office/drawing/2014/main" id="{8211C35F-62A5-415D-812A-528BC7E1F36F}"/>
              </a:ext>
            </a:extLst>
          </p:cNvPr>
          <p:cNvSpPr/>
          <p:nvPr/>
        </p:nvSpPr>
        <p:spPr>
          <a:xfrm rot="3431462">
            <a:off x="5526817" y="2557107"/>
            <a:ext cx="124783" cy="112551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a-ES" sz="2400">
              <a:latin typeface="Calibri" panose="020F0502020204030204" pitchFamily="34" charset="0"/>
              <a:cs typeface="Calibri" panose="020F0502020204030204" pitchFamily="34" charset="0"/>
            </a:endParaRPr>
          </a:p>
        </p:txBody>
      </p:sp>
      <p:sp>
        <p:nvSpPr>
          <p:cNvPr id="22" name="Rectangle 8">
            <a:extLst>
              <a:ext uri="{FF2B5EF4-FFF2-40B4-BE49-F238E27FC236}">
                <a16:creationId xmlns:a16="http://schemas.microsoft.com/office/drawing/2014/main" id="{59A66284-A715-4398-92E5-497B154C43E2}"/>
              </a:ext>
            </a:extLst>
          </p:cNvPr>
          <p:cNvSpPr/>
          <p:nvPr/>
        </p:nvSpPr>
        <p:spPr>
          <a:xfrm rot="7595981">
            <a:off x="3635243" y="3015088"/>
            <a:ext cx="133815" cy="47587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a-ES" sz="2400">
              <a:latin typeface="Calibri" panose="020F0502020204030204" pitchFamily="34" charset="0"/>
              <a:cs typeface="Calibri" panose="020F0502020204030204" pitchFamily="34" charset="0"/>
            </a:endParaRPr>
          </a:p>
        </p:txBody>
      </p:sp>
      <p:sp>
        <p:nvSpPr>
          <p:cNvPr id="23" name="Rectangle 9">
            <a:extLst>
              <a:ext uri="{FF2B5EF4-FFF2-40B4-BE49-F238E27FC236}">
                <a16:creationId xmlns:a16="http://schemas.microsoft.com/office/drawing/2014/main" id="{5736C73F-85BC-4DB8-B2F1-CF35F3567294}"/>
              </a:ext>
            </a:extLst>
          </p:cNvPr>
          <p:cNvSpPr/>
          <p:nvPr/>
        </p:nvSpPr>
        <p:spPr>
          <a:xfrm>
            <a:off x="4430037" y="4428428"/>
            <a:ext cx="114760" cy="62899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a-ES" sz="2400">
              <a:latin typeface="Calibri" panose="020F0502020204030204" pitchFamily="34" charset="0"/>
              <a:cs typeface="Calibri" panose="020F0502020204030204" pitchFamily="34" charset="0"/>
            </a:endParaRPr>
          </a:p>
        </p:txBody>
      </p:sp>
      <p:sp>
        <p:nvSpPr>
          <p:cNvPr id="24" name="Elipse 23">
            <a:extLst>
              <a:ext uri="{FF2B5EF4-FFF2-40B4-BE49-F238E27FC236}">
                <a16:creationId xmlns:a16="http://schemas.microsoft.com/office/drawing/2014/main" id="{17C6B75F-DC3F-4233-87E8-33A5DBDF7410}"/>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Imagen 24">
            <a:extLst>
              <a:ext uri="{FF2B5EF4-FFF2-40B4-BE49-F238E27FC236}">
                <a16:creationId xmlns:a16="http://schemas.microsoft.com/office/drawing/2014/main" id="{0A283907-0D85-4790-BEE1-D2BD95E8F7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7" name="Conector recto 26">
            <a:extLst>
              <a:ext uri="{FF2B5EF4-FFF2-40B4-BE49-F238E27FC236}">
                <a16:creationId xmlns:a16="http://schemas.microsoft.com/office/drawing/2014/main" id="{BCE6AC26-33AB-4EB7-A9BD-AACA08D760D3}"/>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8" name="Título 1">
            <a:extLst>
              <a:ext uri="{FF2B5EF4-FFF2-40B4-BE49-F238E27FC236}">
                <a16:creationId xmlns:a16="http://schemas.microsoft.com/office/drawing/2014/main" id="{4B1F4C41-8808-4512-83A4-554A53B9A0CB}"/>
              </a:ext>
            </a:extLst>
          </p:cNvPr>
          <p:cNvSpPr txBox="1">
            <a:spLocks/>
          </p:cNvSpPr>
          <p:nvPr/>
        </p:nvSpPr>
        <p:spPr>
          <a:xfrm>
            <a:off x="1109384" y="1350879"/>
            <a:ext cx="8173403" cy="763455"/>
          </a:xfrm>
          <a:prstGeom prst="rect">
            <a:avLst/>
          </a:prstGeom>
        </p:spPr>
        <p:txBody>
          <a:bodyP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Tipos de Machine </a:t>
            </a:r>
            <a:r>
              <a:rPr lang="es-ES" sz="2400" b="1" dirty="0" err="1"/>
              <a:t>Learning</a:t>
            </a:r>
            <a:endParaRPr lang="es-ES" sz="2400" b="1" dirty="0"/>
          </a:p>
        </p:txBody>
      </p:sp>
      <p:sp>
        <p:nvSpPr>
          <p:cNvPr id="20" name="Oval 26">
            <a:extLst>
              <a:ext uri="{FF2B5EF4-FFF2-40B4-BE49-F238E27FC236}">
                <a16:creationId xmlns:a16="http://schemas.microsoft.com/office/drawing/2014/main" id="{EDB8542A-0A47-4722-BBF0-DB8B83FF0011}"/>
              </a:ext>
            </a:extLst>
          </p:cNvPr>
          <p:cNvSpPr/>
          <p:nvPr/>
        </p:nvSpPr>
        <p:spPr>
          <a:xfrm>
            <a:off x="3475430" y="4925752"/>
            <a:ext cx="2015985" cy="1898381"/>
          </a:xfrm>
          <a:prstGeom prst="ellipse">
            <a:avLst/>
          </a:prstGeom>
          <a:solidFill>
            <a:srgbClr val="F17D21"/>
          </a:solidFill>
          <a:ln>
            <a:solidFill>
              <a:srgbClr val="F17D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a-ES" sz="1500" b="1" dirty="0" err="1">
                <a:solidFill>
                  <a:schemeClr val="bg1"/>
                </a:solidFill>
                <a:latin typeface="Calibri" panose="020F0502020204030204" pitchFamily="34" charset="0"/>
                <a:cs typeface="Calibri" panose="020F0502020204030204" pitchFamily="34" charset="0"/>
              </a:rPr>
              <a:t>Reinforcement</a:t>
            </a:r>
            <a:r>
              <a:rPr lang="ca-ES" sz="1500" b="1" dirty="0">
                <a:solidFill>
                  <a:schemeClr val="bg1"/>
                </a:solidFill>
                <a:latin typeface="Calibri" panose="020F0502020204030204" pitchFamily="34" charset="0"/>
                <a:cs typeface="Calibri" panose="020F0502020204030204" pitchFamily="34" charset="0"/>
              </a:rPr>
              <a:t> </a:t>
            </a:r>
            <a:r>
              <a:rPr lang="ca-ES" sz="1500" b="1" dirty="0" err="1">
                <a:solidFill>
                  <a:schemeClr val="bg1"/>
                </a:solidFill>
                <a:latin typeface="Calibri" panose="020F0502020204030204" pitchFamily="34" charset="0"/>
                <a:cs typeface="Calibri" panose="020F0502020204030204" pitchFamily="34" charset="0"/>
              </a:rPr>
              <a:t>learning</a:t>
            </a:r>
            <a:endParaRPr lang="ca-ES" sz="1500" b="1" dirty="0">
              <a:solidFill>
                <a:schemeClr val="bg1"/>
              </a:solidFill>
              <a:latin typeface="Calibri" panose="020F0502020204030204" pitchFamily="34" charset="0"/>
              <a:cs typeface="Calibri" panose="020F0502020204030204" pitchFamily="34" charset="0"/>
            </a:endParaRPr>
          </a:p>
        </p:txBody>
      </p:sp>
      <p:sp>
        <p:nvSpPr>
          <p:cNvPr id="19" name="Oval 25">
            <a:extLst>
              <a:ext uri="{FF2B5EF4-FFF2-40B4-BE49-F238E27FC236}">
                <a16:creationId xmlns:a16="http://schemas.microsoft.com/office/drawing/2014/main" id="{127CA7CB-701B-40AD-BC65-FF28E5ED0F49}"/>
              </a:ext>
            </a:extLst>
          </p:cNvPr>
          <p:cNvSpPr/>
          <p:nvPr/>
        </p:nvSpPr>
        <p:spPr>
          <a:xfrm>
            <a:off x="1802390" y="1758633"/>
            <a:ext cx="1879344" cy="1748762"/>
          </a:xfrm>
          <a:prstGeom prst="ellipse">
            <a:avLst/>
          </a:prstGeom>
          <a:solidFill>
            <a:srgbClr val="179EB0"/>
          </a:solidFill>
          <a:ln>
            <a:solidFill>
              <a:srgbClr val="179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a-ES" sz="1500" b="1" dirty="0" err="1">
                <a:latin typeface="Calibri" panose="020F0502020204030204" pitchFamily="34" charset="0"/>
                <a:cs typeface="Calibri" panose="020F0502020204030204" pitchFamily="34" charset="0"/>
              </a:rPr>
              <a:t>Aprendizaje</a:t>
            </a:r>
            <a:r>
              <a:rPr lang="ca-ES" sz="1500" b="1" dirty="0">
                <a:latin typeface="Calibri" panose="020F0502020204030204" pitchFamily="34" charset="0"/>
                <a:cs typeface="Calibri" panose="020F0502020204030204" pitchFamily="34" charset="0"/>
              </a:rPr>
              <a:t> NO </a:t>
            </a:r>
            <a:r>
              <a:rPr lang="ca-ES" sz="1500" b="1" dirty="0" err="1">
                <a:latin typeface="Calibri" panose="020F0502020204030204" pitchFamily="34" charset="0"/>
                <a:cs typeface="Calibri" panose="020F0502020204030204" pitchFamily="34" charset="0"/>
              </a:rPr>
              <a:t>Supervisado</a:t>
            </a:r>
            <a:endParaRPr lang="ca-ES" sz="1500" b="1" dirty="0">
              <a:latin typeface="Calibri" panose="020F0502020204030204" pitchFamily="34" charset="0"/>
              <a:cs typeface="Calibri" panose="020F0502020204030204" pitchFamily="34" charset="0"/>
            </a:endParaRPr>
          </a:p>
        </p:txBody>
      </p:sp>
      <p:sp>
        <p:nvSpPr>
          <p:cNvPr id="18" name="Oval 24">
            <a:extLst>
              <a:ext uri="{FF2B5EF4-FFF2-40B4-BE49-F238E27FC236}">
                <a16:creationId xmlns:a16="http://schemas.microsoft.com/office/drawing/2014/main" id="{DC383642-819C-4FAC-A776-FE8C8912CC7E}"/>
              </a:ext>
            </a:extLst>
          </p:cNvPr>
          <p:cNvSpPr/>
          <p:nvPr/>
        </p:nvSpPr>
        <p:spPr>
          <a:xfrm>
            <a:off x="5307913" y="1730109"/>
            <a:ext cx="1970659" cy="1833731"/>
          </a:xfrm>
          <a:prstGeom prst="ellipse">
            <a:avLst/>
          </a:prstGeom>
          <a:solidFill>
            <a:srgbClr val="E42352"/>
          </a:solidFill>
          <a:ln>
            <a:solidFill>
              <a:srgbClr val="E423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a-ES" sz="1500" b="1" dirty="0" err="1">
                <a:latin typeface="Calibri" panose="020F0502020204030204" pitchFamily="34" charset="0"/>
                <a:cs typeface="Calibri" panose="020F0502020204030204" pitchFamily="34" charset="0"/>
              </a:rPr>
              <a:t>Aprendizaje</a:t>
            </a:r>
            <a:r>
              <a:rPr lang="ca-ES" sz="1500" b="1" dirty="0">
                <a:latin typeface="Calibri" panose="020F0502020204030204" pitchFamily="34" charset="0"/>
                <a:cs typeface="Calibri" panose="020F0502020204030204" pitchFamily="34" charset="0"/>
              </a:rPr>
              <a:t> </a:t>
            </a:r>
            <a:r>
              <a:rPr lang="ca-ES" sz="1500" b="1" dirty="0" err="1">
                <a:latin typeface="Calibri" panose="020F0502020204030204" pitchFamily="34" charset="0"/>
                <a:cs typeface="Calibri" panose="020F0502020204030204" pitchFamily="34" charset="0"/>
              </a:rPr>
              <a:t>Supervisado</a:t>
            </a:r>
            <a:endParaRPr lang="ca-ES" sz="15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885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0" grpId="0" animBg="1"/>
      <p:bldP spid="19"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descr="https://blogs.oracle.com/content/published/api/v1.1/assets/CONTD7C682DC565249619FDC041CE8D240C6/native?cb=_cache_78ff&amp;channelToken=4a09bbae54a44036929b7649645b8048">
            <a:extLst>
              <a:ext uri="{FF2B5EF4-FFF2-40B4-BE49-F238E27FC236}">
                <a16:creationId xmlns:a16="http://schemas.microsoft.com/office/drawing/2014/main" id="{EFF5AE6D-1642-4557-B273-6654841A10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471" y="1822200"/>
            <a:ext cx="6133756" cy="4389469"/>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número de diapositiva 3">
            <a:extLst>
              <a:ext uri="{FF2B5EF4-FFF2-40B4-BE49-F238E27FC236}">
                <a16:creationId xmlns:a16="http://schemas.microsoft.com/office/drawing/2014/main" id="{DD6D9E44-24F9-4F6D-B7C0-9FA416F85864}"/>
              </a:ext>
            </a:extLst>
          </p:cNvPr>
          <p:cNvSpPr>
            <a:spLocks noGrp="1"/>
          </p:cNvSpPr>
          <p:nvPr>
            <p:ph type="sldNum" sz="quarter" idx="12"/>
          </p:nvPr>
        </p:nvSpPr>
        <p:spPr/>
        <p:txBody>
          <a:bodyPr/>
          <a:lstStyle/>
          <a:p>
            <a:fld id="{F72B40EF-D53A-41AA-87B6-B9F74BA43E09}" type="slidenum">
              <a:rPr lang="es-ES" smtClean="0"/>
              <a:t>27</a:t>
            </a:fld>
            <a:endParaRPr lang="es-ES"/>
          </a:p>
        </p:txBody>
      </p:sp>
      <p:sp>
        <p:nvSpPr>
          <p:cNvPr id="16" name="Elipse 15">
            <a:extLst>
              <a:ext uri="{FF2B5EF4-FFF2-40B4-BE49-F238E27FC236}">
                <a16:creationId xmlns:a16="http://schemas.microsoft.com/office/drawing/2014/main" id="{3F986983-FA90-496B-8E50-A462298C81EA}"/>
              </a:ext>
            </a:extLst>
          </p:cNvPr>
          <p:cNvSpPr/>
          <p:nvPr/>
        </p:nvSpPr>
        <p:spPr>
          <a:xfrm>
            <a:off x="2696025" y="2738547"/>
            <a:ext cx="1065120" cy="1092906"/>
          </a:xfrm>
          <a:prstGeom prst="ellipse">
            <a:avLst/>
          </a:prstGeom>
          <a:noFill/>
          <a:ln w="57150">
            <a:solidFill>
              <a:srgbClr val="006DA5"/>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a:extLst>
              <a:ext uri="{FF2B5EF4-FFF2-40B4-BE49-F238E27FC236}">
                <a16:creationId xmlns:a16="http://schemas.microsoft.com/office/drawing/2014/main" id="{7C47061F-BDFC-4CE1-B039-2F4D5126FF07}"/>
              </a:ext>
            </a:extLst>
          </p:cNvPr>
          <p:cNvSpPr/>
          <p:nvPr/>
        </p:nvSpPr>
        <p:spPr>
          <a:xfrm>
            <a:off x="5141344" y="2747574"/>
            <a:ext cx="1065120" cy="1092906"/>
          </a:xfrm>
          <a:prstGeom prst="ellipse">
            <a:avLst/>
          </a:prstGeom>
          <a:noFill/>
          <a:ln w="57150">
            <a:solidFill>
              <a:srgbClr val="006DA5"/>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
            <a:extLst>
              <a:ext uri="{FF2B5EF4-FFF2-40B4-BE49-F238E27FC236}">
                <a16:creationId xmlns:a16="http://schemas.microsoft.com/office/drawing/2014/main" id="{6E823979-5552-4D4A-ACB7-EA0AC36119E0}"/>
              </a:ext>
            </a:extLst>
          </p:cNvPr>
          <p:cNvSpPr/>
          <p:nvPr/>
        </p:nvSpPr>
        <p:spPr>
          <a:xfrm>
            <a:off x="334229" y="6211669"/>
            <a:ext cx="7357335" cy="646331"/>
          </a:xfrm>
          <a:prstGeom prst="rect">
            <a:avLst/>
          </a:prstGeom>
        </p:spPr>
        <p:txBody>
          <a:bodyPr wrap="none">
            <a:spAutoFit/>
          </a:bodyPr>
          <a:lstStyle/>
          <a:p>
            <a:r>
              <a:rPr lang="es-ES" sz="1200" dirty="0" err="1">
                <a:latin typeface="Calibri" panose="020F0502020204030204" pitchFamily="34" charset="0"/>
                <a:ea typeface="Verdana" panose="020B0604030504040204" pitchFamily="34" charset="0"/>
                <a:cs typeface="Calibri" panose="020F0502020204030204" pitchFamily="34" charset="0"/>
              </a:rPr>
              <a:t>Source</a:t>
            </a:r>
            <a:r>
              <a:rPr lang="es-ES" sz="1200" dirty="0">
                <a:latin typeface="Calibri" panose="020F0502020204030204" pitchFamily="34" charset="0"/>
                <a:ea typeface="Verdana" panose="020B0604030504040204" pitchFamily="34" charset="0"/>
                <a:cs typeface="Calibri" panose="020F0502020204030204" pitchFamily="34" charset="0"/>
              </a:rPr>
              <a:t>: </a:t>
            </a:r>
            <a:r>
              <a:rPr lang="it-IT" sz="1200" dirty="0">
                <a:latin typeface="Calibri" panose="020F0502020204030204" pitchFamily="34" charset="0"/>
                <a:ea typeface="Verdana" panose="020B0604030504040204" pitchFamily="34" charset="0"/>
                <a:cs typeface="Calibri" panose="020F0502020204030204" pitchFamily="34" charset="0"/>
              </a:rPr>
              <a:t>Oracle AI and Data Science Blog.</a:t>
            </a:r>
          </a:p>
          <a:p>
            <a:r>
              <a:rPr lang="en-GB" sz="1200" dirty="0">
                <a:latin typeface="Calibri" panose="020F0502020204030204" pitchFamily="34" charset="0"/>
                <a:cs typeface="Calibri" panose="020F0502020204030204" pitchFamily="34" charset="0"/>
                <a:hlinkClick r:id="rId3"/>
              </a:rPr>
              <a:t>https://blogs.oracle.com/datascience/types-of-machine-learning-and-top-10-algorithms-everyone-should-know-v2</a:t>
            </a:r>
            <a:endParaRPr lang="it-IT" sz="1200" dirty="0">
              <a:latin typeface="Calibri" panose="020F0502020204030204" pitchFamily="34" charset="0"/>
              <a:ea typeface="Verdana" panose="020B0604030504040204" pitchFamily="34" charset="0"/>
              <a:cs typeface="Calibri" panose="020F0502020204030204" pitchFamily="34" charset="0"/>
            </a:endParaRPr>
          </a:p>
          <a:p>
            <a:endParaRPr lang="en-GB" sz="1200" dirty="0">
              <a:latin typeface="Calibri" panose="020F0502020204030204" pitchFamily="34" charset="0"/>
              <a:ea typeface="Verdana" panose="020B0604030504040204" pitchFamily="34" charset="0"/>
              <a:cs typeface="Calibri" panose="020F0502020204030204" pitchFamily="34" charset="0"/>
            </a:endParaRPr>
          </a:p>
        </p:txBody>
      </p:sp>
      <p:sp>
        <p:nvSpPr>
          <p:cNvPr id="20" name="Elipse 19">
            <a:extLst>
              <a:ext uri="{FF2B5EF4-FFF2-40B4-BE49-F238E27FC236}">
                <a16:creationId xmlns:a16="http://schemas.microsoft.com/office/drawing/2014/main" id="{231A724F-48C7-461B-AF1B-A9A7FA0EA0BE}"/>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Imagen 20">
            <a:extLst>
              <a:ext uri="{FF2B5EF4-FFF2-40B4-BE49-F238E27FC236}">
                <a16:creationId xmlns:a16="http://schemas.microsoft.com/office/drawing/2014/main" id="{B7E036CC-4A88-4D94-9C9B-9478799AE1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B3C1DFB4-39A6-43F8-BC94-1C44047E9EB6}"/>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3" name="Título 1">
            <a:extLst>
              <a:ext uri="{FF2B5EF4-FFF2-40B4-BE49-F238E27FC236}">
                <a16:creationId xmlns:a16="http://schemas.microsoft.com/office/drawing/2014/main" id="{13F0EB0E-74A7-435E-BA4E-AA9EF1D92013}"/>
              </a:ext>
            </a:extLst>
          </p:cNvPr>
          <p:cNvSpPr txBox="1">
            <a:spLocks/>
          </p:cNvSpPr>
          <p:nvPr/>
        </p:nvSpPr>
        <p:spPr>
          <a:xfrm>
            <a:off x="1109384" y="1350879"/>
            <a:ext cx="8173403" cy="763455"/>
          </a:xfrm>
          <a:prstGeom prst="rect">
            <a:avLst/>
          </a:prstGeom>
        </p:spPr>
        <p:txBody>
          <a:bodyP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Tipos de Machine </a:t>
            </a:r>
            <a:r>
              <a:rPr lang="es-ES" sz="2400" b="1" dirty="0" err="1"/>
              <a:t>Learning</a:t>
            </a:r>
            <a:endParaRPr lang="es-ES" sz="2400" b="1" dirty="0"/>
          </a:p>
        </p:txBody>
      </p:sp>
    </p:spTree>
    <p:extLst>
      <p:ext uri="{BB962C8B-B14F-4D97-AF65-F5344CB8AC3E}">
        <p14:creationId xmlns:p14="http://schemas.microsoft.com/office/powerpoint/2010/main" val="149301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lipse 31"/>
          <p:cNvSpPr/>
          <p:nvPr/>
        </p:nvSpPr>
        <p:spPr>
          <a:xfrm>
            <a:off x="1863859" y="3102882"/>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Elipse 32"/>
          <p:cNvSpPr/>
          <p:nvPr/>
        </p:nvSpPr>
        <p:spPr>
          <a:xfrm>
            <a:off x="3291807" y="3119837"/>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Elipse 33"/>
          <p:cNvSpPr/>
          <p:nvPr/>
        </p:nvSpPr>
        <p:spPr>
          <a:xfrm>
            <a:off x="4611006" y="3110875"/>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Elipse 34"/>
          <p:cNvSpPr/>
          <p:nvPr/>
        </p:nvSpPr>
        <p:spPr>
          <a:xfrm>
            <a:off x="4611559" y="4349619"/>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Elipse 35"/>
          <p:cNvSpPr/>
          <p:nvPr/>
        </p:nvSpPr>
        <p:spPr>
          <a:xfrm>
            <a:off x="5928772" y="3109331"/>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Elipse 36"/>
          <p:cNvSpPr/>
          <p:nvPr/>
        </p:nvSpPr>
        <p:spPr>
          <a:xfrm>
            <a:off x="7263517" y="3102882"/>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Elipse 37"/>
          <p:cNvSpPr/>
          <p:nvPr/>
        </p:nvSpPr>
        <p:spPr>
          <a:xfrm>
            <a:off x="7275755" y="4955720"/>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lipse 18"/>
          <p:cNvSpPr/>
          <p:nvPr/>
        </p:nvSpPr>
        <p:spPr>
          <a:xfrm>
            <a:off x="576846" y="3119837"/>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a:xfrm>
            <a:off x="6095307" y="6299152"/>
            <a:ext cx="2057400" cy="365125"/>
          </a:xfrm>
        </p:spPr>
        <p:txBody>
          <a:bodyPr/>
          <a:lstStyle/>
          <a:p>
            <a:fld id="{F72B40EF-D53A-41AA-87B6-B9F74BA43E09}" type="slidenum">
              <a:rPr lang="es-ES" smtClean="0"/>
              <a:t>28</a:t>
            </a:fld>
            <a:endParaRPr lang="es-ES" dirty="0"/>
          </a:p>
        </p:txBody>
      </p: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6516" y="4283135"/>
            <a:ext cx="448539" cy="448539"/>
          </a:xfrm>
          <a:prstGeom prst="rect">
            <a:avLst/>
          </a:prstGeom>
        </p:spPr>
      </p:pic>
      <p:pic>
        <p:nvPicPr>
          <p:cNvPr id="3" name="Imagen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4421" y="3297985"/>
            <a:ext cx="438303" cy="438303"/>
          </a:xfrm>
          <a:prstGeom prst="rect">
            <a:avLst/>
          </a:prstGeom>
        </p:spPr>
      </p:pic>
      <p:pic>
        <p:nvPicPr>
          <p:cNvPr id="5" name="Imagen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6964" y="3210185"/>
            <a:ext cx="641747" cy="641747"/>
          </a:xfrm>
          <a:prstGeom prst="rect">
            <a:avLst/>
          </a:prstGeom>
        </p:spPr>
      </p:pic>
      <p:pic>
        <p:nvPicPr>
          <p:cNvPr id="6" name="Imagen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7604" y="5054171"/>
            <a:ext cx="610899" cy="610899"/>
          </a:xfrm>
          <a:prstGeom prst="rect">
            <a:avLst/>
          </a:prstGeom>
        </p:spPr>
      </p:pic>
      <p:pic>
        <p:nvPicPr>
          <p:cNvPr id="13" name="Imagen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63521" y="5249164"/>
            <a:ext cx="415906" cy="415906"/>
          </a:xfrm>
          <a:prstGeom prst="rect">
            <a:avLst/>
          </a:prstGeom>
        </p:spPr>
      </p:pic>
      <p:pic>
        <p:nvPicPr>
          <p:cNvPr id="14" name="Imagen 1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64526" y="4453280"/>
            <a:ext cx="532523" cy="532523"/>
          </a:xfrm>
          <a:prstGeom prst="rect">
            <a:avLst/>
          </a:prstGeom>
        </p:spPr>
      </p:pic>
      <p:pic>
        <p:nvPicPr>
          <p:cNvPr id="17" name="Imagen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996797" y="3242829"/>
            <a:ext cx="528721" cy="528721"/>
          </a:xfrm>
          <a:prstGeom prst="rect">
            <a:avLst/>
          </a:prstGeom>
        </p:spPr>
      </p:pic>
      <p:sp>
        <p:nvSpPr>
          <p:cNvPr id="18" name="CuadroTexto 17"/>
          <p:cNvSpPr txBox="1"/>
          <p:nvPr/>
        </p:nvSpPr>
        <p:spPr>
          <a:xfrm>
            <a:off x="451519" y="2551023"/>
            <a:ext cx="1039905" cy="430887"/>
          </a:xfrm>
          <a:prstGeom prst="rect">
            <a:avLst/>
          </a:prstGeom>
          <a:noFill/>
        </p:spPr>
        <p:txBody>
          <a:bodyPr wrap="square" rtlCol="0">
            <a:spAutoFit/>
          </a:bodyPr>
          <a:lstStyle/>
          <a:p>
            <a:pPr algn="ctr"/>
            <a:r>
              <a:rPr lang="es-ES" sz="1100" b="1" dirty="0">
                <a:solidFill>
                  <a:srgbClr val="002060"/>
                </a:solidFill>
              </a:rPr>
              <a:t>CONJUNTO DE DATOS</a:t>
            </a:r>
            <a:endParaRPr lang="en-US" sz="1100" b="1" dirty="0">
              <a:solidFill>
                <a:srgbClr val="002060"/>
              </a:solidFill>
            </a:endParaRPr>
          </a:p>
        </p:txBody>
      </p:sp>
      <p:sp>
        <p:nvSpPr>
          <p:cNvPr id="20" name="CuadroTexto 19"/>
          <p:cNvSpPr txBox="1"/>
          <p:nvPr/>
        </p:nvSpPr>
        <p:spPr>
          <a:xfrm>
            <a:off x="1678679" y="2534844"/>
            <a:ext cx="1197248" cy="430887"/>
          </a:xfrm>
          <a:prstGeom prst="rect">
            <a:avLst/>
          </a:prstGeom>
          <a:noFill/>
        </p:spPr>
        <p:txBody>
          <a:bodyPr wrap="square" rtlCol="0">
            <a:spAutoFit/>
          </a:bodyPr>
          <a:lstStyle>
            <a:defPPr>
              <a:defRPr lang="es-ES"/>
            </a:defPPr>
            <a:lvl1pPr>
              <a:defRPr sz="1400" b="1">
                <a:solidFill>
                  <a:srgbClr val="002060"/>
                </a:solidFill>
              </a:defRPr>
            </a:lvl1pPr>
          </a:lstStyle>
          <a:p>
            <a:pPr algn="ctr"/>
            <a:r>
              <a:rPr lang="es-ES" sz="1100" dirty="0"/>
              <a:t>1. COMPRENDER LOS DATOS</a:t>
            </a:r>
            <a:endParaRPr lang="en-US" sz="1100" dirty="0"/>
          </a:p>
        </p:txBody>
      </p:sp>
      <p:sp>
        <p:nvSpPr>
          <p:cNvPr id="21" name="CuadroTexto 20"/>
          <p:cNvSpPr txBox="1"/>
          <p:nvPr/>
        </p:nvSpPr>
        <p:spPr>
          <a:xfrm>
            <a:off x="3030863" y="2556607"/>
            <a:ext cx="1249021" cy="430887"/>
          </a:xfrm>
          <a:prstGeom prst="rect">
            <a:avLst/>
          </a:prstGeom>
          <a:noFill/>
        </p:spPr>
        <p:txBody>
          <a:bodyPr wrap="square" rtlCol="0">
            <a:spAutoFit/>
          </a:bodyPr>
          <a:lstStyle/>
          <a:p>
            <a:pPr algn="ctr"/>
            <a:r>
              <a:rPr lang="es-ES" sz="1100" b="1" dirty="0">
                <a:solidFill>
                  <a:srgbClr val="002060"/>
                </a:solidFill>
              </a:rPr>
              <a:t>2. PREPARAR LOS DATOS</a:t>
            </a:r>
            <a:endParaRPr lang="en-US" sz="1100" b="1" dirty="0">
              <a:solidFill>
                <a:srgbClr val="002060"/>
              </a:solidFill>
            </a:endParaRPr>
          </a:p>
        </p:txBody>
      </p:sp>
      <p:pic>
        <p:nvPicPr>
          <p:cNvPr id="22" name="Imagen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475013" y="6010472"/>
            <a:ext cx="392926" cy="392926"/>
          </a:xfrm>
          <a:prstGeom prst="rect">
            <a:avLst/>
          </a:prstGeom>
        </p:spPr>
      </p:pic>
      <p:pic>
        <p:nvPicPr>
          <p:cNvPr id="23" name="Imagen 2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70580" y="3256368"/>
            <a:ext cx="506816" cy="506816"/>
          </a:xfrm>
          <a:prstGeom prst="rect">
            <a:avLst/>
          </a:prstGeom>
        </p:spPr>
      </p:pic>
      <p:pic>
        <p:nvPicPr>
          <p:cNvPr id="25" name="Imagen 2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072830" y="4437420"/>
            <a:ext cx="474212" cy="474212"/>
          </a:xfrm>
          <a:prstGeom prst="rect">
            <a:avLst/>
          </a:prstGeom>
        </p:spPr>
      </p:pic>
      <p:pic>
        <p:nvPicPr>
          <p:cNvPr id="26" name="Imagen 2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057199" y="5258197"/>
            <a:ext cx="505475" cy="505475"/>
          </a:xfrm>
          <a:prstGeom prst="rect">
            <a:avLst/>
          </a:prstGeom>
        </p:spPr>
      </p:pic>
      <p:sp>
        <p:nvSpPr>
          <p:cNvPr id="27" name="Rectángulo 26"/>
          <p:cNvSpPr/>
          <p:nvPr/>
        </p:nvSpPr>
        <p:spPr>
          <a:xfrm>
            <a:off x="3090664" y="4012849"/>
            <a:ext cx="1099570" cy="253916"/>
          </a:xfrm>
          <a:prstGeom prst="rect">
            <a:avLst/>
          </a:prstGeom>
        </p:spPr>
        <p:txBody>
          <a:bodyPr wrap="square">
            <a:spAutoFit/>
          </a:bodyPr>
          <a:lstStyle/>
          <a:p>
            <a:pPr algn="ctr"/>
            <a:r>
              <a:rPr lang="es-ES" sz="1050" b="1" dirty="0">
                <a:solidFill>
                  <a:srgbClr val="0070C0"/>
                </a:solidFill>
              </a:rPr>
              <a:t>DATA CLEANING</a:t>
            </a:r>
            <a:endParaRPr lang="en-US" sz="1050" b="1" dirty="0">
              <a:solidFill>
                <a:srgbClr val="0070C0"/>
              </a:solidFill>
            </a:endParaRPr>
          </a:p>
        </p:txBody>
      </p:sp>
      <p:sp>
        <p:nvSpPr>
          <p:cNvPr id="28" name="Rectángulo 27"/>
          <p:cNvSpPr/>
          <p:nvPr/>
        </p:nvSpPr>
        <p:spPr>
          <a:xfrm>
            <a:off x="3020902" y="4804281"/>
            <a:ext cx="1259559" cy="415498"/>
          </a:xfrm>
          <a:prstGeom prst="rect">
            <a:avLst/>
          </a:prstGeom>
        </p:spPr>
        <p:txBody>
          <a:bodyPr wrap="square">
            <a:spAutoFit/>
          </a:bodyPr>
          <a:lstStyle/>
          <a:p>
            <a:pPr algn="ctr"/>
            <a:r>
              <a:rPr lang="es-ES" sz="1050" b="1" dirty="0">
                <a:solidFill>
                  <a:srgbClr val="0070C0"/>
                </a:solidFill>
              </a:rPr>
              <a:t>FEATURING SELECTION</a:t>
            </a:r>
            <a:endParaRPr lang="en-US" sz="1050" b="1" dirty="0">
              <a:solidFill>
                <a:srgbClr val="0070C0"/>
              </a:solidFill>
            </a:endParaRPr>
          </a:p>
        </p:txBody>
      </p:sp>
      <p:sp>
        <p:nvSpPr>
          <p:cNvPr id="29" name="Rectángulo 28"/>
          <p:cNvSpPr/>
          <p:nvPr/>
        </p:nvSpPr>
        <p:spPr>
          <a:xfrm>
            <a:off x="2950401" y="5763672"/>
            <a:ext cx="1445474" cy="253916"/>
          </a:xfrm>
          <a:prstGeom prst="rect">
            <a:avLst/>
          </a:prstGeom>
        </p:spPr>
        <p:txBody>
          <a:bodyPr wrap="square">
            <a:spAutoFit/>
          </a:bodyPr>
          <a:lstStyle/>
          <a:p>
            <a:pPr algn="ctr"/>
            <a:r>
              <a:rPr lang="es-ES" sz="1050" b="1" dirty="0">
                <a:solidFill>
                  <a:srgbClr val="0070C0"/>
                </a:solidFill>
              </a:rPr>
              <a:t>TRANSFORMAR</a:t>
            </a:r>
            <a:endParaRPr lang="en-US" sz="1050" b="1" dirty="0">
              <a:solidFill>
                <a:srgbClr val="0070C0"/>
              </a:solidFill>
            </a:endParaRPr>
          </a:p>
        </p:txBody>
      </p:sp>
      <p:pic>
        <p:nvPicPr>
          <p:cNvPr id="30" name="Imagen 2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397037" y="3193513"/>
            <a:ext cx="578037" cy="578037"/>
          </a:xfrm>
          <a:prstGeom prst="rect">
            <a:avLst/>
          </a:prstGeom>
        </p:spPr>
      </p:pic>
      <p:pic>
        <p:nvPicPr>
          <p:cNvPr id="31" name="Imagen 3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424081" y="3256368"/>
            <a:ext cx="495769" cy="495769"/>
          </a:xfrm>
          <a:prstGeom prst="rect">
            <a:avLst/>
          </a:prstGeom>
        </p:spPr>
      </p:pic>
      <p:sp>
        <p:nvSpPr>
          <p:cNvPr id="39" name="Rectángulo 38"/>
          <p:cNvSpPr/>
          <p:nvPr/>
        </p:nvSpPr>
        <p:spPr>
          <a:xfrm>
            <a:off x="1671162" y="4022472"/>
            <a:ext cx="1231310" cy="415498"/>
          </a:xfrm>
          <a:prstGeom prst="rect">
            <a:avLst/>
          </a:prstGeom>
        </p:spPr>
        <p:txBody>
          <a:bodyPr wrap="square">
            <a:spAutoFit/>
          </a:bodyPr>
          <a:lstStyle/>
          <a:p>
            <a:pPr algn="ctr"/>
            <a:r>
              <a:rPr lang="es-ES" sz="1050" b="1" dirty="0">
                <a:solidFill>
                  <a:srgbClr val="0070C0"/>
                </a:solidFill>
              </a:rPr>
              <a:t>ESTADÍSTICA DESCRIPTIVA</a:t>
            </a:r>
            <a:endParaRPr lang="en-US" sz="1050" b="1" dirty="0">
              <a:solidFill>
                <a:srgbClr val="0070C0"/>
              </a:solidFill>
            </a:endParaRPr>
          </a:p>
        </p:txBody>
      </p:sp>
      <p:sp>
        <p:nvSpPr>
          <p:cNvPr id="40" name="Rectángulo 39"/>
          <p:cNvSpPr/>
          <p:nvPr/>
        </p:nvSpPr>
        <p:spPr>
          <a:xfrm>
            <a:off x="1678679" y="4997063"/>
            <a:ext cx="1223793" cy="261610"/>
          </a:xfrm>
          <a:prstGeom prst="rect">
            <a:avLst/>
          </a:prstGeom>
        </p:spPr>
        <p:txBody>
          <a:bodyPr wrap="square">
            <a:spAutoFit/>
          </a:bodyPr>
          <a:lstStyle/>
          <a:p>
            <a:pPr algn="ctr"/>
            <a:r>
              <a:rPr lang="es-ES" sz="1050" b="1" dirty="0">
                <a:solidFill>
                  <a:srgbClr val="0070C0"/>
                </a:solidFill>
              </a:rPr>
              <a:t>VISUALIZACIÓN</a:t>
            </a:r>
            <a:endParaRPr lang="en-US" sz="1050" b="1" dirty="0">
              <a:solidFill>
                <a:srgbClr val="0070C0"/>
              </a:solidFill>
            </a:endParaRPr>
          </a:p>
        </p:txBody>
      </p:sp>
      <p:sp>
        <p:nvSpPr>
          <p:cNvPr id="41" name="CuadroTexto 40"/>
          <p:cNvSpPr txBox="1"/>
          <p:nvPr/>
        </p:nvSpPr>
        <p:spPr>
          <a:xfrm>
            <a:off x="4323415" y="2556108"/>
            <a:ext cx="1324697" cy="261610"/>
          </a:xfrm>
          <a:prstGeom prst="rect">
            <a:avLst/>
          </a:prstGeom>
          <a:noFill/>
        </p:spPr>
        <p:txBody>
          <a:bodyPr wrap="square" rtlCol="0">
            <a:spAutoFit/>
          </a:bodyPr>
          <a:lstStyle/>
          <a:p>
            <a:pPr algn="ctr"/>
            <a:r>
              <a:rPr lang="es-ES" sz="1100" b="1" dirty="0">
                <a:solidFill>
                  <a:srgbClr val="002060"/>
                </a:solidFill>
              </a:rPr>
              <a:t>3. DIVIDIR DATOS</a:t>
            </a:r>
            <a:endParaRPr lang="en-US" sz="1100" b="1" dirty="0">
              <a:solidFill>
                <a:srgbClr val="002060"/>
              </a:solidFill>
            </a:endParaRPr>
          </a:p>
        </p:txBody>
      </p:sp>
      <p:sp>
        <p:nvSpPr>
          <p:cNvPr id="42" name="CuadroTexto 41"/>
          <p:cNvSpPr txBox="1"/>
          <p:nvPr/>
        </p:nvSpPr>
        <p:spPr>
          <a:xfrm>
            <a:off x="5704546" y="2493353"/>
            <a:ext cx="1319721" cy="600164"/>
          </a:xfrm>
          <a:prstGeom prst="rect">
            <a:avLst/>
          </a:prstGeom>
          <a:noFill/>
        </p:spPr>
        <p:txBody>
          <a:bodyPr wrap="square" rtlCol="0">
            <a:spAutoFit/>
          </a:bodyPr>
          <a:lstStyle/>
          <a:p>
            <a:pPr algn="ctr"/>
            <a:r>
              <a:rPr lang="en-US" sz="1100" b="1" dirty="0">
                <a:solidFill>
                  <a:srgbClr val="002060"/>
                </a:solidFill>
              </a:rPr>
              <a:t>4. CONSTRUCCIÓN Y EVALUACIÓN DE MODELOS</a:t>
            </a:r>
          </a:p>
        </p:txBody>
      </p:sp>
      <p:sp>
        <p:nvSpPr>
          <p:cNvPr id="43" name="CuadroTexto 42"/>
          <p:cNvSpPr txBox="1"/>
          <p:nvPr/>
        </p:nvSpPr>
        <p:spPr>
          <a:xfrm>
            <a:off x="6943809" y="2502817"/>
            <a:ext cx="1519015" cy="600164"/>
          </a:xfrm>
          <a:prstGeom prst="rect">
            <a:avLst/>
          </a:prstGeom>
          <a:noFill/>
        </p:spPr>
        <p:txBody>
          <a:bodyPr wrap="square" rtlCol="0">
            <a:spAutoFit/>
          </a:bodyPr>
          <a:lstStyle/>
          <a:p>
            <a:pPr algn="ctr"/>
            <a:r>
              <a:rPr lang="en-US" sz="1100" b="1" dirty="0">
                <a:solidFill>
                  <a:srgbClr val="002060"/>
                </a:solidFill>
              </a:rPr>
              <a:t>5. AJUSTAR HIPERPARÁMETROS DEL MEJOR MODELO</a:t>
            </a:r>
          </a:p>
        </p:txBody>
      </p:sp>
      <p:sp>
        <p:nvSpPr>
          <p:cNvPr id="44" name="CuadroTexto 43"/>
          <p:cNvSpPr txBox="1"/>
          <p:nvPr/>
        </p:nvSpPr>
        <p:spPr>
          <a:xfrm>
            <a:off x="6988407" y="4453280"/>
            <a:ext cx="1372279" cy="430887"/>
          </a:xfrm>
          <a:prstGeom prst="rect">
            <a:avLst/>
          </a:prstGeom>
          <a:noFill/>
        </p:spPr>
        <p:txBody>
          <a:bodyPr wrap="square" rtlCol="0">
            <a:spAutoFit/>
          </a:bodyPr>
          <a:lstStyle/>
          <a:p>
            <a:pPr algn="ctr"/>
            <a:r>
              <a:rPr lang="en-US" sz="1100" b="1" dirty="0">
                <a:solidFill>
                  <a:srgbClr val="002060"/>
                </a:solidFill>
              </a:rPr>
              <a:t>6. EVALUACIÓN FINAL DEL MODELO</a:t>
            </a:r>
          </a:p>
        </p:txBody>
      </p:sp>
      <p:sp>
        <p:nvSpPr>
          <p:cNvPr id="45" name="Rectángulo 44"/>
          <p:cNvSpPr/>
          <p:nvPr/>
        </p:nvSpPr>
        <p:spPr>
          <a:xfrm>
            <a:off x="4464455" y="2820746"/>
            <a:ext cx="1087422" cy="261610"/>
          </a:xfrm>
          <a:prstGeom prst="rect">
            <a:avLst/>
          </a:prstGeom>
        </p:spPr>
        <p:txBody>
          <a:bodyPr wrap="square">
            <a:spAutoFit/>
          </a:bodyPr>
          <a:lstStyle/>
          <a:p>
            <a:pPr algn="ctr"/>
            <a:r>
              <a:rPr lang="es-ES" sz="1050" b="1" dirty="0">
                <a:solidFill>
                  <a:srgbClr val="0070C0"/>
                </a:solidFill>
              </a:rPr>
              <a:t>TRAIN DATA</a:t>
            </a:r>
            <a:endParaRPr lang="en-US" sz="1050" b="1" dirty="0">
              <a:solidFill>
                <a:srgbClr val="0070C0"/>
              </a:solidFill>
            </a:endParaRPr>
          </a:p>
        </p:txBody>
      </p:sp>
      <p:sp>
        <p:nvSpPr>
          <p:cNvPr id="46" name="Rectángulo 45"/>
          <p:cNvSpPr/>
          <p:nvPr/>
        </p:nvSpPr>
        <p:spPr>
          <a:xfrm>
            <a:off x="4469146" y="4021525"/>
            <a:ext cx="1087422" cy="261610"/>
          </a:xfrm>
          <a:prstGeom prst="rect">
            <a:avLst/>
          </a:prstGeom>
        </p:spPr>
        <p:txBody>
          <a:bodyPr wrap="square">
            <a:spAutoFit/>
          </a:bodyPr>
          <a:lstStyle/>
          <a:p>
            <a:pPr algn="ctr"/>
            <a:r>
              <a:rPr lang="es-ES" sz="1050" b="1" dirty="0">
                <a:solidFill>
                  <a:srgbClr val="0070C0"/>
                </a:solidFill>
              </a:rPr>
              <a:t>TEST DATA</a:t>
            </a:r>
            <a:endParaRPr lang="en-US" sz="1050" b="1" dirty="0">
              <a:solidFill>
                <a:srgbClr val="0070C0"/>
              </a:solidFill>
            </a:endParaRPr>
          </a:p>
        </p:txBody>
      </p:sp>
      <p:sp>
        <p:nvSpPr>
          <p:cNvPr id="47" name="Rectángulo redondeado 46"/>
          <p:cNvSpPr/>
          <p:nvPr/>
        </p:nvSpPr>
        <p:spPr>
          <a:xfrm>
            <a:off x="1678679" y="2478451"/>
            <a:ext cx="1223793" cy="3391432"/>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ángulo redondeado 50"/>
          <p:cNvSpPr/>
          <p:nvPr/>
        </p:nvSpPr>
        <p:spPr>
          <a:xfrm>
            <a:off x="5754631" y="2471258"/>
            <a:ext cx="1191355" cy="1653117"/>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ángulo redondeado 51"/>
          <p:cNvSpPr/>
          <p:nvPr/>
        </p:nvSpPr>
        <p:spPr>
          <a:xfrm>
            <a:off x="7057265" y="2471259"/>
            <a:ext cx="1272740" cy="1653117"/>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ángulo redondeado 52"/>
          <p:cNvSpPr/>
          <p:nvPr/>
        </p:nvSpPr>
        <p:spPr>
          <a:xfrm>
            <a:off x="7062748" y="4389828"/>
            <a:ext cx="1191355" cy="1480055"/>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ángulo redondeado 53"/>
          <p:cNvSpPr/>
          <p:nvPr/>
        </p:nvSpPr>
        <p:spPr>
          <a:xfrm>
            <a:off x="4428276" y="2481361"/>
            <a:ext cx="1191355" cy="2762126"/>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ángulo redondeado 54"/>
          <p:cNvSpPr/>
          <p:nvPr/>
        </p:nvSpPr>
        <p:spPr>
          <a:xfrm>
            <a:off x="3075799" y="2494775"/>
            <a:ext cx="1191355" cy="4124465"/>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ángulo redondeado 55"/>
          <p:cNvSpPr/>
          <p:nvPr/>
        </p:nvSpPr>
        <p:spPr>
          <a:xfrm>
            <a:off x="358294" y="2494775"/>
            <a:ext cx="1191355" cy="1629600"/>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Conector recto de flecha 57"/>
          <p:cNvCxnSpPr/>
          <p:nvPr/>
        </p:nvCxnSpPr>
        <p:spPr>
          <a:xfrm>
            <a:off x="1364292" y="3482531"/>
            <a:ext cx="4805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de flecha 60"/>
          <p:cNvCxnSpPr/>
          <p:nvPr/>
        </p:nvCxnSpPr>
        <p:spPr>
          <a:xfrm>
            <a:off x="2632005" y="3482531"/>
            <a:ext cx="64075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ector recto de flecha 65"/>
          <p:cNvCxnSpPr/>
          <p:nvPr/>
        </p:nvCxnSpPr>
        <p:spPr>
          <a:xfrm>
            <a:off x="4102411" y="3500181"/>
            <a:ext cx="49371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p:cNvCxnSpPr/>
          <p:nvPr/>
        </p:nvCxnSpPr>
        <p:spPr>
          <a:xfrm>
            <a:off x="5414985" y="3506630"/>
            <a:ext cx="49371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p:cNvCxnSpPr/>
          <p:nvPr/>
        </p:nvCxnSpPr>
        <p:spPr>
          <a:xfrm>
            <a:off x="6741300" y="3506630"/>
            <a:ext cx="49371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68"/>
          <p:cNvCxnSpPr>
            <a:stCxn id="35" idx="6"/>
          </p:cNvCxnSpPr>
          <p:nvPr/>
        </p:nvCxnSpPr>
        <p:spPr>
          <a:xfrm>
            <a:off x="5406157" y="4746918"/>
            <a:ext cx="1618338"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de flecha 70"/>
          <p:cNvCxnSpPr/>
          <p:nvPr/>
        </p:nvCxnSpPr>
        <p:spPr>
          <a:xfrm>
            <a:off x="7671965" y="3914435"/>
            <a:ext cx="0" cy="458438"/>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ector angular 82"/>
          <p:cNvCxnSpPr/>
          <p:nvPr/>
        </p:nvCxnSpPr>
        <p:spPr>
          <a:xfrm rot="16200000" flipH="1" flipV="1">
            <a:off x="4999134" y="1116710"/>
            <a:ext cx="23517" cy="2678832"/>
          </a:xfrm>
          <a:prstGeom prst="bentConnector3">
            <a:avLst>
              <a:gd name="adj1" fmla="val -972063"/>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Conector angular 91"/>
          <p:cNvCxnSpPr>
            <a:stCxn id="53" idx="2"/>
          </p:cNvCxnSpPr>
          <p:nvPr/>
        </p:nvCxnSpPr>
        <p:spPr>
          <a:xfrm rot="5400000">
            <a:off x="5898861" y="4250906"/>
            <a:ext cx="140589" cy="3378542"/>
          </a:xfrm>
          <a:prstGeom prst="bentConnector2">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3" name="CuadroTexto 92"/>
          <p:cNvSpPr txBox="1"/>
          <p:nvPr/>
        </p:nvSpPr>
        <p:spPr>
          <a:xfrm>
            <a:off x="4392552" y="6058463"/>
            <a:ext cx="3378543" cy="461665"/>
          </a:xfrm>
          <a:prstGeom prst="rect">
            <a:avLst/>
          </a:prstGeom>
          <a:noFill/>
        </p:spPr>
        <p:txBody>
          <a:bodyPr wrap="square" rtlCol="0">
            <a:spAutoFit/>
          </a:bodyPr>
          <a:lstStyle/>
          <a:p>
            <a:r>
              <a:rPr lang="es-ES" sz="1200" i="1" dirty="0"/>
              <a:t>Si los resultados no son los esperados, se comienza de nuevo</a:t>
            </a:r>
            <a:endParaRPr lang="en-US" sz="1200" i="1" dirty="0"/>
          </a:p>
        </p:txBody>
      </p:sp>
      <p:sp>
        <p:nvSpPr>
          <p:cNvPr id="97" name="Rectángulo 96"/>
          <p:cNvSpPr/>
          <p:nvPr/>
        </p:nvSpPr>
        <p:spPr>
          <a:xfrm>
            <a:off x="4438138" y="1942936"/>
            <a:ext cx="1024063" cy="276999"/>
          </a:xfrm>
          <a:prstGeom prst="rect">
            <a:avLst/>
          </a:prstGeom>
        </p:spPr>
        <p:txBody>
          <a:bodyPr wrap="none">
            <a:spAutoFit/>
          </a:bodyPr>
          <a:lstStyle/>
          <a:p>
            <a:r>
              <a:rPr lang="en-US" sz="1200" i="1" dirty="0" err="1">
                <a:latin typeface="medium-content-serif-font"/>
              </a:rPr>
              <a:t>Fase</a:t>
            </a:r>
            <a:r>
              <a:rPr lang="en-US" sz="1200" i="1" dirty="0">
                <a:latin typeface="medium-content-serif-font"/>
              </a:rPr>
              <a:t> </a:t>
            </a:r>
            <a:r>
              <a:rPr lang="en-US" sz="1200" i="1" dirty="0" err="1">
                <a:latin typeface="medium-content-serif-font"/>
              </a:rPr>
              <a:t>iterativa</a:t>
            </a:r>
            <a:endParaRPr lang="en-US" sz="1200" dirty="0"/>
          </a:p>
        </p:txBody>
      </p:sp>
      <p:sp>
        <p:nvSpPr>
          <p:cNvPr id="65" name="Elipse 64">
            <a:extLst>
              <a:ext uri="{FF2B5EF4-FFF2-40B4-BE49-F238E27FC236}">
                <a16:creationId xmlns:a16="http://schemas.microsoft.com/office/drawing/2014/main" id="{82211DDE-D675-4CF5-B81E-ED8D23069004}"/>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70" name="Imagen 69">
            <a:extLst>
              <a:ext uri="{FF2B5EF4-FFF2-40B4-BE49-F238E27FC236}">
                <a16:creationId xmlns:a16="http://schemas.microsoft.com/office/drawing/2014/main" id="{EFEFB692-1F0B-4CDA-BC27-C1695458A3A7}"/>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72" name="Conector recto 71">
            <a:extLst>
              <a:ext uri="{FF2B5EF4-FFF2-40B4-BE49-F238E27FC236}">
                <a16:creationId xmlns:a16="http://schemas.microsoft.com/office/drawing/2014/main" id="{E7BC1C86-5508-41A4-8CDE-17528B8B5111}"/>
              </a:ext>
            </a:extLst>
          </p:cNvPr>
          <p:cNvCxnSpPr/>
          <p:nvPr/>
        </p:nvCxnSpPr>
        <p:spPr>
          <a:xfrm flipV="1">
            <a:off x="-37" y="158927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73" name="Título 1">
            <a:extLst>
              <a:ext uri="{FF2B5EF4-FFF2-40B4-BE49-F238E27FC236}">
                <a16:creationId xmlns:a16="http://schemas.microsoft.com/office/drawing/2014/main" id="{0947F2AE-BC1A-4311-8C11-415C10F25361}"/>
              </a:ext>
            </a:extLst>
          </p:cNvPr>
          <p:cNvSpPr txBox="1">
            <a:spLocks/>
          </p:cNvSpPr>
          <p:nvPr/>
        </p:nvSpPr>
        <p:spPr>
          <a:xfrm>
            <a:off x="1082768" y="1379872"/>
            <a:ext cx="8173403" cy="763455"/>
          </a:xfrm>
          <a:prstGeom prst="rect">
            <a:avLst/>
          </a:prstGeom>
        </p:spPr>
        <p:txBody>
          <a:bodyP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Crear un modelo de Machine </a:t>
            </a:r>
            <a:r>
              <a:rPr lang="es-ES" sz="2400" b="1" dirty="0" err="1"/>
              <a:t>Learning</a:t>
            </a:r>
            <a:endParaRPr lang="es-ES" sz="2400" b="1" dirty="0"/>
          </a:p>
        </p:txBody>
      </p:sp>
    </p:spTree>
    <p:extLst>
      <p:ext uri="{BB962C8B-B14F-4D97-AF65-F5344CB8AC3E}">
        <p14:creationId xmlns:p14="http://schemas.microsoft.com/office/powerpoint/2010/main" val="2906563439"/>
      </p:ext>
    </p:extLst>
  </p:cSld>
  <p:clrMapOvr>
    <a:masterClrMapping/>
  </p:clrMapOvr>
</p:sld>
</file>

<file path=ppt/theme/theme1.xml><?xml version="1.0" encoding="utf-8"?>
<a:theme xmlns:a="http://schemas.openxmlformats.org/drawingml/2006/main" name="Tema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1" id="{EA6F462D-65E8-4C26-95CD-2D3D2413B20E}" vid="{C5BA857B-F713-422A-9ED6-EFEF4C09E75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Tema1</Template>
  <TotalTime>25096</TotalTime>
  <Words>2411</Words>
  <Application>Microsoft Office PowerPoint</Application>
  <PresentationFormat>On-screen Show (4:3)</PresentationFormat>
  <Paragraphs>261</Paragraphs>
  <Slides>28</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medium-content-serif-font</vt:lpstr>
      <vt:lpstr>Tema1</vt:lpstr>
      <vt:lpstr>PowerPoint Presentation</vt:lpstr>
      <vt:lpstr>PowerPoint Presentation</vt:lpstr>
      <vt:lpstr>Tipos de mantenimiento</vt:lpstr>
      <vt:lpstr>Mantenimiento reactivo</vt:lpstr>
      <vt:lpstr>Mantenimiento reactivo</vt:lpstr>
      <vt:lpstr>Mantenimiento preventivo</vt:lpstr>
      <vt:lpstr>Mantenimiento preventivo</vt:lpstr>
      <vt:lpstr>Mantenimiento basado en las condiciones</vt:lpstr>
      <vt:lpstr>Mantenimiento basado en las condiciones</vt:lpstr>
      <vt:lpstr>Mantenimiento predictivo de motores, máquinas, aerogeneradores …</vt:lpstr>
      <vt:lpstr>PowerPoint Presentation</vt:lpstr>
      <vt:lpstr>Mantenimiento predictivo</vt:lpstr>
      <vt:lpstr>Mantenimiento predictivo</vt:lpstr>
      <vt:lpstr>Mantenimiento predictivo</vt:lpstr>
      <vt:lpstr>Mantenimiento predictivo</vt:lpstr>
      <vt:lpstr>Mantenimiento predictivo</vt:lpstr>
      <vt:lpstr>Mantenimiento predictivo</vt:lpstr>
      <vt:lpstr>Mantenimiento predictivo y Machine Learning</vt:lpstr>
      <vt:lpstr>Mantenimiento predictivo y Machine Learning</vt:lpstr>
      <vt:lpstr>Mantenimiento predictivo y Machine Learning</vt:lpstr>
      <vt:lpstr>PowerPoint Presentation</vt:lpstr>
      <vt:lpstr>Ejemplo motor NASA</vt:lpstr>
      <vt:lpstr>Ejemplo motor NASA</vt:lpstr>
      <vt:lpstr>Ejemplo motor NASA</vt:lpstr>
      <vt:lpstr>Ejemplo motor NASA</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Domin</dc:creator>
  <cp:lastModifiedBy>Marc Jené</cp:lastModifiedBy>
  <cp:revision>585</cp:revision>
  <cp:lastPrinted>2020-06-29T14:52:55Z</cp:lastPrinted>
  <dcterms:created xsi:type="dcterms:W3CDTF">2019-10-15T08:45:43Z</dcterms:created>
  <dcterms:modified xsi:type="dcterms:W3CDTF">2025-04-02T15:37:46Z</dcterms:modified>
</cp:coreProperties>
</file>