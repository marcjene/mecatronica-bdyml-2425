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6"/>
  </p:notesMasterIdLst>
  <p:sldIdLst>
    <p:sldId id="664" r:id="rId2"/>
    <p:sldId id="405" r:id="rId3"/>
    <p:sldId id="665" r:id="rId4"/>
    <p:sldId id="368" r:id="rId5"/>
    <p:sldId id="260" r:id="rId6"/>
    <p:sldId id="286" r:id="rId7"/>
    <p:sldId id="325" r:id="rId8"/>
    <p:sldId id="355" r:id="rId9"/>
    <p:sldId id="326" r:id="rId10"/>
    <p:sldId id="667" r:id="rId11"/>
    <p:sldId id="369" r:id="rId12"/>
    <p:sldId id="666" r:id="rId13"/>
    <p:sldId id="280" r:id="rId14"/>
    <p:sldId id="301" r:id="rId15"/>
    <p:sldId id="292" r:id="rId16"/>
    <p:sldId id="295" r:id="rId17"/>
    <p:sldId id="406" r:id="rId18"/>
    <p:sldId id="268" r:id="rId19"/>
    <p:sldId id="335" r:id="rId20"/>
    <p:sldId id="336" r:id="rId21"/>
    <p:sldId id="303" r:id="rId22"/>
    <p:sldId id="356" r:id="rId23"/>
    <p:sldId id="337" r:id="rId24"/>
    <p:sldId id="329" r:id="rId25"/>
    <p:sldId id="370" r:id="rId26"/>
    <p:sldId id="300" r:id="rId27"/>
    <p:sldId id="347" r:id="rId28"/>
    <p:sldId id="377" r:id="rId29"/>
    <p:sldId id="349" r:id="rId30"/>
    <p:sldId id="350" r:id="rId31"/>
    <p:sldId id="371" r:id="rId32"/>
    <p:sldId id="351" r:id="rId33"/>
    <p:sldId id="357" r:id="rId34"/>
    <p:sldId id="352" r:id="rId35"/>
    <p:sldId id="358" r:id="rId36"/>
    <p:sldId id="354" r:id="rId37"/>
    <p:sldId id="670" r:id="rId38"/>
    <p:sldId id="671" r:id="rId39"/>
    <p:sldId id="672" r:id="rId40"/>
    <p:sldId id="668" r:id="rId41"/>
    <p:sldId id="669" r:id="rId42"/>
    <p:sldId id="344" r:id="rId43"/>
    <p:sldId id="345" r:id="rId44"/>
    <p:sldId id="372" r:id="rId45"/>
  </p:sldIdLst>
  <p:sldSz cx="9144000" cy="6858000" type="screen4x3"/>
  <p:notesSz cx="7099300" cy="10234613"/>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ra Barja" initials="SB" lastIdx="2" clrIdx="0">
    <p:extLst>
      <p:ext uri="{19B8F6BF-5375-455C-9EA6-DF929625EA0E}">
        <p15:presenceInfo xmlns:p15="http://schemas.microsoft.com/office/powerpoint/2012/main" userId="da342cd9508bf54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DA5"/>
    <a:srgbClr val="E42352"/>
    <a:srgbClr val="F17D21"/>
    <a:srgbClr val="179EB0"/>
    <a:srgbClr val="66CCFF"/>
    <a:srgbClr val="9966FF"/>
    <a:srgbClr val="FF6699"/>
    <a:srgbClr val="FF9966"/>
    <a:srgbClr val="A3E0FF"/>
    <a:srgbClr val="B3FF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5758FB7-9AC5-4552-8A53-C91805E547FA}" styleName="Estilo temático 1 - Énfasis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90" autoAdjust="0"/>
    <p:restoredTop sz="95153" autoAdjust="0"/>
  </p:normalViewPr>
  <p:slideViewPr>
    <p:cSldViewPr snapToGrid="0">
      <p:cViewPr varScale="1">
        <p:scale>
          <a:sx n="80" d="100"/>
          <a:sy n="80" d="100"/>
        </p:scale>
        <p:origin x="1675" y="67"/>
      </p:cViewPr>
      <p:guideLst/>
    </p:cSldViewPr>
  </p:slideViewPr>
  <p:outlineViewPr>
    <p:cViewPr>
      <p:scale>
        <a:sx n="33" d="100"/>
        <a:sy n="33" d="100"/>
      </p:scale>
      <p:origin x="0" y="-336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1" y="1"/>
            <a:ext cx="3076363" cy="513508"/>
          </a:xfrm>
          <a:prstGeom prst="rect">
            <a:avLst/>
          </a:prstGeom>
        </p:spPr>
        <p:txBody>
          <a:bodyPr vert="horz" lIns="99041" tIns="49520" rIns="99041" bIns="49520" rtlCol="0"/>
          <a:lstStyle>
            <a:lvl1pPr algn="l">
              <a:defRPr sz="1200"/>
            </a:lvl1pPr>
          </a:lstStyle>
          <a:p>
            <a:endParaRPr lang="es-ES"/>
          </a:p>
        </p:txBody>
      </p:sp>
      <p:sp>
        <p:nvSpPr>
          <p:cNvPr id="3" name="Marcador de fecha 2"/>
          <p:cNvSpPr>
            <a:spLocks noGrp="1"/>
          </p:cNvSpPr>
          <p:nvPr>
            <p:ph type="dt" idx="1"/>
          </p:nvPr>
        </p:nvSpPr>
        <p:spPr>
          <a:xfrm>
            <a:off x="4021296" y="1"/>
            <a:ext cx="3076363" cy="513508"/>
          </a:xfrm>
          <a:prstGeom prst="rect">
            <a:avLst/>
          </a:prstGeom>
        </p:spPr>
        <p:txBody>
          <a:bodyPr vert="horz" lIns="99041" tIns="49520" rIns="99041" bIns="49520" rtlCol="0"/>
          <a:lstStyle>
            <a:lvl1pPr algn="r">
              <a:defRPr sz="1200"/>
            </a:lvl1pPr>
          </a:lstStyle>
          <a:p>
            <a:fld id="{2A6BC019-1E72-4903-8B7A-00363907A5D3}" type="datetimeFigureOut">
              <a:rPr lang="es-ES" smtClean="0"/>
              <a:t>26/03/2025</a:t>
            </a:fld>
            <a:endParaRPr lang="es-ES"/>
          </a:p>
        </p:txBody>
      </p:sp>
      <p:sp>
        <p:nvSpPr>
          <p:cNvPr id="4" name="Marcador de imagen de diapositiva 3"/>
          <p:cNvSpPr>
            <a:spLocks noGrp="1" noRot="1" noChangeAspect="1"/>
          </p:cNvSpPr>
          <p:nvPr>
            <p:ph type="sldImg" idx="2"/>
          </p:nvPr>
        </p:nvSpPr>
        <p:spPr>
          <a:xfrm>
            <a:off x="1246188" y="1279525"/>
            <a:ext cx="4606925" cy="3455988"/>
          </a:xfrm>
          <a:prstGeom prst="rect">
            <a:avLst/>
          </a:prstGeom>
          <a:noFill/>
          <a:ln w="12700">
            <a:solidFill>
              <a:prstClr val="black"/>
            </a:solidFill>
          </a:ln>
        </p:spPr>
        <p:txBody>
          <a:bodyPr vert="horz" lIns="99041" tIns="49520" rIns="99041" bIns="49520" rtlCol="0" anchor="ctr"/>
          <a:lstStyle/>
          <a:p>
            <a:endParaRPr lang="es-ES"/>
          </a:p>
        </p:txBody>
      </p:sp>
      <p:sp>
        <p:nvSpPr>
          <p:cNvPr id="5" name="Marcador de notas 4"/>
          <p:cNvSpPr>
            <a:spLocks noGrp="1"/>
          </p:cNvSpPr>
          <p:nvPr>
            <p:ph type="body" sz="quarter" idx="3"/>
          </p:nvPr>
        </p:nvSpPr>
        <p:spPr>
          <a:xfrm>
            <a:off x="709930" y="4925407"/>
            <a:ext cx="5679440" cy="4029879"/>
          </a:xfrm>
          <a:prstGeom prst="rect">
            <a:avLst/>
          </a:prstGeom>
        </p:spPr>
        <p:txBody>
          <a:bodyPr vert="horz" lIns="99041" tIns="49520" rIns="99041" bIns="495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1" y="9721108"/>
            <a:ext cx="3076363" cy="513507"/>
          </a:xfrm>
          <a:prstGeom prst="rect">
            <a:avLst/>
          </a:prstGeom>
        </p:spPr>
        <p:txBody>
          <a:bodyPr vert="horz" lIns="99041" tIns="49520" rIns="99041" bIns="495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4021296" y="9721108"/>
            <a:ext cx="3076363" cy="513507"/>
          </a:xfrm>
          <a:prstGeom prst="rect">
            <a:avLst/>
          </a:prstGeom>
        </p:spPr>
        <p:txBody>
          <a:bodyPr vert="horz" lIns="99041" tIns="49520" rIns="99041" bIns="49520" rtlCol="0" anchor="b"/>
          <a:lstStyle>
            <a:lvl1pPr algn="r">
              <a:defRPr sz="1200"/>
            </a:lvl1pPr>
          </a:lstStyle>
          <a:p>
            <a:fld id="{5BC05090-5C0E-45B5-BB81-37C4A9E4751F}" type="slidenum">
              <a:rPr lang="es-ES" smtClean="0"/>
              <a:t>‹#›</a:t>
            </a:fld>
            <a:endParaRPr lang="es-ES"/>
          </a:p>
        </p:txBody>
      </p:sp>
    </p:spTree>
    <p:extLst>
      <p:ext uri="{BB962C8B-B14F-4D97-AF65-F5344CB8AC3E}">
        <p14:creationId xmlns:p14="http://schemas.microsoft.com/office/powerpoint/2010/main" val="27587648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en.wikipedia.org/wiki/Principal_component_analysis"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en.wikipedia.org/wiki/Principal_component_analysis"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towardsdatascience.com/k-means-data-clustering-bce3335d2203"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towardsdatascience.com/k-means-data-clustering-bce3335d2203"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youtube.com/watch?v=4b5d3muPQmA"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www.youtube.com/watch?v=4b5d3muPQmA" TargetMode="External"/><Relationship Id="rId2" Type="http://schemas.openxmlformats.org/officeDocument/2006/relationships/slide" Target="../slides/slide17.xml"/><Relationship Id="rId1" Type="http://schemas.openxmlformats.org/officeDocument/2006/relationships/notesMaster" Target="../notesMasters/notesMaster1.xml"/><Relationship Id="rId4" Type="http://schemas.openxmlformats.org/officeDocument/2006/relationships/hyperlink" Target="https://www.youtube.com/watch?v=n4aqynZtFf0" TargetMode="Externa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towardsdatascience.com/k-means-data-clustering-bce3335d2203"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towardsdatascience.com/k-means-data-clustering-bce3335d2203"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elvex.ugr.es/idbis/dm/slides/43%20Clustering%20-%20Density.pdf"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towardsdatascience.com/k-means-data-clustering-bce3335d2203"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www.kaggle.com/xvivancos/tutorial-clustering-wines-with-k-means"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www.kaggle.com/xvivancos/tutorial-clustering-wines-with-k-means" TargetMode="External"/><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infoproc.blogspot.com/2008/11/european-genetic-substructure.html" TargetMode="External"/><Relationship Id="rId2" Type="http://schemas.openxmlformats.org/officeDocument/2006/relationships/slide" Target="../slides/slide36.xml"/><Relationship Id="rId1" Type="http://schemas.openxmlformats.org/officeDocument/2006/relationships/notesMaster" Target="../notesMasters/notesMaster1.xml"/><Relationship Id="rId4" Type="http://schemas.openxmlformats.org/officeDocument/2006/relationships/hyperlink" Target="https://science.sciencemag.org/content/319/5866/1100/F1" TargetMode="Externa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en.wikipedia.org/wiki/Principal_component_analysis"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www.aprendemachinelearning.com/7-pasos-machine-learning-construir-maquina/" TargetMode="External"/><Relationship Id="rId2" Type="http://schemas.openxmlformats.org/officeDocument/2006/relationships/slide" Target="../slides/slide42.xml"/><Relationship Id="rId1" Type="http://schemas.openxmlformats.org/officeDocument/2006/relationships/notesMaster" Target="../notesMasters/notesMaster1.xml"/><Relationship Id="rId5" Type="http://schemas.openxmlformats.org/officeDocument/2006/relationships/hyperlink" Target="https://www.aprendemachinelearning.com/que-es-overfitting-y-underfitting-y-como-solucionarlo/" TargetMode="External"/><Relationship Id="rId4" Type="http://schemas.openxmlformats.org/officeDocument/2006/relationships/hyperlink" Target="https://www.aprendemachinelearning.com/principales-algoritmos-usados-en-machine-learning/"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2:notes"/>
          <p:cNvSpPr>
            <a:spLocks noGrp="1" noRot="1" noChangeAspect="1"/>
          </p:cNvSpPr>
          <p:nvPr>
            <p:ph type="sldImg" idx="2"/>
          </p:nvPr>
        </p:nvSpPr>
        <p:spPr>
          <a:xfrm>
            <a:off x="1246188" y="1279525"/>
            <a:ext cx="4606925" cy="3455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p12:notes"/>
          <p:cNvSpPr txBox="1">
            <a:spLocks noGrp="1"/>
          </p:cNvSpPr>
          <p:nvPr>
            <p:ph type="body" idx="1"/>
          </p:nvPr>
        </p:nvSpPr>
        <p:spPr>
          <a:xfrm>
            <a:off x="709930" y="4925407"/>
            <a:ext cx="5679440" cy="4029879"/>
          </a:xfrm>
          <a:prstGeom prst="rect">
            <a:avLst/>
          </a:prstGeom>
          <a:noFill/>
          <a:ln>
            <a:noFill/>
          </a:ln>
        </p:spPr>
        <p:txBody>
          <a:bodyPr spcFirstLastPara="1" wrap="square" lIns="99025" tIns="49500" rIns="99025" bIns="49500" anchor="t" anchorCtr="0">
            <a:noAutofit/>
          </a:bodyPr>
          <a:lstStyle/>
          <a:p>
            <a:pPr marL="0" lvl="0" indent="0" algn="l" rtl="0">
              <a:spcBef>
                <a:spcPts val="0"/>
              </a:spcBef>
              <a:spcAft>
                <a:spcPts val="0"/>
              </a:spcAft>
              <a:buNone/>
            </a:pPr>
            <a:endParaRPr/>
          </a:p>
        </p:txBody>
      </p:sp>
      <p:sp>
        <p:nvSpPr>
          <p:cNvPr id="173" name="Google Shape;173;p12:notes"/>
          <p:cNvSpPr txBox="1">
            <a:spLocks noGrp="1"/>
          </p:cNvSpPr>
          <p:nvPr>
            <p:ph type="sldNum" idx="12"/>
          </p:nvPr>
        </p:nvSpPr>
        <p:spPr>
          <a:xfrm>
            <a:off x="4021296" y="9721108"/>
            <a:ext cx="3076363" cy="513507"/>
          </a:xfrm>
          <a:prstGeom prst="rect">
            <a:avLst/>
          </a:prstGeom>
          <a:noFill/>
          <a:ln>
            <a:noFill/>
          </a:ln>
        </p:spPr>
        <p:txBody>
          <a:bodyPr spcFirstLastPara="1" wrap="square" lIns="99025" tIns="49500" rIns="99025" bIns="495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5</a:t>
            </a:fld>
            <a:endParaRPr lang="es-ES"/>
          </a:p>
        </p:txBody>
      </p:sp>
    </p:spTree>
    <p:extLst>
      <p:ext uri="{BB962C8B-B14F-4D97-AF65-F5344CB8AC3E}">
        <p14:creationId xmlns:p14="http://schemas.microsoft.com/office/powerpoint/2010/main" val="37547377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6</a:t>
            </a:fld>
            <a:endParaRPr lang="es-ES"/>
          </a:p>
        </p:txBody>
      </p:sp>
    </p:spTree>
    <p:extLst>
      <p:ext uri="{BB962C8B-B14F-4D97-AF65-F5344CB8AC3E}">
        <p14:creationId xmlns:p14="http://schemas.microsoft.com/office/powerpoint/2010/main" val="9679795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sz="1200" b="0" i="0" kern="1200" dirty="0">
                <a:solidFill>
                  <a:schemeClr val="tx1"/>
                </a:solidFill>
                <a:effectLst/>
                <a:latin typeface="+mn-lt"/>
                <a:ea typeface="+mn-ea"/>
                <a:cs typeface="+mn-cs"/>
              </a:rPr>
              <a:t> involves automatically discovering natural grouping in data. clustering algorithms only interpret the input data and find natural groups or clusters in feature space.</a:t>
            </a:r>
          </a:p>
          <a:p>
            <a:r>
              <a:rPr lang="en-US" sz="1200" b="0" i="1" kern="1200" dirty="0">
                <a:solidFill>
                  <a:schemeClr val="tx1"/>
                </a:solidFill>
                <a:effectLst/>
                <a:latin typeface="+mn-lt"/>
                <a:ea typeface="+mn-ea"/>
                <a:cs typeface="+mn-cs"/>
              </a:rPr>
              <a:t>Clustering techniques apply when there is no class to be predicted but rather when the instances are to be divided into natural groups.</a:t>
            </a:r>
            <a:endParaRPr lang="es-ES" dirty="0"/>
          </a:p>
        </p:txBody>
      </p:sp>
      <p:sp>
        <p:nvSpPr>
          <p:cNvPr id="4" name="Marcador de número de diapositiva 3"/>
          <p:cNvSpPr>
            <a:spLocks noGrp="1"/>
          </p:cNvSpPr>
          <p:nvPr>
            <p:ph type="sldNum" sz="quarter" idx="5"/>
          </p:nvPr>
        </p:nvSpPr>
        <p:spPr/>
        <p:txBody>
          <a:bodyPr/>
          <a:lstStyle/>
          <a:p>
            <a:fld id="{5BC05090-5C0E-45B5-BB81-37C4A9E4751F}" type="slidenum">
              <a:rPr lang="es-ES" smtClean="0"/>
              <a:t>7</a:t>
            </a:fld>
            <a:endParaRPr lang="es-ES"/>
          </a:p>
        </p:txBody>
      </p:sp>
    </p:spTree>
    <p:extLst>
      <p:ext uri="{BB962C8B-B14F-4D97-AF65-F5344CB8AC3E}">
        <p14:creationId xmlns:p14="http://schemas.microsoft.com/office/powerpoint/2010/main" val="41132892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sz="1200" i="1" kern="1200" dirty="0">
                <a:solidFill>
                  <a:schemeClr val="tx1"/>
                </a:solidFill>
                <a:effectLst/>
                <a:latin typeface="+mn-lt"/>
                <a:ea typeface="+mn-ea"/>
                <a:cs typeface="+mn-cs"/>
              </a:rPr>
              <a:t>Simply put, clusters are the collection of data points that have similar values or attributes </a:t>
            </a:r>
          </a:p>
          <a:p>
            <a:endParaRPr lang="en-US" sz="1200" i="1"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cluster may have a center (the centroid) that is a sample or a point feature space and may have a boundary or extent.</a:t>
            </a:r>
          </a:p>
          <a:p>
            <a:endParaRPr lang="en-US" sz="1200" b="0" i="0" kern="1200" dirty="0">
              <a:solidFill>
                <a:schemeClr val="tx1"/>
              </a:solidFill>
              <a:effectLst/>
              <a:latin typeface="+mn-lt"/>
              <a:ea typeface="+mn-ea"/>
              <a:cs typeface="+mn-cs"/>
            </a:endParaRPr>
          </a:p>
          <a:p>
            <a:pPr fontAlgn="base"/>
            <a:r>
              <a:rPr lang="en-US" sz="1200" b="0" kern="1200" dirty="0">
                <a:solidFill>
                  <a:schemeClr val="tx1"/>
                </a:solidFill>
                <a:effectLst/>
                <a:latin typeface="+mn-lt"/>
                <a:ea typeface="+mn-ea"/>
                <a:cs typeface="+mn-cs"/>
              </a:rPr>
              <a:t>Clustering can be helpful as a data analysis activity in order to learn more about the problem domain, so-called pattern discovery or knowledge discovery.</a:t>
            </a:r>
          </a:p>
          <a:p>
            <a:pPr fontAlgn="base"/>
            <a:r>
              <a:rPr lang="en-US" sz="1200" b="0" kern="1200" dirty="0">
                <a:solidFill>
                  <a:schemeClr val="tx1"/>
                </a:solidFill>
                <a:effectLst/>
                <a:latin typeface="+mn-lt"/>
                <a:ea typeface="+mn-ea"/>
                <a:cs typeface="+mn-cs"/>
              </a:rPr>
              <a:t>For example:</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Separating normal data from outliers or anomalies may be considered a clustering problem.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kern="1200" dirty="0">
                <a:solidFill>
                  <a:schemeClr val="tx1"/>
                </a:solidFill>
                <a:effectLst/>
                <a:latin typeface="+mn-lt"/>
                <a:ea typeface="+mn-ea"/>
                <a:cs typeface="+mn-cs"/>
              </a:rPr>
              <a:t>Clustering is an unsupervised learning technique, so it is hard to evaluate the quality of the output of any given method.</a:t>
            </a:r>
            <a:endParaRPr lang="en-US" sz="1200" b="0" i="0" kern="1200" dirty="0">
              <a:solidFill>
                <a:schemeClr val="tx1"/>
              </a:solidFill>
              <a:effectLst/>
              <a:latin typeface="+mn-lt"/>
              <a:ea typeface="+mn-ea"/>
              <a:cs typeface="+mn-cs"/>
            </a:endParaRPr>
          </a:p>
          <a:p>
            <a:endParaRPr lang="es-ES" dirty="0"/>
          </a:p>
        </p:txBody>
      </p:sp>
      <p:sp>
        <p:nvSpPr>
          <p:cNvPr id="4" name="Marcador de número de diapositiva 3"/>
          <p:cNvSpPr>
            <a:spLocks noGrp="1"/>
          </p:cNvSpPr>
          <p:nvPr>
            <p:ph type="sldNum" sz="quarter" idx="5"/>
          </p:nvPr>
        </p:nvSpPr>
        <p:spPr/>
        <p:txBody>
          <a:bodyPr/>
          <a:lstStyle/>
          <a:p>
            <a:fld id="{5BC05090-5C0E-45B5-BB81-37C4A9E4751F}" type="slidenum">
              <a:rPr lang="es-ES" smtClean="0"/>
              <a:t>8</a:t>
            </a:fld>
            <a:endParaRPr lang="es-ES"/>
          </a:p>
        </p:txBody>
      </p:sp>
    </p:spTree>
    <p:extLst>
      <p:ext uri="{BB962C8B-B14F-4D97-AF65-F5344CB8AC3E}">
        <p14:creationId xmlns:p14="http://schemas.microsoft.com/office/powerpoint/2010/main" val="2646160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sz="1200" b="0" i="0" kern="1200" dirty="0">
                <a:solidFill>
                  <a:schemeClr val="tx1"/>
                </a:solidFill>
                <a:effectLst/>
                <a:latin typeface="+mn-lt"/>
                <a:ea typeface="+mn-ea"/>
                <a:cs typeface="+mn-cs"/>
              </a:rPr>
              <a:t>Many algorithms use similarity or distance measures between examples in the feature space in an effort to discover dense regions of observations. As such, it is often good practice to scale data prior to using clustering algorithms.</a:t>
            </a:r>
            <a:endParaRPr lang="es-ES" sz="1300" dirty="0"/>
          </a:p>
          <a:p>
            <a:endParaRPr lang="es-ES" sz="1300" dirty="0"/>
          </a:p>
          <a:p>
            <a:r>
              <a:rPr lang="en-US" sz="1200" b="0" i="0" kern="1200" dirty="0">
                <a:solidFill>
                  <a:schemeClr val="tx1"/>
                </a:solidFill>
                <a:effectLst/>
                <a:latin typeface="+mn-lt"/>
                <a:ea typeface="+mn-ea"/>
                <a:cs typeface="+mn-cs"/>
              </a:rPr>
              <a:t>The </a:t>
            </a:r>
            <a:r>
              <a:rPr lang="en-US" sz="1200" b="0" i="0" kern="1200" dirty="0" err="1">
                <a:solidFill>
                  <a:schemeClr val="tx1"/>
                </a:solidFill>
                <a:effectLst/>
                <a:latin typeface="+mn-lt"/>
                <a:ea typeface="+mn-ea"/>
                <a:cs typeface="+mn-cs"/>
              </a:rPr>
              <a:t>scikit</a:t>
            </a:r>
            <a:r>
              <a:rPr lang="en-US" sz="1200" b="0" i="0" kern="1200" dirty="0">
                <a:solidFill>
                  <a:schemeClr val="tx1"/>
                </a:solidFill>
                <a:effectLst/>
                <a:latin typeface="+mn-lt"/>
                <a:ea typeface="+mn-ea"/>
                <a:cs typeface="+mn-cs"/>
              </a:rPr>
              <a:t>-learn library provides a suite of different clustering algorithms to choose from.</a:t>
            </a:r>
            <a:endParaRPr lang="es-ES" sz="1300" dirty="0"/>
          </a:p>
          <a:p>
            <a:endParaRPr lang="es-ES" sz="1300" dirty="0"/>
          </a:p>
          <a:p>
            <a:r>
              <a:rPr lang="es-ES" sz="1300" dirty="0"/>
              <a:t>Otro caso de aprendizaje automático no supervisado es el </a:t>
            </a:r>
            <a:r>
              <a:rPr lang="es-ES" sz="1300" b="1" dirty="0">
                <a:hlinkClick r:id="rId3"/>
              </a:rPr>
              <a:t>análisis de componentes principales (ACP)</a:t>
            </a:r>
            <a:r>
              <a:rPr lang="es-ES" sz="1300" dirty="0"/>
              <a:t>. Por ejemplo, la aplicación de ACP en un conjunto de datos acerca del contenido de millones de carritos de compras podría revelar que los carritos de compras que contienen limones con frecuencia también contienen antiácidos.</a:t>
            </a:r>
            <a:endParaRPr lang="en-US"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10</a:t>
            </a:fld>
            <a:endParaRPr lang="es-ES"/>
          </a:p>
        </p:txBody>
      </p:sp>
    </p:spTree>
    <p:extLst>
      <p:ext uri="{BB962C8B-B14F-4D97-AF65-F5344CB8AC3E}">
        <p14:creationId xmlns:p14="http://schemas.microsoft.com/office/powerpoint/2010/main" val="15200636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sz="1200" b="0" i="0" kern="1200" dirty="0">
                <a:solidFill>
                  <a:schemeClr val="tx1"/>
                </a:solidFill>
                <a:effectLst/>
                <a:latin typeface="+mn-lt"/>
                <a:ea typeface="+mn-ea"/>
                <a:cs typeface="+mn-cs"/>
              </a:rPr>
              <a:t>Many algorithms use similarity or distance measures between examples in the feature space in an effort to discover dense regions of observations. As such, it is often good practice to scale data prior to using clustering algorithms.</a:t>
            </a:r>
            <a:endParaRPr lang="es-ES" sz="1300" dirty="0"/>
          </a:p>
          <a:p>
            <a:endParaRPr lang="es-ES" sz="1300" dirty="0"/>
          </a:p>
          <a:p>
            <a:r>
              <a:rPr lang="en-US" sz="1200" b="0" i="0" kern="1200" dirty="0">
                <a:solidFill>
                  <a:schemeClr val="tx1"/>
                </a:solidFill>
                <a:effectLst/>
                <a:latin typeface="+mn-lt"/>
                <a:ea typeface="+mn-ea"/>
                <a:cs typeface="+mn-cs"/>
              </a:rPr>
              <a:t>The </a:t>
            </a:r>
            <a:r>
              <a:rPr lang="en-US" sz="1200" b="0" i="0" kern="1200" dirty="0" err="1">
                <a:solidFill>
                  <a:schemeClr val="tx1"/>
                </a:solidFill>
                <a:effectLst/>
                <a:latin typeface="+mn-lt"/>
                <a:ea typeface="+mn-ea"/>
                <a:cs typeface="+mn-cs"/>
              </a:rPr>
              <a:t>scikit</a:t>
            </a:r>
            <a:r>
              <a:rPr lang="en-US" sz="1200" b="0" i="0" kern="1200" dirty="0">
                <a:solidFill>
                  <a:schemeClr val="tx1"/>
                </a:solidFill>
                <a:effectLst/>
                <a:latin typeface="+mn-lt"/>
                <a:ea typeface="+mn-ea"/>
                <a:cs typeface="+mn-cs"/>
              </a:rPr>
              <a:t>-learn library provides a suite of different clustering algorithms to choose from.</a:t>
            </a:r>
            <a:endParaRPr lang="es-ES" sz="1300" dirty="0"/>
          </a:p>
          <a:p>
            <a:endParaRPr lang="es-ES" sz="1300" dirty="0"/>
          </a:p>
          <a:p>
            <a:r>
              <a:rPr lang="es-ES" sz="1300" dirty="0"/>
              <a:t>Otro caso de aprendizaje automático no supervisado es el </a:t>
            </a:r>
            <a:r>
              <a:rPr lang="es-ES" sz="1300" b="1" dirty="0">
                <a:hlinkClick r:id="rId3"/>
              </a:rPr>
              <a:t>análisis de componentes principales (ACP)</a:t>
            </a:r>
            <a:r>
              <a:rPr lang="es-ES" sz="1300" dirty="0"/>
              <a:t>. Por ejemplo, la aplicación de ACP en un conjunto de datos acerca del contenido de millones de carritos de compras podría revelar que los carritos de compras que contienen limones con frecuencia también contienen antiácidos.</a:t>
            </a:r>
            <a:endParaRPr lang="en-US"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12</a:t>
            </a:fld>
            <a:endParaRPr lang="es-ES"/>
          </a:p>
        </p:txBody>
      </p:sp>
    </p:spTree>
    <p:extLst>
      <p:ext uri="{BB962C8B-B14F-4D97-AF65-F5344CB8AC3E}">
        <p14:creationId xmlns:p14="http://schemas.microsoft.com/office/powerpoint/2010/main" val="6522845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dirty="0" err="1"/>
              <a:t>Por</a:t>
            </a:r>
            <a:r>
              <a:rPr lang="en-US" dirty="0"/>
              <a:t> </a:t>
            </a:r>
            <a:r>
              <a:rPr lang="en-US" dirty="0" err="1"/>
              <a:t>ejemplo</a:t>
            </a:r>
            <a:r>
              <a:rPr lang="en-US" dirty="0"/>
              <a:t>, </a:t>
            </a:r>
            <a:r>
              <a:rPr lang="en-US" dirty="0" err="1"/>
              <a:t>semisupervised</a:t>
            </a:r>
            <a:r>
              <a:rPr lang="en-US" dirty="0"/>
              <a:t> learning – </a:t>
            </a:r>
            <a:r>
              <a:rPr lang="en-US" dirty="0" err="1"/>
              <a:t>consigo</a:t>
            </a:r>
            <a:r>
              <a:rPr lang="en-US" dirty="0"/>
              <a:t> </a:t>
            </a:r>
            <a:r>
              <a:rPr lang="en-US" dirty="0" err="1"/>
              <a:t>asi</a:t>
            </a:r>
            <a:r>
              <a:rPr lang="en-US" dirty="0"/>
              <a:t> las </a:t>
            </a:r>
            <a:r>
              <a:rPr lang="en-US" dirty="0" err="1"/>
              <a:t>etiquetas</a:t>
            </a:r>
            <a:r>
              <a:rPr lang="en-US" dirty="0"/>
              <a:t> para </a:t>
            </a:r>
            <a:r>
              <a:rPr lang="en-US" dirty="0" err="1"/>
              <a:t>algoritmo</a:t>
            </a:r>
            <a:r>
              <a:rPr lang="en-US" dirty="0"/>
              <a:t> de </a:t>
            </a:r>
            <a:r>
              <a:rPr lang="en-US" dirty="0" err="1"/>
              <a:t>clasificacion</a:t>
            </a:r>
            <a:endParaRPr lang="en-US"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13</a:t>
            </a:fld>
            <a:endParaRPr lang="es-ES"/>
          </a:p>
        </p:txBody>
      </p:sp>
    </p:spTree>
    <p:extLst>
      <p:ext uri="{BB962C8B-B14F-4D97-AF65-F5344CB8AC3E}">
        <p14:creationId xmlns:p14="http://schemas.microsoft.com/office/powerpoint/2010/main" val="37741127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dirty="0">
                <a:hlinkClick r:id="rId3"/>
              </a:rPr>
              <a:t>https://towardsdatascience.com/k-means-data-clustering-bce3335d2203</a:t>
            </a:r>
            <a:r>
              <a:rPr lang="en-US" dirty="0"/>
              <a:t> </a:t>
            </a:r>
          </a:p>
          <a:p>
            <a:r>
              <a:rPr lang="en-US" sz="1300" dirty="0"/>
              <a:t>k-means is a data clustering algorithm which can be used for unsupervised machine learning.</a:t>
            </a:r>
            <a:endParaRPr lang="en-US"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14</a:t>
            </a:fld>
            <a:endParaRPr lang="es-ES"/>
          </a:p>
        </p:txBody>
      </p:sp>
    </p:spTree>
    <p:extLst>
      <p:ext uri="{BB962C8B-B14F-4D97-AF65-F5344CB8AC3E}">
        <p14:creationId xmlns:p14="http://schemas.microsoft.com/office/powerpoint/2010/main" val="2827046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dirty="0">
                <a:hlinkClick r:id="rId3"/>
              </a:rPr>
              <a:t>https://towardsdatascience.com/k-means-data-clustering-bce3335d2203</a:t>
            </a:r>
            <a:r>
              <a:rPr lang="en-US" dirty="0"/>
              <a:t> </a:t>
            </a:r>
          </a:p>
          <a:p>
            <a:r>
              <a:rPr lang="en-US" sz="1300" dirty="0"/>
              <a:t>k-means is a data </a:t>
            </a:r>
            <a:r>
              <a:rPr lang="en-US" sz="1300" dirty="0" err="1"/>
              <a:t>clu</a:t>
            </a:r>
            <a:endParaRPr lang="en-US" sz="1300" dirty="0"/>
          </a:p>
          <a:p>
            <a:endParaRPr lang="en-US" sz="1300" dirty="0"/>
          </a:p>
          <a:p>
            <a:pPr defTabSz="990478"/>
            <a:r>
              <a:rPr lang="en-US" sz="1300" dirty="0"/>
              <a:t>Para </a:t>
            </a:r>
            <a:r>
              <a:rPr lang="en-US" sz="1300" dirty="0" err="1"/>
              <a:t>dimensiones</a:t>
            </a:r>
            <a:r>
              <a:rPr lang="en-US" sz="1300" dirty="0"/>
              <a:t> </a:t>
            </a:r>
            <a:r>
              <a:rPr lang="en-US" sz="1300" dirty="0" err="1"/>
              <a:t>muy</a:t>
            </a:r>
            <a:r>
              <a:rPr lang="en-US" sz="1300" dirty="0"/>
              <a:t> </a:t>
            </a:r>
            <a:r>
              <a:rPr lang="en-US" sz="1300" dirty="0" err="1"/>
              <a:t>altas</a:t>
            </a:r>
            <a:r>
              <a:rPr lang="en-US" sz="1300" dirty="0"/>
              <a:t> (</a:t>
            </a:r>
            <a:r>
              <a:rPr lang="en-US" sz="1300" dirty="0" err="1"/>
              <a:t>muchas</a:t>
            </a:r>
            <a:r>
              <a:rPr lang="en-US" sz="1300" dirty="0"/>
              <a:t> features), </a:t>
            </a:r>
            <a:r>
              <a:rPr lang="es-ES" sz="1300" dirty="0"/>
              <a:t>ejecutar un algoritmo de reducción de la dimensión como el Análisis de Componentes Principales (</a:t>
            </a:r>
            <a:r>
              <a:rPr lang="es-ES" sz="1300" b="1" dirty="0"/>
              <a:t>PCA</a:t>
            </a:r>
            <a:r>
              <a:rPr lang="es-ES" sz="1300" dirty="0"/>
              <a:t>) antes de la agrupación de k-</a:t>
            </a:r>
            <a:r>
              <a:rPr lang="es-ES" sz="1300" dirty="0" err="1"/>
              <a:t>means</a:t>
            </a:r>
            <a:r>
              <a:rPr lang="es-ES" sz="1300" dirty="0"/>
              <a:t> puede aliviar este problema y acelerar los cálculos.</a:t>
            </a:r>
            <a:endParaRPr lang="en-US" sz="1300" dirty="0"/>
          </a:p>
          <a:p>
            <a:r>
              <a:rPr lang="en-US" sz="1300" dirty="0" err="1"/>
              <a:t>stering</a:t>
            </a:r>
            <a:r>
              <a:rPr lang="en-US" sz="1300" dirty="0"/>
              <a:t> algorithm which can be used for unsupervised machine learning.</a:t>
            </a:r>
            <a:endParaRPr lang="en-US"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15</a:t>
            </a:fld>
            <a:endParaRPr lang="es-ES"/>
          </a:p>
        </p:txBody>
      </p:sp>
    </p:spTree>
    <p:extLst>
      <p:ext uri="{BB962C8B-B14F-4D97-AF65-F5344CB8AC3E}">
        <p14:creationId xmlns:p14="http://schemas.microsoft.com/office/powerpoint/2010/main" val="39338894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dirty="0">
                <a:hlinkClick r:id="rId3"/>
              </a:rPr>
              <a:t>https://www.youtube.com/watch?v=4b5d3muPQmA</a:t>
            </a:r>
            <a:r>
              <a:rPr lang="en-US" dirty="0"/>
              <a:t> </a:t>
            </a:r>
          </a:p>
        </p:txBody>
      </p:sp>
      <p:sp>
        <p:nvSpPr>
          <p:cNvPr id="4" name="Marcador de número de diapositiva 3"/>
          <p:cNvSpPr>
            <a:spLocks noGrp="1"/>
          </p:cNvSpPr>
          <p:nvPr>
            <p:ph type="sldNum" sz="quarter" idx="10"/>
          </p:nvPr>
        </p:nvSpPr>
        <p:spPr/>
        <p:txBody>
          <a:bodyPr/>
          <a:lstStyle/>
          <a:p>
            <a:fld id="{5BC05090-5C0E-45B5-BB81-37C4A9E4751F}" type="slidenum">
              <a:rPr lang="es-ES" smtClean="0"/>
              <a:t>16</a:t>
            </a:fld>
            <a:endParaRPr lang="es-ES"/>
          </a:p>
        </p:txBody>
      </p:sp>
    </p:spTree>
    <p:extLst>
      <p:ext uri="{BB962C8B-B14F-4D97-AF65-F5344CB8AC3E}">
        <p14:creationId xmlns:p14="http://schemas.microsoft.com/office/powerpoint/2010/main" val="31255994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dirty="0">
                <a:hlinkClick r:id="rId3"/>
              </a:rPr>
              <a:t>https://www.youtube.com/watch?v=4b5d3muPQmA</a:t>
            </a:r>
            <a:r>
              <a:rPr lang="en-US" dirty="0"/>
              <a:t> </a:t>
            </a:r>
          </a:p>
          <a:p>
            <a:r>
              <a:rPr lang="en-US" dirty="0">
                <a:hlinkClick r:id="rId4"/>
              </a:rPr>
              <a:t>https://www.youtube.com/watch?v=n4aqynZtFf0</a:t>
            </a:r>
            <a:endParaRPr lang="en-US"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17</a:t>
            </a:fld>
            <a:endParaRPr lang="es-ES"/>
          </a:p>
        </p:txBody>
      </p:sp>
    </p:spTree>
    <p:extLst>
      <p:ext uri="{BB962C8B-B14F-4D97-AF65-F5344CB8AC3E}">
        <p14:creationId xmlns:p14="http://schemas.microsoft.com/office/powerpoint/2010/main" val="15942023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dirty="0">
                <a:hlinkClick r:id="rId3"/>
              </a:rPr>
              <a:t>https://towardsdatascience.com/k-means-data-clustering-bce3335d2203</a:t>
            </a:r>
            <a:r>
              <a:rPr lang="en-US" dirty="0"/>
              <a:t> </a:t>
            </a:r>
          </a:p>
          <a:p>
            <a:r>
              <a:rPr lang="en-US" sz="1300" dirty="0"/>
              <a:t>k-means is a data clustering algorithm which can be used for unsupervised machine learning.</a:t>
            </a:r>
          </a:p>
          <a:p>
            <a:r>
              <a:rPr lang="en-US" sz="1200" b="1" i="0" kern="1200" dirty="0">
                <a:solidFill>
                  <a:schemeClr val="tx1"/>
                </a:solidFill>
                <a:effectLst/>
                <a:latin typeface="+mn-lt"/>
                <a:ea typeface="+mn-ea"/>
                <a:cs typeface="+mn-cs"/>
              </a:rPr>
              <a:t>Density-Based Methods :</a:t>
            </a:r>
            <a:r>
              <a:rPr lang="en-US" sz="1200" b="0" i="0" kern="1200" dirty="0">
                <a:solidFill>
                  <a:schemeClr val="tx1"/>
                </a:solidFill>
                <a:effectLst/>
                <a:latin typeface="+mn-lt"/>
                <a:ea typeface="+mn-ea"/>
                <a:cs typeface="+mn-cs"/>
              </a:rPr>
              <a:t> These methods consider the clusters as the dense region having some similarity and different from the lower dense region of the space. </a:t>
            </a:r>
            <a:endParaRPr lang="en-US"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21</a:t>
            </a:fld>
            <a:endParaRPr lang="es-ES"/>
          </a:p>
        </p:txBody>
      </p:sp>
    </p:spTree>
    <p:extLst>
      <p:ext uri="{BB962C8B-B14F-4D97-AF65-F5344CB8AC3E}">
        <p14:creationId xmlns:p14="http://schemas.microsoft.com/office/powerpoint/2010/main" val="14550281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dirty="0">
                <a:hlinkClick r:id="rId3"/>
              </a:rPr>
              <a:t>https://towardsdatascience.com/k-means-data-clustering-bce3335d2203</a:t>
            </a:r>
            <a:r>
              <a:rPr lang="en-US" dirty="0"/>
              <a:t> </a:t>
            </a:r>
          </a:p>
          <a:p>
            <a:r>
              <a:rPr lang="en-US" sz="1300" dirty="0"/>
              <a:t>k-means is a data clustering algorithm which can be used for unsupervised machine learning.</a:t>
            </a:r>
            <a:endParaRPr lang="en-US"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22</a:t>
            </a:fld>
            <a:endParaRPr lang="es-ES"/>
          </a:p>
        </p:txBody>
      </p:sp>
    </p:spTree>
    <p:extLst>
      <p:ext uri="{BB962C8B-B14F-4D97-AF65-F5344CB8AC3E}">
        <p14:creationId xmlns:p14="http://schemas.microsoft.com/office/powerpoint/2010/main" val="7236230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hlinkClick r:id="rId3"/>
              </a:rPr>
              <a:t>https://elvex.ugr.es/idbis/dm/slides/43%20Clustering%20-%20Density.pdf</a:t>
            </a:r>
            <a:endParaRPr lang="en-US"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23</a:t>
            </a:fld>
            <a:endParaRPr lang="es-ES"/>
          </a:p>
        </p:txBody>
      </p:sp>
    </p:spTree>
    <p:extLst>
      <p:ext uri="{BB962C8B-B14F-4D97-AF65-F5344CB8AC3E}">
        <p14:creationId xmlns:p14="http://schemas.microsoft.com/office/powerpoint/2010/main" val="31281034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dirty="0">
                <a:hlinkClick r:id="rId3"/>
              </a:rPr>
              <a:t>https://towardsdatascience.com/k-means-data-clustering-bce3335d2203</a:t>
            </a:r>
            <a:r>
              <a:rPr lang="en-US" dirty="0"/>
              <a:t> </a:t>
            </a:r>
          </a:p>
          <a:p>
            <a:r>
              <a:rPr lang="en-US" sz="1300" dirty="0"/>
              <a:t>k-means is a data clustering algorithm which can be used for unsupervised machine learning.</a:t>
            </a:r>
            <a:endParaRPr lang="en-US"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24</a:t>
            </a:fld>
            <a:endParaRPr lang="es-ES"/>
          </a:p>
        </p:txBody>
      </p:sp>
    </p:spTree>
    <p:extLst>
      <p:ext uri="{BB962C8B-B14F-4D97-AF65-F5344CB8AC3E}">
        <p14:creationId xmlns:p14="http://schemas.microsoft.com/office/powerpoint/2010/main" val="36889293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sz="1200" b="0" i="0" kern="1200" dirty="0">
                <a:solidFill>
                  <a:schemeClr val="tx1"/>
                </a:solidFill>
                <a:effectLst/>
                <a:latin typeface="+mn-lt"/>
                <a:ea typeface="+mn-ea"/>
                <a:cs typeface="+mn-cs"/>
              </a:rPr>
              <a:t>WCSS is the sum of squared distance between each point and the centroid in a cluster. When we plot the WCSS with the K value, the plot looks like an Elbow. As the number of clusters increases, the WCSS value will start to decrease.</a:t>
            </a:r>
          </a:p>
          <a:p>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i="0" kern="1200" dirty="0">
                <a:solidFill>
                  <a:schemeClr val="tx1"/>
                </a:solidFill>
                <a:effectLst/>
                <a:latin typeface="+mn-lt"/>
                <a:ea typeface="+mn-ea"/>
                <a:cs typeface="+mn-cs"/>
              </a:rPr>
              <a:t>Este método utiliza los valores de la inercia obtenidos tras aplicar el K-</a:t>
            </a:r>
            <a:r>
              <a:rPr lang="es-ES" sz="1200" b="0" i="0" kern="1200" dirty="0" err="1">
                <a:solidFill>
                  <a:schemeClr val="tx1"/>
                </a:solidFill>
                <a:effectLst/>
                <a:latin typeface="+mn-lt"/>
                <a:ea typeface="+mn-ea"/>
                <a:cs typeface="+mn-cs"/>
              </a:rPr>
              <a:t>means</a:t>
            </a:r>
            <a:r>
              <a:rPr lang="es-ES" sz="1200" b="0" i="0" kern="1200" dirty="0">
                <a:solidFill>
                  <a:schemeClr val="tx1"/>
                </a:solidFill>
                <a:effectLst/>
                <a:latin typeface="+mn-lt"/>
                <a:ea typeface="+mn-ea"/>
                <a:cs typeface="+mn-cs"/>
              </a:rPr>
              <a:t> a diferente número de </a:t>
            </a:r>
            <a:r>
              <a:rPr lang="es-ES" sz="1200" b="0" i="0" kern="1200" dirty="0" err="1">
                <a:solidFill>
                  <a:schemeClr val="tx1"/>
                </a:solidFill>
                <a:effectLst/>
                <a:latin typeface="+mn-lt"/>
                <a:ea typeface="+mn-ea"/>
                <a:cs typeface="+mn-cs"/>
              </a:rPr>
              <a:t>Clusters</a:t>
            </a:r>
            <a:r>
              <a:rPr lang="es-ES" sz="1200" b="0" i="0" kern="1200" dirty="0">
                <a:solidFill>
                  <a:schemeClr val="tx1"/>
                </a:solidFill>
                <a:effectLst/>
                <a:latin typeface="+mn-lt"/>
                <a:ea typeface="+mn-ea"/>
                <a:cs typeface="+mn-cs"/>
              </a:rPr>
              <a:t> (desde 1 a N </a:t>
            </a:r>
            <a:r>
              <a:rPr lang="es-ES" sz="1200" b="0" i="0" kern="1200" dirty="0" err="1">
                <a:solidFill>
                  <a:schemeClr val="tx1"/>
                </a:solidFill>
                <a:effectLst/>
                <a:latin typeface="+mn-lt"/>
                <a:ea typeface="+mn-ea"/>
                <a:cs typeface="+mn-cs"/>
              </a:rPr>
              <a:t>Clusters</a:t>
            </a:r>
            <a:r>
              <a:rPr lang="es-ES" sz="1200" b="0" i="0" kern="1200" dirty="0">
                <a:solidFill>
                  <a:schemeClr val="tx1"/>
                </a:solidFill>
                <a:effectLst/>
                <a:latin typeface="+mn-lt"/>
                <a:ea typeface="+mn-ea"/>
                <a:cs typeface="+mn-cs"/>
              </a:rPr>
              <a:t>), siendo la inercia la suma de las distancias al cuadrado de cada objeto del </a:t>
            </a:r>
            <a:r>
              <a:rPr lang="es-ES" sz="1200" b="0" i="0" kern="1200" dirty="0" err="1">
                <a:solidFill>
                  <a:schemeClr val="tx1"/>
                </a:solidFill>
                <a:effectLst/>
                <a:latin typeface="+mn-lt"/>
                <a:ea typeface="+mn-ea"/>
                <a:cs typeface="+mn-cs"/>
              </a:rPr>
              <a:t>Cluster</a:t>
            </a:r>
            <a:r>
              <a:rPr lang="es-ES" sz="1200" b="0" i="0" kern="1200" dirty="0">
                <a:solidFill>
                  <a:schemeClr val="tx1"/>
                </a:solidFill>
                <a:effectLst/>
                <a:latin typeface="+mn-lt"/>
                <a:ea typeface="+mn-ea"/>
                <a:cs typeface="+mn-cs"/>
              </a:rPr>
              <a:t> a su centroide:</a:t>
            </a:r>
          </a:p>
          <a:p>
            <a:r>
              <a:rPr lang="es-ES" dirty="0"/>
              <a:t>(x-centroide)^2</a:t>
            </a:r>
          </a:p>
        </p:txBody>
      </p:sp>
      <p:sp>
        <p:nvSpPr>
          <p:cNvPr id="4" name="Marcador de número de diapositiva 3"/>
          <p:cNvSpPr>
            <a:spLocks noGrp="1"/>
          </p:cNvSpPr>
          <p:nvPr>
            <p:ph type="sldNum" sz="quarter" idx="5"/>
          </p:nvPr>
        </p:nvSpPr>
        <p:spPr/>
        <p:txBody>
          <a:bodyPr/>
          <a:lstStyle/>
          <a:p>
            <a:fld id="{5BC05090-5C0E-45B5-BB81-37C4A9E4751F}" type="slidenum">
              <a:rPr lang="es-ES" smtClean="0"/>
              <a:t>27</a:t>
            </a:fld>
            <a:endParaRPr lang="es-ES"/>
          </a:p>
        </p:txBody>
      </p:sp>
    </p:spTree>
    <p:extLst>
      <p:ext uri="{BB962C8B-B14F-4D97-AF65-F5344CB8AC3E}">
        <p14:creationId xmlns:p14="http://schemas.microsoft.com/office/powerpoint/2010/main" val="33059465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sz="1200" b="0" i="0" kern="1200" dirty="0">
                <a:solidFill>
                  <a:schemeClr val="tx1"/>
                </a:solidFill>
                <a:effectLst/>
                <a:latin typeface="+mn-lt"/>
                <a:ea typeface="+mn-ea"/>
                <a:cs typeface="+mn-cs"/>
              </a:rPr>
              <a:t>WCSS is the sum of squared distance between each point and the centroid in a cluster. When we plot the WCSS with the K value, the plot looks like an Elbow. As the number of clusters increases, the WCSS value will start to decrease.</a:t>
            </a:r>
          </a:p>
          <a:p>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i="0" kern="1200" dirty="0">
                <a:solidFill>
                  <a:schemeClr val="tx1"/>
                </a:solidFill>
                <a:effectLst/>
                <a:latin typeface="+mn-lt"/>
                <a:ea typeface="+mn-ea"/>
                <a:cs typeface="+mn-cs"/>
              </a:rPr>
              <a:t>Este método utiliza los valores de la inercia obtenidos tras aplicar el K-</a:t>
            </a:r>
            <a:r>
              <a:rPr lang="es-ES" sz="1200" b="0" i="0" kern="1200" dirty="0" err="1">
                <a:solidFill>
                  <a:schemeClr val="tx1"/>
                </a:solidFill>
                <a:effectLst/>
                <a:latin typeface="+mn-lt"/>
                <a:ea typeface="+mn-ea"/>
                <a:cs typeface="+mn-cs"/>
              </a:rPr>
              <a:t>means</a:t>
            </a:r>
            <a:r>
              <a:rPr lang="es-ES" sz="1200" b="0" i="0" kern="1200" dirty="0">
                <a:solidFill>
                  <a:schemeClr val="tx1"/>
                </a:solidFill>
                <a:effectLst/>
                <a:latin typeface="+mn-lt"/>
                <a:ea typeface="+mn-ea"/>
                <a:cs typeface="+mn-cs"/>
              </a:rPr>
              <a:t> a diferente número de </a:t>
            </a:r>
            <a:r>
              <a:rPr lang="es-ES" sz="1200" b="0" i="0" kern="1200" dirty="0" err="1">
                <a:solidFill>
                  <a:schemeClr val="tx1"/>
                </a:solidFill>
                <a:effectLst/>
                <a:latin typeface="+mn-lt"/>
                <a:ea typeface="+mn-ea"/>
                <a:cs typeface="+mn-cs"/>
              </a:rPr>
              <a:t>Clusters</a:t>
            </a:r>
            <a:r>
              <a:rPr lang="es-ES" sz="1200" b="0" i="0" kern="1200" dirty="0">
                <a:solidFill>
                  <a:schemeClr val="tx1"/>
                </a:solidFill>
                <a:effectLst/>
                <a:latin typeface="+mn-lt"/>
                <a:ea typeface="+mn-ea"/>
                <a:cs typeface="+mn-cs"/>
              </a:rPr>
              <a:t> (desde 1 a N </a:t>
            </a:r>
            <a:r>
              <a:rPr lang="es-ES" sz="1200" b="0" i="0" kern="1200" dirty="0" err="1">
                <a:solidFill>
                  <a:schemeClr val="tx1"/>
                </a:solidFill>
                <a:effectLst/>
                <a:latin typeface="+mn-lt"/>
                <a:ea typeface="+mn-ea"/>
                <a:cs typeface="+mn-cs"/>
              </a:rPr>
              <a:t>Clusters</a:t>
            </a:r>
            <a:r>
              <a:rPr lang="es-ES" sz="1200" b="0" i="0" kern="1200" dirty="0">
                <a:solidFill>
                  <a:schemeClr val="tx1"/>
                </a:solidFill>
                <a:effectLst/>
                <a:latin typeface="+mn-lt"/>
                <a:ea typeface="+mn-ea"/>
                <a:cs typeface="+mn-cs"/>
              </a:rPr>
              <a:t>), siendo la inercia la suma de las distancias al cuadrado de cada objeto del </a:t>
            </a:r>
            <a:r>
              <a:rPr lang="es-ES" sz="1200" b="0" i="0" kern="1200" dirty="0" err="1">
                <a:solidFill>
                  <a:schemeClr val="tx1"/>
                </a:solidFill>
                <a:effectLst/>
                <a:latin typeface="+mn-lt"/>
                <a:ea typeface="+mn-ea"/>
                <a:cs typeface="+mn-cs"/>
              </a:rPr>
              <a:t>Cluster</a:t>
            </a:r>
            <a:r>
              <a:rPr lang="es-ES" sz="1200" b="0" i="0" kern="1200" dirty="0">
                <a:solidFill>
                  <a:schemeClr val="tx1"/>
                </a:solidFill>
                <a:effectLst/>
                <a:latin typeface="+mn-lt"/>
                <a:ea typeface="+mn-ea"/>
                <a:cs typeface="+mn-cs"/>
              </a:rPr>
              <a:t> a su centroide:</a:t>
            </a:r>
          </a:p>
          <a:p>
            <a:r>
              <a:rPr lang="es-ES" dirty="0"/>
              <a:t>(x-centroide)^2</a:t>
            </a:r>
          </a:p>
        </p:txBody>
      </p:sp>
      <p:sp>
        <p:nvSpPr>
          <p:cNvPr id="4" name="Marcador de número de diapositiva 3"/>
          <p:cNvSpPr>
            <a:spLocks noGrp="1"/>
          </p:cNvSpPr>
          <p:nvPr>
            <p:ph type="sldNum" sz="quarter" idx="5"/>
          </p:nvPr>
        </p:nvSpPr>
        <p:spPr/>
        <p:txBody>
          <a:bodyPr/>
          <a:lstStyle/>
          <a:p>
            <a:fld id="{5BC05090-5C0E-45B5-BB81-37C4A9E4751F}" type="slidenum">
              <a:rPr lang="es-ES" smtClean="0"/>
              <a:t>28</a:t>
            </a:fld>
            <a:endParaRPr lang="es-ES"/>
          </a:p>
        </p:txBody>
      </p:sp>
    </p:spTree>
    <p:extLst>
      <p:ext uri="{BB962C8B-B14F-4D97-AF65-F5344CB8AC3E}">
        <p14:creationId xmlns:p14="http://schemas.microsoft.com/office/powerpoint/2010/main" val="12034597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sz="1200" b="0" i="0" kern="1200" dirty="0">
                <a:solidFill>
                  <a:schemeClr val="tx1"/>
                </a:solidFill>
                <a:effectLst/>
                <a:latin typeface="+mn-lt"/>
                <a:ea typeface="+mn-ea"/>
                <a:cs typeface="+mn-cs"/>
              </a:rPr>
              <a:t>Silhouette Coefficient or silhouette score is a metric used to calculate the goodness of a clustering technique. Its value ranges from -1 to 1.</a:t>
            </a:r>
          </a:p>
          <a:p>
            <a:r>
              <a:rPr lang="en-US" sz="1200" b="0" i="0" kern="1200" dirty="0">
                <a:solidFill>
                  <a:schemeClr val="tx1"/>
                </a:solidFill>
                <a:effectLst/>
                <a:latin typeface="+mn-lt"/>
                <a:ea typeface="+mn-ea"/>
                <a:cs typeface="+mn-cs"/>
              </a:rPr>
              <a:t>1: Means clusters are well apart from each other and clearly distinguished.</a:t>
            </a:r>
          </a:p>
          <a:p>
            <a:r>
              <a:rPr lang="en-US" sz="1200" b="0" i="0" kern="1200" dirty="0">
                <a:solidFill>
                  <a:schemeClr val="tx1"/>
                </a:solidFill>
                <a:effectLst/>
                <a:latin typeface="+mn-lt"/>
                <a:ea typeface="+mn-ea"/>
                <a:cs typeface="+mn-cs"/>
              </a:rPr>
              <a:t>0: Means clusters are indifferent, or we can say that the distance between clusters is not significant.</a:t>
            </a:r>
          </a:p>
          <a:p>
            <a:r>
              <a:rPr lang="en-US" sz="1200" b="0" i="0" kern="1200" dirty="0">
                <a:solidFill>
                  <a:schemeClr val="tx1"/>
                </a:solidFill>
                <a:effectLst/>
                <a:latin typeface="+mn-lt"/>
                <a:ea typeface="+mn-ea"/>
                <a:cs typeface="+mn-cs"/>
              </a:rPr>
              <a:t>-1: Means clusters are assigned in the wrong way.</a:t>
            </a:r>
          </a:p>
          <a:p>
            <a:br>
              <a:rPr lang="en-US" dirty="0"/>
            </a:b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Silhouette Coefficient is calculated using the mean intra-cluster distance (</a:t>
            </a:r>
            <a:r>
              <a:rPr lang="en-US" dirty="0">
                <a:effectLst/>
              </a:rPr>
              <a:t>a</a:t>
            </a:r>
            <a:r>
              <a:rPr lang="en-US" sz="1200" b="0" i="0" kern="1200" dirty="0">
                <a:solidFill>
                  <a:schemeClr val="tx1"/>
                </a:solidFill>
                <a:effectLst/>
                <a:latin typeface="+mn-lt"/>
                <a:ea typeface="+mn-ea"/>
                <a:cs typeface="+mn-cs"/>
              </a:rPr>
              <a:t>) and the mean nearest-cluster distance (</a:t>
            </a:r>
            <a:r>
              <a:rPr lang="en-US" dirty="0">
                <a:effectLst/>
              </a:rPr>
              <a:t>b</a:t>
            </a:r>
            <a:r>
              <a:rPr lang="en-US" sz="1200" b="0" i="0" kern="1200" dirty="0">
                <a:solidFill>
                  <a:schemeClr val="tx1"/>
                </a:solidFill>
                <a:effectLst/>
                <a:latin typeface="+mn-lt"/>
                <a:ea typeface="+mn-ea"/>
                <a:cs typeface="+mn-cs"/>
              </a:rPr>
              <a:t>) for each sample. The Silhouette Coefficient for a sample is </a:t>
            </a:r>
            <a:r>
              <a:rPr lang="en-US" dirty="0">
                <a:effectLst/>
              </a:rPr>
              <a:t>(b</a:t>
            </a:r>
            <a:r>
              <a:rPr lang="en-US" dirty="0"/>
              <a:t> </a:t>
            </a:r>
            <a:r>
              <a:rPr lang="en-US" dirty="0">
                <a:effectLst/>
              </a:rPr>
              <a:t>-</a:t>
            </a:r>
            <a:r>
              <a:rPr lang="en-US" dirty="0"/>
              <a:t> </a:t>
            </a:r>
            <a:r>
              <a:rPr lang="en-US" dirty="0">
                <a:effectLst/>
              </a:rPr>
              <a:t>a)</a:t>
            </a:r>
            <a:r>
              <a:rPr lang="en-US" dirty="0"/>
              <a:t> </a:t>
            </a:r>
            <a:r>
              <a:rPr lang="en-US" dirty="0">
                <a:effectLst/>
              </a:rPr>
              <a:t>/</a:t>
            </a:r>
            <a:r>
              <a:rPr lang="en-US" dirty="0"/>
              <a:t> </a:t>
            </a:r>
            <a:r>
              <a:rPr lang="en-US" dirty="0">
                <a:effectLst/>
              </a:rPr>
              <a:t>max(a,</a:t>
            </a:r>
            <a:r>
              <a:rPr lang="en-US" dirty="0"/>
              <a:t> </a:t>
            </a:r>
            <a:r>
              <a:rPr lang="en-US" dirty="0">
                <a:effectLst/>
              </a:rPr>
              <a:t>b)</a:t>
            </a:r>
            <a:r>
              <a:rPr lang="en-US" sz="1200" b="0" i="0" kern="1200" dirty="0">
                <a:solidFill>
                  <a:schemeClr val="tx1"/>
                </a:solidFill>
                <a:effectLst/>
                <a:latin typeface="+mn-lt"/>
                <a:ea typeface="+mn-ea"/>
                <a:cs typeface="+mn-cs"/>
              </a:rPr>
              <a:t>. To clarify, </a:t>
            </a:r>
            <a:r>
              <a:rPr lang="en-US" dirty="0">
                <a:effectLst/>
              </a:rPr>
              <a:t>b</a:t>
            </a:r>
            <a:r>
              <a:rPr lang="en-US" sz="1200" b="0" i="0" kern="1200" dirty="0">
                <a:solidFill>
                  <a:schemeClr val="tx1"/>
                </a:solidFill>
                <a:effectLst/>
                <a:latin typeface="+mn-lt"/>
                <a:ea typeface="+mn-ea"/>
                <a:cs typeface="+mn-cs"/>
              </a:rPr>
              <a:t> is the distance between a sample and the nearest cluster that the sample is not a part of. https://towardsdatascience.com/silhouette-coefficient-validating-clustering-techniques-e976bb81d10c</a:t>
            </a:r>
            <a:endParaRPr lang="es-ES" dirty="0"/>
          </a:p>
        </p:txBody>
      </p:sp>
      <p:sp>
        <p:nvSpPr>
          <p:cNvPr id="4" name="Marcador de número de diapositiva 3"/>
          <p:cNvSpPr>
            <a:spLocks noGrp="1"/>
          </p:cNvSpPr>
          <p:nvPr>
            <p:ph type="sldNum" sz="quarter" idx="5"/>
          </p:nvPr>
        </p:nvSpPr>
        <p:spPr/>
        <p:txBody>
          <a:bodyPr/>
          <a:lstStyle/>
          <a:p>
            <a:fld id="{5BC05090-5C0E-45B5-BB81-37C4A9E4751F}" type="slidenum">
              <a:rPr lang="es-ES" smtClean="0"/>
              <a:t>30</a:t>
            </a:fld>
            <a:endParaRPr lang="es-ES"/>
          </a:p>
        </p:txBody>
      </p:sp>
    </p:spTree>
    <p:extLst>
      <p:ext uri="{BB962C8B-B14F-4D97-AF65-F5344CB8AC3E}">
        <p14:creationId xmlns:p14="http://schemas.microsoft.com/office/powerpoint/2010/main" val="25383178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sz="1200" b="0" i="0" kern="1200" dirty="0">
                <a:solidFill>
                  <a:schemeClr val="tx1"/>
                </a:solidFill>
                <a:effectLst/>
                <a:latin typeface="+mn-lt"/>
                <a:ea typeface="+mn-ea"/>
                <a:cs typeface="+mn-cs"/>
              </a:rPr>
              <a:t>cluster analysis is the use of a mathematical model to discover groups of similar customers based on finding the smallest variations among customers within each group.</a:t>
            </a:r>
            <a:endParaRPr lang="es-ES" sz="2400" dirty="0">
              <a:hlinkClick r:id="" action="ppaction://noaction"/>
            </a:endParaRPr>
          </a:p>
          <a:p>
            <a:endParaRPr lang="es-ES" sz="2400" dirty="0">
              <a:hlinkClick r:id="" action="ppaction://noaction"/>
            </a:endParaRPr>
          </a:p>
          <a:p>
            <a:r>
              <a:rPr lang="es-ES" sz="2400" dirty="0">
                <a:hlinkClick r:id="" action="ppaction://noaction"/>
              </a:rPr>
              <a:t>https://www.optimove.com/resources/learning-center/customer-segmentation-via-cluster-analysis</a:t>
            </a:r>
            <a:endParaRPr lang="es-ES" sz="2200" dirty="0"/>
          </a:p>
          <a:p>
            <a:endParaRPr lang="en-US" sz="2200"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32</a:t>
            </a:fld>
            <a:endParaRPr lang="es-ES"/>
          </a:p>
        </p:txBody>
      </p:sp>
    </p:spTree>
    <p:extLst>
      <p:ext uri="{BB962C8B-B14F-4D97-AF65-F5344CB8AC3E}">
        <p14:creationId xmlns:p14="http://schemas.microsoft.com/office/powerpoint/2010/main" val="14085078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sz="1200" b="0" i="0" kern="1200" dirty="0">
                <a:solidFill>
                  <a:schemeClr val="tx1"/>
                </a:solidFill>
                <a:effectLst/>
                <a:latin typeface="+mn-lt"/>
                <a:ea typeface="+mn-ea"/>
                <a:cs typeface="+mn-cs"/>
              </a:rPr>
              <a:t>cluster analysis is the use of a mathematical model to discover groups of similar customers based on finding the smallest variations among customers within each group.</a:t>
            </a:r>
            <a:endParaRPr lang="es-ES" sz="2400" dirty="0">
              <a:hlinkClick r:id="" action="ppaction://noaction"/>
            </a:endParaRPr>
          </a:p>
          <a:p>
            <a:endParaRPr lang="es-ES" sz="2400" dirty="0">
              <a:hlinkClick r:id="" action="ppaction://noaction"/>
            </a:endParaRPr>
          </a:p>
          <a:p>
            <a:r>
              <a:rPr lang="es-ES" sz="2400" dirty="0">
                <a:hlinkClick r:id="" action="ppaction://noaction"/>
              </a:rPr>
              <a:t>https://www.optimove.com/resources/learning-center/customer-segmentation-via-cluster-analysis</a:t>
            </a:r>
            <a:endParaRPr lang="es-ES" sz="2200" dirty="0"/>
          </a:p>
          <a:p>
            <a:endParaRPr lang="en-US" sz="2200"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33</a:t>
            </a:fld>
            <a:endParaRPr lang="es-ES"/>
          </a:p>
        </p:txBody>
      </p:sp>
    </p:spTree>
    <p:extLst>
      <p:ext uri="{BB962C8B-B14F-4D97-AF65-F5344CB8AC3E}">
        <p14:creationId xmlns:p14="http://schemas.microsoft.com/office/powerpoint/2010/main" val="19807132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sz="2200" dirty="0">
                <a:hlinkClick r:id="rId3"/>
              </a:rPr>
              <a:t>https://www.kaggle.com/xvivancos/tutorial-clustering-wines-with-k-means</a:t>
            </a:r>
            <a:endParaRPr lang="en-US" sz="2200" dirty="0"/>
          </a:p>
          <a:p>
            <a:endParaRPr lang="es-ES" sz="2200" dirty="0"/>
          </a:p>
          <a:p>
            <a:endParaRPr lang="en-US" sz="2200"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34</a:t>
            </a:fld>
            <a:endParaRPr lang="es-ES"/>
          </a:p>
        </p:txBody>
      </p:sp>
    </p:spTree>
    <p:extLst>
      <p:ext uri="{BB962C8B-B14F-4D97-AF65-F5344CB8AC3E}">
        <p14:creationId xmlns:p14="http://schemas.microsoft.com/office/powerpoint/2010/main" val="15142258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sz="2200" dirty="0">
                <a:hlinkClick r:id="rId3"/>
              </a:rPr>
              <a:t>https://www.kaggle.com/xvivancos/tutorial-clustering-wines-with-k-means</a:t>
            </a:r>
            <a:endParaRPr lang="en-US" sz="2200" dirty="0"/>
          </a:p>
          <a:p>
            <a:r>
              <a:rPr lang="en-US" sz="1200" b="0" i="0" kern="1200" dirty="0">
                <a:solidFill>
                  <a:schemeClr val="tx1"/>
                </a:solidFill>
                <a:effectLst/>
                <a:latin typeface="+mn-lt"/>
                <a:ea typeface="+mn-ea"/>
                <a:cs typeface="+mn-cs"/>
              </a:rPr>
              <a:t>For example the purple cluster in the upper right are people I know from graduate school, the little green cluster in the lower right are people from the Northwestern Institute on Complex Systems.  The big bunch in the middle are people I know from high school, with the people from the band (or band groupies) in green on the right side.  My wife is the purple node that bridges the gap between my graduate school friends and my huh school friends.</a:t>
            </a:r>
            <a:endParaRPr lang="en-US" sz="2200" dirty="0"/>
          </a:p>
          <a:p>
            <a:endParaRPr lang="es-ES" sz="2200" dirty="0"/>
          </a:p>
          <a:p>
            <a:endParaRPr lang="en-US" sz="2200"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35</a:t>
            </a:fld>
            <a:endParaRPr lang="es-ES"/>
          </a:p>
        </p:txBody>
      </p:sp>
    </p:spTree>
    <p:extLst>
      <p:ext uri="{BB962C8B-B14F-4D97-AF65-F5344CB8AC3E}">
        <p14:creationId xmlns:p14="http://schemas.microsoft.com/office/powerpoint/2010/main" val="36143911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sz="2200" dirty="0">
                <a:hlinkClick r:id="rId3"/>
              </a:rPr>
              <a:t>https://infoproc.blogspot.com/2008/11/european-genetic-substructure.html</a:t>
            </a:r>
            <a:endParaRPr lang="en-US" sz="2200" dirty="0"/>
          </a:p>
          <a:p>
            <a:r>
              <a:rPr lang="en-US" sz="2200" dirty="0">
                <a:hlinkClick r:id="rId4"/>
              </a:rPr>
              <a:t>https://science.sciencemag.org/content/319/5866/1100/F1</a:t>
            </a:r>
            <a:endParaRPr lang="en-US" sz="2200" dirty="0"/>
          </a:p>
          <a:p>
            <a:endParaRPr lang="en-US" sz="2200"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36</a:t>
            </a:fld>
            <a:endParaRPr lang="es-ES"/>
          </a:p>
        </p:txBody>
      </p:sp>
    </p:spTree>
    <p:extLst>
      <p:ext uri="{BB962C8B-B14F-4D97-AF65-F5344CB8AC3E}">
        <p14:creationId xmlns:p14="http://schemas.microsoft.com/office/powerpoint/2010/main" val="17967255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sz="1200" b="0" i="0" kern="1200" dirty="0">
                <a:solidFill>
                  <a:schemeClr val="tx1"/>
                </a:solidFill>
                <a:effectLst/>
                <a:latin typeface="+mn-lt"/>
                <a:ea typeface="+mn-ea"/>
                <a:cs typeface="+mn-cs"/>
              </a:rPr>
              <a:t>cluster analysis is the use of a mathematical model to discover groups of similar customers based on finding the smallest variations among customers within each group.</a:t>
            </a:r>
            <a:endParaRPr lang="es-ES" sz="2400" dirty="0">
              <a:hlinkClick r:id="" action="ppaction://noaction"/>
            </a:endParaRPr>
          </a:p>
          <a:p>
            <a:endParaRPr lang="es-ES" sz="2400" dirty="0">
              <a:hlinkClick r:id="" action="ppaction://noaction"/>
            </a:endParaRPr>
          </a:p>
          <a:p>
            <a:r>
              <a:rPr lang="es-ES" sz="2400" dirty="0">
                <a:hlinkClick r:id="" action="ppaction://noaction"/>
              </a:rPr>
              <a:t>https://www.optimove.com/resources/learning-center/customer-segmentation-via-cluster-analysis</a:t>
            </a:r>
            <a:endParaRPr lang="es-ES" sz="2200" dirty="0"/>
          </a:p>
          <a:p>
            <a:endParaRPr lang="en-US" sz="2200"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37</a:t>
            </a:fld>
            <a:endParaRPr lang="es-ES"/>
          </a:p>
        </p:txBody>
      </p:sp>
    </p:spTree>
    <p:extLst>
      <p:ext uri="{BB962C8B-B14F-4D97-AF65-F5344CB8AC3E}">
        <p14:creationId xmlns:p14="http://schemas.microsoft.com/office/powerpoint/2010/main" val="4988407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sz="1200" b="0" i="0" kern="1200" dirty="0">
                <a:solidFill>
                  <a:schemeClr val="tx1"/>
                </a:solidFill>
                <a:effectLst/>
                <a:latin typeface="+mn-lt"/>
                <a:ea typeface="+mn-ea"/>
                <a:cs typeface="+mn-cs"/>
              </a:rPr>
              <a:t>cluster analysis is the use of a mathematical model to discover groups of similar customers based on finding the smallest variations among customers within each group.</a:t>
            </a:r>
            <a:endParaRPr lang="es-ES" sz="2400" dirty="0">
              <a:hlinkClick r:id="" action="ppaction://noaction"/>
            </a:endParaRPr>
          </a:p>
          <a:p>
            <a:endParaRPr lang="es-ES" sz="2400" dirty="0">
              <a:hlinkClick r:id="" action="ppaction://noaction"/>
            </a:endParaRPr>
          </a:p>
          <a:p>
            <a:r>
              <a:rPr lang="es-ES" sz="2400" dirty="0">
                <a:hlinkClick r:id="" action="ppaction://noaction"/>
              </a:rPr>
              <a:t>https://www.optimove.com/resources/learning-center/customer-segmentation-via-cluster-analysis</a:t>
            </a:r>
            <a:endParaRPr lang="es-ES" sz="2200" dirty="0"/>
          </a:p>
          <a:p>
            <a:endParaRPr lang="en-US" sz="2200"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38</a:t>
            </a:fld>
            <a:endParaRPr lang="es-ES"/>
          </a:p>
        </p:txBody>
      </p:sp>
    </p:spTree>
    <p:extLst>
      <p:ext uri="{BB962C8B-B14F-4D97-AF65-F5344CB8AC3E}">
        <p14:creationId xmlns:p14="http://schemas.microsoft.com/office/powerpoint/2010/main" val="23013117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sz="1200" b="0" i="0" kern="1200" dirty="0">
                <a:solidFill>
                  <a:schemeClr val="tx1"/>
                </a:solidFill>
                <a:effectLst/>
                <a:latin typeface="+mn-lt"/>
                <a:ea typeface="+mn-ea"/>
                <a:cs typeface="+mn-cs"/>
              </a:rPr>
              <a:t>cluster analysis is the use of a mathematical model to discover groups of similar customers based on finding the smallest variations among customers within each group.</a:t>
            </a:r>
            <a:endParaRPr lang="es-ES" sz="2400" dirty="0">
              <a:hlinkClick r:id="" action="ppaction://noaction"/>
            </a:endParaRPr>
          </a:p>
          <a:p>
            <a:endParaRPr lang="es-ES" sz="2400" dirty="0">
              <a:hlinkClick r:id="" action="ppaction://noaction"/>
            </a:endParaRPr>
          </a:p>
          <a:p>
            <a:r>
              <a:rPr lang="es-ES" sz="2400" dirty="0">
                <a:hlinkClick r:id="" action="ppaction://noaction"/>
              </a:rPr>
              <a:t>https://www.optimove.com/resources/learning-center/customer-segmentation-via-cluster-analysis</a:t>
            </a:r>
            <a:endParaRPr lang="es-ES" sz="2200" dirty="0"/>
          </a:p>
          <a:p>
            <a:endParaRPr lang="en-US" sz="2200"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39</a:t>
            </a:fld>
            <a:endParaRPr lang="es-ES"/>
          </a:p>
        </p:txBody>
      </p:sp>
    </p:spTree>
    <p:extLst>
      <p:ext uri="{BB962C8B-B14F-4D97-AF65-F5344CB8AC3E}">
        <p14:creationId xmlns:p14="http://schemas.microsoft.com/office/powerpoint/2010/main" val="24156915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sz="1200" b="0" i="0" kern="1200" dirty="0">
                <a:solidFill>
                  <a:schemeClr val="tx1"/>
                </a:solidFill>
                <a:effectLst/>
                <a:latin typeface="+mn-lt"/>
                <a:ea typeface="+mn-ea"/>
                <a:cs typeface="+mn-cs"/>
              </a:rPr>
              <a:t>Many algorithms use similarity or distance measures between examples in the feature space in an effort to discover dense regions of observations. As such, it is often good practice to scale data prior to using clustering algorithms.</a:t>
            </a:r>
            <a:endParaRPr lang="es-ES" sz="1300" dirty="0"/>
          </a:p>
          <a:p>
            <a:endParaRPr lang="es-ES" sz="1300" dirty="0"/>
          </a:p>
          <a:p>
            <a:r>
              <a:rPr lang="en-US" sz="1200" b="0" i="0" kern="1200" dirty="0">
                <a:solidFill>
                  <a:schemeClr val="tx1"/>
                </a:solidFill>
                <a:effectLst/>
                <a:latin typeface="+mn-lt"/>
                <a:ea typeface="+mn-ea"/>
                <a:cs typeface="+mn-cs"/>
              </a:rPr>
              <a:t>The </a:t>
            </a:r>
            <a:r>
              <a:rPr lang="en-US" sz="1200" b="0" i="0" kern="1200" dirty="0" err="1">
                <a:solidFill>
                  <a:schemeClr val="tx1"/>
                </a:solidFill>
                <a:effectLst/>
                <a:latin typeface="+mn-lt"/>
                <a:ea typeface="+mn-ea"/>
                <a:cs typeface="+mn-cs"/>
              </a:rPr>
              <a:t>scikit</a:t>
            </a:r>
            <a:r>
              <a:rPr lang="en-US" sz="1200" b="0" i="0" kern="1200" dirty="0">
                <a:solidFill>
                  <a:schemeClr val="tx1"/>
                </a:solidFill>
                <a:effectLst/>
                <a:latin typeface="+mn-lt"/>
                <a:ea typeface="+mn-ea"/>
                <a:cs typeface="+mn-cs"/>
              </a:rPr>
              <a:t>-learn library provides a suite of different clustering algorithms to choose from.</a:t>
            </a:r>
            <a:endParaRPr lang="es-ES" sz="1300" dirty="0"/>
          </a:p>
          <a:p>
            <a:endParaRPr lang="es-ES" sz="1300" dirty="0"/>
          </a:p>
          <a:p>
            <a:r>
              <a:rPr lang="es-ES" sz="1300" dirty="0"/>
              <a:t>Otro caso de aprendizaje automático no supervisado es el </a:t>
            </a:r>
            <a:r>
              <a:rPr lang="es-ES" sz="1300" b="1" dirty="0">
                <a:hlinkClick r:id="rId3"/>
              </a:rPr>
              <a:t>análisis de componentes principales (ACP)</a:t>
            </a:r>
            <a:r>
              <a:rPr lang="es-ES" sz="1300" dirty="0"/>
              <a:t>. Por ejemplo, la aplicación de ACP en un conjunto de datos acerca del contenido de millones de carritos de compras podría revelar que los carritos de compras que contienen limones con frecuencia también contienen antiácidos.</a:t>
            </a:r>
            <a:endParaRPr lang="en-US"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41</a:t>
            </a:fld>
            <a:endParaRPr lang="es-ES"/>
          </a:p>
        </p:txBody>
      </p:sp>
    </p:spTree>
    <p:extLst>
      <p:ext uri="{BB962C8B-B14F-4D97-AF65-F5344CB8AC3E}">
        <p14:creationId xmlns:p14="http://schemas.microsoft.com/office/powerpoint/2010/main" val="2654316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fontAlgn="base" latinLnBrk="0"/>
            <a:r>
              <a:rPr lang="es-ES" sz="1300" dirty="0"/>
              <a:t>Imaginemos que queremos predecir los precios de alquiler de vivienda del mercado. </a:t>
            </a:r>
            <a:r>
              <a:rPr lang="es-ES" sz="1300" dirty="0">
                <a:hlinkClick r:id="rId3"/>
              </a:rPr>
              <a:t>Al recopilar información</a:t>
            </a:r>
            <a:r>
              <a:rPr lang="es-ES" sz="1300" dirty="0"/>
              <a:t> de diversas fuentes tendremos en cuenta variables como tipo de vivienda, tamaño de vivienda, antigüedad, servicios, habitaciones, con/sin jardín, con/sin piscina, con/sin muebles  pero también podemos tener en cuenta la distancia al centro, si hay colegio en las cercanías, o supermercados, si es un entorno ruidoso, si tiene autopistas en las cercanías, la “seguridad del barrio”, si se aceptan mascotas, tiene wifi, tiene garaje, trastero… y seguir y seguir sumando variables.</a:t>
            </a:r>
          </a:p>
          <a:p>
            <a:pPr fontAlgn="base" latinLnBrk="0"/>
            <a:r>
              <a:rPr lang="es-ES" sz="1300" dirty="0"/>
              <a:t>Es posible que </a:t>
            </a:r>
            <a:r>
              <a:rPr lang="es-ES" sz="1300" i="1" dirty="0"/>
              <a:t>cuanta más (y mejor) información, obtengamos una predicción más acertada</a:t>
            </a:r>
            <a:r>
              <a:rPr lang="es-ES" sz="1300" dirty="0"/>
              <a:t>. Pero también empezaremos a notar que la ejecución de nuestro </a:t>
            </a:r>
            <a:r>
              <a:rPr lang="es-ES" sz="1300" dirty="0">
                <a:hlinkClick r:id="rId4"/>
              </a:rPr>
              <a:t>algoritmo seleccionado</a:t>
            </a:r>
            <a:r>
              <a:rPr lang="es-ES" sz="1300" dirty="0"/>
              <a:t> (regresión lineal, redes neuronales, etc.) empezará a tomar más y más tiempo y recursos. </a:t>
            </a:r>
            <a:r>
              <a:rPr lang="es-ES" sz="1300" b="1" dirty="0"/>
              <a:t>Es posible que algunas de las variables sean menos importantes y no aporten demasiado valor a la predicción</a:t>
            </a:r>
            <a:r>
              <a:rPr lang="es-ES" sz="1300" dirty="0"/>
              <a:t>. </a:t>
            </a:r>
            <a:r>
              <a:rPr lang="es-ES" sz="1300" dirty="0" err="1"/>
              <a:t>Tam</a:t>
            </a:r>
            <a:endParaRPr lang="es-ES" sz="1300" dirty="0"/>
          </a:p>
          <a:p>
            <a:pPr fontAlgn="base" latinLnBrk="0"/>
            <a:endParaRPr lang="es-ES" sz="1300" dirty="0"/>
          </a:p>
          <a:p>
            <a:pPr fontAlgn="base" latinLnBrk="0"/>
            <a:r>
              <a:rPr lang="es-ES" sz="1300" b="1" dirty="0"/>
              <a:t>Eliminar por completo</a:t>
            </a:r>
            <a:r>
              <a:rPr lang="es-ES" sz="1300" dirty="0"/>
              <a:t> algunas dimensiones no estaría mal, pero </a:t>
            </a:r>
            <a:r>
              <a:rPr lang="es-ES" sz="1300" i="1" dirty="0"/>
              <a:t>deberemos tener certeza</a:t>
            </a:r>
            <a:r>
              <a:rPr lang="es-ES" sz="1300" dirty="0"/>
              <a:t> en que estamos quitando dimensiones poco importantes. Por ejemplo para nuestro ejemplo, podemos suponer que el precio de alquiler no cambiará mucho si el dueño acepta mascotas en la vivienda. Podría ser un acierto </a:t>
            </a:r>
            <a:r>
              <a:rPr lang="es-ES" sz="1300" b="1" dirty="0"/>
              <a:t>o podríamos estar perdiendo información </a:t>
            </a:r>
            <a:r>
              <a:rPr lang="es-ES" sz="1300" b="1" dirty="0" err="1"/>
              <a:t>importante</a:t>
            </a:r>
            <a:r>
              <a:rPr lang="es-ES" sz="1300" dirty="0" err="1"/>
              <a:t>.bién</a:t>
            </a:r>
            <a:r>
              <a:rPr lang="es-ES" sz="1300" dirty="0"/>
              <a:t> podríamos acercarnos peligrosamente a </a:t>
            </a:r>
            <a:r>
              <a:rPr lang="es-ES" sz="1300" b="1" dirty="0">
                <a:hlinkClick r:id="rId5"/>
              </a:rPr>
              <a:t>causar </a:t>
            </a:r>
            <a:r>
              <a:rPr lang="es-ES" sz="1300" b="1" dirty="0" err="1">
                <a:hlinkClick r:id="rId5"/>
              </a:rPr>
              <a:t>overfitting</a:t>
            </a:r>
            <a:r>
              <a:rPr lang="es-ES" sz="1300" dirty="0"/>
              <a:t> al modelo.</a:t>
            </a:r>
          </a:p>
        </p:txBody>
      </p:sp>
      <p:sp>
        <p:nvSpPr>
          <p:cNvPr id="4" name="Marcador de número de diapositiva 3"/>
          <p:cNvSpPr>
            <a:spLocks noGrp="1"/>
          </p:cNvSpPr>
          <p:nvPr>
            <p:ph type="sldNum" sz="quarter" idx="10"/>
          </p:nvPr>
        </p:nvSpPr>
        <p:spPr/>
        <p:txBody>
          <a:bodyPr/>
          <a:lstStyle/>
          <a:p>
            <a:fld id="{5BC05090-5C0E-45B5-BB81-37C4A9E4751F}" type="slidenum">
              <a:rPr lang="es-ES" smtClean="0"/>
              <a:t>42</a:t>
            </a:fld>
            <a:endParaRPr lang="es-ES"/>
          </a:p>
        </p:txBody>
      </p:sp>
    </p:spTree>
    <p:extLst>
      <p:ext uri="{BB962C8B-B14F-4D97-AF65-F5344CB8AC3E}">
        <p14:creationId xmlns:p14="http://schemas.microsoft.com/office/powerpoint/2010/main" val="17508587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3" name="Subtítulo 2"/>
          <p:cNvSpPr>
            <a:spLocks noGrp="1"/>
          </p:cNvSpPr>
          <p:nvPr>
            <p:ph type="subTitle" idx="1" hasCustomPrompt="1"/>
          </p:nvPr>
        </p:nvSpPr>
        <p:spPr>
          <a:xfrm>
            <a:off x="1143000" y="3440348"/>
            <a:ext cx="6858000" cy="1017352"/>
          </a:xfrm>
        </p:spPr>
        <p:txBody>
          <a:bodyPr>
            <a:noAutofit/>
          </a:bodyPr>
          <a:lstStyle>
            <a:lvl1pPr marL="0" indent="0" algn="ctr">
              <a:buNone/>
              <a:defRPr sz="3200" baseline="0">
                <a:solidFill>
                  <a:schemeClr val="bg1">
                    <a:lumMod val="50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s-ES" dirty="0"/>
              <a:t>Elementos para la digitalización de la industria</a:t>
            </a:r>
          </a:p>
        </p:txBody>
      </p:sp>
      <p:sp>
        <p:nvSpPr>
          <p:cNvPr id="4" name="Marcador de fecha 3"/>
          <p:cNvSpPr>
            <a:spLocks noGrp="1"/>
          </p:cNvSpPr>
          <p:nvPr>
            <p:ph type="dt" sz="half" idx="10"/>
          </p:nvPr>
        </p:nvSpPr>
        <p:spPr/>
        <p:txBody>
          <a:bodyPr/>
          <a:lstStyle/>
          <a:p>
            <a:fld id="{2E4A6559-6F40-4FA9-AAE4-499CDB4C02D0}" type="datetime1">
              <a:rPr lang="es-ES" smtClean="0"/>
              <a:t>26/03/2025</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p:txBody>
          <a:bodyPr/>
          <a:lstStyle/>
          <a:p>
            <a:fld id="{F72B40EF-D53A-41AA-87B6-B9F74BA43E09}" type="slidenum">
              <a:rPr lang="es-ES" smtClean="0"/>
              <a:t>‹#›</a:t>
            </a:fld>
            <a:endParaRPr lang="es-ES"/>
          </a:p>
        </p:txBody>
      </p:sp>
      <p:sp>
        <p:nvSpPr>
          <p:cNvPr id="13" name="Rectángulo 12"/>
          <p:cNvSpPr/>
          <p:nvPr userDrawn="1"/>
        </p:nvSpPr>
        <p:spPr>
          <a:xfrm>
            <a:off x="1226025" y="1786800"/>
            <a:ext cx="6691961" cy="769441"/>
          </a:xfrm>
          <a:prstGeom prst="rect">
            <a:avLst/>
          </a:prstGeom>
        </p:spPr>
        <p:txBody>
          <a:bodyPr wrap="none">
            <a:spAutoFit/>
          </a:bodyPr>
          <a:lstStyle/>
          <a:p>
            <a:pPr algn="ctr"/>
            <a:r>
              <a:rPr lang="es-ES" sz="4400" b="0" dirty="0"/>
              <a:t>Big Data y Machine </a:t>
            </a:r>
            <a:r>
              <a:rPr lang="es-ES" sz="4400" b="0" dirty="0" err="1"/>
              <a:t>Learning</a:t>
            </a:r>
            <a:endParaRPr lang="es-ES" sz="4400" b="0" dirty="0"/>
          </a:p>
        </p:txBody>
      </p:sp>
    </p:spTree>
    <p:extLst>
      <p:ext uri="{BB962C8B-B14F-4D97-AF65-F5344CB8AC3E}">
        <p14:creationId xmlns:p14="http://schemas.microsoft.com/office/powerpoint/2010/main" val="23471712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628650" y="1131248"/>
            <a:ext cx="7886700" cy="763455"/>
          </a:xfrm>
        </p:spPr>
        <p:txBody>
          <a:bodyPr>
            <a:normAutofit/>
          </a:bodyPr>
          <a:lstStyle>
            <a:lvl1pPr algn="ctr">
              <a:defRPr sz="4000"/>
            </a:lvl1pPr>
          </a:lstStyle>
          <a:p>
            <a:r>
              <a:rPr lang="es-ES" dirty="0"/>
              <a:t>Título Sección</a:t>
            </a:r>
          </a:p>
        </p:txBody>
      </p:sp>
      <p:sp>
        <p:nvSpPr>
          <p:cNvPr id="3" name="Marcador de contenido 2"/>
          <p:cNvSpPr>
            <a:spLocks noGrp="1"/>
          </p:cNvSpPr>
          <p:nvPr>
            <p:ph idx="1"/>
          </p:nvPr>
        </p:nvSpPr>
        <p:spPr>
          <a:xfrm>
            <a:off x="628650" y="2237517"/>
            <a:ext cx="78867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8" name="Marcador de número de diapositiva 6"/>
          <p:cNvSpPr>
            <a:spLocks noGrp="1"/>
          </p:cNvSpPr>
          <p:nvPr>
            <p:ph type="sldNum" sz="quarter" idx="12"/>
          </p:nvPr>
        </p:nvSpPr>
        <p:spPr>
          <a:xfrm>
            <a:off x="6457950" y="6356355"/>
            <a:ext cx="2057400" cy="365125"/>
          </a:xfrm>
        </p:spPr>
        <p:txBody>
          <a:bodyPr/>
          <a:lstStyle/>
          <a:p>
            <a:fld id="{F72B40EF-D53A-41AA-87B6-B9F74BA43E09}" type="slidenum">
              <a:rPr lang="es-ES" smtClean="0"/>
              <a:t>‹#›</a:t>
            </a:fld>
            <a:endParaRPr lang="es-ES"/>
          </a:p>
        </p:txBody>
      </p:sp>
    </p:spTree>
    <p:extLst>
      <p:ext uri="{BB962C8B-B14F-4D97-AF65-F5344CB8AC3E}">
        <p14:creationId xmlns:p14="http://schemas.microsoft.com/office/powerpoint/2010/main" val="26200194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629841" y="1235674"/>
            <a:ext cx="7886700" cy="578584"/>
          </a:xfrm>
        </p:spPr>
        <p:txBody>
          <a:bodyPr>
            <a:normAutofit/>
          </a:bodyPr>
          <a:lstStyle>
            <a:lvl1pPr>
              <a:defRPr sz="4000"/>
            </a:lvl1pPr>
          </a:lstStyle>
          <a:p>
            <a:r>
              <a:rPr lang="es-ES" dirty="0"/>
              <a:t>Título</a:t>
            </a:r>
          </a:p>
        </p:txBody>
      </p:sp>
      <p:sp>
        <p:nvSpPr>
          <p:cNvPr id="3" name="Marcador de texto 2"/>
          <p:cNvSpPr>
            <a:spLocks noGrp="1"/>
          </p:cNvSpPr>
          <p:nvPr>
            <p:ph type="body" idx="1"/>
          </p:nvPr>
        </p:nvSpPr>
        <p:spPr>
          <a:xfrm>
            <a:off x="629842" y="2002441"/>
            <a:ext cx="3868340"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629842" y="2826353"/>
            <a:ext cx="3868340"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4629152" y="2002441"/>
            <a:ext cx="3887391"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4629152" y="2826353"/>
            <a:ext cx="3887391"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10" name="Marcador de número de diapositiva 6"/>
          <p:cNvSpPr>
            <a:spLocks noGrp="1"/>
          </p:cNvSpPr>
          <p:nvPr>
            <p:ph type="sldNum" sz="quarter" idx="12"/>
          </p:nvPr>
        </p:nvSpPr>
        <p:spPr>
          <a:xfrm>
            <a:off x="6457950" y="6356355"/>
            <a:ext cx="2057400" cy="365125"/>
          </a:xfrm>
        </p:spPr>
        <p:txBody>
          <a:bodyPr/>
          <a:lstStyle/>
          <a:p>
            <a:fld id="{F72B40EF-D53A-41AA-87B6-B9F74BA43E09}" type="slidenum">
              <a:rPr lang="es-ES" smtClean="0"/>
              <a:t>‹#›</a:t>
            </a:fld>
            <a:endParaRPr lang="es-ES"/>
          </a:p>
        </p:txBody>
      </p:sp>
    </p:spTree>
    <p:extLst>
      <p:ext uri="{BB962C8B-B14F-4D97-AF65-F5344CB8AC3E}">
        <p14:creationId xmlns:p14="http://schemas.microsoft.com/office/powerpoint/2010/main" val="4038456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628650" y="1213627"/>
            <a:ext cx="7886700" cy="738742"/>
          </a:xfrm>
        </p:spPr>
        <p:txBody>
          <a:bodyPr>
            <a:normAutofit/>
          </a:bodyPr>
          <a:lstStyle>
            <a:lvl1pPr algn="ctr">
              <a:defRPr sz="4000"/>
            </a:lvl1pPr>
          </a:lstStyle>
          <a:p>
            <a:r>
              <a:rPr lang="es-ES" dirty="0"/>
              <a:t>Título:</a:t>
            </a:r>
          </a:p>
        </p:txBody>
      </p:sp>
      <p:sp>
        <p:nvSpPr>
          <p:cNvPr id="6" name="Marcador de número de diapositiva 6"/>
          <p:cNvSpPr>
            <a:spLocks noGrp="1"/>
          </p:cNvSpPr>
          <p:nvPr>
            <p:ph type="sldNum" sz="quarter" idx="12"/>
          </p:nvPr>
        </p:nvSpPr>
        <p:spPr>
          <a:xfrm>
            <a:off x="6457950" y="6356355"/>
            <a:ext cx="2057400" cy="365125"/>
          </a:xfrm>
        </p:spPr>
        <p:txBody>
          <a:bodyPr/>
          <a:lstStyle/>
          <a:p>
            <a:fld id="{F72B40EF-D53A-41AA-87B6-B9F74BA43E09}" type="slidenum">
              <a:rPr lang="es-ES" smtClean="0"/>
              <a:t>‹#›</a:t>
            </a:fld>
            <a:endParaRPr lang="es-ES"/>
          </a:p>
        </p:txBody>
      </p:sp>
    </p:spTree>
    <p:extLst>
      <p:ext uri="{BB962C8B-B14F-4D97-AF65-F5344CB8AC3E}">
        <p14:creationId xmlns:p14="http://schemas.microsoft.com/office/powerpoint/2010/main" val="2053108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B2BB68E0-FAC8-4F30-AD52-604EBF9A7ACC}" type="datetime1">
              <a:rPr lang="es-ES" smtClean="0"/>
              <a:t>26/03/2025</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F72B40EF-D53A-41AA-87B6-B9F74BA43E09}" type="slidenum">
              <a:rPr lang="es-ES" smtClean="0"/>
              <a:t>‹#›</a:t>
            </a:fld>
            <a:endParaRPr lang="es-ES"/>
          </a:p>
        </p:txBody>
      </p:sp>
    </p:spTree>
    <p:extLst>
      <p:ext uri="{BB962C8B-B14F-4D97-AF65-F5344CB8AC3E}">
        <p14:creationId xmlns:p14="http://schemas.microsoft.com/office/powerpoint/2010/main" val="2685414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3887391" y="987430"/>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629841" y="2057400"/>
            <a:ext cx="2949178"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D8A42D25-F51B-487B-8A91-2A3A438D2793}" type="datetime1">
              <a:rPr lang="es-ES" smtClean="0"/>
              <a:t>26/03/2025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F72B40EF-D53A-41AA-87B6-B9F74BA43E09}" type="slidenum">
              <a:rPr lang="es-ES" smtClean="0"/>
              <a:t>‹#›</a:t>
            </a:fld>
            <a:endParaRPr lang="es-ES"/>
          </a:p>
        </p:txBody>
      </p:sp>
    </p:spTree>
    <p:extLst>
      <p:ext uri="{BB962C8B-B14F-4D97-AF65-F5344CB8AC3E}">
        <p14:creationId xmlns:p14="http://schemas.microsoft.com/office/powerpoint/2010/main" val="832469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3887391" y="987430"/>
            <a:ext cx="462915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s-ES"/>
              <a:t>Haga clic en el icono para agregar una imagen</a:t>
            </a:r>
          </a:p>
        </p:txBody>
      </p:sp>
      <p:sp>
        <p:nvSpPr>
          <p:cNvPr id="4" name="Marcador de texto 3"/>
          <p:cNvSpPr>
            <a:spLocks noGrp="1"/>
          </p:cNvSpPr>
          <p:nvPr>
            <p:ph type="body" sz="half" idx="2"/>
          </p:nvPr>
        </p:nvSpPr>
        <p:spPr>
          <a:xfrm>
            <a:off x="629841" y="2057400"/>
            <a:ext cx="2949178"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33C4BE6D-21B2-47ED-BEFD-2FA4906D2D91}" type="datetime1">
              <a:rPr lang="es-ES" smtClean="0"/>
              <a:t>26/03/2025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F72B40EF-D53A-41AA-87B6-B9F74BA43E09}" type="slidenum">
              <a:rPr lang="es-ES" smtClean="0"/>
              <a:t>‹#›</a:t>
            </a:fld>
            <a:endParaRPr lang="es-ES"/>
          </a:p>
        </p:txBody>
      </p:sp>
    </p:spTree>
    <p:extLst>
      <p:ext uri="{BB962C8B-B14F-4D97-AF65-F5344CB8AC3E}">
        <p14:creationId xmlns:p14="http://schemas.microsoft.com/office/powerpoint/2010/main" val="286601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7C075051-C02C-4F92-808C-6DDE8132874F}" type="datetime1">
              <a:rPr lang="es-ES" smtClean="0"/>
              <a:t>26/03/2025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F72B40EF-D53A-41AA-87B6-B9F74BA43E09}" type="slidenum">
              <a:rPr lang="es-ES" smtClean="0"/>
              <a:t>‹#›</a:t>
            </a:fld>
            <a:endParaRPr lang="es-ES"/>
          </a:p>
        </p:txBody>
      </p:sp>
    </p:spTree>
    <p:extLst>
      <p:ext uri="{BB962C8B-B14F-4D97-AF65-F5344CB8AC3E}">
        <p14:creationId xmlns:p14="http://schemas.microsoft.com/office/powerpoint/2010/main" val="13193611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543676" y="365125"/>
            <a:ext cx="1971675"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628652" y="365125"/>
            <a:ext cx="5800725"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374C7301-4279-4E57-AC39-5416D71BBDA7}" type="datetime1">
              <a:rPr lang="es-ES" smtClean="0"/>
              <a:t>26/03/2025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F72B40EF-D53A-41AA-87B6-B9F74BA43E09}" type="slidenum">
              <a:rPr lang="es-ES" smtClean="0"/>
              <a:t>‹#›</a:t>
            </a:fld>
            <a:endParaRPr lang="es-ES"/>
          </a:p>
        </p:txBody>
      </p:sp>
    </p:spTree>
    <p:extLst>
      <p:ext uri="{BB962C8B-B14F-4D97-AF65-F5344CB8AC3E}">
        <p14:creationId xmlns:p14="http://schemas.microsoft.com/office/powerpoint/2010/main" val="38746681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628650" y="365129"/>
            <a:ext cx="7886700" cy="1325563"/>
          </a:xfrm>
          <a:prstGeom prst="rect">
            <a:avLst/>
          </a:prstGeom>
        </p:spPr>
        <p:txBody>
          <a:bodyPr vert="horz" lIns="91440" tIns="45720" rIns="91440" bIns="45720" rtlCol="0" anchor="ctr">
            <a:normAutofit/>
          </a:bodyPr>
          <a:lstStyle/>
          <a:p>
            <a:r>
              <a:rPr lang="es-ES" dirty="0"/>
              <a:t>Haga clic para modificar el estilo de título del patrón</a:t>
            </a:r>
          </a:p>
        </p:txBody>
      </p:sp>
      <p:sp>
        <p:nvSpPr>
          <p:cNvPr id="3" name="Marcador de texto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4" name="Marcador de fecha 3"/>
          <p:cNvSpPr>
            <a:spLocks noGrp="1"/>
          </p:cNvSpPr>
          <p:nvPr>
            <p:ph type="dt" sz="half" idx="2"/>
          </p:nvPr>
        </p:nvSpPr>
        <p:spPr>
          <a:xfrm>
            <a:off x="628650" y="6356355"/>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7A87B2-8191-4381-8384-6BD2051CDF1D}" type="datetime1">
              <a:rPr lang="es-ES" smtClean="0"/>
              <a:t>26/03/2025</a:t>
            </a:fld>
            <a:endParaRPr lang="es-ES"/>
          </a:p>
        </p:txBody>
      </p:sp>
      <p:sp>
        <p:nvSpPr>
          <p:cNvPr id="5" name="Marcador de pie de página 4"/>
          <p:cNvSpPr>
            <a:spLocks noGrp="1"/>
          </p:cNvSpPr>
          <p:nvPr>
            <p:ph type="ftr" sz="quarter" idx="3"/>
          </p:nvPr>
        </p:nvSpPr>
        <p:spPr>
          <a:xfrm>
            <a:off x="3028950" y="6356355"/>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dirty="0"/>
          </a:p>
        </p:txBody>
      </p:sp>
      <p:sp>
        <p:nvSpPr>
          <p:cNvPr id="6" name="Marcador de número de diapositiva 5"/>
          <p:cNvSpPr>
            <a:spLocks noGrp="1"/>
          </p:cNvSpPr>
          <p:nvPr>
            <p:ph type="sldNum" sz="quarter" idx="4"/>
          </p:nvPr>
        </p:nvSpPr>
        <p:spPr>
          <a:xfrm>
            <a:off x="6457950" y="6356355"/>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2B40EF-D53A-41AA-87B6-B9F74BA43E09}" type="slidenum">
              <a:rPr lang="es-ES" smtClean="0"/>
              <a:t>‹#›</a:t>
            </a:fld>
            <a:endParaRPr lang="es-ES" dirty="0"/>
          </a:p>
        </p:txBody>
      </p:sp>
      <p:pic>
        <p:nvPicPr>
          <p:cNvPr id="9" name="Imagen 8"/>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0" y="-2"/>
            <a:ext cx="9150440" cy="1079157"/>
          </a:xfrm>
          <a:prstGeom prst="rect">
            <a:avLst/>
          </a:prstGeom>
        </p:spPr>
      </p:pic>
      <p:sp>
        <p:nvSpPr>
          <p:cNvPr id="7" name="Rectángulo 6"/>
          <p:cNvSpPr/>
          <p:nvPr userDrawn="1"/>
        </p:nvSpPr>
        <p:spPr>
          <a:xfrm>
            <a:off x="3649362" y="0"/>
            <a:ext cx="3023287" cy="660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Rectángulo 11"/>
          <p:cNvSpPr/>
          <p:nvPr userDrawn="1"/>
        </p:nvSpPr>
        <p:spPr>
          <a:xfrm>
            <a:off x="-6440" y="660400"/>
            <a:ext cx="9150440" cy="418755"/>
          </a:xfrm>
          <a:prstGeom prst="rect">
            <a:avLst/>
          </a:prstGeom>
          <a:solidFill>
            <a:srgbClr val="006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ln>
                <a:noFill/>
              </a:ln>
            </a:endParaRPr>
          </a:p>
        </p:txBody>
      </p:sp>
      <p:pic>
        <p:nvPicPr>
          <p:cNvPr id="10" name="Imagen 9"/>
          <p:cNvPicPr>
            <a:picLocks noChangeAspect="1"/>
          </p:cNvPicPr>
          <p:nvPr userDrawn="1"/>
        </p:nvPicPr>
        <p:blipFill rotWithShape="1">
          <a:blip r:embed="rId12"/>
          <a:srcRect b="14569"/>
          <a:stretch/>
        </p:blipFill>
        <p:spPr>
          <a:xfrm>
            <a:off x="4768233" y="-20733"/>
            <a:ext cx="1923126" cy="1098862"/>
          </a:xfrm>
          <a:prstGeom prst="rect">
            <a:avLst/>
          </a:prstGeom>
        </p:spPr>
      </p:pic>
      <p:sp>
        <p:nvSpPr>
          <p:cNvPr id="13" name="Marcador de fecha 3"/>
          <p:cNvSpPr txBox="1">
            <a:spLocks/>
          </p:cNvSpPr>
          <p:nvPr userDrawn="1"/>
        </p:nvSpPr>
        <p:spPr>
          <a:xfrm>
            <a:off x="183498" y="400620"/>
            <a:ext cx="4128526" cy="947909"/>
          </a:xfrm>
          <a:prstGeom prst="rect">
            <a:avLst/>
          </a:prstGeom>
        </p:spPr>
        <p:txBody>
          <a:bodyPr vert="horz" lIns="91440" tIns="45720" rIns="91440" bIns="45720" rtlCol="0" anchor="ctr"/>
          <a:lstStyle>
            <a:defPPr>
              <a:defRPr lang="es-E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s-ES" sz="2000" b="1" dirty="0">
                <a:solidFill>
                  <a:schemeClr val="bg1"/>
                </a:solidFill>
              </a:rPr>
              <a:t>MÁSTER MECATRÓNICA</a:t>
            </a:r>
          </a:p>
        </p:txBody>
      </p:sp>
      <p:sp>
        <p:nvSpPr>
          <p:cNvPr id="15" name="Google Shape;20;p17">
            <a:extLst>
              <a:ext uri="{FF2B5EF4-FFF2-40B4-BE49-F238E27FC236}">
                <a16:creationId xmlns:a16="http://schemas.microsoft.com/office/drawing/2014/main" id="{7440A721-1357-4836-95C0-9792C204CEB1}"/>
              </a:ext>
            </a:extLst>
          </p:cNvPr>
          <p:cNvSpPr txBox="1"/>
          <p:nvPr userDrawn="1"/>
        </p:nvSpPr>
        <p:spPr>
          <a:xfrm>
            <a:off x="6718175" y="58368"/>
            <a:ext cx="2405449" cy="947909"/>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400" b="1" i="0" u="none" strike="noStrike" cap="none">
                <a:solidFill>
                  <a:schemeClr val="lt1"/>
                </a:solidFill>
                <a:latin typeface="Calibri"/>
                <a:ea typeface="Calibri"/>
                <a:cs typeface="Calibri"/>
                <a:sym typeface="Calibri"/>
              </a:rPr>
              <a:t>Digitalización en la Industria</a:t>
            </a:r>
            <a:endParaRPr/>
          </a:p>
          <a:p>
            <a:pPr marL="0" marR="0" lvl="0" indent="0" algn="l" rtl="0">
              <a:spcBef>
                <a:spcPts val="0"/>
              </a:spcBef>
              <a:spcAft>
                <a:spcPts val="0"/>
              </a:spcAft>
              <a:buNone/>
            </a:pPr>
            <a:endParaRPr sz="1400" b="1" i="0" u="none" strike="noStrike" cap="none">
              <a:solidFill>
                <a:schemeClr val="lt1"/>
              </a:solidFill>
              <a:latin typeface="Calibri"/>
              <a:ea typeface="Calibri"/>
              <a:cs typeface="Calibri"/>
              <a:sym typeface="Calibri"/>
            </a:endParaRPr>
          </a:p>
          <a:p>
            <a:pPr marL="0" marR="0" lvl="0" indent="0" algn="l" rtl="0">
              <a:spcBef>
                <a:spcPts val="0"/>
              </a:spcBef>
              <a:spcAft>
                <a:spcPts val="0"/>
              </a:spcAft>
              <a:buNone/>
            </a:pPr>
            <a:r>
              <a:rPr lang="en-US" sz="1400" b="1" i="0" u="none" strike="noStrike" cap="none">
                <a:solidFill>
                  <a:schemeClr val="lt1"/>
                </a:solidFill>
                <a:latin typeface="Calibri"/>
                <a:ea typeface="Calibri"/>
                <a:cs typeface="Calibri"/>
                <a:sym typeface="Calibri"/>
              </a:rPr>
              <a:t>Big Data y Machine Learning</a:t>
            </a:r>
            <a:endParaRPr sz="1400" b="1" i="0" u="none" strike="noStrike" cap="none">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4866233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5" r:id="rId3"/>
    <p:sldLayoutId id="2147483666" r:id="rId4"/>
    <p:sldLayoutId id="2147483667" r:id="rId5"/>
    <p:sldLayoutId id="2147483668" r:id="rId6"/>
    <p:sldLayoutId id="2147483669" r:id="rId7"/>
    <p:sldLayoutId id="2147483670" r:id="rId8"/>
    <p:sldLayoutId id="2147483671" r:id="rId9"/>
  </p:sldLayoutIdLs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ricard.ferrer.san.jose@upc.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hyperlink" Target="https://scikit-learn.org/stable/modules/clustering.html#clustering"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22.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5.gif"/></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3" Type="http://schemas.openxmlformats.org/officeDocument/2006/relationships/image" Target="../media/image30.gif"/><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5.xml.rels><?xml version="1.0" encoding="UTF-8" standalone="yes"?>
<Relationships xmlns="http://schemas.openxmlformats.org/package/2006/relationships"><Relationship Id="rId3" Type="http://schemas.openxmlformats.org/officeDocument/2006/relationships/hyperlink" Target="http://social-dynamics.org/gephi-facebook/" TargetMode="External"/><Relationship Id="rId7"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hyperlink" Target="https://griffsgraphs.wordpress.com/tag/social-network/" TargetMode="External"/><Relationship Id="rId5" Type="http://schemas.openxmlformats.org/officeDocument/2006/relationships/image" Target="../media/image33.png"/><Relationship Id="rId4" Type="http://schemas.openxmlformats.org/officeDocument/2006/relationships/image" Target="../media/image32.jpeg"/></Relationships>
</file>

<file path=ppt/slides/_rels/slide36.xml.rels><?xml version="1.0" encoding="UTF-8" standalone="yes"?>
<Relationships xmlns="http://schemas.openxmlformats.org/package/2006/relationships"><Relationship Id="rId3" Type="http://schemas.openxmlformats.org/officeDocument/2006/relationships/hyperlink" Target="https://www.nature.com/articles/s41467-018-08272-w/figures/1"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4.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6.jpeg"/><Relationship Id="rId4" Type="http://schemas.openxmlformats.org/officeDocument/2006/relationships/image" Target="../media/image35.png"/></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hyperlink" Target="https://medium.com/data-science/anomaly-detection-in-python-part-2-multivariate-unsupervised-methods-and-code-b311a63f298b" TargetMode="External"/><Relationship Id="rId4" Type="http://schemas.openxmlformats.org/officeDocument/2006/relationships/image" Target="../media/image37.png"/></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hyperlink" Target="https://www.sciencedirect.com/science/article/pii/S0959652623015317" TargetMode="External"/><Relationship Id="rId4" Type="http://schemas.openxmlformats.org/officeDocument/2006/relationships/image" Target="../media/image39.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ítulo 4"/>
          <p:cNvSpPr>
            <a:spLocks noGrp="1"/>
          </p:cNvSpPr>
          <p:nvPr>
            <p:ph type="subTitle" idx="1"/>
          </p:nvPr>
        </p:nvSpPr>
        <p:spPr/>
        <p:txBody>
          <a:bodyPr/>
          <a:lstStyle/>
          <a:p>
            <a:r>
              <a:rPr lang="es-ES" dirty="0"/>
              <a:t>Posgrado de Técnicas para la Digitalización en la Industria</a:t>
            </a:r>
          </a:p>
        </p:txBody>
      </p:sp>
      <p:sp>
        <p:nvSpPr>
          <p:cNvPr id="7" name="1 Título"/>
          <p:cNvSpPr txBox="1">
            <a:spLocks/>
          </p:cNvSpPr>
          <p:nvPr/>
        </p:nvSpPr>
        <p:spPr>
          <a:xfrm>
            <a:off x="685800" y="4650657"/>
            <a:ext cx="7772400" cy="1867707"/>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ES_tradnl" sz="3200" dirty="0"/>
              <a:t>Sesión 4 – Aprendizaje no supervisado</a:t>
            </a:r>
          </a:p>
          <a:p>
            <a:endParaRPr lang="es-ES_tradnl" sz="3200" dirty="0"/>
          </a:p>
          <a:p>
            <a:r>
              <a:rPr lang="es-ES_tradnl" sz="2400" dirty="0"/>
              <a:t>Marc Jené: </a:t>
            </a:r>
            <a:r>
              <a:rPr lang="es-ES_tradnl" sz="2400" dirty="0">
                <a:hlinkClick r:id="rId2"/>
              </a:rPr>
              <a:t>marc.jene@upc.edu</a:t>
            </a:r>
            <a:endParaRPr lang="es-ES_tradnl" sz="2400" dirty="0"/>
          </a:p>
          <a:p>
            <a:endParaRPr lang="es-ES_tradnl" sz="2400" dirty="0"/>
          </a:p>
          <a:p>
            <a:r>
              <a:rPr lang="es-ES_tradnl" sz="2400" dirty="0"/>
              <a:t> </a:t>
            </a:r>
            <a:endParaRPr lang="ca-ES" sz="2400" dirty="0"/>
          </a:p>
        </p:txBody>
      </p:sp>
    </p:spTree>
    <p:extLst>
      <p:ext uri="{BB962C8B-B14F-4D97-AF65-F5344CB8AC3E}">
        <p14:creationId xmlns:p14="http://schemas.microsoft.com/office/powerpoint/2010/main" val="1193692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2"/>
          <p:cNvSpPr txBox="1">
            <a:spLocks noGrp="1"/>
          </p:cNvSpPr>
          <p:nvPr>
            <p:ph type="sldNum" idx="12"/>
          </p:nvPr>
        </p:nvSpPr>
        <p:spPr>
          <a:xfrm>
            <a:off x="6457950" y="6356355"/>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000000"/>
                </a:solidFill>
                <a:latin typeface="Calibri"/>
                <a:ea typeface="Calibri"/>
                <a:cs typeface="Calibri"/>
                <a:sym typeface="Calibri"/>
              </a:rPr>
              <a:t>2</a:t>
            </a:fld>
            <a:endParaRPr sz="1200" dirty="0">
              <a:solidFill>
                <a:srgbClr val="000000"/>
              </a:solidFill>
              <a:latin typeface="Calibri"/>
              <a:ea typeface="Calibri"/>
              <a:cs typeface="Calibri"/>
              <a:sym typeface="Calibri"/>
            </a:endParaRPr>
          </a:p>
        </p:txBody>
      </p:sp>
      <p:graphicFrame>
        <p:nvGraphicFramePr>
          <p:cNvPr id="176" name="Google Shape;176;p12"/>
          <p:cNvGraphicFramePr/>
          <p:nvPr/>
        </p:nvGraphicFramePr>
        <p:xfrm>
          <a:off x="667706" y="1676435"/>
          <a:ext cx="7920025" cy="4498948"/>
        </p:xfrm>
        <a:graphic>
          <a:graphicData uri="http://schemas.openxmlformats.org/drawingml/2006/table">
            <a:tbl>
              <a:tblPr>
                <a:noFill/>
              </a:tblPr>
              <a:tblGrid>
                <a:gridCol w="2837494">
                  <a:extLst>
                    <a:ext uri="{9D8B030D-6E8A-4147-A177-3AD203B41FA5}">
                      <a16:colId xmlns:a16="http://schemas.microsoft.com/office/drawing/2014/main" val="20000"/>
                    </a:ext>
                  </a:extLst>
                </a:gridCol>
                <a:gridCol w="1162050">
                  <a:extLst>
                    <a:ext uri="{9D8B030D-6E8A-4147-A177-3AD203B41FA5}">
                      <a16:colId xmlns:a16="http://schemas.microsoft.com/office/drawing/2014/main" val="20001"/>
                    </a:ext>
                  </a:extLst>
                </a:gridCol>
                <a:gridCol w="2705100">
                  <a:extLst>
                    <a:ext uri="{9D8B030D-6E8A-4147-A177-3AD203B41FA5}">
                      <a16:colId xmlns:a16="http://schemas.microsoft.com/office/drawing/2014/main" val="20002"/>
                    </a:ext>
                  </a:extLst>
                </a:gridCol>
                <a:gridCol w="1215381">
                  <a:extLst>
                    <a:ext uri="{9D8B030D-6E8A-4147-A177-3AD203B41FA5}">
                      <a16:colId xmlns:a16="http://schemas.microsoft.com/office/drawing/2014/main" val="20003"/>
                    </a:ext>
                  </a:extLst>
                </a:gridCol>
              </a:tblGrid>
              <a:tr h="619048">
                <a:tc>
                  <a:txBody>
                    <a:bodyPr/>
                    <a:lstStyle/>
                    <a:p>
                      <a:pPr marL="0" marR="0" lvl="0" indent="0" algn="ctr" rtl="0">
                        <a:lnSpc>
                          <a:spcPct val="100000"/>
                        </a:lnSpc>
                        <a:spcBef>
                          <a:spcPts val="0"/>
                        </a:spcBef>
                        <a:spcAft>
                          <a:spcPts val="0"/>
                        </a:spcAft>
                        <a:buClr>
                          <a:srgbClr val="FFFFFF"/>
                        </a:buClr>
                        <a:buSzPts val="1800"/>
                        <a:buFont typeface="Calibri"/>
                        <a:buNone/>
                      </a:pPr>
                      <a:r>
                        <a:rPr lang="en-US" sz="1800" b="1" i="0" u="none" strike="noStrike" cap="none" dirty="0">
                          <a:solidFill>
                            <a:srgbClr val="FFFFFF"/>
                          </a:solidFill>
                          <a:latin typeface="Calibri"/>
                          <a:ea typeface="Calibri"/>
                          <a:cs typeface="Calibri"/>
                          <a:sym typeface="Calibri"/>
                        </a:rPr>
                        <a:t>Lunes</a:t>
                      </a:r>
                      <a:endParaRPr sz="1800" u="none" strike="noStrike" cap="none" dirty="0"/>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FFFFFF"/>
                        </a:buClr>
                        <a:buSzPts val="1800"/>
                        <a:buFont typeface="Calibri"/>
                        <a:buNone/>
                      </a:pPr>
                      <a:r>
                        <a:rPr lang="en-US" sz="1800" b="1" i="0" u="none" strike="noStrike" cap="none" dirty="0">
                          <a:solidFill>
                            <a:srgbClr val="FFFFFF"/>
                          </a:solidFill>
                          <a:latin typeface="Calibri"/>
                          <a:ea typeface="Calibri"/>
                          <a:cs typeface="Calibri"/>
                          <a:sym typeface="Calibri"/>
                        </a:rPr>
                        <a:t>Martes</a:t>
                      </a:r>
                      <a:endParaRPr sz="1800" u="none" strike="noStrike" cap="none" dirty="0"/>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FFFFFF"/>
                        </a:buClr>
                        <a:buSzPts val="1800"/>
                        <a:buFont typeface="Calibri"/>
                        <a:buNone/>
                      </a:pPr>
                      <a:r>
                        <a:rPr lang="en-US" sz="1800" b="1" i="0" u="none" strike="noStrike" cap="none" dirty="0" err="1">
                          <a:solidFill>
                            <a:srgbClr val="FFFFFF"/>
                          </a:solidFill>
                          <a:latin typeface="Calibri"/>
                          <a:ea typeface="Calibri"/>
                          <a:cs typeface="Calibri"/>
                          <a:sym typeface="Calibri"/>
                        </a:rPr>
                        <a:t>Miércoles</a:t>
                      </a:r>
                      <a:endParaRPr sz="1800" u="none" strike="noStrike" cap="none"/>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Jueves</a:t>
                      </a:r>
                      <a:endParaRPr sz="1800" u="none" strike="noStrike" cap="none"/>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969975">
                <a:tc>
                  <a:txBody>
                    <a:bodyPr/>
                    <a:lstStyle/>
                    <a:p>
                      <a:pPr marL="0" marR="0" lvl="0" indent="0" algn="l" rtl="0">
                        <a:lnSpc>
                          <a:spcPct val="100000"/>
                        </a:lnSpc>
                        <a:spcBef>
                          <a:spcPts val="0"/>
                        </a:spcBef>
                        <a:spcAft>
                          <a:spcPts val="0"/>
                        </a:spcAft>
                        <a:buClr>
                          <a:srgbClr val="000000"/>
                        </a:buClr>
                        <a:buSzPts val="1800"/>
                        <a:buFont typeface="Calibri"/>
                        <a:buNone/>
                      </a:pPr>
                      <a:r>
                        <a:rPr lang="en-US" sz="1400" b="1" u="none" strike="noStrike" cap="none" dirty="0">
                          <a:latin typeface="Calibri"/>
                          <a:ea typeface="Calibri"/>
                          <a:cs typeface="Calibri"/>
                          <a:sym typeface="Calibri"/>
                        </a:rPr>
                        <a:t>17</a:t>
                      </a:r>
                      <a:endParaRPr sz="1400" b="1" u="none" strike="noStrike" cap="none" dirty="0">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E2F3"/>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400" b="1" u="none" strike="noStrike" cap="none" dirty="0">
                          <a:latin typeface="Calibri"/>
                          <a:ea typeface="Calibri"/>
                          <a:cs typeface="Calibri"/>
                          <a:sym typeface="Calibri"/>
                        </a:rPr>
                        <a:t>18</a:t>
                      </a:r>
                      <a:endParaRPr sz="1400" b="1" u="none" strike="noStrike" cap="none" dirty="0">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E2F3"/>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400" b="1" u="none" strike="noStrike" cap="none" dirty="0">
                          <a:latin typeface="Calibri"/>
                          <a:ea typeface="Calibri"/>
                          <a:cs typeface="Calibri"/>
                          <a:sym typeface="Calibri"/>
                        </a:rPr>
                        <a:t>19</a:t>
                      </a:r>
                      <a:endParaRPr sz="1400" b="1" u="none" strike="noStrike" cap="none" dirty="0">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E2F3"/>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400" b="1" u="none" strike="noStrike" cap="none" dirty="0">
                          <a:latin typeface="Calibri"/>
                          <a:ea typeface="Calibri"/>
                          <a:cs typeface="Calibri"/>
                          <a:sym typeface="Calibri"/>
                        </a:rPr>
                        <a:t>20</a:t>
                      </a:r>
                      <a:endParaRPr sz="1400" b="1" u="none" strike="noStrike" cap="none" dirty="0">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E2F3"/>
                    </a:solidFill>
                  </a:tcPr>
                </a:tc>
                <a:extLst>
                  <a:ext uri="{0D108BD9-81ED-4DB2-BD59-A6C34878D82A}">
                    <a16:rowId xmlns:a16="http://schemas.microsoft.com/office/drawing/2014/main" val="10001"/>
                  </a:ext>
                </a:extLst>
              </a:tr>
              <a:tr h="969975">
                <a:tc>
                  <a:txBody>
                    <a:bodyPr/>
                    <a:lstStyle/>
                    <a:p>
                      <a:pPr marL="0" marR="0" lvl="0" indent="0" algn="l" rtl="0">
                        <a:lnSpc>
                          <a:spcPct val="100000"/>
                        </a:lnSpc>
                        <a:spcBef>
                          <a:spcPts val="0"/>
                        </a:spcBef>
                        <a:spcAft>
                          <a:spcPts val="0"/>
                        </a:spcAft>
                        <a:buClr>
                          <a:srgbClr val="000000"/>
                        </a:buClr>
                        <a:buSzPts val="1800"/>
                        <a:buFont typeface="Calibri"/>
                        <a:buNone/>
                      </a:pPr>
                      <a:r>
                        <a:rPr lang="en-US" sz="1400" b="1" u="none" strike="noStrike" cap="none" dirty="0">
                          <a:latin typeface="Calibri"/>
                          <a:ea typeface="Calibri"/>
                          <a:cs typeface="Calibri"/>
                          <a:sym typeface="Calibri"/>
                        </a:rPr>
                        <a:t>24</a:t>
                      </a:r>
                      <a:endParaRPr sz="1400" b="1" u="none" strike="noStrike" cap="none" dirty="0">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E2F3"/>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400" b="1" u="none" strike="noStrike" cap="none" dirty="0">
                          <a:latin typeface="Calibri"/>
                          <a:ea typeface="Calibri"/>
                          <a:cs typeface="Calibri"/>
                          <a:sym typeface="Calibri"/>
                        </a:rPr>
                        <a:t>25</a:t>
                      </a:r>
                      <a:endParaRPr sz="1400" b="1" u="none" strike="noStrike" cap="none" dirty="0">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5">
                        <a:lumMod val="20000"/>
                        <a:lumOff val="80000"/>
                      </a:schemeClr>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400" b="1" u="none" strike="noStrike" cap="none" dirty="0">
                          <a:latin typeface="Calibri"/>
                          <a:ea typeface="Calibri"/>
                          <a:cs typeface="Calibri"/>
                          <a:sym typeface="Calibri"/>
                        </a:rPr>
                        <a:t>26</a:t>
                      </a:r>
                      <a:endParaRPr sz="1400" b="1" u="none" strike="noStrike" cap="none" dirty="0">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E2F3"/>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400" b="1" u="none" strike="noStrike" cap="none" dirty="0">
                          <a:latin typeface="Calibri"/>
                          <a:ea typeface="Calibri"/>
                          <a:cs typeface="Calibri"/>
                          <a:sym typeface="Calibri"/>
                        </a:rPr>
                        <a:t>27</a:t>
                      </a:r>
                      <a:endParaRPr sz="1400" b="1" u="none" strike="noStrike" cap="none" dirty="0">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5">
                        <a:lumMod val="20000"/>
                        <a:lumOff val="80000"/>
                      </a:schemeClr>
                    </a:solidFill>
                  </a:tcPr>
                </a:tc>
                <a:extLst>
                  <a:ext uri="{0D108BD9-81ED-4DB2-BD59-A6C34878D82A}">
                    <a16:rowId xmlns:a16="http://schemas.microsoft.com/office/drawing/2014/main" val="10002"/>
                  </a:ext>
                </a:extLst>
              </a:tr>
              <a:tr h="969975">
                <a:tc>
                  <a:txBody>
                    <a:bodyPr/>
                    <a:lstStyle/>
                    <a:p>
                      <a:pPr marL="0" marR="0" lvl="0" indent="0" algn="l" rtl="0">
                        <a:lnSpc>
                          <a:spcPct val="100000"/>
                        </a:lnSpc>
                        <a:spcBef>
                          <a:spcPts val="0"/>
                        </a:spcBef>
                        <a:spcAft>
                          <a:spcPts val="0"/>
                        </a:spcAft>
                        <a:buClr>
                          <a:srgbClr val="000000"/>
                        </a:buClr>
                        <a:buSzPts val="1800"/>
                        <a:buFont typeface="Calibri"/>
                        <a:buNone/>
                      </a:pPr>
                      <a:r>
                        <a:rPr lang="en-US" sz="1400" b="1" i="0" u="none" strike="noStrike" cap="none" dirty="0">
                          <a:solidFill>
                            <a:srgbClr val="000000"/>
                          </a:solidFill>
                          <a:latin typeface="Calibri"/>
                          <a:ea typeface="Calibri"/>
                          <a:cs typeface="Calibri"/>
                          <a:sym typeface="Calibri"/>
                        </a:rPr>
                        <a:t>31</a:t>
                      </a:r>
                      <a:endParaRPr sz="1100" u="none" strike="noStrike" cap="none" dirty="0">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E2F3"/>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400" b="1" i="0" u="none" strike="noStrike" cap="none" dirty="0">
                          <a:solidFill>
                            <a:srgbClr val="000000"/>
                          </a:solidFill>
                          <a:latin typeface="Calibri"/>
                          <a:ea typeface="Calibri"/>
                          <a:cs typeface="Calibri"/>
                          <a:sym typeface="Calibri"/>
                        </a:rPr>
                        <a:t>1</a:t>
                      </a:r>
                      <a:endParaRPr sz="1100" u="none" strike="noStrike" cap="none" dirty="0">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E2F3"/>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400" b="1" i="0" u="none" strike="noStrike" cap="none" dirty="0">
                          <a:solidFill>
                            <a:srgbClr val="000000"/>
                          </a:solidFill>
                          <a:latin typeface="Calibri"/>
                          <a:ea typeface="Calibri"/>
                          <a:cs typeface="Calibri"/>
                          <a:sym typeface="Calibri"/>
                        </a:rPr>
                        <a:t>2</a:t>
                      </a:r>
                      <a:endParaRPr sz="1100" u="none" strike="noStrike" cap="none" dirty="0">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E2F3"/>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400" b="1" i="0" u="none" strike="noStrike" cap="none" dirty="0">
                          <a:solidFill>
                            <a:srgbClr val="000000"/>
                          </a:solidFill>
                          <a:latin typeface="Calibri"/>
                          <a:ea typeface="Calibri"/>
                          <a:cs typeface="Calibri"/>
                          <a:sym typeface="Calibri"/>
                        </a:rPr>
                        <a:t>3</a:t>
                      </a:r>
                      <a:endParaRPr sz="1100" u="none" strike="noStrike" cap="none" dirty="0">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E2F3"/>
                    </a:solidFill>
                  </a:tcPr>
                </a:tc>
                <a:extLst>
                  <a:ext uri="{0D108BD9-81ED-4DB2-BD59-A6C34878D82A}">
                    <a16:rowId xmlns:a16="http://schemas.microsoft.com/office/drawing/2014/main" val="10003"/>
                  </a:ext>
                </a:extLst>
              </a:tr>
              <a:tr h="969975">
                <a:tc>
                  <a:txBody>
                    <a:bodyPr/>
                    <a:lstStyle/>
                    <a:p>
                      <a:pPr marL="0" marR="0" lvl="0" indent="0" algn="l" rtl="0">
                        <a:lnSpc>
                          <a:spcPct val="100000"/>
                        </a:lnSpc>
                        <a:spcBef>
                          <a:spcPts val="0"/>
                        </a:spcBef>
                        <a:spcAft>
                          <a:spcPts val="0"/>
                        </a:spcAft>
                        <a:buClr>
                          <a:srgbClr val="000000"/>
                        </a:buClr>
                        <a:buSzPts val="1800"/>
                        <a:buFont typeface="Calibri"/>
                        <a:buNone/>
                      </a:pPr>
                      <a:r>
                        <a:rPr lang="en-US" sz="1400" b="1" u="none" strike="noStrike" cap="none" dirty="0">
                          <a:latin typeface="Calibri"/>
                          <a:ea typeface="Calibri"/>
                          <a:cs typeface="Calibri"/>
                          <a:sym typeface="Calibri"/>
                        </a:rPr>
                        <a:t>6</a:t>
                      </a:r>
                      <a:endParaRPr sz="1400" b="1" u="none" strike="noStrike" cap="none" dirty="0">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E2F3"/>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400" b="1" u="none" strike="noStrike" cap="none" dirty="0">
                          <a:latin typeface="Calibri"/>
                          <a:ea typeface="Calibri"/>
                          <a:cs typeface="Calibri"/>
                          <a:sym typeface="Calibri"/>
                        </a:rPr>
                        <a:t>7</a:t>
                      </a:r>
                      <a:endParaRPr sz="1400" b="1" u="none" strike="noStrike" cap="none" dirty="0">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E2F3"/>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400" b="1" u="none" strike="noStrike" cap="none" dirty="0">
                          <a:latin typeface="Calibri"/>
                          <a:ea typeface="Calibri"/>
                          <a:cs typeface="Calibri"/>
                          <a:sym typeface="Calibri"/>
                        </a:rPr>
                        <a:t>8</a:t>
                      </a:r>
                      <a:endParaRPr sz="1400" b="1" u="none" strike="noStrike" cap="none" dirty="0">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E2F3"/>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400" b="1" u="none" strike="noStrike" cap="none" dirty="0">
                          <a:latin typeface="Calibri"/>
                          <a:ea typeface="Calibri"/>
                          <a:cs typeface="Calibri"/>
                          <a:sym typeface="Calibri"/>
                        </a:rPr>
                        <a:t>9</a:t>
                      </a:r>
                      <a:endParaRPr sz="1400" b="1" u="none" strike="noStrike" cap="none" dirty="0">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E2F3"/>
                    </a:solidFill>
                  </a:tcPr>
                </a:tc>
                <a:extLst>
                  <a:ext uri="{0D108BD9-81ED-4DB2-BD59-A6C34878D82A}">
                    <a16:rowId xmlns:a16="http://schemas.microsoft.com/office/drawing/2014/main" val="10004"/>
                  </a:ext>
                </a:extLst>
              </a:tr>
            </a:tbl>
          </a:graphicData>
        </a:graphic>
      </p:graphicFrame>
      <p:sp>
        <p:nvSpPr>
          <p:cNvPr id="177" name="Google Shape;177;p12"/>
          <p:cNvSpPr txBox="1">
            <a:spLocks noGrp="1"/>
          </p:cNvSpPr>
          <p:nvPr>
            <p:ph type="title"/>
          </p:nvPr>
        </p:nvSpPr>
        <p:spPr>
          <a:xfrm>
            <a:off x="885825" y="1122903"/>
            <a:ext cx="7886700" cy="76345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s-ES" sz="2800" noProof="0" dirty="0"/>
              <a:t>Calendario </a:t>
            </a:r>
          </a:p>
        </p:txBody>
      </p:sp>
      <p:sp>
        <p:nvSpPr>
          <p:cNvPr id="178" name="Google Shape;178;p12"/>
          <p:cNvSpPr txBox="1"/>
          <p:nvPr/>
        </p:nvSpPr>
        <p:spPr>
          <a:xfrm>
            <a:off x="770696" y="2613275"/>
            <a:ext cx="2627841" cy="584775"/>
          </a:xfrm>
          <a:prstGeom prst="rect">
            <a:avLst/>
          </a:prstGeom>
          <a:noFill/>
          <a:ln w="38100" cap="flat" cmpd="sng">
            <a:no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rgbClr val="2F5496"/>
                </a:solidFill>
                <a:latin typeface="Calibri"/>
                <a:ea typeface="Calibri"/>
                <a:cs typeface="Calibri"/>
                <a:sym typeface="Calibri"/>
              </a:rPr>
              <a:t>S1 – </a:t>
            </a:r>
            <a:r>
              <a:rPr lang="en-US" sz="1600" b="1" dirty="0" err="1">
                <a:solidFill>
                  <a:srgbClr val="2F5496"/>
                </a:solidFill>
                <a:latin typeface="Calibri"/>
                <a:ea typeface="Calibri"/>
                <a:cs typeface="Calibri"/>
                <a:sym typeface="Calibri"/>
              </a:rPr>
              <a:t>Introducción</a:t>
            </a:r>
            <a:r>
              <a:rPr lang="en-US" sz="1600" b="1" dirty="0">
                <a:solidFill>
                  <a:srgbClr val="2F5496"/>
                </a:solidFill>
                <a:latin typeface="Calibri"/>
                <a:ea typeface="Calibri"/>
                <a:cs typeface="Calibri"/>
                <a:sym typeface="Calibri"/>
              </a:rPr>
              <a:t> a Big Data y Machine Learning  </a:t>
            </a:r>
            <a:endParaRPr dirty="0"/>
          </a:p>
        </p:txBody>
      </p:sp>
      <p:sp>
        <p:nvSpPr>
          <p:cNvPr id="179" name="Google Shape;179;p12"/>
          <p:cNvSpPr txBox="1"/>
          <p:nvPr/>
        </p:nvSpPr>
        <p:spPr>
          <a:xfrm>
            <a:off x="4738367" y="2613275"/>
            <a:ext cx="2627841" cy="541046"/>
          </a:xfrm>
          <a:prstGeom prst="rect">
            <a:avLst/>
          </a:prstGeom>
          <a:noFill/>
          <a:ln>
            <a:noFill/>
          </a:ln>
        </p:spPr>
        <p:txBody>
          <a:bodyPr spcFirstLastPara="1" wrap="square" lIns="91425" tIns="45700" rIns="91425" bIns="45700" anchor="t" anchorCtr="0">
            <a:noAutofit/>
          </a:bodyPr>
          <a:lstStyle/>
          <a:p>
            <a:pPr marL="0" marR="0" lvl="0" indent="0" algn="l" rtl="0">
              <a:lnSpc>
                <a:spcPct val="80000"/>
              </a:lnSpc>
              <a:spcBef>
                <a:spcPts val="0"/>
              </a:spcBef>
              <a:spcAft>
                <a:spcPts val="0"/>
              </a:spcAft>
              <a:buNone/>
            </a:pPr>
            <a:r>
              <a:rPr lang="en-US" sz="1600" b="1" dirty="0">
                <a:solidFill>
                  <a:schemeClr val="accent2">
                    <a:lumMod val="75000"/>
                  </a:schemeClr>
                </a:solidFill>
                <a:latin typeface="Calibri"/>
                <a:ea typeface="Calibri"/>
                <a:cs typeface="Calibri"/>
                <a:sym typeface="Calibri"/>
              </a:rPr>
              <a:t>S2 – </a:t>
            </a:r>
            <a:r>
              <a:rPr lang="en-US" sz="1600" b="1" dirty="0" err="1">
                <a:solidFill>
                  <a:schemeClr val="accent2">
                    <a:lumMod val="75000"/>
                  </a:schemeClr>
                </a:solidFill>
                <a:latin typeface="Calibri"/>
                <a:ea typeface="Calibri"/>
                <a:cs typeface="Calibri"/>
                <a:sym typeface="Calibri"/>
              </a:rPr>
              <a:t>Introducción</a:t>
            </a:r>
            <a:r>
              <a:rPr lang="en-US" sz="1600" b="1" dirty="0">
                <a:solidFill>
                  <a:schemeClr val="accent2">
                    <a:lumMod val="75000"/>
                  </a:schemeClr>
                </a:solidFill>
                <a:latin typeface="Calibri"/>
                <a:ea typeface="Calibri"/>
                <a:cs typeface="Calibri"/>
                <a:sym typeface="Calibri"/>
              </a:rPr>
              <a:t> a Python</a:t>
            </a:r>
            <a:endParaRPr sz="1600" b="1" dirty="0">
              <a:solidFill>
                <a:schemeClr val="accent2">
                  <a:lumMod val="75000"/>
                </a:schemeClr>
              </a:solidFill>
              <a:latin typeface="Calibri"/>
              <a:ea typeface="Calibri"/>
              <a:cs typeface="Calibri"/>
              <a:sym typeface="Calibri"/>
            </a:endParaRPr>
          </a:p>
        </p:txBody>
      </p:sp>
      <p:sp>
        <p:nvSpPr>
          <p:cNvPr id="180" name="Google Shape;180;p12"/>
          <p:cNvSpPr txBox="1"/>
          <p:nvPr/>
        </p:nvSpPr>
        <p:spPr>
          <a:xfrm>
            <a:off x="770698" y="3556308"/>
            <a:ext cx="2627841" cy="365126"/>
          </a:xfrm>
          <a:prstGeom prst="rect">
            <a:avLst/>
          </a:prstGeom>
          <a:noFill/>
          <a:ln>
            <a:noFill/>
          </a:ln>
        </p:spPr>
        <p:txBody>
          <a:bodyPr spcFirstLastPara="1" wrap="square" lIns="91425" tIns="45700" rIns="91425" bIns="45700" anchor="t" anchorCtr="0">
            <a:normAutofit/>
          </a:bodyPr>
          <a:lstStyle/>
          <a:p>
            <a:pPr marL="0" marR="0" lvl="0" indent="0" algn="l" rtl="0">
              <a:lnSpc>
                <a:spcPct val="80000"/>
              </a:lnSpc>
              <a:spcBef>
                <a:spcPts val="0"/>
              </a:spcBef>
              <a:spcAft>
                <a:spcPts val="0"/>
              </a:spcAft>
              <a:buClr>
                <a:srgbClr val="2F5496"/>
              </a:buClr>
              <a:buSzPts val="1600"/>
              <a:buFont typeface="Calibri"/>
              <a:buNone/>
            </a:pPr>
            <a:r>
              <a:rPr lang="en-US" sz="1600" b="1" dirty="0">
                <a:solidFill>
                  <a:schemeClr val="accent2">
                    <a:lumMod val="75000"/>
                  </a:schemeClr>
                </a:solidFill>
                <a:latin typeface="Calibri"/>
                <a:ea typeface="Calibri"/>
                <a:cs typeface="Calibri"/>
                <a:sym typeface="Calibri"/>
              </a:rPr>
              <a:t>S3 – </a:t>
            </a:r>
            <a:r>
              <a:rPr lang="en-US" sz="1600" b="1" dirty="0" err="1">
                <a:solidFill>
                  <a:schemeClr val="accent2">
                    <a:lumMod val="75000"/>
                  </a:schemeClr>
                </a:solidFill>
                <a:latin typeface="Calibri"/>
                <a:ea typeface="Calibri"/>
                <a:cs typeface="Calibri"/>
                <a:sym typeface="Calibri"/>
              </a:rPr>
              <a:t>Estadística</a:t>
            </a:r>
            <a:r>
              <a:rPr lang="en-US" sz="1600" b="1" dirty="0">
                <a:solidFill>
                  <a:schemeClr val="accent2">
                    <a:lumMod val="75000"/>
                  </a:schemeClr>
                </a:solidFill>
                <a:latin typeface="Calibri"/>
                <a:ea typeface="Calibri"/>
                <a:cs typeface="Calibri"/>
                <a:sym typeface="Calibri"/>
              </a:rPr>
              <a:t> </a:t>
            </a:r>
            <a:r>
              <a:rPr lang="en-US" sz="1600" b="1" dirty="0" err="1">
                <a:solidFill>
                  <a:schemeClr val="accent2">
                    <a:lumMod val="75000"/>
                  </a:schemeClr>
                </a:solidFill>
                <a:latin typeface="Calibri"/>
                <a:ea typeface="Calibri"/>
                <a:cs typeface="Calibri"/>
                <a:sym typeface="Calibri"/>
              </a:rPr>
              <a:t>descriptiva</a:t>
            </a:r>
            <a:endParaRPr dirty="0">
              <a:solidFill>
                <a:schemeClr val="accent2">
                  <a:lumMod val="75000"/>
                </a:schemeClr>
              </a:solidFill>
            </a:endParaRPr>
          </a:p>
        </p:txBody>
      </p:sp>
      <p:sp>
        <p:nvSpPr>
          <p:cNvPr id="181" name="Google Shape;181;p12"/>
          <p:cNvSpPr txBox="1"/>
          <p:nvPr/>
        </p:nvSpPr>
        <p:spPr>
          <a:xfrm>
            <a:off x="770695" y="5479374"/>
            <a:ext cx="2627841" cy="524330"/>
          </a:xfrm>
          <a:prstGeom prst="rect">
            <a:avLst/>
          </a:prstGeom>
          <a:noFill/>
          <a:ln>
            <a:noFill/>
          </a:ln>
        </p:spPr>
        <p:txBody>
          <a:bodyPr spcFirstLastPara="1" wrap="square" lIns="91425" tIns="45700" rIns="91425" bIns="45700" anchor="t" anchorCtr="0">
            <a:noAutofit/>
          </a:bodyPr>
          <a:lstStyle/>
          <a:p>
            <a:pPr marL="0" marR="0" lvl="0" indent="0" algn="l" rtl="0">
              <a:lnSpc>
                <a:spcPct val="80000"/>
              </a:lnSpc>
              <a:spcBef>
                <a:spcPts val="0"/>
              </a:spcBef>
              <a:spcAft>
                <a:spcPts val="0"/>
              </a:spcAft>
              <a:buNone/>
            </a:pPr>
            <a:r>
              <a:rPr lang="en-US" sz="1600" b="1" dirty="0">
                <a:solidFill>
                  <a:srgbClr val="E42352"/>
                </a:solidFill>
                <a:latin typeface="Calibri"/>
                <a:ea typeface="Calibri"/>
                <a:cs typeface="Calibri"/>
                <a:sym typeface="Calibri"/>
              </a:rPr>
              <a:t>S5 – </a:t>
            </a:r>
            <a:r>
              <a:rPr lang="en-US" sz="1600" b="1" dirty="0" err="1">
                <a:solidFill>
                  <a:srgbClr val="E42352"/>
                </a:solidFill>
                <a:latin typeface="Calibri"/>
                <a:ea typeface="Calibri"/>
                <a:cs typeface="Calibri"/>
                <a:sym typeface="Calibri"/>
              </a:rPr>
              <a:t>Modelos</a:t>
            </a:r>
            <a:r>
              <a:rPr lang="en-US" sz="1600" b="1" dirty="0">
                <a:solidFill>
                  <a:srgbClr val="E42352"/>
                </a:solidFill>
                <a:latin typeface="Calibri"/>
                <a:ea typeface="Calibri"/>
                <a:cs typeface="Calibri"/>
                <a:sym typeface="Calibri"/>
              </a:rPr>
              <a:t> de </a:t>
            </a:r>
            <a:r>
              <a:rPr lang="en-US" sz="1600" b="1" dirty="0" err="1">
                <a:solidFill>
                  <a:srgbClr val="E42352"/>
                </a:solidFill>
                <a:latin typeface="Calibri"/>
                <a:ea typeface="Calibri"/>
                <a:cs typeface="Calibri"/>
                <a:sym typeface="Calibri"/>
              </a:rPr>
              <a:t>aprendizaje</a:t>
            </a:r>
            <a:endParaRPr dirty="0">
              <a:solidFill>
                <a:srgbClr val="E42352"/>
              </a:solidFill>
            </a:endParaRPr>
          </a:p>
          <a:p>
            <a:pPr marL="0" marR="0" lvl="0" indent="0" algn="l" rtl="0">
              <a:lnSpc>
                <a:spcPct val="80000"/>
              </a:lnSpc>
              <a:spcBef>
                <a:spcPts val="0"/>
              </a:spcBef>
              <a:spcAft>
                <a:spcPts val="0"/>
              </a:spcAft>
              <a:buNone/>
            </a:pPr>
            <a:r>
              <a:rPr lang="en-US" sz="1600" b="1" dirty="0" err="1">
                <a:solidFill>
                  <a:srgbClr val="E42352"/>
                </a:solidFill>
                <a:latin typeface="Calibri"/>
                <a:ea typeface="Calibri"/>
                <a:cs typeface="Calibri"/>
                <a:sym typeface="Calibri"/>
              </a:rPr>
              <a:t>supervisado</a:t>
            </a:r>
            <a:r>
              <a:rPr lang="en-US" sz="1600" b="1" dirty="0">
                <a:solidFill>
                  <a:srgbClr val="E42352"/>
                </a:solidFill>
                <a:latin typeface="Calibri"/>
                <a:ea typeface="Calibri"/>
                <a:cs typeface="Calibri"/>
                <a:sym typeface="Calibri"/>
              </a:rPr>
              <a:t> (I): </a:t>
            </a:r>
            <a:r>
              <a:rPr lang="en-US" sz="1600" b="1" dirty="0" err="1">
                <a:solidFill>
                  <a:srgbClr val="E42352"/>
                </a:solidFill>
                <a:latin typeface="Calibri"/>
                <a:ea typeface="Calibri"/>
                <a:cs typeface="Calibri"/>
                <a:sym typeface="Calibri"/>
              </a:rPr>
              <a:t>Clasificación</a:t>
            </a:r>
            <a:endParaRPr dirty="0">
              <a:solidFill>
                <a:srgbClr val="E42352"/>
              </a:solidFill>
            </a:endParaRPr>
          </a:p>
        </p:txBody>
      </p:sp>
      <p:sp>
        <p:nvSpPr>
          <p:cNvPr id="182" name="Google Shape;182;p12"/>
          <p:cNvSpPr txBox="1"/>
          <p:nvPr/>
        </p:nvSpPr>
        <p:spPr>
          <a:xfrm>
            <a:off x="770695" y="4555664"/>
            <a:ext cx="2627841" cy="524330"/>
          </a:xfrm>
          <a:prstGeom prst="rect">
            <a:avLst/>
          </a:prstGeom>
          <a:noFill/>
          <a:ln>
            <a:noFill/>
          </a:ln>
        </p:spPr>
        <p:txBody>
          <a:bodyPr spcFirstLastPara="1" wrap="square" lIns="91425" tIns="45700" rIns="91425" bIns="45700" anchor="t" anchorCtr="0">
            <a:normAutofit/>
          </a:bodyPr>
          <a:lstStyle/>
          <a:p>
            <a:pPr marL="0" marR="0" lvl="0" indent="0" algn="l" rtl="0">
              <a:lnSpc>
                <a:spcPct val="80000"/>
              </a:lnSpc>
              <a:spcBef>
                <a:spcPts val="0"/>
              </a:spcBef>
              <a:spcAft>
                <a:spcPts val="0"/>
              </a:spcAft>
              <a:buClr>
                <a:srgbClr val="2F5496"/>
              </a:buClr>
              <a:buSzPts val="1600"/>
              <a:buFont typeface="Calibri"/>
              <a:buNone/>
            </a:pPr>
            <a:r>
              <a:rPr lang="en-US" sz="1600" b="1" dirty="0">
                <a:solidFill>
                  <a:srgbClr val="E42352"/>
                </a:solidFill>
                <a:latin typeface="Calibri"/>
                <a:ea typeface="Calibri"/>
                <a:cs typeface="Calibri"/>
                <a:sym typeface="Calibri"/>
              </a:rPr>
              <a:t>S7 – </a:t>
            </a:r>
            <a:r>
              <a:rPr lang="en-US" sz="1600" b="1" dirty="0" err="1">
                <a:solidFill>
                  <a:srgbClr val="E42352"/>
                </a:solidFill>
                <a:latin typeface="Calibri"/>
                <a:ea typeface="Calibri"/>
                <a:cs typeface="Calibri"/>
                <a:sym typeface="Calibri"/>
              </a:rPr>
              <a:t>Modelos</a:t>
            </a:r>
            <a:r>
              <a:rPr lang="en-US" sz="1600" b="1" dirty="0">
                <a:solidFill>
                  <a:srgbClr val="E42352"/>
                </a:solidFill>
                <a:latin typeface="Calibri"/>
                <a:ea typeface="Calibri"/>
                <a:cs typeface="Calibri"/>
                <a:sym typeface="Calibri"/>
              </a:rPr>
              <a:t> de </a:t>
            </a:r>
            <a:r>
              <a:rPr lang="en-US" sz="1600" b="1" dirty="0" err="1">
                <a:solidFill>
                  <a:srgbClr val="E42352"/>
                </a:solidFill>
                <a:latin typeface="Calibri"/>
                <a:ea typeface="Calibri"/>
                <a:cs typeface="Calibri"/>
                <a:sym typeface="Calibri"/>
              </a:rPr>
              <a:t>aprendizaje</a:t>
            </a:r>
            <a:endParaRPr dirty="0">
              <a:solidFill>
                <a:srgbClr val="E42352"/>
              </a:solidFill>
            </a:endParaRPr>
          </a:p>
          <a:p>
            <a:pPr marL="0" marR="0" lvl="0" indent="0" algn="l" rtl="0">
              <a:lnSpc>
                <a:spcPct val="80000"/>
              </a:lnSpc>
              <a:spcBef>
                <a:spcPts val="0"/>
              </a:spcBef>
              <a:spcAft>
                <a:spcPts val="0"/>
              </a:spcAft>
              <a:buClr>
                <a:srgbClr val="2F5496"/>
              </a:buClr>
              <a:buSzPts val="1600"/>
              <a:buFont typeface="Calibri"/>
              <a:buNone/>
            </a:pPr>
            <a:r>
              <a:rPr lang="en-US" sz="1600" b="1" dirty="0" err="1">
                <a:solidFill>
                  <a:srgbClr val="E42352"/>
                </a:solidFill>
                <a:latin typeface="Calibri"/>
                <a:ea typeface="Calibri"/>
                <a:cs typeface="Calibri"/>
                <a:sym typeface="Calibri"/>
              </a:rPr>
              <a:t>supervisado</a:t>
            </a:r>
            <a:r>
              <a:rPr lang="en-US" sz="1600" b="1" dirty="0">
                <a:solidFill>
                  <a:srgbClr val="E42352"/>
                </a:solidFill>
                <a:latin typeface="Calibri"/>
                <a:ea typeface="Calibri"/>
                <a:cs typeface="Calibri"/>
                <a:sym typeface="Calibri"/>
              </a:rPr>
              <a:t> (II): </a:t>
            </a:r>
            <a:r>
              <a:rPr lang="en-US" sz="1600" b="1" dirty="0" err="1">
                <a:solidFill>
                  <a:srgbClr val="E42352"/>
                </a:solidFill>
                <a:latin typeface="Calibri"/>
                <a:ea typeface="Calibri"/>
                <a:cs typeface="Calibri"/>
                <a:sym typeface="Calibri"/>
              </a:rPr>
              <a:t>Regresión</a:t>
            </a:r>
            <a:endParaRPr dirty="0">
              <a:solidFill>
                <a:srgbClr val="E42352"/>
              </a:solidFill>
            </a:endParaRPr>
          </a:p>
          <a:p>
            <a:pPr marL="0" marR="0" lvl="0" indent="0" algn="l" rtl="0">
              <a:lnSpc>
                <a:spcPct val="80000"/>
              </a:lnSpc>
              <a:spcBef>
                <a:spcPts val="0"/>
              </a:spcBef>
              <a:spcAft>
                <a:spcPts val="0"/>
              </a:spcAft>
              <a:buClr>
                <a:srgbClr val="2F5496"/>
              </a:buClr>
              <a:buSzPts val="1600"/>
              <a:buFont typeface="Calibri"/>
              <a:buNone/>
            </a:pPr>
            <a:endParaRPr sz="1600" b="1" dirty="0">
              <a:solidFill>
                <a:srgbClr val="E42352"/>
              </a:solidFill>
              <a:latin typeface="Calibri"/>
              <a:ea typeface="Calibri"/>
              <a:cs typeface="Calibri"/>
              <a:sym typeface="Calibri"/>
            </a:endParaRPr>
          </a:p>
        </p:txBody>
      </p:sp>
      <p:sp>
        <p:nvSpPr>
          <p:cNvPr id="183" name="Google Shape;183;p12"/>
          <p:cNvSpPr txBox="1"/>
          <p:nvPr/>
        </p:nvSpPr>
        <p:spPr>
          <a:xfrm>
            <a:off x="4700267" y="3556308"/>
            <a:ext cx="2627842" cy="524330"/>
          </a:xfrm>
          <a:prstGeom prst="rect">
            <a:avLst/>
          </a:prstGeom>
          <a:noFill/>
          <a:ln w="28575">
            <a:solidFill>
              <a:schemeClr val="tx1"/>
            </a:solidFill>
          </a:ln>
        </p:spPr>
        <p:txBody>
          <a:bodyPr spcFirstLastPara="1" wrap="square" lIns="91425" tIns="45700" rIns="91425" bIns="45700" anchor="t" anchorCtr="0">
            <a:normAutofit/>
          </a:bodyPr>
          <a:lstStyle/>
          <a:p>
            <a:pPr marL="0" marR="0" lvl="0" indent="0" algn="l" rtl="0">
              <a:lnSpc>
                <a:spcPct val="80000"/>
              </a:lnSpc>
              <a:spcBef>
                <a:spcPts val="0"/>
              </a:spcBef>
              <a:spcAft>
                <a:spcPts val="0"/>
              </a:spcAft>
              <a:buNone/>
            </a:pPr>
            <a:r>
              <a:rPr lang="en-US" sz="1600" b="1" dirty="0">
                <a:solidFill>
                  <a:srgbClr val="2F5496"/>
                </a:solidFill>
                <a:latin typeface="Calibri"/>
                <a:ea typeface="Calibri"/>
                <a:cs typeface="Calibri"/>
                <a:sym typeface="Calibri"/>
              </a:rPr>
              <a:t>S4 – </a:t>
            </a:r>
            <a:r>
              <a:rPr lang="en-US" sz="1600" b="1" dirty="0" err="1">
                <a:solidFill>
                  <a:srgbClr val="2F5496"/>
                </a:solidFill>
                <a:latin typeface="Calibri"/>
                <a:ea typeface="Calibri"/>
                <a:cs typeface="Calibri"/>
                <a:sym typeface="Calibri"/>
              </a:rPr>
              <a:t>Modelos</a:t>
            </a:r>
            <a:r>
              <a:rPr lang="en-US" sz="1600" b="1" dirty="0">
                <a:solidFill>
                  <a:srgbClr val="2F5496"/>
                </a:solidFill>
                <a:latin typeface="Calibri"/>
                <a:ea typeface="Calibri"/>
                <a:cs typeface="Calibri"/>
                <a:sym typeface="Calibri"/>
              </a:rPr>
              <a:t> de </a:t>
            </a:r>
            <a:r>
              <a:rPr lang="en-US" sz="1600" b="1" dirty="0" err="1">
                <a:solidFill>
                  <a:srgbClr val="2F5496"/>
                </a:solidFill>
                <a:latin typeface="Calibri"/>
                <a:ea typeface="Calibri"/>
                <a:cs typeface="Calibri"/>
                <a:sym typeface="Calibri"/>
              </a:rPr>
              <a:t>aprendizaje</a:t>
            </a:r>
            <a:r>
              <a:rPr lang="en-US" sz="1600" b="1" dirty="0">
                <a:solidFill>
                  <a:srgbClr val="2F5496"/>
                </a:solidFill>
                <a:latin typeface="Calibri"/>
                <a:ea typeface="Calibri"/>
                <a:cs typeface="Calibri"/>
                <a:sym typeface="Calibri"/>
              </a:rPr>
              <a:t> no </a:t>
            </a:r>
            <a:r>
              <a:rPr lang="en-US" sz="1600" b="1" dirty="0" err="1">
                <a:solidFill>
                  <a:srgbClr val="2F5496"/>
                </a:solidFill>
                <a:latin typeface="Calibri"/>
                <a:ea typeface="Calibri"/>
                <a:cs typeface="Calibri"/>
                <a:sym typeface="Calibri"/>
              </a:rPr>
              <a:t>supervisado</a:t>
            </a:r>
            <a:endParaRPr sz="1600" b="1" dirty="0">
              <a:solidFill>
                <a:srgbClr val="2F5496"/>
              </a:solidFill>
              <a:latin typeface="Calibri"/>
              <a:ea typeface="Calibri"/>
              <a:cs typeface="Calibri"/>
              <a:sym typeface="Calibri"/>
            </a:endParaRPr>
          </a:p>
        </p:txBody>
      </p:sp>
      <p:sp>
        <p:nvSpPr>
          <p:cNvPr id="184" name="Google Shape;184;p12"/>
          <p:cNvSpPr txBox="1"/>
          <p:nvPr/>
        </p:nvSpPr>
        <p:spPr>
          <a:xfrm>
            <a:off x="4738367" y="4497394"/>
            <a:ext cx="2658891" cy="541047"/>
          </a:xfrm>
          <a:prstGeom prst="rect">
            <a:avLst/>
          </a:prstGeom>
          <a:noFill/>
          <a:ln>
            <a:noFill/>
          </a:ln>
        </p:spPr>
        <p:txBody>
          <a:bodyPr spcFirstLastPara="1" wrap="square" lIns="91425" tIns="45700" rIns="91425" bIns="45700" anchor="t" anchorCtr="0">
            <a:normAutofit/>
          </a:bodyPr>
          <a:lstStyle/>
          <a:p>
            <a:pPr marL="0" marR="0" lvl="0" indent="0" algn="l" rtl="0">
              <a:lnSpc>
                <a:spcPct val="80000"/>
              </a:lnSpc>
              <a:spcBef>
                <a:spcPts val="0"/>
              </a:spcBef>
              <a:spcAft>
                <a:spcPts val="0"/>
              </a:spcAft>
              <a:buClr>
                <a:srgbClr val="2F5496"/>
              </a:buClr>
              <a:buSzPts val="1600"/>
              <a:buFont typeface="Calibri"/>
              <a:buNone/>
            </a:pPr>
            <a:r>
              <a:rPr lang="en-US" sz="1600" b="1" dirty="0">
                <a:solidFill>
                  <a:srgbClr val="2F5496"/>
                </a:solidFill>
                <a:latin typeface="Calibri"/>
                <a:ea typeface="Calibri"/>
                <a:cs typeface="Calibri"/>
                <a:sym typeface="Calibri"/>
              </a:rPr>
              <a:t>S6 – Image Recognition y IA de la </a:t>
            </a:r>
            <a:r>
              <a:rPr lang="en-US" sz="1600" b="1" dirty="0" err="1">
                <a:solidFill>
                  <a:srgbClr val="2F5496"/>
                </a:solidFill>
                <a:latin typeface="Calibri"/>
                <a:ea typeface="Calibri"/>
                <a:cs typeface="Calibri"/>
                <a:sym typeface="Calibri"/>
              </a:rPr>
              <a:t>nueva</a:t>
            </a:r>
            <a:r>
              <a:rPr lang="en-US" sz="1600" b="1" dirty="0">
                <a:solidFill>
                  <a:srgbClr val="2F5496"/>
                </a:solidFill>
                <a:latin typeface="Calibri"/>
                <a:ea typeface="Calibri"/>
                <a:cs typeface="Calibri"/>
                <a:sym typeface="Calibri"/>
              </a:rPr>
              <a:t> </a:t>
            </a:r>
            <a:r>
              <a:rPr lang="en-US" sz="1600" b="1" dirty="0" err="1">
                <a:solidFill>
                  <a:srgbClr val="2F5496"/>
                </a:solidFill>
                <a:latin typeface="Calibri"/>
                <a:ea typeface="Calibri"/>
                <a:cs typeface="Calibri"/>
                <a:sym typeface="Calibri"/>
              </a:rPr>
              <a:t>generación</a:t>
            </a:r>
            <a:endParaRPr sz="1600" b="1" dirty="0">
              <a:solidFill>
                <a:srgbClr val="2F5496"/>
              </a:solidFill>
              <a:latin typeface="Calibri"/>
              <a:ea typeface="Calibri"/>
              <a:cs typeface="Calibri"/>
              <a:sym typeface="Calibri"/>
            </a:endParaRPr>
          </a:p>
        </p:txBody>
      </p:sp>
      <p:sp>
        <p:nvSpPr>
          <p:cNvPr id="185" name="Google Shape;185;p12"/>
          <p:cNvSpPr txBox="1"/>
          <p:nvPr/>
        </p:nvSpPr>
        <p:spPr>
          <a:xfrm>
            <a:off x="4738367" y="5455197"/>
            <a:ext cx="2352030" cy="365126"/>
          </a:xfrm>
          <a:prstGeom prst="rect">
            <a:avLst/>
          </a:prstGeom>
          <a:noFill/>
          <a:ln>
            <a:noFill/>
          </a:ln>
        </p:spPr>
        <p:txBody>
          <a:bodyPr spcFirstLastPara="1" wrap="square" lIns="91425" tIns="45700" rIns="91425" bIns="45700" anchor="t" anchorCtr="0">
            <a:noAutofit/>
          </a:bodyPr>
          <a:lstStyle/>
          <a:p>
            <a:pPr marL="0" marR="0" lvl="0" indent="0" algn="l" rtl="0">
              <a:lnSpc>
                <a:spcPct val="80000"/>
              </a:lnSpc>
              <a:spcBef>
                <a:spcPts val="0"/>
              </a:spcBef>
              <a:spcAft>
                <a:spcPts val="0"/>
              </a:spcAft>
              <a:buClr>
                <a:srgbClr val="2F5496"/>
              </a:buClr>
              <a:buSzPts val="1600"/>
              <a:buFont typeface="Calibri"/>
              <a:buNone/>
            </a:pPr>
            <a:r>
              <a:rPr lang="en-US" sz="1600" b="1" dirty="0">
                <a:solidFill>
                  <a:srgbClr val="2F5496"/>
                </a:solidFill>
                <a:latin typeface="Calibri"/>
                <a:ea typeface="Calibri"/>
                <a:cs typeface="Calibri"/>
                <a:sym typeface="Calibri"/>
              </a:rPr>
              <a:t>S8 – </a:t>
            </a:r>
            <a:r>
              <a:rPr lang="en-US" sz="1600" b="1" dirty="0" err="1">
                <a:solidFill>
                  <a:srgbClr val="2F5496"/>
                </a:solidFill>
                <a:latin typeface="Calibri"/>
                <a:ea typeface="Calibri"/>
                <a:cs typeface="Calibri"/>
                <a:sym typeface="Calibri"/>
              </a:rPr>
              <a:t>Exámen</a:t>
            </a:r>
            <a:endParaRPr sz="1600" b="1" dirty="0">
              <a:solidFill>
                <a:srgbClr val="2F5496"/>
              </a:solidFill>
              <a:latin typeface="Calibri"/>
              <a:ea typeface="Calibri"/>
              <a:cs typeface="Calibri"/>
              <a:sym typeface="Calibri"/>
            </a:endParaRPr>
          </a:p>
        </p:txBody>
      </p:sp>
      <p:sp>
        <p:nvSpPr>
          <p:cNvPr id="186" name="Google Shape;186;p12"/>
          <p:cNvSpPr txBox="1"/>
          <p:nvPr/>
        </p:nvSpPr>
        <p:spPr>
          <a:xfrm rot="-5400000">
            <a:off x="-485338" y="3085584"/>
            <a:ext cx="1936756" cy="369332"/>
          </a:xfrm>
          <a:prstGeom prst="rect">
            <a:avLst/>
          </a:prstGeom>
          <a:solidFill>
            <a:srgbClr val="A3E0FF"/>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dirty="0" err="1">
                <a:solidFill>
                  <a:schemeClr val="dk1"/>
                </a:solidFill>
                <a:latin typeface="Calibri"/>
                <a:ea typeface="Calibri"/>
                <a:cs typeface="Calibri"/>
                <a:sym typeface="Calibri"/>
              </a:rPr>
              <a:t>Marzo</a:t>
            </a:r>
            <a:endParaRPr sz="1800" b="1" dirty="0">
              <a:solidFill>
                <a:schemeClr val="dk1"/>
              </a:solidFill>
              <a:latin typeface="Calibri"/>
              <a:ea typeface="Calibri"/>
              <a:cs typeface="Calibri"/>
              <a:sym typeface="Calibri"/>
            </a:endParaRPr>
          </a:p>
        </p:txBody>
      </p:sp>
      <p:sp>
        <p:nvSpPr>
          <p:cNvPr id="187" name="Google Shape;187;p12"/>
          <p:cNvSpPr txBox="1"/>
          <p:nvPr/>
        </p:nvSpPr>
        <p:spPr>
          <a:xfrm rot="-5400000">
            <a:off x="-485338" y="5022340"/>
            <a:ext cx="1936756" cy="369332"/>
          </a:xfrm>
          <a:prstGeom prst="rect">
            <a:avLst/>
          </a:prstGeom>
          <a:solidFill>
            <a:srgbClr val="B3FFB5"/>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dirty="0">
                <a:solidFill>
                  <a:schemeClr val="dk1"/>
                </a:solidFill>
                <a:latin typeface="Calibri"/>
                <a:ea typeface="Calibri"/>
                <a:cs typeface="Calibri"/>
                <a:sym typeface="Calibri"/>
              </a:rPr>
              <a:t>Abril</a:t>
            </a:r>
            <a:endParaRPr sz="1800" b="1" dirty="0">
              <a:solidFill>
                <a:schemeClr val="dk1"/>
              </a:solidFill>
              <a:latin typeface="Calibri"/>
              <a:ea typeface="Calibri"/>
              <a:cs typeface="Calibri"/>
              <a:sym typeface="Calibri"/>
            </a:endParaRPr>
          </a:p>
        </p:txBody>
      </p:sp>
      <p:sp>
        <p:nvSpPr>
          <p:cNvPr id="16" name="Google Shape;179;p12">
            <a:extLst>
              <a:ext uri="{FF2B5EF4-FFF2-40B4-BE49-F238E27FC236}">
                <a16:creationId xmlns:a16="http://schemas.microsoft.com/office/drawing/2014/main" id="{1A9B47B8-E1AC-4342-A996-97FB2FCDCFC1}"/>
              </a:ext>
            </a:extLst>
          </p:cNvPr>
          <p:cNvSpPr txBox="1"/>
          <p:nvPr/>
        </p:nvSpPr>
        <p:spPr>
          <a:xfrm>
            <a:off x="770695" y="6203957"/>
            <a:ext cx="2627841" cy="57596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b="1" dirty="0" err="1">
                <a:solidFill>
                  <a:srgbClr val="2F5496"/>
                </a:solidFill>
                <a:latin typeface="Calibri"/>
                <a:ea typeface="Calibri"/>
                <a:cs typeface="Calibri"/>
                <a:sym typeface="Calibri"/>
              </a:rPr>
              <a:t>Sesión</a:t>
            </a:r>
            <a:r>
              <a:rPr lang="en-US" sz="1600" b="1" dirty="0">
                <a:solidFill>
                  <a:srgbClr val="2F5496"/>
                </a:solidFill>
                <a:latin typeface="Calibri"/>
                <a:ea typeface="Calibri"/>
                <a:cs typeface="Calibri"/>
                <a:sym typeface="Calibri"/>
              </a:rPr>
              <a:t> Online</a:t>
            </a:r>
          </a:p>
          <a:p>
            <a:pPr marL="0" marR="0" lvl="0" indent="0" algn="l" rtl="0">
              <a:spcBef>
                <a:spcPts val="0"/>
              </a:spcBef>
              <a:spcAft>
                <a:spcPts val="0"/>
              </a:spcAft>
              <a:buNone/>
            </a:pPr>
            <a:r>
              <a:rPr lang="en-US" sz="1600" b="1" dirty="0" err="1">
                <a:solidFill>
                  <a:schemeClr val="accent2">
                    <a:lumMod val="75000"/>
                  </a:schemeClr>
                </a:solidFill>
                <a:latin typeface="Calibri"/>
                <a:ea typeface="Calibri"/>
                <a:cs typeface="Calibri"/>
                <a:sym typeface="Calibri"/>
              </a:rPr>
              <a:t>Sesión</a:t>
            </a:r>
            <a:r>
              <a:rPr lang="en-US" sz="1600" b="1" dirty="0">
                <a:solidFill>
                  <a:schemeClr val="accent2">
                    <a:lumMod val="75000"/>
                  </a:schemeClr>
                </a:solidFill>
                <a:latin typeface="Calibri"/>
                <a:ea typeface="Calibri"/>
                <a:cs typeface="Calibri"/>
                <a:sym typeface="Calibri"/>
              </a:rPr>
              <a:t> </a:t>
            </a:r>
            <a:r>
              <a:rPr lang="en-US" sz="1600" b="1" dirty="0" err="1">
                <a:solidFill>
                  <a:schemeClr val="accent2">
                    <a:lumMod val="75000"/>
                  </a:schemeClr>
                </a:solidFill>
                <a:latin typeface="Calibri"/>
                <a:ea typeface="Calibri"/>
                <a:cs typeface="Calibri"/>
                <a:sym typeface="Calibri"/>
              </a:rPr>
              <a:t>Presencial</a:t>
            </a:r>
            <a:endParaRPr sz="1600" b="1" dirty="0">
              <a:solidFill>
                <a:schemeClr val="accent2">
                  <a:lumMod val="75000"/>
                </a:schemeClr>
              </a:solidFill>
              <a:latin typeface="Calibri"/>
              <a:ea typeface="Calibri"/>
              <a:cs typeface="Calibri"/>
              <a:sym typeface="Calibri"/>
            </a:endParaRPr>
          </a:p>
        </p:txBody>
      </p:sp>
      <p:cxnSp>
        <p:nvCxnSpPr>
          <p:cNvPr id="3" name="Straight Arrow Connector 2">
            <a:extLst>
              <a:ext uri="{FF2B5EF4-FFF2-40B4-BE49-F238E27FC236}">
                <a16:creationId xmlns:a16="http://schemas.microsoft.com/office/drawing/2014/main" id="{7DEAB03A-C5BB-46C6-A39B-B88E2BCF912C}"/>
              </a:ext>
            </a:extLst>
          </p:cNvPr>
          <p:cNvCxnSpPr>
            <a:stCxn id="182" idx="2"/>
            <a:endCxn id="181" idx="0"/>
          </p:cNvCxnSpPr>
          <p:nvPr/>
        </p:nvCxnSpPr>
        <p:spPr>
          <a:xfrm>
            <a:off x="2084616" y="5079994"/>
            <a:ext cx="0" cy="399380"/>
          </a:xfrm>
          <a:prstGeom prst="straightConnector1">
            <a:avLst/>
          </a:prstGeom>
          <a:ln w="28575">
            <a:solidFill>
              <a:srgbClr val="E42352"/>
            </a:solidFill>
            <a:headEnd type="triangle"/>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F72B40EF-D53A-41AA-87B6-B9F74BA43E09}" type="slidenum">
              <a:rPr lang="es-ES" smtClean="0"/>
              <a:t>3</a:t>
            </a:fld>
            <a:endParaRPr lang="es-ES"/>
          </a:p>
        </p:txBody>
      </p:sp>
      <p:sp>
        <p:nvSpPr>
          <p:cNvPr id="3" name="CuadroTexto 2"/>
          <p:cNvSpPr txBox="1"/>
          <p:nvPr/>
        </p:nvSpPr>
        <p:spPr>
          <a:xfrm>
            <a:off x="1119045" y="2466146"/>
            <a:ext cx="7287248" cy="235295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err="1"/>
              <a:t>Diferenciar</a:t>
            </a:r>
            <a:r>
              <a:rPr lang="en-US" sz="2000" dirty="0"/>
              <a:t> el </a:t>
            </a:r>
            <a:r>
              <a:rPr lang="en-US" sz="2000" dirty="0" err="1"/>
              <a:t>aprendizaje</a:t>
            </a:r>
            <a:r>
              <a:rPr lang="en-US" sz="2000" dirty="0"/>
              <a:t> </a:t>
            </a:r>
            <a:r>
              <a:rPr lang="en-US" sz="2000" b="1" dirty="0" err="1"/>
              <a:t>Supervisado</a:t>
            </a:r>
            <a:r>
              <a:rPr lang="en-US" sz="2000" dirty="0"/>
              <a:t> y </a:t>
            </a:r>
            <a:r>
              <a:rPr lang="en-US" sz="2000" b="1" dirty="0"/>
              <a:t>No </a:t>
            </a:r>
            <a:r>
              <a:rPr lang="en-US" sz="2000" b="1" dirty="0" err="1"/>
              <a:t>Supervisado</a:t>
            </a:r>
            <a:r>
              <a:rPr lang="en-US" sz="2000" dirty="0"/>
              <a:t>.</a:t>
            </a:r>
          </a:p>
          <a:p>
            <a:pPr marL="285750" indent="-285750">
              <a:lnSpc>
                <a:spcPct val="150000"/>
              </a:lnSpc>
              <a:buFont typeface="Arial" panose="020B0604020202020204" pitchFamily="34" charset="0"/>
              <a:buChar char="•"/>
            </a:pPr>
            <a:r>
              <a:rPr lang="en-US" sz="2000" dirty="0" err="1"/>
              <a:t>Conocer</a:t>
            </a:r>
            <a:r>
              <a:rPr lang="en-US" sz="2000" dirty="0"/>
              <a:t> los </a:t>
            </a:r>
            <a:r>
              <a:rPr lang="en-US" sz="2000" dirty="0" err="1"/>
              <a:t>algoritmos</a:t>
            </a:r>
            <a:r>
              <a:rPr lang="en-US" sz="2000" dirty="0"/>
              <a:t> </a:t>
            </a:r>
            <a:r>
              <a:rPr lang="en-US" sz="2000" dirty="0" err="1"/>
              <a:t>utilizados</a:t>
            </a:r>
            <a:r>
              <a:rPr lang="en-US" sz="2000" dirty="0"/>
              <a:t> </a:t>
            </a:r>
            <a:r>
              <a:rPr lang="en-US" sz="2000" dirty="0" err="1"/>
              <a:t>en</a:t>
            </a:r>
            <a:r>
              <a:rPr lang="en-US" sz="2000" dirty="0"/>
              <a:t> </a:t>
            </a:r>
            <a:r>
              <a:rPr lang="en-US" sz="2000" b="1" dirty="0" err="1"/>
              <a:t>Aprendizaje</a:t>
            </a:r>
            <a:r>
              <a:rPr lang="en-US" sz="2000" b="1" dirty="0"/>
              <a:t> No </a:t>
            </a:r>
            <a:r>
              <a:rPr lang="en-US" sz="2000" b="1" dirty="0" err="1"/>
              <a:t>Supervisado</a:t>
            </a:r>
            <a:r>
              <a:rPr lang="en-US" sz="2000" dirty="0"/>
              <a:t>.</a:t>
            </a:r>
          </a:p>
          <a:p>
            <a:pPr marL="285750" indent="-285750">
              <a:lnSpc>
                <a:spcPct val="150000"/>
              </a:lnSpc>
              <a:buFont typeface="Arial" panose="020B0604020202020204" pitchFamily="34" charset="0"/>
              <a:buChar char="•"/>
            </a:pPr>
            <a:r>
              <a:rPr lang="en-US" sz="2000" b="1" dirty="0" err="1"/>
              <a:t>Aplicaciones</a:t>
            </a:r>
            <a:r>
              <a:rPr lang="en-US" sz="2000" dirty="0"/>
              <a:t> del clustering.</a:t>
            </a:r>
          </a:p>
          <a:p>
            <a:pPr marL="285750" indent="-285750">
              <a:lnSpc>
                <a:spcPct val="150000"/>
              </a:lnSpc>
              <a:buFont typeface="Arial" panose="020B0604020202020204" pitchFamily="34" charset="0"/>
              <a:buChar char="•"/>
            </a:pPr>
            <a:r>
              <a:rPr lang="en-US" sz="2000" b="1" dirty="0" err="1"/>
              <a:t>Métricas</a:t>
            </a:r>
            <a:r>
              <a:rPr lang="en-US" sz="2000" dirty="0"/>
              <a:t> para </a:t>
            </a:r>
            <a:r>
              <a:rPr lang="en-US" sz="2000" dirty="0" err="1"/>
              <a:t>encontrar</a:t>
            </a:r>
            <a:r>
              <a:rPr lang="en-US" sz="2000" dirty="0"/>
              <a:t> el </a:t>
            </a:r>
            <a:r>
              <a:rPr lang="en-US" sz="2000" dirty="0" err="1"/>
              <a:t>número</a:t>
            </a:r>
            <a:r>
              <a:rPr lang="en-US" sz="2000" dirty="0"/>
              <a:t> </a:t>
            </a:r>
            <a:r>
              <a:rPr lang="en-US" sz="2000" dirty="0" err="1"/>
              <a:t>óptimo</a:t>
            </a:r>
            <a:r>
              <a:rPr lang="en-US" sz="2000" dirty="0"/>
              <a:t> de clusters.</a:t>
            </a:r>
          </a:p>
          <a:p>
            <a:pPr marL="285750" indent="-285750">
              <a:lnSpc>
                <a:spcPct val="150000"/>
              </a:lnSpc>
              <a:buFont typeface="Arial" panose="020B0604020202020204" pitchFamily="34" charset="0"/>
              <a:buChar char="•"/>
            </a:pPr>
            <a:r>
              <a:rPr lang="ca-ES" sz="2000" dirty="0"/>
              <a:t>J</a:t>
            </a:r>
            <a:r>
              <a:rPr lang="en-US" sz="2000" dirty="0" err="1"/>
              <a:t>upyter</a:t>
            </a:r>
            <a:r>
              <a:rPr lang="en-US" sz="2000" dirty="0"/>
              <a:t> Notebook.</a:t>
            </a:r>
          </a:p>
        </p:txBody>
      </p:sp>
      <p:sp>
        <p:nvSpPr>
          <p:cNvPr id="8" name="Elipse 7">
            <a:extLst>
              <a:ext uri="{FF2B5EF4-FFF2-40B4-BE49-F238E27FC236}">
                <a16:creationId xmlns:a16="http://schemas.microsoft.com/office/drawing/2014/main" id="{452B6126-B404-41FD-912A-365287D17DB7}"/>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9" name="Imagen 8">
            <a:extLst>
              <a:ext uri="{FF2B5EF4-FFF2-40B4-BE49-F238E27FC236}">
                <a16:creationId xmlns:a16="http://schemas.microsoft.com/office/drawing/2014/main" id="{A40C02F8-96A6-4D38-B7E8-5996ADAD05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2607" y="1259257"/>
            <a:ext cx="553521" cy="553521"/>
          </a:xfrm>
          <a:prstGeom prst="rect">
            <a:avLst/>
          </a:prstGeom>
        </p:spPr>
      </p:pic>
      <p:sp>
        <p:nvSpPr>
          <p:cNvPr id="10" name="Título 1">
            <a:extLst>
              <a:ext uri="{FF2B5EF4-FFF2-40B4-BE49-F238E27FC236}">
                <a16:creationId xmlns:a16="http://schemas.microsoft.com/office/drawing/2014/main" id="{7726EB86-DC28-442A-A886-08E163A4306F}"/>
              </a:ext>
            </a:extLst>
          </p:cNvPr>
          <p:cNvSpPr txBox="1">
            <a:spLocks/>
          </p:cNvSpPr>
          <p:nvPr/>
        </p:nvSpPr>
        <p:spPr>
          <a:xfrm>
            <a:off x="1044392" y="1198152"/>
            <a:ext cx="4584605" cy="763455"/>
          </a:xfrm>
          <a:prstGeom prst="rect">
            <a:avLst/>
          </a:prstGeom>
        </p:spPr>
        <p:txBody>
          <a:bodyPr vert="horz" lIns="91440" tIns="45720" rIns="91440" bIns="45720" rtlCol="0" anchor="ctr">
            <a:normAutofit/>
          </a:bodyPr>
          <a:lstStyle>
            <a:lvl1pPr algn="ctr" defTabSz="914377" rtl="0" eaLnBrk="1" latinLnBrk="0" hangingPunct="1">
              <a:lnSpc>
                <a:spcPct val="90000"/>
              </a:lnSpc>
              <a:spcBef>
                <a:spcPct val="0"/>
              </a:spcBef>
              <a:buNone/>
              <a:defRPr sz="4000" kern="1200">
                <a:solidFill>
                  <a:schemeClr val="tx1"/>
                </a:solidFill>
                <a:latin typeface="+mj-lt"/>
                <a:ea typeface="+mj-ea"/>
                <a:cs typeface="+mj-cs"/>
              </a:defRPr>
            </a:lvl1pPr>
          </a:lstStyle>
          <a:p>
            <a:pPr algn="l"/>
            <a:r>
              <a:rPr lang="es-ES" sz="2400" b="1" dirty="0"/>
              <a:t>Objetivos de la sesión</a:t>
            </a:r>
          </a:p>
        </p:txBody>
      </p:sp>
      <p:cxnSp>
        <p:nvCxnSpPr>
          <p:cNvPr id="11" name="Conector recto 10">
            <a:extLst>
              <a:ext uri="{FF2B5EF4-FFF2-40B4-BE49-F238E27FC236}">
                <a16:creationId xmlns:a16="http://schemas.microsoft.com/office/drawing/2014/main" id="{518096BB-C784-4E06-B59B-0E1BAA8E344E}"/>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7743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F72B40EF-D53A-41AA-87B6-B9F74BA43E09}" type="slidenum">
              <a:rPr lang="es-ES" smtClean="0"/>
              <a:t>4</a:t>
            </a:fld>
            <a:endParaRPr lang="es-ES"/>
          </a:p>
        </p:txBody>
      </p:sp>
      <p:sp>
        <p:nvSpPr>
          <p:cNvPr id="3" name="CuadroTexto 2"/>
          <p:cNvSpPr txBox="1"/>
          <p:nvPr/>
        </p:nvSpPr>
        <p:spPr>
          <a:xfrm>
            <a:off x="699944" y="2247071"/>
            <a:ext cx="8291655" cy="2805063"/>
          </a:xfrm>
          <a:prstGeom prst="rect">
            <a:avLst/>
          </a:prstGeom>
          <a:noFill/>
        </p:spPr>
        <p:txBody>
          <a:bodyPr wrap="square" rtlCol="0">
            <a:spAutoFit/>
          </a:bodyPr>
          <a:lstStyle/>
          <a:p>
            <a:pPr>
              <a:lnSpc>
                <a:spcPct val="150000"/>
              </a:lnSpc>
            </a:pPr>
            <a:r>
              <a:rPr lang="en-US" sz="2400" b="1" dirty="0" err="1">
                <a:solidFill>
                  <a:srgbClr val="006DA5"/>
                </a:solidFill>
              </a:rPr>
              <a:t>Diferenciar</a:t>
            </a:r>
            <a:r>
              <a:rPr lang="en-US" sz="2400" b="1" dirty="0">
                <a:solidFill>
                  <a:srgbClr val="006DA5"/>
                </a:solidFill>
              </a:rPr>
              <a:t> el </a:t>
            </a:r>
            <a:r>
              <a:rPr lang="en-US" sz="2400" b="1" dirty="0" err="1">
                <a:solidFill>
                  <a:srgbClr val="006DA5"/>
                </a:solidFill>
              </a:rPr>
              <a:t>aprendizaje</a:t>
            </a:r>
            <a:r>
              <a:rPr lang="en-US" sz="2400" b="1" dirty="0">
                <a:solidFill>
                  <a:srgbClr val="006DA5"/>
                </a:solidFill>
              </a:rPr>
              <a:t> </a:t>
            </a:r>
            <a:r>
              <a:rPr lang="en-US" sz="2400" b="1" dirty="0" err="1">
                <a:solidFill>
                  <a:srgbClr val="006DA5"/>
                </a:solidFill>
              </a:rPr>
              <a:t>Supervisado</a:t>
            </a:r>
            <a:r>
              <a:rPr lang="en-US" sz="2400" b="1" dirty="0">
                <a:solidFill>
                  <a:srgbClr val="006DA5"/>
                </a:solidFill>
              </a:rPr>
              <a:t> y No </a:t>
            </a:r>
            <a:r>
              <a:rPr lang="en-US" sz="2400" b="1" dirty="0" err="1">
                <a:solidFill>
                  <a:srgbClr val="006DA5"/>
                </a:solidFill>
              </a:rPr>
              <a:t>Supervisado</a:t>
            </a:r>
            <a:r>
              <a:rPr lang="en-US" sz="2400" b="1" dirty="0">
                <a:solidFill>
                  <a:srgbClr val="006DA5"/>
                </a:solidFill>
              </a:rPr>
              <a:t>.</a:t>
            </a:r>
          </a:p>
          <a:p>
            <a:pPr>
              <a:lnSpc>
                <a:spcPct val="150000"/>
              </a:lnSpc>
            </a:pPr>
            <a:r>
              <a:rPr lang="en-US" sz="2400" dirty="0" err="1">
                <a:solidFill>
                  <a:schemeClr val="bg1">
                    <a:lumMod val="75000"/>
                  </a:schemeClr>
                </a:solidFill>
                <a:latin typeface="+mj-lt"/>
              </a:rPr>
              <a:t>Algoritmos</a:t>
            </a:r>
            <a:r>
              <a:rPr lang="en-US" sz="2400" dirty="0">
                <a:solidFill>
                  <a:schemeClr val="bg1">
                    <a:lumMod val="75000"/>
                  </a:schemeClr>
                </a:solidFill>
                <a:latin typeface="+mj-lt"/>
              </a:rPr>
              <a:t> </a:t>
            </a:r>
            <a:r>
              <a:rPr lang="en-US" sz="2400" dirty="0" err="1">
                <a:solidFill>
                  <a:schemeClr val="bg1">
                    <a:lumMod val="75000"/>
                  </a:schemeClr>
                </a:solidFill>
                <a:latin typeface="+mj-lt"/>
              </a:rPr>
              <a:t>utilizados</a:t>
            </a:r>
            <a:r>
              <a:rPr lang="en-US" sz="2400" dirty="0">
                <a:solidFill>
                  <a:schemeClr val="bg1">
                    <a:lumMod val="75000"/>
                  </a:schemeClr>
                </a:solidFill>
                <a:latin typeface="+mj-lt"/>
              </a:rPr>
              <a:t> </a:t>
            </a:r>
            <a:r>
              <a:rPr lang="en-US" sz="2400" dirty="0" err="1">
                <a:solidFill>
                  <a:schemeClr val="bg1">
                    <a:lumMod val="75000"/>
                  </a:schemeClr>
                </a:solidFill>
                <a:latin typeface="+mj-lt"/>
              </a:rPr>
              <a:t>en</a:t>
            </a:r>
            <a:r>
              <a:rPr lang="en-US" sz="2400" dirty="0">
                <a:solidFill>
                  <a:schemeClr val="bg1">
                    <a:lumMod val="75000"/>
                  </a:schemeClr>
                </a:solidFill>
                <a:latin typeface="+mj-lt"/>
              </a:rPr>
              <a:t> </a:t>
            </a:r>
            <a:r>
              <a:rPr lang="en-US" sz="2400" b="1" dirty="0" err="1">
                <a:solidFill>
                  <a:schemeClr val="bg1">
                    <a:lumMod val="75000"/>
                  </a:schemeClr>
                </a:solidFill>
                <a:latin typeface="+mj-lt"/>
              </a:rPr>
              <a:t>Aprendizaje</a:t>
            </a:r>
            <a:r>
              <a:rPr lang="en-US" sz="2400" b="1" dirty="0">
                <a:solidFill>
                  <a:schemeClr val="bg1">
                    <a:lumMod val="75000"/>
                  </a:schemeClr>
                </a:solidFill>
                <a:latin typeface="+mj-lt"/>
              </a:rPr>
              <a:t> No </a:t>
            </a:r>
            <a:r>
              <a:rPr lang="en-US" sz="2400" b="1" dirty="0" err="1">
                <a:solidFill>
                  <a:schemeClr val="bg1">
                    <a:lumMod val="75000"/>
                  </a:schemeClr>
                </a:solidFill>
                <a:latin typeface="+mj-lt"/>
              </a:rPr>
              <a:t>Supervisado</a:t>
            </a:r>
            <a:r>
              <a:rPr lang="en-US" sz="2400" dirty="0">
                <a:solidFill>
                  <a:schemeClr val="bg1">
                    <a:lumMod val="75000"/>
                  </a:schemeClr>
                </a:solidFill>
                <a:latin typeface="+mj-lt"/>
              </a:rPr>
              <a:t>.</a:t>
            </a:r>
          </a:p>
          <a:p>
            <a:pPr>
              <a:lnSpc>
                <a:spcPct val="150000"/>
              </a:lnSpc>
            </a:pPr>
            <a:r>
              <a:rPr lang="en-US" sz="2400" b="1" dirty="0" err="1">
                <a:solidFill>
                  <a:schemeClr val="bg1">
                    <a:lumMod val="75000"/>
                  </a:schemeClr>
                </a:solidFill>
              </a:rPr>
              <a:t>Métricas</a:t>
            </a:r>
            <a:r>
              <a:rPr lang="en-US" sz="2400" dirty="0">
                <a:solidFill>
                  <a:schemeClr val="bg1">
                    <a:lumMod val="75000"/>
                  </a:schemeClr>
                </a:solidFill>
              </a:rPr>
              <a:t> para </a:t>
            </a:r>
            <a:r>
              <a:rPr lang="en-US" sz="2400" dirty="0" err="1">
                <a:solidFill>
                  <a:schemeClr val="bg1">
                    <a:lumMod val="75000"/>
                  </a:schemeClr>
                </a:solidFill>
              </a:rPr>
              <a:t>encontrar</a:t>
            </a:r>
            <a:r>
              <a:rPr lang="en-US" sz="2400" dirty="0">
                <a:solidFill>
                  <a:schemeClr val="bg1">
                    <a:lumMod val="75000"/>
                  </a:schemeClr>
                </a:solidFill>
              </a:rPr>
              <a:t> el </a:t>
            </a:r>
            <a:r>
              <a:rPr lang="en-US" sz="2400" dirty="0" err="1">
                <a:solidFill>
                  <a:schemeClr val="bg1">
                    <a:lumMod val="75000"/>
                  </a:schemeClr>
                </a:solidFill>
              </a:rPr>
              <a:t>número</a:t>
            </a:r>
            <a:r>
              <a:rPr lang="en-US" sz="2400" dirty="0">
                <a:solidFill>
                  <a:schemeClr val="bg1">
                    <a:lumMod val="75000"/>
                  </a:schemeClr>
                </a:solidFill>
              </a:rPr>
              <a:t> </a:t>
            </a:r>
            <a:r>
              <a:rPr lang="en-US" sz="2400" dirty="0" err="1">
                <a:solidFill>
                  <a:schemeClr val="bg1">
                    <a:lumMod val="75000"/>
                  </a:schemeClr>
                </a:solidFill>
              </a:rPr>
              <a:t>óptimo</a:t>
            </a:r>
            <a:r>
              <a:rPr lang="en-US" sz="2400" dirty="0">
                <a:solidFill>
                  <a:schemeClr val="bg1">
                    <a:lumMod val="75000"/>
                  </a:schemeClr>
                </a:solidFill>
              </a:rPr>
              <a:t> de clusters.</a:t>
            </a:r>
            <a:endParaRPr lang="en-US" sz="2400" dirty="0">
              <a:solidFill>
                <a:schemeClr val="bg1">
                  <a:lumMod val="75000"/>
                </a:schemeClr>
              </a:solidFill>
              <a:latin typeface="+mj-lt"/>
            </a:endParaRPr>
          </a:p>
          <a:p>
            <a:pPr>
              <a:lnSpc>
                <a:spcPct val="150000"/>
              </a:lnSpc>
            </a:pPr>
            <a:r>
              <a:rPr lang="en-US" sz="2400" b="1" dirty="0" err="1">
                <a:solidFill>
                  <a:schemeClr val="bg1">
                    <a:lumMod val="75000"/>
                  </a:schemeClr>
                </a:solidFill>
                <a:latin typeface="+mj-lt"/>
              </a:rPr>
              <a:t>Aplicaciones</a:t>
            </a:r>
            <a:r>
              <a:rPr lang="en-US" sz="2400" dirty="0">
                <a:solidFill>
                  <a:schemeClr val="bg1">
                    <a:lumMod val="75000"/>
                  </a:schemeClr>
                </a:solidFill>
                <a:latin typeface="+mj-lt"/>
              </a:rPr>
              <a:t> del clustering.</a:t>
            </a:r>
          </a:p>
          <a:p>
            <a:pPr>
              <a:lnSpc>
                <a:spcPct val="150000"/>
              </a:lnSpc>
            </a:pPr>
            <a:r>
              <a:rPr lang="en-US" sz="2400" dirty="0" err="1">
                <a:solidFill>
                  <a:schemeClr val="bg1">
                    <a:lumMod val="75000"/>
                  </a:schemeClr>
                </a:solidFill>
              </a:rPr>
              <a:t>Reducción</a:t>
            </a:r>
            <a:r>
              <a:rPr lang="en-US" sz="2400" dirty="0">
                <a:solidFill>
                  <a:schemeClr val="bg1">
                    <a:lumMod val="75000"/>
                  </a:schemeClr>
                </a:solidFill>
              </a:rPr>
              <a:t> de </a:t>
            </a:r>
            <a:r>
              <a:rPr lang="en-US" sz="2400" dirty="0" err="1">
                <a:solidFill>
                  <a:schemeClr val="bg1">
                    <a:lumMod val="75000"/>
                  </a:schemeClr>
                </a:solidFill>
              </a:rPr>
              <a:t>dimensiones</a:t>
            </a:r>
            <a:r>
              <a:rPr lang="en-US" sz="2400" dirty="0">
                <a:solidFill>
                  <a:schemeClr val="bg1">
                    <a:lumMod val="75000"/>
                  </a:schemeClr>
                </a:solidFill>
              </a:rPr>
              <a:t>.</a:t>
            </a:r>
            <a:endParaRPr lang="en-US" sz="2000" dirty="0"/>
          </a:p>
        </p:txBody>
      </p:sp>
    </p:spTree>
    <p:extLst>
      <p:ext uri="{BB962C8B-B14F-4D97-AF65-F5344CB8AC3E}">
        <p14:creationId xmlns:p14="http://schemas.microsoft.com/office/powerpoint/2010/main" val="32352027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redondeado 4"/>
          <p:cNvSpPr/>
          <p:nvPr/>
        </p:nvSpPr>
        <p:spPr>
          <a:xfrm>
            <a:off x="3223260" y="2881963"/>
            <a:ext cx="5692140" cy="3015917"/>
          </a:xfrm>
          <a:prstGeom prst="roundRect">
            <a:avLst/>
          </a:prstGeom>
          <a:solidFill>
            <a:srgbClr val="CEE1F2"/>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Marcador de número de diapositiva 3"/>
          <p:cNvSpPr>
            <a:spLocks noGrp="1"/>
          </p:cNvSpPr>
          <p:nvPr>
            <p:ph type="sldNum" sz="quarter" idx="12"/>
          </p:nvPr>
        </p:nvSpPr>
        <p:spPr/>
        <p:txBody>
          <a:bodyPr/>
          <a:lstStyle/>
          <a:p>
            <a:fld id="{F72B40EF-D53A-41AA-87B6-B9F74BA43E09}" type="slidenum">
              <a:rPr lang="es-ES" smtClean="0"/>
              <a:t>5</a:t>
            </a:fld>
            <a:endParaRPr lang="es-ES"/>
          </a:p>
        </p:txBody>
      </p:sp>
      <p:sp>
        <p:nvSpPr>
          <p:cNvPr id="17" name="Rectángulo redondeado 16"/>
          <p:cNvSpPr/>
          <p:nvPr/>
        </p:nvSpPr>
        <p:spPr>
          <a:xfrm>
            <a:off x="406155" y="3130323"/>
            <a:ext cx="2685387" cy="736470"/>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000" dirty="0"/>
              <a:t>Aprendizaje Supervisado</a:t>
            </a:r>
            <a:endParaRPr lang="en-US" sz="2000" dirty="0"/>
          </a:p>
        </p:txBody>
      </p:sp>
      <p:sp>
        <p:nvSpPr>
          <p:cNvPr id="18" name="Rectángulo redondeado 17"/>
          <p:cNvSpPr/>
          <p:nvPr/>
        </p:nvSpPr>
        <p:spPr>
          <a:xfrm>
            <a:off x="3420626" y="3130322"/>
            <a:ext cx="2877880" cy="702917"/>
          </a:xfrm>
          <a:prstGeom prst="round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000" dirty="0"/>
              <a:t>Aprendizaje NO Supervisado</a:t>
            </a:r>
            <a:endParaRPr lang="en-US" sz="2000" dirty="0"/>
          </a:p>
        </p:txBody>
      </p:sp>
      <p:sp>
        <p:nvSpPr>
          <p:cNvPr id="19" name="Rectángulo redondeado 18"/>
          <p:cNvSpPr/>
          <p:nvPr/>
        </p:nvSpPr>
        <p:spPr>
          <a:xfrm>
            <a:off x="6627590" y="3130322"/>
            <a:ext cx="2084401" cy="709268"/>
          </a:xfrm>
          <a:prstGeom prst="round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000" dirty="0" err="1"/>
              <a:t>Reinforcement</a:t>
            </a:r>
            <a:r>
              <a:rPr lang="es-ES" sz="2000" dirty="0"/>
              <a:t> </a:t>
            </a:r>
            <a:r>
              <a:rPr lang="es-ES" sz="2000" dirty="0" err="1"/>
              <a:t>Learning</a:t>
            </a:r>
            <a:endParaRPr lang="en-US" sz="2000" dirty="0"/>
          </a:p>
        </p:txBody>
      </p:sp>
      <p:sp>
        <p:nvSpPr>
          <p:cNvPr id="20" name="Rectángulo redondeado 19"/>
          <p:cNvSpPr/>
          <p:nvPr/>
        </p:nvSpPr>
        <p:spPr>
          <a:xfrm>
            <a:off x="406155" y="4175867"/>
            <a:ext cx="2685387" cy="461527"/>
          </a:xfrm>
          <a:prstGeom prst="round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tx1"/>
                </a:solidFill>
              </a:rPr>
              <a:t>Regresión</a:t>
            </a:r>
            <a:endParaRPr lang="en-US" sz="2000" dirty="0">
              <a:solidFill>
                <a:schemeClr val="tx1"/>
              </a:solidFill>
            </a:endParaRPr>
          </a:p>
        </p:txBody>
      </p:sp>
      <p:sp>
        <p:nvSpPr>
          <p:cNvPr id="21" name="Rectángulo redondeado 20"/>
          <p:cNvSpPr/>
          <p:nvPr/>
        </p:nvSpPr>
        <p:spPr>
          <a:xfrm>
            <a:off x="406155" y="4946469"/>
            <a:ext cx="2685387" cy="461528"/>
          </a:xfrm>
          <a:prstGeom prst="round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tx1"/>
                </a:solidFill>
              </a:rPr>
              <a:t>Clasificación</a:t>
            </a:r>
            <a:endParaRPr lang="en-US" sz="2000" dirty="0">
              <a:solidFill>
                <a:schemeClr val="tx1"/>
              </a:solidFill>
            </a:endParaRPr>
          </a:p>
        </p:txBody>
      </p:sp>
      <p:sp>
        <p:nvSpPr>
          <p:cNvPr id="22" name="Rectángulo redondeado 21"/>
          <p:cNvSpPr/>
          <p:nvPr/>
        </p:nvSpPr>
        <p:spPr>
          <a:xfrm>
            <a:off x="3420626" y="4161625"/>
            <a:ext cx="2877880" cy="422227"/>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000" dirty="0" err="1">
                <a:solidFill>
                  <a:schemeClr val="tx1"/>
                </a:solidFill>
              </a:rPr>
              <a:t>Clustering</a:t>
            </a:r>
            <a:endParaRPr lang="en-US" sz="2000" dirty="0">
              <a:solidFill>
                <a:schemeClr val="tx1"/>
              </a:solidFill>
            </a:endParaRPr>
          </a:p>
        </p:txBody>
      </p:sp>
      <p:sp>
        <p:nvSpPr>
          <p:cNvPr id="23" name="Rectángulo redondeado 22"/>
          <p:cNvSpPr/>
          <p:nvPr/>
        </p:nvSpPr>
        <p:spPr>
          <a:xfrm>
            <a:off x="3420820" y="4911766"/>
            <a:ext cx="2877686" cy="496231"/>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tx1"/>
                </a:solidFill>
              </a:rPr>
              <a:t>Reducir dimensiones</a:t>
            </a:r>
            <a:endParaRPr lang="en-US" sz="2000" dirty="0">
              <a:solidFill>
                <a:schemeClr val="tx1"/>
              </a:solidFill>
            </a:endParaRPr>
          </a:p>
        </p:txBody>
      </p:sp>
      <p:sp>
        <p:nvSpPr>
          <p:cNvPr id="24" name="Elipse 23">
            <a:extLst>
              <a:ext uri="{FF2B5EF4-FFF2-40B4-BE49-F238E27FC236}">
                <a16:creationId xmlns:a16="http://schemas.microsoft.com/office/drawing/2014/main" id="{C029ACED-7456-41C5-9FBD-9BA3FBA4E8F7}"/>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ítulo 1">
            <a:extLst>
              <a:ext uri="{FF2B5EF4-FFF2-40B4-BE49-F238E27FC236}">
                <a16:creationId xmlns:a16="http://schemas.microsoft.com/office/drawing/2014/main" id="{3D171AD2-9A26-4107-98FD-1F43055C61AC}"/>
              </a:ext>
            </a:extLst>
          </p:cNvPr>
          <p:cNvSpPr>
            <a:spLocks noGrp="1"/>
          </p:cNvSpPr>
          <p:nvPr>
            <p:ph type="title"/>
          </p:nvPr>
        </p:nvSpPr>
        <p:spPr>
          <a:xfrm>
            <a:off x="1082768" y="1187992"/>
            <a:ext cx="4584605" cy="763455"/>
          </a:xfrm>
        </p:spPr>
        <p:txBody>
          <a:bodyPr>
            <a:normAutofit/>
          </a:bodyPr>
          <a:lstStyle/>
          <a:p>
            <a:pPr algn="l"/>
            <a:r>
              <a:rPr lang="es-ES" sz="2400" b="1" dirty="0"/>
              <a:t>Recapitulemos…</a:t>
            </a:r>
          </a:p>
        </p:txBody>
      </p:sp>
      <p:pic>
        <p:nvPicPr>
          <p:cNvPr id="26" name="Imagen 25">
            <a:extLst>
              <a:ext uri="{FF2B5EF4-FFF2-40B4-BE49-F238E27FC236}">
                <a16:creationId xmlns:a16="http://schemas.microsoft.com/office/drawing/2014/main" id="{C5773C73-760D-4796-A4B2-FE3A849332F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27" name="Conector recto 26">
            <a:extLst>
              <a:ext uri="{FF2B5EF4-FFF2-40B4-BE49-F238E27FC236}">
                <a16:creationId xmlns:a16="http://schemas.microsoft.com/office/drawing/2014/main" id="{3A37FDCD-503A-4A45-A1BC-4854DB516642}"/>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
        <p:nvSpPr>
          <p:cNvPr id="28" name="Rectángulo redondeado 6">
            <a:extLst>
              <a:ext uri="{FF2B5EF4-FFF2-40B4-BE49-F238E27FC236}">
                <a16:creationId xmlns:a16="http://schemas.microsoft.com/office/drawing/2014/main" id="{4CBBE051-BD47-410C-A1EE-C2A75AA64305}"/>
              </a:ext>
            </a:extLst>
          </p:cNvPr>
          <p:cNvSpPr/>
          <p:nvPr/>
        </p:nvSpPr>
        <p:spPr>
          <a:xfrm>
            <a:off x="406155" y="2236494"/>
            <a:ext cx="8305836" cy="481276"/>
          </a:xfrm>
          <a:prstGeom prst="round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000" b="1" dirty="0">
                <a:solidFill>
                  <a:schemeClr val="tx1"/>
                </a:solidFill>
              </a:rPr>
              <a:t>MACHINE LEARNING</a:t>
            </a:r>
            <a:endParaRPr lang="en-US" sz="2000" b="1" dirty="0">
              <a:solidFill>
                <a:schemeClr val="tx1"/>
              </a:solidFill>
            </a:endParaRPr>
          </a:p>
        </p:txBody>
      </p:sp>
    </p:spTree>
    <p:extLst>
      <p:ext uri="{BB962C8B-B14F-4D97-AF65-F5344CB8AC3E}">
        <p14:creationId xmlns:p14="http://schemas.microsoft.com/office/powerpoint/2010/main" val="4208409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F72B40EF-D53A-41AA-87B6-B9F74BA43E09}" type="slidenum">
              <a:rPr lang="es-ES" smtClean="0"/>
              <a:t>6</a:t>
            </a:fld>
            <a:endParaRPr lang="es-ES"/>
          </a:p>
        </p:txBody>
      </p:sp>
      <p:sp>
        <p:nvSpPr>
          <p:cNvPr id="20" name="Título 1"/>
          <p:cNvSpPr txBox="1">
            <a:spLocks/>
          </p:cNvSpPr>
          <p:nvPr/>
        </p:nvSpPr>
        <p:spPr>
          <a:xfrm>
            <a:off x="1080252" y="1238792"/>
            <a:ext cx="6960662" cy="763455"/>
          </a:xfrm>
          <a:prstGeom prst="rect">
            <a:avLst/>
          </a:prstGeom>
        </p:spPr>
        <p:txBody>
          <a:bodyPr vert="horz" lIns="91440" tIns="45720" rIns="91440" bIns="45720" rtlCol="0" anchor="ctr">
            <a:normAutofit/>
          </a:bodyPr>
          <a:lstStyle>
            <a:lvl1pPr algn="ctr" defTabSz="914377" rtl="0" eaLnBrk="1" latinLnBrk="0" hangingPunct="1">
              <a:lnSpc>
                <a:spcPct val="90000"/>
              </a:lnSpc>
              <a:spcBef>
                <a:spcPct val="0"/>
              </a:spcBef>
              <a:buNone/>
              <a:defRPr sz="4000" kern="1200">
                <a:solidFill>
                  <a:schemeClr val="tx1"/>
                </a:solidFill>
                <a:latin typeface="+mj-lt"/>
                <a:ea typeface="+mj-ea"/>
                <a:cs typeface="+mj-cs"/>
              </a:defRPr>
            </a:lvl1pPr>
          </a:lstStyle>
          <a:p>
            <a:pPr algn="l"/>
            <a:r>
              <a:rPr lang="es-ES" sz="2400" b="1" dirty="0"/>
              <a:t>Principales diferencias entre aprendizaje supervisado y NO supervisado</a:t>
            </a:r>
          </a:p>
        </p:txBody>
      </p:sp>
      <p:sp>
        <p:nvSpPr>
          <p:cNvPr id="23" name="Rectángulo redondeado 22"/>
          <p:cNvSpPr/>
          <p:nvPr/>
        </p:nvSpPr>
        <p:spPr>
          <a:xfrm>
            <a:off x="2177143" y="2692567"/>
            <a:ext cx="3106057" cy="736470"/>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000" dirty="0"/>
              <a:t>Aprendizaje Supervisado</a:t>
            </a:r>
            <a:endParaRPr lang="en-US" sz="2000" dirty="0"/>
          </a:p>
        </p:txBody>
      </p:sp>
      <p:sp>
        <p:nvSpPr>
          <p:cNvPr id="24" name="Rectángulo redondeado 23"/>
          <p:cNvSpPr/>
          <p:nvPr/>
        </p:nvSpPr>
        <p:spPr>
          <a:xfrm>
            <a:off x="5442858" y="2687724"/>
            <a:ext cx="3478078" cy="741313"/>
          </a:xfrm>
          <a:prstGeom prst="round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000" dirty="0"/>
              <a:t>Aprendizaje NO Supervisado</a:t>
            </a:r>
            <a:endParaRPr lang="en-US" sz="2000" dirty="0"/>
          </a:p>
        </p:txBody>
      </p:sp>
      <p:sp>
        <p:nvSpPr>
          <p:cNvPr id="25" name="CuadroTexto 24"/>
          <p:cNvSpPr txBox="1"/>
          <p:nvPr/>
        </p:nvSpPr>
        <p:spPr>
          <a:xfrm>
            <a:off x="2339490" y="3864106"/>
            <a:ext cx="3204967" cy="369332"/>
          </a:xfrm>
          <a:prstGeom prst="rect">
            <a:avLst/>
          </a:prstGeom>
          <a:noFill/>
        </p:spPr>
        <p:txBody>
          <a:bodyPr wrap="square" rtlCol="0">
            <a:spAutoFit/>
          </a:bodyPr>
          <a:lstStyle/>
          <a:p>
            <a:r>
              <a:rPr lang="en-US" dirty="0"/>
              <a:t>Hay </a:t>
            </a:r>
            <a:r>
              <a:rPr lang="en-US" dirty="0" err="1"/>
              <a:t>datos</a:t>
            </a:r>
            <a:r>
              <a:rPr lang="en-US" dirty="0"/>
              <a:t> </a:t>
            </a:r>
            <a:r>
              <a:rPr lang="en-US" dirty="0" err="1"/>
              <a:t>etiquetados</a:t>
            </a:r>
            <a:r>
              <a:rPr lang="en-US" dirty="0"/>
              <a:t> (target)</a:t>
            </a:r>
          </a:p>
        </p:txBody>
      </p:sp>
      <p:sp>
        <p:nvSpPr>
          <p:cNvPr id="26" name="CuadroTexto 25"/>
          <p:cNvSpPr txBox="1"/>
          <p:nvPr/>
        </p:nvSpPr>
        <p:spPr>
          <a:xfrm>
            <a:off x="5544457" y="3864106"/>
            <a:ext cx="3472078" cy="646331"/>
          </a:xfrm>
          <a:prstGeom prst="rect">
            <a:avLst/>
          </a:prstGeom>
          <a:noFill/>
        </p:spPr>
        <p:txBody>
          <a:bodyPr wrap="square" rtlCol="0">
            <a:spAutoFit/>
          </a:bodyPr>
          <a:lstStyle/>
          <a:p>
            <a:r>
              <a:rPr lang="en-US" b="1" dirty="0"/>
              <a:t>No hay </a:t>
            </a:r>
            <a:r>
              <a:rPr lang="en-US" dirty="0" err="1"/>
              <a:t>datos</a:t>
            </a:r>
            <a:r>
              <a:rPr lang="en-US" dirty="0"/>
              <a:t> </a:t>
            </a:r>
            <a:r>
              <a:rPr lang="en-US" dirty="0" err="1"/>
              <a:t>etiquetados</a:t>
            </a:r>
            <a:r>
              <a:rPr lang="en-US" dirty="0"/>
              <a:t> </a:t>
            </a:r>
          </a:p>
          <a:p>
            <a:r>
              <a:rPr lang="en-US" dirty="0"/>
              <a:t>(</a:t>
            </a:r>
            <a:r>
              <a:rPr lang="en-US" b="1" dirty="0"/>
              <a:t>no</a:t>
            </a:r>
            <a:r>
              <a:rPr lang="en-US" dirty="0"/>
              <a:t> target)</a:t>
            </a:r>
          </a:p>
        </p:txBody>
      </p:sp>
      <p:sp>
        <p:nvSpPr>
          <p:cNvPr id="27" name="Rectángulo redondeado 26"/>
          <p:cNvSpPr/>
          <p:nvPr/>
        </p:nvSpPr>
        <p:spPr>
          <a:xfrm>
            <a:off x="127827" y="3832573"/>
            <a:ext cx="1924651" cy="448746"/>
          </a:xfrm>
          <a:prstGeom prst="round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err="1">
                <a:solidFill>
                  <a:schemeClr val="tx1"/>
                </a:solidFill>
              </a:rPr>
              <a:t>Datos</a:t>
            </a:r>
            <a:r>
              <a:rPr lang="en-US" dirty="0">
                <a:solidFill>
                  <a:schemeClr val="tx1"/>
                </a:solidFill>
              </a:rPr>
              <a:t> de entrada</a:t>
            </a:r>
          </a:p>
        </p:txBody>
      </p:sp>
      <p:sp>
        <p:nvSpPr>
          <p:cNvPr id="30" name="Rectángulo redondeado 29"/>
          <p:cNvSpPr/>
          <p:nvPr/>
        </p:nvSpPr>
        <p:spPr>
          <a:xfrm>
            <a:off x="127827" y="4629924"/>
            <a:ext cx="1924651" cy="407141"/>
          </a:xfrm>
          <a:prstGeom prst="round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err="1">
                <a:solidFill>
                  <a:schemeClr val="tx1"/>
                </a:solidFill>
              </a:rPr>
              <a:t>Objetivo</a:t>
            </a:r>
            <a:endParaRPr lang="en-US" dirty="0">
              <a:solidFill>
                <a:schemeClr val="tx1"/>
              </a:solidFill>
            </a:endParaRPr>
          </a:p>
        </p:txBody>
      </p:sp>
      <p:sp>
        <p:nvSpPr>
          <p:cNvPr id="31" name="Rectángulo 30"/>
          <p:cNvSpPr/>
          <p:nvPr/>
        </p:nvSpPr>
        <p:spPr>
          <a:xfrm>
            <a:off x="2339491" y="4627174"/>
            <a:ext cx="2943710" cy="646331"/>
          </a:xfrm>
          <a:prstGeom prst="rect">
            <a:avLst/>
          </a:prstGeom>
        </p:spPr>
        <p:txBody>
          <a:bodyPr wrap="square">
            <a:spAutoFit/>
          </a:bodyPr>
          <a:lstStyle/>
          <a:p>
            <a:r>
              <a:rPr lang="en-US" dirty="0" err="1"/>
              <a:t>Realizar</a:t>
            </a:r>
            <a:r>
              <a:rPr lang="en-US" dirty="0"/>
              <a:t> </a:t>
            </a:r>
            <a:r>
              <a:rPr lang="en-US" dirty="0" err="1"/>
              <a:t>predicciones</a:t>
            </a:r>
            <a:r>
              <a:rPr lang="en-US" dirty="0"/>
              <a:t> de </a:t>
            </a:r>
            <a:r>
              <a:rPr lang="en-US" dirty="0" err="1"/>
              <a:t>clasificación</a:t>
            </a:r>
            <a:r>
              <a:rPr lang="en-US" dirty="0"/>
              <a:t>/</a:t>
            </a:r>
            <a:r>
              <a:rPr lang="en-US" dirty="0" err="1"/>
              <a:t>regresión</a:t>
            </a:r>
            <a:r>
              <a:rPr lang="en-US" dirty="0"/>
              <a:t>.</a:t>
            </a:r>
          </a:p>
        </p:txBody>
      </p:sp>
      <p:sp>
        <p:nvSpPr>
          <p:cNvPr id="32" name="Rectángulo 31"/>
          <p:cNvSpPr/>
          <p:nvPr/>
        </p:nvSpPr>
        <p:spPr>
          <a:xfrm>
            <a:off x="5544457" y="4590639"/>
            <a:ext cx="3256643" cy="923330"/>
          </a:xfrm>
          <a:prstGeom prst="rect">
            <a:avLst/>
          </a:prstGeom>
        </p:spPr>
        <p:txBody>
          <a:bodyPr wrap="square">
            <a:spAutoFit/>
          </a:bodyPr>
          <a:lstStyle/>
          <a:p>
            <a:r>
              <a:rPr lang="en-US" dirty="0" err="1"/>
              <a:t>Encontrar</a:t>
            </a:r>
            <a:r>
              <a:rPr lang="en-US" dirty="0"/>
              <a:t> </a:t>
            </a:r>
            <a:r>
              <a:rPr lang="en-US" dirty="0" err="1"/>
              <a:t>patrones</a:t>
            </a:r>
            <a:r>
              <a:rPr lang="en-US" dirty="0"/>
              <a:t> </a:t>
            </a:r>
            <a:r>
              <a:rPr lang="en-US" dirty="0" err="1"/>
              <a:t>ocultos</a:t>
            </a:r>
            <a:r>
              <a:rPr lang="en-US" dirty="0"/>
              <a:t> </a:t>
            </a:r>
            <a:r>
              <a:rPr lang="en-US" dirty="0" err="1"/>
              <a:t>en</a:t>
            </a:r>
            <a:r>
              <a:rPr lang="en-US" dirty="0"/>
              <a:t> </a:t>
            </a:r>
            <a:r>
              <a:rPr lang="en-US" dirty="0" err="1"/>
              <a:t>los</a:t>
            </a:r>
            <a:r>
              <a:rPr lang="en-US" dirty="0"/>
              <a:t> </a:t>
            </a:r>
            <a:r>
              <a:rPr lang="en-US" dirty="0" err="1"/>
              <a:t>datos</a:t>
            </a:r>
            <a:r>
              <a:rPr lang="en-US" dirty="0"/>
              <a:t>.</a:t>
            </a:r>
          </a:p>
          <a:p>
            <a:r>
              <a:rPr lang="en-US" dirty="0" err="1"/>
              <a:t>Reducir</a:t>
            </a:r>
            <a:r>
              <a:rPr lang="en-US" dirty="0"/>
              <a:t> </a:t>
            </a:r>
            <a:r>
              <a:rPr lang="en-US" dirty="0" err="1"/>
              <a:t>dimensiones</a:t>
            </a:r>
            <a:endParaRPr lang="en-US" dirty="0"/>
          </a:p>
        </p:txBody>
      </p:sp>
      <p:sp>
        <p:nvSpPr>
          <p:cNvPr id="33" name="Rectángulo redondeado 32"/>
          <p:cNvSpPr/>
          <p:nvPr/>
        </p:nvSpPr>
        <p:spPr>
          <a:xfrm>
            <a:off x="2177143" y="3546928"/>
            <a:ext cx="6743792" cy="212997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Elipse 21">
            <a:extLst>
              <a:ext uri="{FF2B5EF4-FFF2-40B4-BE49-F238E27FC236}">
                <a16:creationId xmlns:a16="http://schemas.microsoft.com/office/drawing/2014/main" id="{D02C20AA-2ACB-4678-AD1D-AC3161BF8F8B}"/>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8" name="Imagen 27">
            <a:extLst>
              <a:ext uri="{FF2B5EF4-FFF2-40B4-BE49-F238E27FC236}">
                <a16:creationId xmlns:a16="http://schemas.microsoft.com/office/drawing/2014/main" id="{E089455E-F7E5-4521-A52F-AD4ED84F55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29" name="Conector recto 28">
            <a:extLst>
              <a:ext uri="{FF2B5EF4-FFF2-40B4-BE49-F238E27FC236}">
                <a16:creationId xmlns:a16="http://schemas.microsoft.com/office/drawing/2014/main" id="{C1C96511-B052-49EC-B2AF-5216935075B8}"/>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1180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F72B40EF-D53A-41AA-87B6-B9F74BA43E09}" type="slidenum">
              <a:rPr lang="es-ES" smtClean="0"/>
              <a:t>7</a:t>
            </a:fld>
            <a:endParaRPr lang="es-ES"/>
          </a:p>
        </p:txBody>
      </p:sp>
      <p:sp>
        <p:nvSpPr>
          <p:cNvPr id="8" name="Título 1"/>
          <p:cNvSpPr txBox="1">
            <a:spLocks/>
          </p:cNvSpPr>
          <p:nvPr/>
        </p:nvSpPr>
        <p:spPr>
          <a:xfrm>
            <a:off x="1080252" y="1238792"/>
            <a:ext cx="5015055" cy="763455"/>
          </a:xfrm>
          <a:prstGeom prst="rect">
            <a:avLst/>
          </a:prstGeom>
        </p:spPr>
        <p:txBody>
          <a:bodyPr vert="horz" lIns="91440" tIns="45720" rIns="91440" bIns="45720" rtlCol="0" anchor="ctr">
            <a:normAutofit/>
          </a:bodyPr>
          <a:lstStyle>
            <a:lvl1pPr algn="ctr" defTabSz="914377" rtl="0" eaLnBrk="1" latinLnBrk="0" hangingPunct="1">
              <a:lnSpc>
                <a:spcPct val="90000"/>
              </a:lnSpc>
              <a:spcBef>
                <a:spcPct val="0"/>
              </a:spcBef>
              <a:buNone/>
              <a:defRPr sz="4000" kern="1200">
                <a:solidFill>
                  <a:schemeClr val="tx1"/>
                </a:solidFill>
                <a:latin typeface="+mj-lt"/>
                <a:ea typeface="+mj-ea"/>
                <a:cs typeface="+mj-cs"/>
              </a:defRPr>
            </a:lvl1pPr>
          </a:lstStyle>
          <a:p>
            <a:pPr algn="l"/>
            <a:r>
              <a:rPr lang="es-ES" sz="2400" b="1" dirty="0"/>
              <a:t>¿Qué es el aprendizaje NO supervisado? </a:t>
            </a:r>
          </a:p>
        </p:txBody>
      </p:sp>
      <p:sp>
        <p:nvSpPr>
          <p:cNvPr id="11" name="Rectángulo 10"/>
          <p:cNvSpPr/>
          <p:nvPr/>
        </p:nvSpPr>
        <p:spPr>
          <a:xfrm>
            <a:off x="712859" y="2348317"/>
            <a:ext cx="7802491" cy="830997"/>
          </a:xfrm>
          <a:prstGeom prst="rect">
            <a:avLst/>
          </a:prstGeom>
        </p:spPr>
        <p:txBody>
          <a:bodyPr wrap="square">
            <a:spAutoFit/>
          </a:bodyPr>
          <a:lstStyle/>
          <a:p>
            <a:r>
              <a:rPr lang="es-ES" sz="2400" dirty="0"/>
              <a:t>El objetivo es entrenar un modelo para </a:t>
            </a:r>
            <a:r>
              <a:rPr lang="es-ES" sz="2400" b="1" dirty="0"/>
              <a:t>encontrar patrones </a:t>
            </a:r>
            <a:r>
              <a:rPr lang="es-ES" sz="2400" dirty="0"/>
              <a:t>en un conjunto de datos </a:t>
            </a:r>
            <a:r>
              <a:rPr lang="es-ES" sz="2400" u="sng" dirty="0"/>
              <a:t>sin </a:t>
            </a:r>
            <a:r>
              <a:rPr lang="es-ES" sz="2400" b="1" u="sng" dirty="0"/>
              <a:t>etiqueta</a:t>
            </a:r>
            <a:r>
              <a:rPr lang="es-ES" sz="2400" dirty="0"/>
              <a:t>.</a:t>
            </a:r>
            <a:endParaRPr lang="en-US" sz="2400" dirty="0"/>
          </a:p>
        </p:txBody>
      </p:sp>
      <p:sp>
        <p:nvSpPr>
          <p:cNvPr id="12" name="Rectángulo redondeado 11"/>
          <p:cNvSpPr/>
          <p:nvPr/>
        </p:nvSpPr>
        <p:spPr>
          <a:xfrm>
            <a:off x="1683657" y="4978400"/>
            <a:ext cx="3207657" cy="1132114"/>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CARACTERÍSTICAS </a:t>
            </a:r>
          </a:p>
          <a:p>
            <a:pPr algn="ctr"/>
            <a:r>
              <a:rPr lang="en-US" sz="2000" dirty="0">
                <a:solidFill>
                  <a:schemeClr val="tx1"/>
                </a:solidFill>
              </a:rPr>
              <a:t>(features)</a:t>
            </a:r>
          </a:p>
        </p:txBody>
      </p:sp>
      <p:sp>
        <p:nvSpPr>
          <p:cNvPr id="13" name="Rectángulo redondeado 12"/>
          <p:cNvSpPr/>
          <p:nvPr/>
        </p:nvSpPr>
        <p:spPr>
          <a:xfrm>
            <a:off x="5264153" y="4978400"/>
            <a:ext cx="1690914" cy="1132114"/>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ETIQUETAS </a:t>
            </a:r>
            <a:r>
              <a:rPr lang="en-US" sz="2000" dirty="0">
                <a:solidFill>
                  <a:schemeClr val="tx1"/>
                </a:solidFill>
              </a:rPr>
              <a:t>(target)</a:t>
            </a:r>
          </a:p>
        </p:txBody>
      </p:sp>
      <p:sp>
        <p:nvSpPr>
          <p:cNvPr id="14" name="Abrir llave 13"/>
          <p:cNvSpPr/>
          <p:nvPr/>
        </p:nvSpPr>
        <p:spPr>
          <a:xfrm rot="5400000">
            <a:off x="3113314" y="3018537"/>
            <a:ext cx="348343" cy="3207659"/>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Abrir llave 14"/>
          <p:cNvSpPr/>
          <p:nvPr/>
        </p:nvSpPr>
        <p:spPr>
          <a:xfrm rot="5400000">
            <a:off x="5935438" y="3776909"/>
            <a:ext cx="348343" cy="1690914"/>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CuadroTexto 15"/>
          <p:cNvSpPr txBox="1"/>
          <p:nvPr/>
        </p:nvSpPr>
        <p:spPr>
          <a:xfrm>
            <a:off x="3079778" y="3772489"/>
            <a:ext cx="908021" cy="707886"/>
          </a:xfrm>
          <a:prstGeom prst="rect">
            <a:avLst/>
          </a:prstGeom>
          <a:noFill/>
        </p:spPr>
        <p:txBody>
          <a:bodyPr wrap="square" rtlCol="0">
            <a:spAutoFit/>
          </a:bodyPr>
          <a:lstStyle/>
          <a:p>
            <a:r>
              <a:rPr lang="en-US" sz="4000" b="1" dirty="0">
                <a:latin typeface="Cambria Math" panose="02040503050406030204" pitchFamily="18" charset="0"/>
                <a:ea typeface="Cambria Math" panose="02040503050406030204" pitchFamily="18" charset="0"/>
              </a:rPr>
              <a:t>X</a:t>
            </a:r>
            <a:endParaRPr lang="en-US" sz="1600" i="1" dirty="0">
              <a:latin typeface="Cambria Math" panose="02040503050406030204" pitchFamily="18" charset="0"/>
              <a:ea typeface="Cambria Math" panose="02040503050406030204" pitchFamily="18" charset="0"/>
            </a:endParaRPr>
          </a:p>
        </p:txBody>
      </p:sp>
      <p:sp>
        <p:nvSpPr>
          <p:cNvPr id="17" name="CuadroTexto 16"/>
          <p:cNvSpPr txBox="1"/>
          <p:nvPr/>
        </p:nvSpPr>
        <p:spPr>
          <a:xfrm>
            <a:off x="5906408" y="3775467"/>
            <a:ext cx="551542" cy="584775"/>
          </a:xfrm>
          <a:prstGeom prst="rect">
            <a:avLst/>
          </a:prstGeom>
          <a:noFill/>
        </p:spPr>
        <p:txBody>
          <a:bodyPr wrap="square" rtlCol="0">
            <a:spAutoFit/>
          </a:bodyPr>
          <a:lstStyle/>
          <a:p>
            <a:r>
              <a:rPr lang="en-US" sz="3200" b="1" dirty="0">
                <a:latin typeface="Cambria Math" panose="02040503050406030204" pitchFamily="18" charset="0"/>
                <a:ea typeface="Cambria Math" panose="02040503050406030204" pitchFamily="18" charset="0"/>
              </a:rPr>
              <a:t>y</a:t>
            </a:r>
          </a:p>
        </p:txBody>
      </p:sp>
      <p:cxnSp>
        <p:nvCxnSpPr>
          <p:cNvPr id="19" name="Conector recto 18"/>
          <p:cNvCxnSpPr/>
          <p:nvPr/>
        </p:nvCxnSpPr>
        <p:spPr>
          <a:xfrm>
            <a:off x="5088372" y="3879273"/>
            <a:ext cx="2064903" cy="247708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Conector recto 19"/>
          <p:cNvCxnSpPr/>
          <p:nvPr/>
        </p:nvCxnSpPr>
        <p:spPr>
          <a:xfrm flipH="1">
            <a:off x="5198506" y="3814046"/>
            <a:ext cx="1967345" cy="262948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8" name="Elipse 17">
            <a:extLst>
              <a:ext uri="{FF2B5EF4-FFF2-40B4-BE49-F238E27FC236}">
                <a16:creationId xmlns:a16="http://schemas.microsoft.com/office/drawing/2014/main" id="{C38C6B96-5F53-4DF4-8816-1039A00A8608}"/>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1" name="Imagen 20">
            <a:extLst>
              <a:ext uri="{FF2B5EF4-FFF2-40B4-BE49-F238E27FC236}">
                <a16:creationId xmlns:a16="http://schemas.microsoft.com/office/drawing/2014/main" id="{7074E385-04E6-4AE9-A512-14CE13811F7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22" name="Conector recto 21">
            <a:extLst>
              <a:ext uri="{FF2B5EF4-FFF2-40B4-BE49-F238E27FC236}">
                <a16:creationId xmlns:a16="http://schemas.microsoft.com/office/drawing/2014/main" id="{E927D516-80D4-4AEC-8DB1-C02B4334C4C1}"/>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98802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F72B40EF-D53A-41AA-87B6-B9F74BA43E09}" type="slidenum">
              <a:rPr lang="es-ES" smtClean="0"/>
              <a:t>8</a:t>
            </a:fld>
            <a:endParaRPr lang="es-ES"/>
          </a:p>
        </p:txBody>
      </p:sp>
      <p:pic>
        <p:nvPicPr>
          <p:cNvPr id="2050" name="Picture 2" descr="K-means: A Complete Introduction. K-means is an unsupervised clustering… |  by Alan Jeffares | Towards Data Science">
            <a:extLst>
              <a:ext uri="{FF2B5EF4-FFF2-40B4-BE49-F238E27FC236}">
                <a16:creationId xmlns:a16="http://schemas.microsoft.com/office/drawing/2014/main" id="{F2602AD3-5FDB-4224-A01B-F7623648E2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002" y="2593791"/>
            <a:ext cx="8063995" cy="3359998"/>
          </a:xfrm>
          <a:prstGeom prst="rect">
            <a:avLst/>
          </a:prstGeom>
          <a:noFill/>
          <a:extLst>
            <a:ext uri="{909E8E84-426E-40DD-AFC4-6F175D3DCCD1}">
              <a14:hiddenFill xmlns:a14="http://schemas.microsoft.com/office/drawing/2010/main">
                <a:solidFill>
                  <a:srgbClr val="FFFFFF"/>
                </a:solidFill>
              </a14:hiddenFill>
            </a:ext>
          </a:extLst>
        </p:spPr>
      </p:pic>
      <p:sp>
        <p:nvSpPr>
          <p:cNvPr id="10" name="Título 1">
            <a:extLst>
              <a:ext uri="{FF2B5EF4-FFF2-40B4-BE49-F238E27FC236}">
                <a16:creationId xmlns:a16="http://schemas.microsoft.com/office/drawing/2014/main" id="{D1D021B9-097F-4076-BA7D-BA99AFE6AE39}"/>
              </a:ext>
            </a:extLst>
          </p:cNvPr>
          <p:cNvSpPr txBox="1">
            <a:spLocks/>
          </p:cNvSpPr>
          <p:nvPr/>
        </p:nvSpPr>
        <p:spPr>
          <a:xfrm>
            <a:off x="1080252" y="1238792"/>
            <a:ext cx="5015055" cy="763455"/>
          </a:xfrm>
          <a:prstGeom prst="rect">
            <a:avLst/>
          </a:prstGeom>
        </p:spPr>
        <p:txBody>
          <a:bodyPr vert="horz" lIns="91440" tIns="45720" rIns="91440" bIns="45720" rtlCol="0" anchor="ctr">
            <a:normAutofit/>
          </a:bodyPr>
          <a:lstStyle>
            <a:lvl1pPr algn="ctr" defTabSz="914377" rtl="0" eaLnBrk="1" latinLnBrk="0" hangingPunct="1">
              <a:lnSpc>
                <a:spcPct val="90000"/>
              </a:lnSpc>
              <a:spcBef>
                <a:spcPct val="0"/>
              </a:spcBef>
              <a:buNone/>
              <a:defRPr sz="4000" kern="1200">
                <a:solidFill>
                  <a:schemeClr val="tx1"/>
                </a:solidFill>
                <a:latin typeface="+mj-lt"/>
                <a:ea typeface="+mj-ea"/>
                <a:cs typeface="+mj-cs"/>
              </a:defRPr>
            </a:lvl1pPr>
          </a:lstStyle>
          <a:p>
            <a:pPr algn="l"/>
            <a:r>
              <a:rPr lang="es-ES" sz="2400" b="1" dirty="0"/>
              <a:t>¿Qué es el aprendizaje NO supervisado? </a:t>
            </a:r>
          </a:p>
        </p:txBody>
      </p:sp>
      <p:sp>
        <p:nvSpPr>
          <p:cNvPr id="11" name="Elipse 10">
            <a:extLst>
              <a:ext uri="{FF2B5EF4-FFF2-40B4-BE49-F238E27FC236}">
                <a16:creationId xmlns:a16="http://schemas.microsoft.com/office/drawing/2014/main" id="{217E99F8-BFDD-4A47-A0E8-ABA33ADEF506}"/>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2" name="Imagen 11">
            <a:extLst>
              <a:ext uri="{FF2B5EF4-FFF2-40B4-BE49-F238E27FC236}">
                <a16:creationId xmlns:a16="http://schemas.microsoft.com/office/drawing/2014/main" id="{763ED513-BF28-4065-9DDB-AB90E668D03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13" name="Conector recto 12">
            <a:extLst>
              <a:ext uri="{FF2B5EF4-FFF2-40B4-BE49-F238E27FC236}">
                <a16:creationId xmlns:a16="http://schemas.microsoft.com/office/drawing/2014/main" id="{5383F7BA-B86C-4345-849E-4604F74349D2}"/>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6874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F72B40EF-D53A-41AA-87B6-B9F74BA43E09}" type="slidenum">
              <a:rPr lang="es-ES" smtClean="0"/>
              <a:t>9</a:t>
            </a:fld>
            <a:endParaRPr lang="es-ES"/>
          </a:p>
        </p:txBody>
      </p:sp>
      <p:pic>
        <p:nvPicPr>
          <p:cNvPr id="1028" name="Picture 4" descr="Supervised Learning vs Unsupervised Learning. Which is better?">
            <a:extLst>
              <a:ext uri="{FF2B5EF4-FFF2-40B4-BE49-F238E27FC236}">
                <a16:creationId xmlns:a16="http://schemas.microsoft.com/office/drawing/2014/main" id="{6C6E7B48-6FE5-4276-AE60-99D6080FD2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546" y="2014501"/>
            <a:ext cx="7657384" cy="4307279"/>
          </a:xfrm>
          <a:prstGeom prst="rect">
            <a:avLst/>
          </a:prstGeom>
          <a:noFill/>
          <a:extLst>
            <a:ext uri="{909E8E84-426E-40DD-AFC4-6F175D3DCCD1}">
              <a14:hiddenFill xmlns:a14="http://schemas.microsoft.com/office/drawing/2010/main">
                <a:solidFill>
                  <a:srgbClr val="FFFFFF"/>
                </a:solidFill>
              </a14:hiddenFill>
            </a:ext>
          </a:extLst>
        </p:spPr>
      </p:pic>
      <p:sp>
        <p:nvSpPr>
          <p:cNvPr id="10" name="Título 1">
            <a:extLst>
              <a:ext uri="{FF2B5EF4-FFF2-40B4-BE49-F238E27FC236}">
                <a16:creationId xmlns:a16="http://schemas.microsoft.com/office/drawing/2014/main" id="{385E7982-B104-4FA7-8B68-EA502F3B7A31}"/>
              </a:ext>
            </a:extLst>
          </p:cNvPr>
          <p:cNvSpPr txBox="1">
            <a:spLocks/>
          </p:cNvSpPr>
          <p:nvPr/>
        </p:nvSpPr>
        <p:spPr>
          <a:xfrm>
            <a:off x="1080252" y="1238792"/>
            <a:ext cx="5015055" cy="763455"/>
          </a:xfrm>
          <a:prstGeom prst="rect">
            <a:avLst/>
          </a:prstGeom>
        </p:spPr>
        <p:txBody>
          <a:bodyPr vert="horz" lIns="91440" tIns="45720" rIns="91440" bIns="45720" rtlCol="0" anchor="ctr">
            <a:normAutofit/>
          </a:bodyPr>
          <a:lstStyle>
            <a:lvl1pPr algn="ctr" defTabSz="914377" rtl="0" eaLnBrk="1" latinLnBrk="0" hangingPunct="1">
              <a:lnSpc>
                <a:spcPct val="90000"/>
              </a:lnSpc>
              <a:spcBef>
                <a:spcPct val="0"/>
              </a:spcBef>
              <a:buNone/>
              <a:defRPr sz="4000" kern="1200">
                <a:solidFill>
                  <a:schemeClr val="tx1"/>
                </a:solidFill>
                <a:latin typeface="+mj-lt"/>
                <a:ea typeface="+mj-ea"/>
                <a:cs typeface="+mj-cs"/>
              </a:defRPr>
            </a:lvl1pPr>
          </a:lstStyle>
          <a:p>
            <a:pPr algn="l"/>
            <a:r>
              <a:rPr lang="es-ES" sz="2400" b="1" dirty="0"/>
              <a:t>¿Qué es el aprendizaje NO supervisado? </a:t>
            </a:r>
          </a:p>
        </p:txBody>
      </p:sp>
      <p:sp>
        <p:nvSpPr>
          <p:cNvPr id="11" name="Elipse 10">
            <a:extLst>
              <a:ext uri="{FF2B5EF4-FFF2-40B4-BE49-F238E27FC236}">
                <a16:creationId xmlns:a16="http://schemas.microsoft.com/office/drawing/2014/main" id="{68994295-4E2E-47AF-B379-2A2B779AFEFB}"/>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2" name="Imagen 11">
            <a:extLst>
              <a:ext uri="{FF2B5EF4-FFF2-40B4-BE49-F238E27FC236}">
                <a16:creationId xmlns:a16="http://schemas.microsoft.com/office/drawing/2014/main" id="{BE82E59D-98D2-499C-86D7-2EBAD9BF236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13" name="Conector recto 12">
            <a:extLst>
              <a:ext uri="{FF2B5EF4-FFF2-40B4-BE49-F238E27FC236}">
                <a16:creationId xmlns:a16="http://schemas.microsoft.com/office/drawing/2014/main" id="{7F1DBE28-C62F-49A3-9C89-0812F1132219}"/>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22953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ángulo redondeado 23"/>
          <p:cNvSpPr/>
          <p:nvPr/>
        </p:nvSpPr>
        <p:spPr>
          <a:xfrm>
            <a:off x="1080252" y="3435093"/>
            <a:ext cx="1612148" cy="461665"/>
          </a:xfrm>
          <a:prstGeom prst="roundRect">
            <a:avLst/>
          </a:prstGeom>
          <a:solidFill>
            <a:srgbClr val="006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Marcador de número de diapositiva 3"/>
          <p:cNvSpPr>
            <a:spLocks noGrp="1"/>
          </p:cNvSpPr>
          <p:nvPr>
            <p:ph type="sldNum" sz="quarter" idx="12"/>
          </p:nvPr>
        </p:nvSpPr>
        <p:spPr/>
        <p:txBody>
          <a:bodyPr/>
          <a:lstStyle/>
          <a:p>
            <a:fld id="{F72B40EF-D53A-41AA-87B6-B9F74BA43E09}" type="slidenum">
              <a:rPr lang="es-ES" smtClean="0"/>
              <a:t>10</a:t>
            </a:fld>
            <a:endParaRPr lang="es-ES"/>
          </a:p>
        </p:txBody>
      </p:sp>
      <p:sp>
        <p:nvSpPr>
          <p:cNvPr id="7" name="CuadroTexto 6"/>
          <p:cNvSpPr txBox="1"/>
          <p:nvPr/>
        </p:nvSpPr>
        <p:spPr>
          <a:xfrm>
            <a:off x="1118352" y="3420846"/>
            <a:ext cx="1491892" cy="461665"/>
          </a:xfrm>
          <a:prstGeom prst="rect">
            <a:avLst/>
          </a:prstGeom>
          <a:noFill/>
        </p:spPr>
        <p:txBody>
          <a:bodyPr wrap="square" rtlCol="0">
            <a:spAutoFit/>
          </a:bodyPr>
          <a:lstStyle/>
          <a:p>
            <a:r>
              <a:rPr lang="en-US" sz="2400" b="1" dirty="0">
                <a:solidFill>
                  <a:schemeClr val="bg1"/>
                </a:solidFill>
                <a:ea typeface="Cambria Math" panose="02040503050406030204" pitchFamily="18" charset="0"/>
              </a:rPr>
              <a:t>Clustering</a:t>
            </a:r>
          </a:p>
        </p:txBody>
      </p:sp>
      <p:sp>
        <p:nvSpPr>
          <p:cNvPr id="11" name="Título 1"/>
          <p:cNvSpPr txBox="1">
            <a:spLocks/>
          </p:cNvSpPr>
          <p:nvPr/>
        </p:nvSpPr>
        <p:spPr>
          <a:xfrm>
            <a:off x="1080252" y="1233030"/>
            <a:ext cx="6983495" cy="763455"/>
          </a:xfrm>
          <a:prstGeom prst="rect">
            <a:avLst/>
          </a:prstGeom>
        </p:spPr>
        <p:txBody>
          <a:bodyPr vert="horz" lIns="91440" tIns="45720" rIns="91440" bIns="45720" rtlCol="0" anchor="ctr">
            <a:normAutofit/>
          </a:bodyPr>
          <a:lstStyle>
            <a:lvl1pPr algn="ctr" defTabSz="914377" rtl="0" eaLnBrk="1" latinLnBrk="0" hangingPunct="1">
              <a:lnSpc>
                <a:spcPct val="90000"/>
              </a:lnSpc>
              <a:spcBef>
                <a:spcPct val="0"/>
              </a:spcBef>
              <a:buNone/>
              <a:defRPr sz="4000" kern="1200">
                <a:solidFill>
                  <a:schemeClr val="tx1"/>
                </a:solidFill>
                <a:latin typeface="+mj-lt"/>
                <a:ea typeface="+mj-ea"/>
                <a:cs typeface="+mj-cs"/>
              </a:defRPr>
            </a:lvl1pPr>
          </a:lstStyle>
          <a:p>
            <a:pPr algn="l"/>
            <a:r>
              <a:rPr lang="es-ES" sz="2400" b="1" dirty="0"/>
              <a:t>Introducción al aprendizaje no supervisado</a:t>
            </a:r>
          </a:p>
        </p:txBody>
      </p:sp>
      <p:sp>
        <p:nvSpPr>
          <p:cNvPr id="14" name="CuadroTexto 13"/>
          <p:cNvSpPr txBox="1"/>
          <p:nvPr/>
        </p:nvSpPr>
        <p:spPr>
          <a:xfrm>
            <a:off x="1080253" y="1996485"/>
            <a:ext cx="5377698" cy="369332"/>
          </a:xfrm>
          <a:prstGeom prst="rect">
            <a:avLst/>
          </a:prstGeom>
          <a:noFill/>
        </p:spPr>
        <p:txBody>
          <a:bodyPr wrap="square" rtlCol="0">
            <a:spAutoFit/>
          </a:bodyPr>
          <a:lstStyle/>
          <a:p>
            <a:r>
              <a:rPr lang="en-US" b="1" dirty="0">
                <a:solidFill>
                  <a:srgbClr val="006DA5"/>
                </a:solidFill>
              </a:rPr>
              <a:t>¿</a:t>
            </a:r>
            <a:r>
              <a:rPr lang="en-US" b="1" dirty="0" err="1">
                <a:solidFill>
                  <a:srgbClr val="006DA5"/>
                </a:solidFill>
              </a:rPr>
              <a:t>Qué</a:t>
            </a:r>
            <a:r>
              <a:rPr lang="en-US" b="1" dirty="0">
                <a:solidFill>
                  <a:srgbClr val="006DA5"/>
                </a:solidFill>
              </a:rPr>
              <a:t> </a:t>
            </a:r>
            <a:r>
              <a:rPr lang="en-US" b="1" dirty="0" err="1">
                <a:solidFill>
                  <a:srgbClr val="006DA5"/>
                </a:solidFill>
              </a:rPr>
              <a:t>abarca</a:t>
            </a:r>
            <a:r>
              <a:rPr lang="en-US" b="1" dirty="0">
                <a:solidFill>
                  <a:srgbClr val="006DA5"/>
                </a:solidFill>
              </a:rPr>
              <a:t> el </a:t>
            </a:r>
            <a:r>
              <a:rPr lang="en-US" b="1" dirty="0" err="1">
                <a:solidFill>
                  <a:srgbClr val="006DA5"/>
                </a:solidFill>
              </a:rPr>
              <a:t>aprendizaje</a:t>
            </a:r>
            <a:r>
              <a:rPr lang="en-US" b="1" dirty="0">
                <a:solidFill>
                  <a:srgbClr val="006DA5"/>
                </a:solidFill>
              </a:rPr>
              <a:t> no </a:t>
            </a:r>
            <a:r>
              <a:rPr lang="en-US" b="1" dirty="0" err="1">
                <a:solidFill>
                  <a:srgbClr val="006DA5"/>
                </a:solidFill>
              </a:rPr>
              <a:t>supervisado</a:t>
            </a:r>
            <a:r>
              <a:rPr lang="en-US" b="1" dirty="0">
                <a:solidFill>
                  <a:srgbClr val="006DA5"/>
                </a:solidFill>
              </a:rPr>
              <a:t>?</a:t>
            </a:r>
          </a:p>
        </p:txBody>
      </p:sp>
      <p:sp>
        <p:nvSpPr>
          <p:cNvPr id="23" name="Rectángulo 22"/>
          <p:cNvSpPr/>
          <p:nvPr/>
        </p:nvSpPr>
        <p:spPr>
          <a:xfrm>
            <a:off x="2955673" y="3178658"/>
            <a:ext cx="5069975" cy="923330"/>
          </a:xfrm>
          <a:prstGeom prst="rect">
            <a:avLst/>
          </a:prstGeom>
        </p:spPr>
        <p:txBody>
          <a:bodyPr wrap="square">
            <a:spAutoFit/>
          </a:bodyPr>
          <a:lstStyle/>
          <a:p>
            <a:pPr marL="285750" indent="-285750">
              <a:buFont typeface="Arial" panose="020B0604020202020204" pitchFamily="34" charset="0"/>
              <a:buChar char="•"/>
            </a:pPr>
            <a:r>
              <a:rPr lang="en-US" dirty="0" err="1"/>
              <a:t>Algoritmos</a:t>
            </a:r>
            <a:r>
              <a:rPr lang="en-US" dirty="0"/>
              <a:t> de </a:t>
            </a:r>
            <a:r>
              <a:rPr lang="en-US" dirty="0" err="1"/>
              <a:t>partición</a:t>
            </a:r>
            <a:r>
              <a:rPr lang="en-US" dirty="0"/>
              <a:t> (K-means).</a:t>
            </a:r>
          </a:p>
          <a:p>
            <a:pPr marL="285750" indent="-285750">
              <a:buFont typeface="Arial" panose="020B0604020202020204" pitchFamily="34" charset="0"/>
              <a:buChar char="•"/>
            </a:pPr>
            <a:r>
              <a:rPr lang="en-US" dirty="0" err="1"/>
              <a:t>Algoritmos</a:t>
            </a:r>
            <a:r>
              <a:rPr lang="en-US" dirty="0"/>
              <a:t> </a:t>
            </a:r>
            <a:r>
              <a:rPr lang="en-US" dirty="0" err="1"/>
              <a:t>basados</a:t>
            </a:r>
            <a:r>
              <a:rPr lang="en-US" dirty="0"/>
              <a:t> </a:t>
            </a:r>
            <a:r>
              <a:rPr lang="en-US" dirty="0" err="1"/>
              <a:t>en</a:t>
            </a:r>
            <a:r>
              <a:rPr lang="en-US" dirty="0"/>
              <a:t> la </a:t>
            </a:r>
            <a:r>
              <a:rPr lang="en-US" dirty="0" err="1"/>
              <a:t>jerarquía</a:t>
            </a:r>
            <a:r>
              <a:rPr lang="en-US" dirty="0"/>
              <a:t> (Hierarchical).</a:t>
            </a:r>
          </a:p>
          <a:p>
            <a:pPr marL="285750" indent="-285750">
              <a:buFont typeface="Arial" panose="020B0604020202020204" pitchFamily="34" charset="0"/>
              <a:buChar char="•"/>
            </a:pPr>
            <a:r>
              <a:rPr lang="en-US" dirty="0" err="1"/>
              <a:t>Algoritmos</a:t>
            </a:r>
            <a:r>
              <a:rPr lang="en-US" dirty="0"/>
              <a:t> </a:t>
            </a:r>
            <a:r>
              <a:rPr lang="en-US" dirty="0" err="1"/>
              <a:t>basados</a:t>
            </a:r>
            <a:r>
              <a:rPr lang="en-US" dirty="0"/>
              <a:t> </a:t>
            </a:r>
            <a:r>
              <a:rPr lang="en-US" dirty="0" err="1"/>
              <a:t>en</a:t>
            </a:r>
            <a:r>
              <a:rPr lang="en-US" dirty="0"/>
              <a:t> la </a:t>
            </a:r>
            <a:r>
              <a:rPr lang="en-US" dirty="0" err="1"/>
              <a:t>densidad</a:t>
            </a:r>
            <a:r>
              <a:rPr lang="en-US" dirty="0"/>
              <a:t> (density).</a:t>
            </a:r>
          </a:p>
        </p:txBody>
      </p:sp>
      <p:sp>
        <p:nvSpPr>
          <p:cNvPr id="28" name="Corchetes 27"/>
          <p:cNvSpPr/>
          <p:nvPr/>
        </p:nvSpPr>
        <p:spPr>
          <a:xfrm>
            <a:off x="2955674" y="3178658"/>
            <a:ext cx="5176272" cy="992435"/>
          </a:xfrm>
          <a:prstGeom prst="bracketPair">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Elipse 15">
            <a:extLst>
              <a:ext uri="{FF2B5EF4-FFF2-40B4-BE49-F238E27FC236}">
                <a16:creationId xmlns:a16="http://schemas.microsoft.com/office/drawing/2014/main" id="{165A9DA1-6294-461E-B221-C05FF90BEA89}"/>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7" name="Imagen 16">
            <a:extLst>
              <a:ext uri="{FF2B5EF4-FFF2-40B4-BE49-F238E27FC236}">
                <a16:creationId xmlns:a16="http://schemas.microsoft.com/office/drawing/2014/main" id="{979F8A57-FF0C-46FD-B740-13550A209E8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18" name="Conector recto 17">
            <a:extLst>
              <a:ext uri="{FF2B5EF4-FFF2-40B4-BE49-F238E27FC236}">
                <a16:creationId xmlns:a16="http://schemas.microsoft.com/office/drawing/2014/main" id="{88B2486F-1FC4-4434-BBA1-B1A87CD80187}"/>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
        <p:nvSpPr>
          <p:cNvPr id="2" name="Rectangle: Rounded Corners 1">
            <a:extLst>
              <a:ext uri="{FF2B5EF4-FFF2-40B4-BE49-F238E27FC236}">
                <a16:creationId xmlns:a16="http://schemas.microsoft.com/office/drawing/2014/main" id="{4C437ED3-DFB0-4966-92EB-94F935454CFC}"/>
              </a:ext>
            </a:extLst>
          </p:cNvPr>
          <p:cNvSpPr/>
          <p:nvPr/>
        </p:nvSpPr>
        <p:spPr>
          <a:xfrm>
            <a:off x="1080252" y="4554070"/>
            <a:ext cx="7051695" cy="781295"/>
          </a:xfrm>
          <a:prstGeom prst="roundRect">
            <a:avLst/>
          </a:prstGeom>
          <a:solidFill>
            <a:srgbClr val="006DA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a:solidFill>
                  <a:schemeClr val="bg1"/>
                </a:solidFill>
                <a:ea typeface="Cambria Math" panose="02040503050406030204" pitchFamily="18" charset="0"/>
              </a:rPr>
              <a:t>Reducción</a:t>
            </a:r>
            <a:r>
              <a:rPr lang="en-US" sz="2400" b="1" dirty="0">
                <a:solidFill>
                  <a:schemeClr val="bg1"/>
                </a:solidFill>
                <a:ea typeface="Cambria Math" panose="02040503050406030204" pitchFamily="18" charset="0"/>
              </a:rPr>
              <a:t> de </a:t>
            </a:r>
            <a:r>
              <a:rPr lang="en-US" sz="2400" b="1" dirty="0" err="1">
                <a:solidFill>
                  <a:schemeClr val="bg1"/>
                </a:solidFill>
                <a:ea typeface="Cambria Math" panose="02040503050406030204" pitchFamily="18" charset="0"/>
              </a:rPr>
              <a:t>dimensiones</a:t>
            </a:r>
            <a:r>
              <a:rPr lang="en-US" sz="2400" b="1" dirty="0">
                <a:solidFill>
                  <a:schemeClr val="bg1"/>
                </a:solidFill>
                <a:ea typeface="Cambria Math" panose="02040503050406030204" pitchFamily="18" charset="0"/>
              </a:rPr>
              <a:t> (</a:t>
            </a:r>
            <a:r>
              <a:rPr lang="en-US" sz="2400" b="1" dirty="0" err="1">
                <a:solidFill>
                  <a:schemeClr val="bg1"/>
                </a:solidFill>
                <a:ea typeface="Cambria Math" panose="02040503050406030204" pitchFamily="18" charset="0"/>
              </a:rPr>
              <a:t>Análisis</a:t>
            </a:r>
            <a:r>
              <a:rPr lang="en-US" sz="2400" b="1" dirty="0">
                <a:solidFill>
                  <a:schemeClr val="bg1"/>
                </a:solidFill>
                <a:ea typeface="Cambria Math" panose="02040503050406030204" pitchFamily="18" charset="0"/>
              </a:rPr>
              <a:t> de </a:t>
            </a:r>
            <a:r>
              <a:rPr lang="en-US" sz="2400" b="1" dirty="0" err="1">
                <a:solidFill>
                  <a:schemeClr val="bg1"/>
                </a:solidFill>
                <a:ea typeface="Cambria Math" panose="02040503050406030204" pitchFamily="18" charset="0"/>
              </a:rPr>
              <a:t>componentes</a:t>
            </a:r>
            <a:r>
              <a:rPr lang="en-US" sz="2400" b="1" dirty="0">
                <a:solidFill>
                  <a:schemeClr val="bg1"/>
                </a:solidFill>
                <a:ea typeface="Cambria Math" panose="02040503050406030204" pitchFamily="18" charset="0"/>
              </a:rPr>
              <a:t> </a:t>
            </a:r>
            <a:r>
              <a:rPr lang="en-US" sz="2400" b="1" dirty="0" err="1">
                <a:solidFill>
                  <a:schemeClr val="bg1"/>
                </a:solidFill>
                <a:ea typeface="Cambria Math" panose="02040503050406030204" pitchFamily="18" charset="0"/>
              </a:rPr>
              <a:t>principales</a:t>
            </a:r>
            <a:r>
              <a:rPr lang="en-US" sz="2400" b="1" dirty="0">
                <a:solidFill>
                  <a:schemeClr val="bg1"/>
                </a:solidFill>
                <a:ea typeface="Cambria Math" panose="02040503050406030204" pitchFamily="18" charset="0"/>
              </a:rPr>
              <a:t> (PCA)</a:t>
            </a:r>
          </a:p>
        </p:txBody>
      </p:sp>
    </p:spTree>
    <p:extLst>
      <p:ext uri="{BB962C8B-B14F-4D97-AF65-F5344CB8AC3E}">
        <p14:creationId xmlns:p14="http://schemas.microsoft.com/office/powerpoint/2010/main" val="15614235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F72B40EF-D53A-41AA-87B6-B9F74BA43E09}" type="slidenum">
              <a:rPr lang="es-ES" smtClean="0"/>
              <a:t>11</a:t>
            </a:fld>
            <a:endParaRPr lang="es-ES"/>
          </a:p>
        </p:txBody>
      </p:sp>
      <p:sp>
        <p:nvSpPr>
          <p:cNvPr id="5" name="CuadroTexto 4">
            <a:extLst>
              <a:ext uri="{FF2B5EF4-FFF2-40B4-BE49-F238E27FC236}">
                <a16:creationId xmlns:a16="http://schemas.microsoft.com/office/drawing/2014/main" id="{6CC774DB-83CC-49B0-8F9C-9E5EB8593E5A}"/>
              </a:ext>
            </a:extLst>
          </p:cNvPr>
          <p:cNvSpPr txBox="1"/>
          <p:nvPr/>
        </p:nvSpPr>
        <p:spPr>
          <a:xfrm>
            <a:off x="699944" y="2247071"/>
            <a:ext cx="8291655" cy="2805063"/>
          </a:xfrm>
          <a:prstGeom prst="rect">
            <a:avLst/>
          </a:prstGeom>
          <a:noFill/>
        </p:spPr>
        <p:txBody>
          <a:bodyPr wrap="square" rtlCol="0">
            <a:spAutoFit/>
          </a:bodyPr>
          <a:lstStyle/>
          <a:p>
            <a:pPr>
              <a:lnSpc>
                <a:spcPct val="150000"/>
              </a:lnSpc>
            </a:pPr>
            <a:r>
              <a:rPr lang="en-US" sz="2400" dirty="0" err="1">
                <a:solidFill>
                  <a:schemeClr val="bg1">
                    <a:lumMod val="75000"/>
                  </a:schemeClr>
                </a:solidFill>
                <a:latin typeface="+mj-lt"/>
              </a:rPr>
              <a:t>Diferenciar</a:t>
            </a:r>
            <a:r>
              <a:rPr lang="en-US" sz="2400" dirty="0">
                <a:solidFill>
                  <a:schemeClr val="bg1">
                    <a:lumMod val="75000"/>
                  </a:schemeClr>
                </a:solidFill>
                <a:latin typeface="+mj-lt"/>
              </a:rPr>
              <a:t> el </a:t>
            </a:r>
            <a:r>
              <a:rPr lang="en-US" sz="2400" dirty="0" err="1">
                <a:solidFill>
                  <a:schemeClr val="bg1">
                    <a:lumMod val="75000"/>
                  </a:schemeClr>
                </a:solidFill>
                <a:latin typeface="+mj-lt"/>
              </a:rPr>
              <a:t>aprendizaje</a:t>
            </a:r>
            <a:r>
              <a:rPr lang="en-US" sz="2400" dirty="0">
                <a:solidFill>
                  <a:schemeClr val="bg1">
                    <a:lumMod val="75000"/>
                  </a:schemeClr>
                </a:solidFill>
                <a:latin typeface="+mj-lt"/>
              </a:rPr>
              <a:t> </a:t>
            </a:r>
            <a:r>
              <a:rPr lang="en-US" sz="2400" dirty="0" err="1">
                <a:solidFill>
                  <a:schemeClr val="bg1">
                    <a:lumMod val="75000"/>
                  </a:schemeClr>
                </a:solidFill>
                <a:latin typeface="+mj-lt"/>
              </a:rPr>
              <a:t>Supervisado</a:t>
            </a:r>
            <a:r>
              <a:rPr lang="en-US" sz="2400" dirty="0">
                <a:solidFill>
                  <a:schemeClr val="bg1">
                    <a:lumMod val="75000"/>
                  </a:schemeClr>
                </a:solidFill>
                <a:latin typeface="+mj-lt"/>
              </a:rPr>
              <a:t> y No </a:t>
            </a:r>
            <a:r>
              <a:rPr lang="en-US" sz="2400" dirty="0" err="1">
                <a:solidFill>
                  <a:schemeClr val="bg1">
                    <a:lumMod val="75000"/>
                  </a:schemeClr>
                </a:solidFill>
                <a:latin typeface="+mj-lt"/>
              </a:rPr>
              <a:t>Supervisado</a:t>
            </a:r>
            <a:r>
              <a:rPr lang="en-US" sz="2400" dirty="0">
                <a:solidFill>
                  <a:schemeClr val="bg1">
                    <a:lumMod val="75000"/>
                  </a:schemeClr>
                </a:solidFill>
                <a:latin typeface="+mj-lt"/>
              </a:rPr>
              <a:t>.</a:t>
            </a:r>
          </a:p>
          <a:p>
            <a:pPr>
              <a:lnSpc>
                <a:spcPct val="150000"/>
              </a:lnSpc>
            </a:pPr>
            <a:r>
              <a:rPr lang="en-US" sz="2400" b="1" dirty="0" err="1">
                <a:solidFill>
                  <a:srgbClr val="006DA5"/>
                </a:solidFill>
              </a:rPr>
              <a:t>Algoritmos</a:t>
            </a:r>
            <a:r>
              <a:rPr lang="en-US" sz="2400" b="1" dirty="0">
                <a:solidFill>
                  <a:srgbClr val="006DA5"/>
                </a:solidFill>
              </a:rPr>
              <a:t> </a:t>
            </a:r>
            <a:r>
              <a:rPr lang="en-US" sz="2400" b="1" dirty="0" err="1">
                <a:solidFill>
                  <a:srgbClr val="006DA5"/>
                </a:solidFill>
              </a:rPr>
              <a:t>utilizados</a:t>
            </a:r>
            <a:r>
              <a:rPr lang="en-US" sz="2400" b="1" dirty="0">
                <a:solidFill>
                  <a:srgbClr val="006DA5"/>
                </a:solidFill>
              </a:rPr>
              <a:t> </a:t>
            </a:r>
            <a:r>
              <a:rPr lang="en-US" sz="2400" b="1" dirty="0" err="1">
                <a:solidFill>
                  <a:srgbClr val="006DA5"/>
                </a:solidFill>
              </a:rPr>
              <a:t>en</a:t>
            </a:r>
            <a:r>
              <a:rPr lang="en-US" sz="2400" b="1" dirty="0">
                <a:solidFill>
                  <a:srgbClr val="006DA5"/>
                </a:solidFill>
              </a:rPr>
              <a:t> </a:t>
            </a:r>
            <a:r>
              <a:rPr lang="en-US" sz="2400" b="1" dirty="0" err="1">
                <a:solidFill>
                  <a:srgbClr val="006DA5"/>
                </a:solidFill>
              </a:rPr>
              <a:t>Aprendizaje</a:t>
            </a:r>
            <a:r>
              <a:rPr lang="en-US" sz="2400" b="1" dirty="0">
                <a:solidFill>
                  <a:srgbClr val="006DA5"/>
                </a:solidFill>
              </a:rPr>
              <a:t> No </a:t>
            </a:r>
            <a:r>
              <a:rPr lang="en-US" sz="2400" b="1" dirty="0" err="1">
                <a:solidFill>
                  <a:srgbClr val="006DA5"/>
                </a:solidFill>
              </a:rPr>
              <a:t>Supervisado</a:t>
            </a:r>
            <a:r>
              <a:rPr lang="en-US" sz="2400" b="1" dirty="0">
                <a:solidFill>
                  <a:srgbClr val="006DA5"/>
                </a:solidFill>
              </a:rPr>
              <a:t>.</a:t>
            </a:r>
          </a:p>
          <a:p>
            <a:pPr>
              <a:lnSpc>
                <a:spcPct val="150000"/>
              </a:lnSpc>
            </a:pPr>
            <a:r>
              <a:rPr lang="en-US" sz="2400" b="1" dirty="0" err="1">
                <a:solidFill>
                  <a:schemeClr val="bg1">
                    <a:lumMod val="75000"/>
                  </a:schemeClr>
                </a:solidFill>
                <a:latin typeface="+mj-lt"/>
              </a:rPr>
              <a:t>Métricas</a:t>
            </a:r>
            <a:r>
              <a:rPr lang="en-US" sz="2400" dirty="0">
                <a:solidFill>
                  <a:schemeClr val="bg1">
                    <a:lumMod val="75000"/>
                  </a:schemeClr>
                </a:solidFill>
                <a:latin typeface="+mj-lt"/>
              </a:rPr>
              <a:t> para </a:t>
            </a:r>
            <a:r>
              <a:rPr lang="en-US" sz="2400" dirty="0" err="1">
                <a:solidFill>
                  <a:schemeClr val="bg1">
                    <a:lumMod val="75000"/>
                  </a:schemeClr>
                </a:solidFill>
                <a:latin typeface="+mj-lt"/>
              </a:rPr>
              <a:t>encontrar</a:t>
            </a:r>
            <a:r>
              <a:rPr lang="en-US" sz="2400" dirty="0">
                <a:solidFill>
                  <a:schemeClr val="bg1">
                    <a:lumMod val="75000"/>
                  </a:schemeClr>
                </a:solidFill>
                <a:latin typeface="+mj-lt"/>
              </a:rPr>
              <a:t> el </a:t>
            </a:r>
            <a:r>
              <a:rPr lang="en-US" sz="2400" dirty="0" err="1">
                <a:solidFill>
                  <a:schemeClr val="bg1">
                    <a:lumMod val="75000"/>
                  </a:schemeClr>
                </a:solidFill>
                <a:latin typeface="+mj-lt"/>
              </a:rPr>
              <a:t>número</a:t>
            </a:r>
            <a:r>
              <a:rPr lang="en-US" sz="2400" dirty="0">
                <a:solidFill>
                  <a:schemeClr val="bg1">
                    <a:lumMod val="75000"/>
                  </a:schemeClr>
                </a:solidFill>
                <a:latin typeface="+mj-lt"/>
              </a:rPr>
              <a:t> </a:t>
            </a:r>
            <a:r>
              <a:rPr lang="en-US" sz="2400" dirty="0" err="1">
                <a:solidFill>
                  <a:schemeClr val="bg1">
                    <a:lumMod val="75000"/>
                  </a:schemeClr>
                </a:solidFill>
                <a:latin typeface="+mj-lt"/>
              </a:rPr>
              <a:t>óptimo</a:t>
            </a:r>
            <a:r>
              <a:rPr lang="en-US" sz="2400" dirty="0">
                <a:solidFill>
                  <a:schemeClr val="bg1">
                    <a:lumMod val="75000"/>
                  </a:schemeClr>
                </a:solidFill>
                <a:latin typeface="+mj-lt"/>
              </a:rPr>
              <a:t> de clusters.</a:t>
            </a:r>
          </a:p>
          <a:p>
            <a:pPr>
              <a:lnSpc>
                <a:spcPct val="150000"/>
              </a:lnSpc>
            </a:pPr>
            <a:r>
              <a:rPr lang="en-US" sz="2400" b="1" dirty="0" err="1">
                <a:solidFill>
                  <a:schemeClr val="bg1">
                    <a:lumMod val="75000"/>
                  </a:schemeClr>
                </a:solidFill>
              </a:rPr>
              <a:t>Aplicaciones</a:t>
            </a:r>
            <a:r>
              <a:rPr lang="en-US" sz="2400" dirty="0">
                <a:solidFill>
                  <a:schemeClr val="bg1">
                    <a:lumMod val="75000"/>
                  </a:schemeClr>
                </a:solidFill>
              </a:rPr>
              <a:t> del clustering.</a:t>
            </a:r>
          </a:p>
          <a:p>
            <a:pPr>
              <a:lnSpc>
                <a:spcPct val="150000"/>
              </a:lnSpc>
            </a:pPr>
            <a:r>
              <a:rPr lang="en-US" sz="2400" dirty="0" err="1">
                <a:solidFill>
                  <a:schemeClr val="bg1">
                    <a:lumMod val="75000"/>
                  </a:schemeClr>
                </a:solidFill>
              </a:rPr>
              <a:t>Reducción</a:t>
            </a:r>
            <a:r>
              <a:rPr lang="en-US" sz="2400" dirty="0">
                <a:solidFill>
                  <a:schemeClr val="bg1">
                    <a:lumMod val="75000"/>
                  </a:schemeClr>
                </a:solidFill>
              </a:rPr>
              <a:t> de </a:t>
            </a:r>
            <a:r>
              <a:rPr lang="en-US" sz="2400" dirty="0" err="1">
                <a:solidFill>
                  <a:schemeClr val="bg1">
                    <a:lumMod val="75000"/>
                  </a:schemeClr>
                </a:solidFill>
              </a:rPr>
              <a:t>dimensiones</a:t>
            </a:r>
            <a:r>
              <a:rPr lang="en-US" sz="2400" dirty="0">
                <a:solidFill>
                  <a:schemeClr val="bg1">
                    <a:lumMod val="75000"/>
                  </a:schemeClr>
                </a:solidFill>
              </a:rPr>
              <a:t>.</a:t>
            </a:r>
            <a:endParaRPr lang="en-US" sz="2000" dirty="0"/>
          </a:p>
        </p:txBody>
      </p:sp>
    </p:spTree>
    <p:extLst>
      <p:ext uri="{BB962C8B-B14F-4D97-AF65-F5344CB8AC3E}">
        <p14:creationId xmlns:p14="http://schemas.microsoft.com/office/powerpoint/2010/main" val="35526959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ángulo redondeado 23"/>
          <p:cNvSpPr/>
          <p:nvPr/>
        </p:nvSpPr>
        <p:spPr>
          <a:xfrm>
            <a:off x="1080252" y="3435093"/>
            <a:ext cx="1612148" cy="461665"/>
          </a:xfrm>
          <a:prstGeom prst="roundRect">
            <a:avLst/>
          </a:prstGeom>
          <a:solidFill>
            <a:srgbClr val="006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Marcador de número de diapositiva 3"/>
          <p:cNvSpPr>
            <a:spLocks noGrp="1"/>
          </p:cNvSpPr>
          <p:nvPr>
            <p:ph type="sldNum" sz="quarter" idx="12"/>
          </p:nvPr>
        </p:nvSpPr>
        <p:spPr/>
        <p:txBody>
          <a:bodyPr/>
          <a:lstStyle/>
          <a:p>
            <a:fld id="{F72B40EF-D53A-41AA-87B6-B9F74BA43E09}" type="slidenum">
              <a:rPr lang="es-ES" smtClean="0"/>
              <a:t>12</a:t>
            </a:fld>
            <a:endParaRPr lang="es-ES"/>
          </a:p>
        </p:txBody>
      </p:sp>
      <p:sp>
        <p:nvSpPr>
          <p:cNvPr id="7" name="CuadroTexto 6"/>
          <p:cNvSpPr txBox="1"/>
          <p:nvPr/>
        </p:nvSpPr>
        <p:spPr>
          <a:xfrm>
            <a:off x="1118352" y="3420846"/>
            <a:ext cx="1491892" cy="461665"/>
          </a:xfrm>
          <a:prstGeom prst="rect">
            <a:avLst/>
          </a:prstGeom>
          <a:noFill/>
        </p:spPr>
        <p:txBody>
          <a:bodyPr wrap="square" rtlCol="0">
            <a:spAutoFit/>
          </a:bodyPr>
          <a:lstStyle/>
          <a:p>
            <a:r>
              <a:rPr lang="en-US" sz="2400" b="1" dirty="0">
                <a:solidFill>
                  <a:schemeClr val="bg1"/>
                </a:solidFill>
                <a:ea typeface="Cambria Math" panose="02040503050406030204" pitchFamily="18" charset="0"/>
              </a:rPr>
              <a:t>Clustering</a:t>
            </a:r>
          </a:p>
        </p:txBody>
      </p:sp>
      <p:sp>
        <p:nvSpPr>
          <p:cNvPr id="11" name="Título 1"/>
          <p:cNvSpPr txBox="1">
            <a:spLocks/>
          </p:cNvSpPr>
          <p:nvPr/>
        </p:nvSpPr>
        <p:spPr>
          <a:xfrm>
            <a:off x="1080252" y="1233030"/>
            <a:ext cx="6983495" cy="763455"/>
          </a:xfrm>
          <a:prstGeom prst="rect">
            <a:avLst/>
          </a:prstGeom>
        </p:spPr>
        <p:txBody>
          <a:bodyPr vert="horz" lIns="91440" tIns="45720" rIns="91440" bIns="45720" rtlCol="0" anchor="ctr">
            <a:normAutofit/>
          </a:bodyPr>
          <a:lstStyle>
            <a:lvl1pPr algn="ctr" defTabSz="914377" rtl="0" eaLnBrk="1" latinLnBrk="0" hangingPunct="1">
              <a:lnSpc>
                <a:spcPct val="90000"/>
              </a:lnSpc>
              <a:spcBef>
                <a:spcPct val="0"/>
              </a:spcBef>
              <a:buNone/>
              <a:defRPr sz="4000" kern="1200">
                <a:solidFill>
                  <a:schemeClr val="tx1"/>
                </a:solidFill>
                <a:latin typeface="+mj-lt"/>
                <a:ea typeface="+mj-ea"/>
                <a:cs typeface="+mj-cs"/>
              </a:defRPr>
            </a:lvl1pPr>
          </a:lstStyle>
          <a:p>
            <a:pPr algn="l"/>
            <a:r>
              <a:rPr lang="es-ES" sz="2400" b="1" dirty="0"/>
              <a:t>Introducción al aprendizaje no supervisado</a:t>
            </a:r>
          </a:p>
        </p:txBody>
      </p:sp>
      <p:sp>
        <p:nvSpPr>
          <p:cNvPr id="14" name="CuadroTexto 13"/>
          <p:cNvSpPr txBox="1"/>
          <p:nvPr/>
        </p:nvSpPr>
        <p:spPr>
          <a:xfrm>
            <a:off x="1080253" y="1996485"/>
            <a:ext cx="5377698" cy="369332"/>
          </a:xfrm>
          <a:prstGeom prst="rect">
            <a:avLst/>
          </a:prstGeom>
          <a:noFill/>
        </p:spPr>
        <p:txBody>
          <a:bodyPr wrap="square" rtlCol="0">
            <a:spAutoFit/>
          </a:bodyPr>
          <a:lstStyle/>
          <a:p>
            <a:r>
              <a:rPr lang="en-US" b="1" dirty="0">
                <a:solidFill>
                  <a:srgbClr val="006DA5"/>
                </a:solidFill>
              </a:rPr>
              <a:t>¿</a:t>
            </a:r>
            <a:r>
              <a:rPr lang="en-US" b="1" dirty="0" err="1">
                <a:solidFill>
                  <a:srgbClr val="006DA5"/>
                </a:solidFill>
              </a:rPr>
              <a:t>Qué</a:t>
            </a:r>
            <a:r>
              <a:rPr lang="en-US" b="1" dirty="0">
                <a:solidFill>
                  <a:srgbClr val="006DA5"/>
                </a:solidFill>
              </a:rPr>
              <a:t> </a:t>
            </a:r>
            <a:r>
              <a:rPr lang="en-US" b="1" dirty="0" err="1">
                <a:solidFill>
                  <a:srgbClr val="006DA5"/>
                </a:solidFill>
              </a:rPr>
              <a:t>abarca</a:t>
            </a:r>
            <a:r>
              <a:rPr lang="en-US" b="1" dirty="0">
                <a:solidFill>
                  <a:srgbClr val="006DA5"/>
                </a:solidFill>
              </a:rPr>
              <a:t> el </a:t>
            </a:r>
            <a:r>
              <a:rPr lang="en-US" b="1" dirty="0" err="1">
                <a:solidFill>
                  <a:srgbClr val="006DA5"/>
                </a:solidFill>
              </a:rPr>
              <a:t>aprendizaje</a:t>
            </a:r>
            <a:r>
              <a:rPr lang="en-US" b="1" dirty="0">
                <a:solidFill>
                  <a:srgbClr val="006DA5"/>
                </a:solidFill>
              </a:rPr>
              <a:t> no </a:t>
            </a:r>
            <a:r>
              <a:rPr lang="en-US" b="1" dirty="0" err="1">
                <a:solidFill>
                  <a:srgbClr val="006DA5"/>
                </a:solidFill>
              </a:rPr>
              <a:t>supervisado</a:t>
            </a:r>
            <a:r>
              <a:rPr lang="en-US" b="1" dirty="0">
                <a:solidFill>
                  <a:srgbClr val="006DA5"/>
                </a:solidFill>
              </a:rPr>
              <a:t>?</a:t>
            </a:r>
          </a:p>
        </p:txBody>
      </p:sp>
      <p:sp>
        <p:nvSpPr>
          <p:cNvPr id="23" name="Rectángulo 22"/>
          <p:cNvSpPr/>
          <p:nvPr/>
        </p:nvSpPr>
        <p:spPr>
          <a:xfrm>
            <a:off x="2955673" y="3178658"/>
            <a:ext cx="5069975" cy="923330"/>
          </a:xfrm>
          <a:prstGeom prst="rect">
            <a:avLst/>
          </a:prstGeom>
        </p:spPr>
        <p:txBody>
          <a:bodyPr wrap="square">
            <a:spAutoFit/>
          </a:bodyPr>
          <a:lstStyle/>
          <a:p>
            <a:pPr marL="285750" indent="-285750">
              <a:buFont typeface="Arial" panose="020B0604020202020204" pitchFamily="34" charset="0"/>
              <a:buChar char="•"/>
            </a:pPr>
            <a:r>
              <a:rPr lang="en-US" dirty="0" err="1"/>
              <a:t>Algoritmos</a:t>
            </a:r>
            <a:r>
              <a:rPr lang="en-US" dirty="0"/>
              <a:t> de </a:t>
            </a:r>
            <a:r>
              <a:rPr lang="en-US" dirty="0" err="1"/>
              <a:t>partición</a:t>
            </a:r>
            <a:r>
              <a:rPr lang="en-US" dirty="0"/>
              <a:t> (K-means).</a:t>
            </a:r>
          </a:p>
          <a:p>
            <a:pPr marL="285750" indent="-285750">
              <a:buFont typeface="Arial" panose="020B0604020202020204" pitchFamily="34" charset="0"/>
              <a:buChar char="•"/>
            </a:pPr>
            <a:r>
              <a:rPr lang="en-US" dirty="0" err="1"/>
              <a:t>Algoritmos</a:t>
            </a:r>
            <a:r>
              <a:rPr lang="en-US" dirty="0"/>
              <a:t> </a:t>
            </a:r>
            <a:r>
              <a:rPr lang="en-US" dirty="0" err="1"/>
              <a:t>basados</a:t>
            </a:r>
            <a:r>
              <a:rPr lang="en-US" dirty="0"/>
              <a:t> </a:t>
            </a:r>
            <a:r>
              <a:rPr lang="en-US" dirty="0" err="1"/>
              <a:t>en</a:t>
            </a:r>
            <a:r>
              <a:rPr lang="en-US" dirty="0"/>
              <a:t> la </a:t>
            </a:r>
            <a:r>
              <a:rPr lang="en-US" dirty="0" err="1"/>
              <a:t>jerarquía</a:t>
            </a:r>
            <a:r>
              <a:rPr lang="en-US" dirty="0"/>
              <a:t> (Hierarchical).</a:t>
            </a:r>
          </a:p>
          <a:p>
            <a:pPr marL="285750" indent="-285750">
              <a:buFont typeface="Arial" panose="020B0604020202020204" pitchFamily="34" charset="0"/>
              <a:buChar char="•"/>
            </a:pPr>
            <a:r>
              <a:rPr lang="en-US" dirty="0" err="1"/>
              <a:t>Algoritmos</a:t>
            </a:r>
            <a:r>
              <a:rPr lang="en-US" dirty="0"/>
              <a:t> </a:t>
            </a:r>
            <a:r>
              <a:rPr lang="en-US" dirty="0" err="1"/>
              <a:t>basados</a:t>
            </a:r>
            <a:r>
              <a:rPr lang="en-US" dirty="0"/>
              <a:t> </a:t>
            </a:r>
            <a:r>
              <a:rPr lang="en-US" dirty="0" err="1"/>
              <a:t>en</a:t>
            </a:r>
            <a:r>
              <a:rPr lang="en-US" dirty="0"/>
              <a:t> la </a:t>
            </a:r>
            <a:r>
              <a:rPr lang="en-US" dirty="0" err="1"/>
              <a:t>densidad</a:t>
            </a:r>
            <a:r>
              <a:rPr lang="en-US" dirty="0"/>
              <a:t> (density).</a:t>
            </a:r>
          </a:p>
        </p:txBody>
      </p:sp>
      <p:sp>
        <p:nvSpPr>
          <p:cNvPr id="28" name="Corchetes 27"/>
          <p:cNvSpPr/>
          <p:nvPr/>
        </p:nvSpPr>
        <p:spPr>
          <a:xfrm>
            <a:off x="2955674" y="3178658"/>
            <a:ext cx="5176272" cy="992435"/>
          </a:xfrm>
          <a:prstGeom prst="bracketPair">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Elipse 15">
            <a:extLst>
              <a:ext uri="{FF2B5EF4-FFF2-40B4-BE49-F238E27FC236}">
                <a16:creationId xmlns:a16="http://schemas.microsoft.com/office/drawing/2014/main" id="{165A9DA1-6294-461E-B221-C05FF90BEA89}"/>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7" name="Imagen 16">
            <a:extLst>
              <a:ext uri="{FF2B5EF4-FFF2-40B4-BE49-F238E27FC236}">
                <a16:creationId xmlns:a16="http://schemas.microsoft.com/office/drawing/2014/main" id="{979F8A57-FF0C-46FD-B740-13550A209E8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18" name="Conector recto 17">
            <a:extLst>
              <a:ext uri="{FF2B5EF4-FFF2-40B4-BE49-F238E27FC236}">
                <a16:creationId xmlns:a16="http://schemas.microsoft.com/office/drawing/2014/main" id="{88B2486F-1FC4-4434-BBA1-B1A87CD80187}"/>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
        <p:nvSpPr>
          <p:cNvPr id="2" name="Rectangle: Rounded Corners 1">
            <a:extLst>
              <a:ext uri="{FF2B5EF4-FFF2-40B4-BE49-F238E27FC236}">
                <a16:creationId xmlns:a16="http://schemas.microsoft.com/office/drawing/2014/main" id="{4C437ED3-DFB0-4966-92EB-94F935454CFC}"/>
              </a:ext>
            </a:extLst>
          </p:cNvPr>
          <p:cNvSpPr/>
          <p:nvPr/>
        </p:nvSpPr>
        <p:spPr>
          <a:xfrm>
            <a:off x="1080252" y="4554070"/>
            <a:ext cx="7051695" cy="781295"/>
          </a:xfrm>
          <a:prstGeom prst="round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a:solidFill>
                  <a:schemeClr val="bg1"/>
                </a:solidFill>
                <a:ea typeface="Cambria Math" panose="02040503050406030204" pitchFamily="18" charset="0"/>
              </a:rPr>
              <a:t>Reducción</a:t>
            </a:r>
            <a:r>
              <a:rPr lang="en-US" sz="2400" b="1" dirty="0">
                <a:solidFill>
                  <a:schemeClr val="bg1"/>
                </a:solidFill>
                <a:ea typeface="Cambria Math" panose="02040503050406030204" pitchFamily="18" charset="0"/>
              </a:rPr>
              <a:t> de </a:t>
            </a:r>
            <a:r>
              <a:rPr lang="en-US" sz="2400" b="1" dirty="0" err="1">
                <a:solidFill>
                  <a:schemeClr val="bg1"/>
                </a:solidFill>
                <a:ea typeface="Cambria Math" panose="02040503050406030204" pitchFamily="18" charset="0"/>
              </a:rPr>
              <a:t>dimensiones</a:t>
            </a:r>
            <a:r>
              <a:rPr lang="en-US" sz="2400" b="1" dirty="0">
                <a:solidFill>
                  <a:schemeClr val="bg1"/>
                </a:solidFill>
                <a:ea typeface="Cambria Math" panose="02040503050406030204" pitchFamily="18" charset="0"/>
              </a:rPr>
              <a:t> (</a:t>
            </a:r>
            <a:r>
              <a:rPr lang="en-US" sz="2400" b="1" dirty="0" err="1">
                <a:solidFill>
                  <a:schemeClr val="bg1"/>
                </a:solidFill>
                <a:ea typeface="Cambria Math" panose="02040503050406030204" pitchFamily="18" charset="0"/>
              </a:rPr>
              <a:t>Análisis</a:t>
            </a:r>
            <a:r>
              <a:rPr lang="en-US" sz="2400" b="1" dirty="0">
                <a:solidFill>
                  <a:schemeClr val="bg1"/>
                </a:solidFill>
                <a:ea typeface="Cambria Math" panose="02040503050406030204" pitchFamily="18" charset="0"/>
              </a:rPr>
              <a:t> de </a:t>
            </a:r>
            <a:r>
              <a:rPr lang="en-US" sz="2400" b="1" dirty="0" err="1">
                <a:solidFill>
                  <a:schemeClr val="bg1"/>
                </a:solidFill>
                <a:ea typeface="Cambria Math" panose="02040503050406030204" pitchFamily="18" charset="0"/>
              </a:rPr>
              <a:t>componentes</a:t>
            </a:r>
            <a:r>
              <a:rPr lang="en-US" sz="2400" b="1" dirty="0">
                <a:solidFill>
                  <a:schemeClr val="bg1"/>
                </a:solidFill>
                <a:ea typeface="Cambria Math" panose="02040503050406030204" pitchFamily="18" charset="0"/>
              </a:rPr>
              <a:t> </a:t>
            </a:r>
            <a:r>
              <a:rPr lang="en-US" sz="2400" b="1" dirty="0" err="1">
                <a:solidFill>
                  <a:schemeClr val="bg1"/>
                </a:solidFill>
                <a:ea typeface="Cambria Math" panose="02040503050406030204" pitchFamily="18" charset="0"/>
              </a:rPr>
              <a:t>principales</a:t>
            </a:r>
            <a:r>
              <a:rPr lang="en-US" sz="2400" b="1" dirty="0">
                <a:solidFill>
                  <a:schemeClr val="bg1"/>
                </a:solidFill>
                <a:ea typeface="Cambria Math" panose="02040503050406030204" pitchFamily="18" charset="0"/>
              </a:rPr>
              <a:t> (PCA)</a:t>
            </a:r>
          </a:p>
        </p:txBody>
      </p:sp>
    </p:spTree>
    <p:extLst>
      <p:ext uri="{BB962C8B-B14F-4D97-AF65-F5344CB8AC3E}">
        <p14:creationId xmlns:p14="http://schemas.microsoft.com/office/powerpoint/2010/main" val="26705187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F72B40EF-D53A-41AA-87B6-B9F74BA43E09}" type="slidenum">
              <a:rPr lang="es-ES" smtClean="0"/>
              <a:t>13</a:t>
            </a:fld>
            <a:endParaRPr lang="es-ES"/>
          </a:p>
        </p:txBody>
      </p:sp>
      <p:sp>
        <p:nvSpPr>
          <p:cNvPr id="3" name="Rectángulo 2"/>
          <p:cNvSpPr/>
          <p:nvPr/>
        </p:nvSpPr>
        <p:spPr>
          <a:xfrm>
            <a:off x="406364" y="2181952"/>
            <a:ext cx="8108986" cy="2462213"/>
          </a:xfrm>
          <a:prstGeom prst="rect">
            <a:avLst/>
          </a:prstGeom>
        </p:spPr>
        <p:txBody>
          <a:bodyPr wrap="square">
            <a:spAutoFit/>
          </a:bodyPr>
          <a:lstStyle/>
          <a:p>
            <a:pPr algn="just"/>
            <a:endParaRPr lang="en-US" b="1" dirty="0">
              <a:solidFill>
                <a:srgbClr val="006DA5"/>
              </a:solidFill>
            </a:endParaRPr>
          </a:p>
          <a:p>
            <a:r>
              <a:rPr lang="en-US" sz="1700" b="1" dirty="0" err="1">
                <a:solidFill>
                  <a:srgbClr val="006DA5"/>
                </a:solidFill>
                <a:ea typeface="Malgun Gothic" panose="020B0503020000020004" pitchFamily="34" charset="-127"/>
              </a:rPr>
              <a:t>Objetivo</a:t>
            </a:r>
            <a:r>
              <a:rPr lang="en-US" sz="1700" dirty="0">
                <a:ea typeface="Malgun Gothic" panose="020B0503020000020004" pitchFamily="34" charset="-127"/>
              </a:rPr>
              <a:t>: </a:t>
            </a:r>
            <a:r>
              <a:rPr lang="en-US" sz="1700" dirty="0" err="1">
                <a:ea typeface="Malgun Gothic" panose="020B0503020000020004" pitchFamily="34" charset="-127"/>
              </a:rPr>
              <a:t>agrupar</a:t>
            </a:r>
            <a:r>
              <a:rPr lang="en-US" sz="1700" dirty="0">
                <a:ea typeface="Malgun Gothic" panose="020B0503020000020004" pitchFamily="34" charset="-127"/>
              </a:rPr>
              <a:t> personas o </a:t>
            </a:r>
            <a:r>
              <a:rPr lang="en-US" sz="1700" dirty="0" err="1">
                <a:ea typeface="Malgun Gothic" panose="020B0503020000020004" pitchFamily="34" charset="-127"/>
              </a:rPr>
              <a:t>elementos</a:t>
            </a:r>
            <a:r>
              <a:rPr lang="en-US" sz="1700" dirty="0">
                <a:ea typeface="Malgun Gothic" panose="020B0503020000020004" pitchFamily="34" charset="-127"/>
              </a:rPr>
              <a:t> </a:t>
            </a:r>
            <a:r>
              <a:rPr lang="en-US" sz="1700" dirty="0" err="1">
                <a:ea typeface="Malgun Gothic" panose="020B0503020000020004" pitchFamily="34" charset="-127"/>
              </a:rPr>
              <a:t>basándonos</a:t>
            </a:r>
            <a:r>
              <a:rPr lang="en-US" sz="1700" dirty="0">
                <a:ea typeface="Malgun Gothic" panose="020B0503020000020004" pitchFamily="34" charset="-127"/>
              </a:rPr>
              <a:t> </a:t>
            </a:r>
            <a:r>
              <a:rPr lang="en-US" sz="1700" dirty="0" err="1">
                <a:ea typeface="Malgun Gothic" panose="020B0503020000020004" pitchFamily="34" charset="-127"/>
              </a:rPr>
              <a:t>en</a:t>
            </a:r>
            <a:r>
              <a:rPr lang="en-US" sz="1700" dirty="0">
                <a:ea typeface="Malgun Gothic" panose="020B0503020000020004" pitchFamily="34" charset="-127"/>
              </a:rPr>
              <a:t> sus </a:t>
            </a:r>
            <a:r>
              <a:rPr lang="en-US" sz="1700" dirty="0" err="1">
                <a:ea typeface="Malgun Gothic" panose="020B0503020000020004" pitchFamily="34" charset="-127"/>
              </a:rPr>
              <a:t>características</a:t>
            </a:r>
            <a:r>
              <a:rPr lang="en-US" sz="1700" dirty="0">
                <a:ea typeface="Malgun Gothic" panose="020B0503020000020004" pitchFamily="34" charset="-127"/>
              </a:rPr>
              <a:t>. </a:t>
            </a:r>
          </a:p>
          <a:p>
            <a:endParaRPr lang="en-US" sz="1700" b="1" dirty="0">
              <a:solidFill>
                <a:srgbClr val="006DA5"/>
              </a:solidFill>
            </a:endParaRPr>
          </a:p>
          <a:p>
            <a:pPr algn="just"/>
            <a:r>
              <a:rPr lang="en-US" sz="1700" b="1" dirty="0" err="1">
                <a:solidFill>
                  <a:srgbClr val="006DA5"/>
                </a:solidFill>
              </a:rPr>
              <a:t>Definición</a:t>
            </a:r>
            <a:r>
              <a:rPr lang="en-US" sz="1700" dirty="0"/>
              <a:t>: </a:t>
            </a:r>
            <a:r>
              <a:rPr lang="en-US" sz="1700" dirty="0" err="1"/>
              <a:t>Es</a:t>
            </a:r>
            <a:r>
              <a:rPr lang="en-US" sz="1700" dirty="0"/>
              <a:t> la </a:t>
            </a:r>
            <a:r>
              <a:rPr lang="en-US" sz="1700" dirty="0" err="1"/>
              <a:t>tarea</a:t>
            </a:r>
            <a:r>
              <a:rPr lang="en-US" sz="1700" dirty="0"/>
              <a:t> de </a:t>
            </a:r>
            <a:r>
              <a:rPr lang="en-US" sz="1700" dirty="0" err="1"/>
              <a:t>dividir</a:t>
            </a:r>
            <a:r>
              <a:rPr lang="en-US" sz="1700" dirty="0"/>
              <a:t> el </a:t>
            </a:r>
            <a:r>
              <a:rPr lang="en-US" sz="1700" dirty="0" err="1"/>
              <a:t>conjunto</a:t>
            </a:r>
            <a:r>
              <a:rPr lang="en-US" sz="1700" dirty="0"/>
              <a:t> de </a:t>
            </a:r>
            <a:r>
              <a:rPr lang="en-US" sz="1700" dirty="0" err="1"/>
              <a:t>datos</a:t>
            </a:r>
            <a:r>
              <a:rPr lang="en-US" sz="1700" dirty="0"/>
              <a:t> de entrada (dataset) </a:t>
            </a:r>
            <a:r>
              <a:rPr lang="en-US" sz="1700" dirty="0" err="1"/>
              <a:t>en</a:t>
            </a:r>
            <a:r>
              <a:rPr lang="en-US" sz="1700" dirty="0"/>
              <a:t> </a:t>
            </a:r>
            <a:r>
              <a:rPr lang="en-US" sz="1700" dirty="0" err="1"/>
              <a:t>varios</a:t>
            </a:r>
            <a:r>
              <a:rPr lang="en-US" sz="1700" dirty="0"/>
              <a:t> </a:t>
            </a:r>
            <a:r>
              <a:rPr lang="en-US" sz="1700" dirty="0" err="1"/>
              <a:t>grupos</a:t>
            </a:r>
            <a:r>
              <a:rPr lang="en-US" sz="1700" dirty="0"/>
              <a:t>, de </a:t>
            </a:r>
            <a:r>
              <a:rPr lang="en-US" sz="1700" dirty="0" err="1"/>
              <a:t>manera</a:t>
            </a:r>
            <a:r>
              <a:rPr lang="en-US" sz="1700" dirty="0"/>
              <a:t> que </a:t>
            </a:r>
            <a:r>
              <a:rPr lang="en-US" sz="1700" dirty="0" err="1"/>
              <a:t>los</a:t>
            </a:r>
            <a:r>
              <a:rPr lang="en-US" sz="1700" dirty="0"/>
              <a:t> </a:t>
            </a:r>
            <a:r>
              <a:rPr lang="en-US" sz="1700" dirty="0" err="1"/>
              <a:t>datos</a:t>
            </a:r>
            <a:r>
              <a:rPr lang="en-US" sz="1700" dirty="0"/>
              <a:t> que </a:t>
            </a:r>
            <a:r>
              <a:rPr lang="en-US" sz="1700" dirty="0" err="1"/>
              <a:t>pertenecen</a:t>
            </a:r>
            <a:r>
              <a:rPr lang="en-US" sz="1700" dirty="0"/>
              <a:t> a un </a:t>
            </a:r>
            <a:r>
              <a:rPr lang="en-US" sz="1700" dirty="0" err="1"/>
              <a:t>mismo</a:t>
            </a:r>
            <a:r>
              <a:rPr lang="en-US" sz="1700" dirty="0"/>
              <a:t> </a:t>
            </a:r>
            <a:r>
              <a:rPr lang="en-US" sz="1700" dirty="0" err="1"/>
              <a:t>grupo</a:t>
            </a:r>
            <a:r>
              <a:rPr lang="en-US" sz="1700" dirty="0"/>
              <a:t> </a:t>
            </a:r>
            <a:r>
              <a:rPr lang="en-US" sz="1700" dirty="0" err="1"/>
              <a:t>sean</a:t>
            </a:r>
            <a:r>
              <a:rPr lang="en-US" sz="1700" dirty="0"/>
              <a:t> </a:t>
            </a:r>
            <a:r>
              <a:rPr lang="en-US" sz="1700" dirty="0" err="1"/>
              <a:t>parecidos</a:t>
            </a:r>
            <a:r>
              <a:rPr lang="en-US" sz="1700" dirty="0"/>
              <a:t> entre </a:t>
            </a:r>
            <a:r>
              <a:rPr lang="en-US" sz="1700" dirty="0" err="1"/>
              <a:t>ellos</a:t>
            </a:r>
            <a:r>
              <a:rPr lang="en-US" sz="1700" dirty="0"/>
              <a:t> y </a:t>
            </a:r>
            <a:r>
              <a:rPr lang="en-US" sz="1700" dirty="0" err="1"/>
              <a:t>diferentes</a:t>
            </a:r>
            <a:r>
              <a:rPr lang="en-US" sz="1700" dirty="0"/>
              <a:t> de </a:t>
            </a:r>
            <a:r>
              <a:rPr lang="en-US" sz="1700" dirty="0" err="1"/>
              <a:t>los</a:t>
            </a:r>
            <a:r>
              <a:rPr lang="en-US" sz="1700" dirty="0"/>
              <a:t> </a:t>
            </a:r>
            <a:r>
              <a:rPr lang="en-US" sz="1700" dirty="0" err="1"/>
              <a:t>datos</a:t>
            </a:r>
            <a:r>
              <a:rPr lang="en-US" sz="1700" dirty="0"/>
              <a:t> de </a:t>
            </a:r>
            <a:r>
              <a:rPr lang="en-US" sz="1700" dirty="0" err="1"/>
              <a:t>otros</a:t>
            </a:r>
            <a:r>
              <a:rPr lang="en-US" sz="1700" dirty="0"/>
              <a:t> </a:t>
            </a:r>
            <a:r>
              <a:rPr lang="en-US" sz="1700" dirty="0" err="1"/>
              <a:t>grupos</a:t>
            </a:r>
            <a:r>
              <a:rPr lang="en-US" sz="1700" dirty="0"/>
              <a:t>. </a:t>
            </a:r>
          </a:p>
          <a:p>
            <a:pPr marL="285750" indent="-285750" algn="just">
              <a:buFont typeface="Arial" panose="020B0604020202020204" pitchFamily="34" charset="0"/>
              <a:buChar char="•"/>
            </a:pPr>
            <a:r>
              <a:rPr lang="en-US" sz="1700" dirty="0" err="1"/>
              <a:t>Sirve</a:t>
            </a:r>
            <a:r>
              <a:rPr lang="en-US" sz="1700" dirty="0"/>
              <a:t> para </a:t>
            </a:r>
            <a:r>
              <a:rPr lang="en-US" sz="1700" dirty="0" err="1"/>
              <a:t>comprender</a:t>
            </a:r>
            <a:r>
              <a:rPr lang="en-US" sz="1700" dirty="0"/>
              <a:t> la </a:t>
            </a:r>
            <a:r>
              <a:rPr lang="en-US" sz="1700" dirty="0" err="1"/>
              <a:t>estructura</a:t>
            </a:r>
            <a:r>
              <a:rPr lang="en-US" sz="1700" dirty="0"/>
              <a:t> de </a:t>
            </a:r>
            <a:r>
              <a:rPr lang="en-US" sz="1700" dirty="0" err="1"/>
              <a:t>los</a:t>
            </a:r>
            <a:r>
              <a:rPr lang="en-US" sz="1700" dirty="0"/>
              <a:t> </a:t>
            </a:r>
            <a:r>
              <a:rPr lang="en-US" sz="1700" dirty="0" err="1"/>
              <a:t>datos</a:t>
            </a:r>
            <a:r>
              <a:rPr lang="en-US" sz="1700" dirty="0"/>
              <a:t>, o </a:t>
            </a:r>
            <a:r>
              <a:rPr lang="en-US" sz="1700" dirty="0" err="1"/>
              <a:t>como</a:t>
            </a:r>
            <a:r>
              <a:rPr lang="en-US" sz="1700" dirty="0"/>
              <a:t> </a:t>
            </a:r>
            <a:r>
              <a:rPr lang="en-US" sz="1700" dirty="0" err="1"/>
              <a:t>preprocesamiento</a:t>
            </a:r>
            <a:r>
              <a:rPr lang="en-US" sz="1700" dirty="0"/>
              <a:t> para el </a:t>
            </a:r>
            <a:r>
              <a:rPr lang="en-US" sz="1700" dirty="0" err="1"/>
              <a:t>aprendizaje</a:t>
            </a:r>
            <a:r>
              <a:rPr lang="en-US" sz="1700" dirty="0"/>
              <a:t> </a:t>
            </a:r>
            <a:r>
              <a:rPr lang="en-US" sz="1700" dirty="0" err="1"/>
              <a:t>supervisado</a:t>
            </a:r>
            <a:r>
              <a:rPr lang="en-US" sz="1700" dirty="0"/>
              <a:t> (</a:t>
            </a:r>
            <a:r>
              <a:rPr lang="en-US" sz="1700" dirty="0" err="1"/>
              <a:t>por</a:t>
            </a:r>
            <a:r>
              <a:rPr lang="en-US" sz="1700" dirty="0"/>
              <a:t> </a:t>
            </a:r>
            <a:r>
              <a:rPr lang="en-US" sz="1700" dirty="0" err="1"/>
              <a:t>ejemplo</a:t>
            </a:r>
            <a:r>
              <a:rPr lang="en-US" sz="1700" dirty="0"/>
              <a:t> </a:t>
            </a:r>
            <a:r>
              <a:rPr lang="en-US" sz="1700" dirty="0" err="1"/>
              <a:t>entrenar</a:t>
            </a:r>
            <a:r>
              <a:rPr lang="en-US" sz="1700" dirty="0"/>
              <a:t> un </a:t>
            </a:r>
            <a:r>
              <a:rPr lang="en-US" sz="1700" dirty="0" err="1"/>
              <a:t>clasificador</a:t>
            </a:r>
            <a:r>
              <a:rPr lang="en-US" sz="1700" dirty="0"/>
              <a:t> para </a:t>
            </a:r>
            <a:r>
              <a:rPr lang="en-US" sz="1700" dirty="0" err="1"/>
              <a:t>cada</a:t>
            </a:r>
            <a:r>
              <a:rPr lang="en-US" sz="1700" dirty="0"/>
              <a:t> </a:t>
            </a:r>
            <a:r>
              <a:rPr lang="en-US" sz="1700" dirty="0" err="1"/>
              <a:t>grupo</a:t>
            </a:r>
            <a:r>
              <a:rPr lang="en-US" sz="1700" dirty="0"/>
              <a:t>). </a:t>
            </a:r>
          </a:p>
          <a:p>
            <a:pPr marL="285750" indent="-285750" algn="just">
              <a:buFont typeface="Arial" panose="020B0604020202020204" pitchFamily="34" charset="0"/>
              <a:buChar char="•"/>
            </a:pPr>
            <a:r>
              <a:rPr lang="en-US" sz="1700" dirty="0"/>
              <a:t>El </a:t>
            </a:r>
            <a:r>
              <a:rPr lang="en-US" sz="1700" dirty="0" err="1"/>
              <a:t>clústering</a:t>
            </a:r>
            <a:r>
              <a:rPr lang="en-US" sz="1700" dirty="0"/>
              <a:t> no </a:t>
            </a:r>
            <a:r>
              <a:rPr lang="en-US" sz="1700" dirty="0" err="1"/>
              <a:t>necesita</a:t>
            </a:r>
            <a:r>
              <a:rPr lang="en-US" sz="1700" dirty="0"/>
              <a:t> </a:t>
            </a:r>
            <a:r>
              <a:rPr lang="en-US" sz="1700" dirty="0" err="1"/>
              <a:t>etiquetas</a:t>
            </a:r>
            <a:r>
              <a:rPr lang="en-US" sz="1700" dirty="0"/>
              <a:t>, que </a:t>
            </a:r>
            <a:r>
              <a:rPr lang="en-US" sz="1700" dirty="0" err="1"/>
              <a:t>suelen</a:t>
            </a:r>
            <a:r>
              <a:rPr lang="en-US" sz="1700" dirty="0"/>
              <a:t> </a:t>
            </a:r>
            <a:r>
              <a:rPr lang="en-US" sz="1700" dirty="0" err="1"/>
              <a:t>ser</a:t>
            </a:r>
            <a:r>
              <a:rPr lang="en-US" sz="1700" dirty="0"/>
              <a:t> </a:t>
            </a:r>
            <a:r>
              <a:rPr lang="en-US" sz="1700" dirty="0" err="1"/>
              <a:t>costosas</a:t>
            </a:r>
            <a:r>
              <a:rPr lang="en-US" sz="1700" dirty="0"/>
              <a:t> de </a:t>
            </a:r>
            <a:r>
              <a:rPr lang="en-US" sz="1700" dirty="0" err="1"/>
              <a:t>obtener</a:t>
            </a:r>
            <a:r>
              <a:rPr lang="en-US" sz="1700" dirty="0"/>
              <a:t>.</a:t>
            </a:r>
          </a:p>
        </p:txBody>
      </p:sp>
      <p:sp>
        <p:nvSpPr>
          <p:cNvPr id="16" name="Título 1"/>
          <p:cNvSpPr txBox="1">
            <a:spLocks/>
          </p:cNvSpPr>
          <p:nvPr/>
        </p:nvSpPr>
        <p:spPr>
          <a:xfrm>
            <a:off x="1080252" y="1171680"/>
            <a:ext cx="5015055" cy="763455"/>
          </a:xfrm>
          <a:prstGeom prst="rect">
            <a:avLst/>
          </a:prstGeom>
        </p:spPr>
        <p:txBody>
          <a:bodyPr vert="horz" lIns="91440" tIns="45720" rIns="91440" bIns="45720" rtlCol="0" anchor="ctr">
            <a:normAutofit/>
          </a:bodyPr>
          <a:lstStyle>
            <a:lvl1pPr algn="ctr" defTabSz="914377" rtl="0" eaLnBrk="1" latinLnBrk="0" hangingPunct="1">
              <a:lnSpc>
                <a:spcPct val="90000"/>
              </a:lnSpc>
              <a:spcBef>
                <a:spcPct val="0"/>
              </a:spcBef>
              <a:buNone/>
              <a:defRPr sz="4000" kern="1200">
                <a:solidFill>
                  <a:schemeClr val="tx1"/>
                </a:solidFill>
                <a:latin typeface="+mj-lt"/>
                <a:ea typeface="+mj-ea"/>
                <a:cs typeface="+mj-cs"/>
              </a:defRPr>
            </a:lvl1pPr>
          </a:lstStyle>
          <a:p>
            <a:pPr algn="l"/>
            <a:r>
              <a:rPr lang="es-ES" sz="2400" b="1" dirty="0" err="1"/>
              <a:t>Clustering</a:t>
            </a:r>
            <a:endParaRPr lang="es-ES" sz="2400" b="1" dirty="0"/>
          </a:p>
        </p:txBody>
      </p:sp>
      <p:pic>
        <p:nvPicPr>
          <p:cNvPr id="19" name="Picture 2" descr="https://www.guru99.com/images/1/030819_1030_Unsupervise3.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96529" y="4839258"/>
            <a:ext cx="3957306" cy="1649165"/>
          </a:xfrm>
          <a:prstGeom prst="rect">
            <a:avLst/>
          </a:prstGeom>
          <a:noFill/>
          <a:extLst>
            <a:ext uri="{909E8E84-426E-40DD-AFC4-6F175D3DCCD1}">
              <a14:hiddenFill xmlns:a14="http://schemas.microsoft.com/office/drawing/2010/main">
                <a:solidFill>
                  <a:srgbClr val="FFFFFF"/>
                </a:solidFill>
              </a14:hiddenFill>
            </a:ext>
          </a:extLst>
        </p:spPr>
      </p:pic>
      <p:sp>
        <p:nvSpPr>
          <p:cNvPr id="10" name="Elipse 9">
            <a:extLst>
              <a:ext uri="{FF2B5EF4-FFF2-40B4-BE49-F238E27FC236}">
                <a16:creationId xmlns:a16="http://schemas.microsoft.com/office/drawing/2014/main" id="{7B544D1A-5708-4EC4-A97A-312F7E7EA1FC}"/>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1" name="Imagen 10">
            <a:extLst>
              <a:ext uri="{FF2B5EF4-FFF2-40B4-BE49-F238E27FC236}">
                <a16:creationId xmlns:a16="http://schemas.microsoft.com/office/drawing/2014/main" id="{B2121BAD-EEF0-40CE-A15A-270B2B3096E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12" name="Conector recto 11">
            <a:extLst>
              <a:ext uri="{FF2B5EF4-FFF2-40B4-BE49-F238E27FC236}">
                <a16:creationId xmlns:a16="http://schemas.microsoft.com/office/drawing/2014/main" id="{2D020610-C5B1-42EF-A2AD-A31CAE9802D2}"/>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50445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ángulo redondeado 22"/>
          <p:cNvSpPr/>
          <p:nvPr/>
        </p:nvSpPr>
        <p:spPr>
          <a:xfrm>
            <a:off x="5974088" y="2172515"/>
            <a:ext cx="2784266" cy="620105"/>
          </a:xfrm>
          <a:prstGeom prst="roundRect">
            <a:avLst/>
          </a:prstGeom>
          <a:solidFill>
            <a:srgbClr val="006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ángulo redondeado 21"/>
          <p:cNvSpPr/>
          <p:nvPr/>
        </p:nvSpPr>
        <p:spPr>
          <a:xfrm>
            <a:off x="3112731" y="2184158"/>
            <a:ext cx="2678469" cy="621496"/>
          </a:xfrm>
          <a:prstGeom prst="roundRect">
            <a:avLst/>
          </a:prstGeom>
          <a:solidFill>
            <a:srgbClr val="006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 name="Rectángulo redondeado 2"/>
          <p:cNvSpPr/>
          <p:nvPr/>
        </p:nvSpPr>
        <p:spPr>
          <a:xfrm>
            <a:off x="251458" y="2184158"/>
            <a:ext cx="2575869" cy="621496"/>
          </a:xfrm>
          <a:prstGeom prst="roundRect">
            <a:avLst/>
          </a:prstGeom>
          <a:solidFill>
            <a:srgbClr val="006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Marcador de número de diapositiva 3"/>
          <p:cNvSpPr>
            <a:spLocks noGrp="1"/>
          </p:cNvSpPr>
          <p:nvPr>
            <p:ph type="sldNum" sz="quarter" idx="12"/>
          </p:nvPr>
        </p:nvSpPr>
        <p:spPr/>
        <p:txBody>
          <a:bodyPr/>
          <a:lstStyle/>
          <a:p>
            <a:fld id="{F72B40EF-D53A-41AA-87B6-B9F74BA43E09}" type="slidenum">
              <a:rPr lang="es-ES" smtClean="0"/>
              <a:t>14</a:t>
            </a:fld>
            <a:endParaRPr lang="es-ES"/>
          </a:p>
        </p:txBody>
      </p:sp>
      <p:sp>
        <p:nvSpPr>
          <p:cNvPr id="11" name="Rectángulo 10"/>
          <p:cNvSpPr/>
          <p:nvPr/>
        </p:nvSpPr>
        <p:spPr>
          <a:xfrm>
            <a:off x="5929908" y="2859247"/>
            <a:ext cx="2828446" cy="1384995"/>
          </a:xfrm>
          <a:prstGeom prst="rect">
            <a:avLst/>
          </a:prstGeom>
        </p:spPr>
        <p:txBody>
          <a:bodyPr wrap="square">
            <a:spAutoFit/>
          </a:bodyPr>
          <a:lstStyle/>
          <a:p>
            <a:pPr marL="285750" indent="-285750" algn="just">
              <a:buFont typeface="Arial" panose="020B0604020202020204" pitchFamily="34" charset="0"/>
              <a:buChar char="•"/>
            </a:pPr>
            <a:r>
              <a:rPr lang="en-US" sz="1400" b="1" dirty="0"/>
              <a:t>DBSCAN, OPTICS</a:t>
            </a:r>
            <a:endParaRPr lang="en-US" sz="1400" dirty="0"/>
          </a:p>
          <a:p>
            <a:pPr marL="285750" indent="-285750" algn="just">
              <a:buFont typeface="Arial" panose="020B0604020202020204" pitchFamily="34" charset="0"/>
              <a:buChar char="•"/>
            </a:pPr>
            <a:r>
              <a:rPr lang="en-US" sz="1400" dirty="0" err="1"/>
              <a:t>Estos</a:t>
            </a:r>
            <a:r>
              <a:rPr lang="en-US" sz="1400" dirty="0"/>
              <a:t> </a:t>
            </a:r>
            <a:r>
              <a:rPr lang="en-US" sz="1400" dirty="0" err="1"/>
              <a:t>algoritmos</a:t>
            </a:r>
            <a:r>
              <a:rPr lang="en-US" sz="1400" dirty="0"/>
              <a:t> </a:t>
            </a:r>
            <a:r>
              <a:rPr lang="en-US" sz="1400" dirty="0" err="1"/>
              <a:t>consideran</a:t>
            </a:r>
            <a:r>
              <a:rPr lang="en-US" sz="1400" dirty="0"/>
              <a:t> que </a:t>
            </a:r>
            <a:r>
              <a:rPr lang="en-US" sz="1400" dirty="0" err="1"/>
              <a:t>los</a:t>
            </a:r>
            <a:r>
              <a:rPr lang="en-US" sz="1400" dirty="0"/>
              <a:t> clusters son </a:t>
            </a:r>
            <a:r>
              <a:rPr lang="en-US" sz="1400" dirty="0" err="1"/>
              <a:t>una</a:t>
            </a:r>
            <a:r>
              <a:rPr lang="en-US" sz="1400" dirty="0"/>
              <a:t> </a:t>
            </a:r>
            <a:r>
              <a:rPr lang="en-US" sz="1400" dirty="0" err="1"/>
              <a:t>región</a:t>
            </a:r>
            <a:r>
              <a:rPr lang="en-US" sz="1400" dirty="0"/>
              <a:t> </a:t>
            </a:r>
            <a:r>
              <a:rPr lang="en-US" sz="1400" dirty="0" err="1"/>
              <a:t>densa</a:t>
            </a:r>
            <a:r>
              <a:rPr lang="en-US" sz="1400" dirty="0"/>
              <a:t> que </a:t>
            </a:r>
            <a:r>
              <a:rPr lang="en-US" sz="1400" dirty="0" err="1"/>
              <a:t>tiene</a:t>
            </a:r>
            <a:r>
              <a:rPr lang="en-US" sz="1400" dirty="0"/>
              <a:t> </a:t>
            </a:r>
            <a:r>
              <a:rPr lang="en-US" sz="1400" dirty="0" err="1"/>
              <a:t>cierta</a:t>
            </a:r>
            <a:r>
              <a:rPr lang="en-US" sz="1400" dirty="0"/>
              <a:t> </a:t>
            </a:r>
            <a:r>
              <a:rPr lang="en-US" sz="1400" dirty="0" err="1"/>
              <a:t>similitud</a:t>
            </a:r>
            <a:r>
              <a:rPr lang="en-US" sz="1400" dirty="0"/>
              <a:t> y son </a:t>
            </a:r>
            <a:r>
              <a:rPr lang="en-US" sz="1400" dirty="0" err="1"/>
              <a:t>diferentes</a:t>
            </a:r>
            <a:r>
              <a:rPr lang="en-US" sz="1400" dirty="0"/>
              <a:t> de la </a:t>
            </a:r>
            <a:r>
              <a:rPr lang="en-US" sz="1400" dirty="0" err="1"/>
              <a:t>región</a:t>
            </a:r>
            <a:r>
              <a:rPr lang="en-US" sz="1400" dirty="0"/>
              <a:t> </a:t>
            </a:r>
            <a:r>
              <a:rPr lang="en-US" sz="1400" dirty="0" err="1"/>
              <a:t>más</a:t>
            </a:r>
            <a:r>
              <a:rPr lang="en-US" sz="1400" dirty="0"/>
              <a:t> </a:t>
            </a:r>
            <a:r>
              <a:rPr lang="en-US" sz="1400" dirty="0" err="1"/>
              <a:t>baja</a:t>
            </a:r>
            <a:r>
              <a:rPr lang="en-US" sz="1400" dirty="0"/>
              <a:t> y </a:t>
            </a:r>
            <a:r>
              <a:rPr lang="en-US" sz="1400" dirty="0" err="1"/>
              <a:t>densa</a:t>
            </a:r>
            <a:r>
              <a:rPr lang="en-US" sz="1400" dirty="0"/>
              <a:t> del </a:t>
            </a:r>
            <a:r>
              <a:rPr lang="en-US" sz="1400" dirty="0" err="1"/>
              <a:t>espacio</a:t>
            </a:r>
            <a:r>
              <a:rPr lang="en-US" sz="1400" dirty="0"/>
              <a:t>. </a:t>
            </a:r>
          </a:p>
        </p:txBody>
      </p:sp>
      <p:sp>
        <p:nvSpPr>
          <p:cNvPr id="14" name="Rectángulo 13"/>
          <p:cNvSpPr/>
          <p:nvPr/>
        </p:nvSpPr>
        <p:spPr>
          <a:xfrm>
            <a:off x="3061931" y="2933049"/>
            <a:ext cx="2729269" cy="1600438"/>
          </a:xfrm>
          <a:prstGeom prst="rect">
            <a:avLst/>
          </a:prstGeom>
        </p:spPr>
        <p:txBody>
          <a:bodyPr wrap="square">
            <a:spAutoFit/>
          </a:bodyPr>
          <a:lstStyle/>
          <a:p>
            <a:pPr marL="285750" indent="-285750" algn="just">
              <a:buFont typeface="Arial" panose="020B0604020202020204" pitchFamily="34" charset="0"/>
              <a:buChar char="•"/>
            </a:pPr>
            <a:r>
              <a:rPr lang="en-US" sz="1400" b="1" dirty="0"/>
              <a:t>Hierarchical Clustering</a:t>
            </a:r>
          </a:p>
          <a:p>
            <a:pPr marL="285750" indent="-285750" algn="just">
              <a:buFont typeface="Arial" panose="020B0604020202020204" pitchFamily="34" charset="0"/>
              <a:buChar char="•"/>
            </a:pPr>
            <a:r>
              <a:rPr lang="en-US" sz="1400" dirty="0"/>
              <a:t>Los </a:t>
            </a:r>
            <a:r>
              <a:rPr lang="en-US" sz="1400" dirty="0" err="1"/>
              <a:t>cúmulos</a:t>
            </a:r>
            <a:r>
              <a:rPr lang="en-US" sz="1400" dirty="0"/>
              <a:t> </a:t>
            </a:r>
            <a:r>
              <a:rPr lang="en-US" sz="1400" dirty="0" err="1"/>
              <a:t>forman</a:t>
            </a:r>
            <a:r>
              <a:rPr lang="en-US" sz="1400" dirty="0"/>
              <a:t> </a:t>
            </a:r>
            <a:r>
              <a:rPr lang="en-US" sz="1400" dirty="0" err="1"/>
              <a:t>una</a:t>
            </a:r>
            <a:r>
              <a:rPr lang="en-US" sz="1400" dirty="0"/>
              <a:t> </a:t>
            </a:r>
            <a:r>
              <a:rPr lang="en-US" sz="1400" dirty="0" err="1"/>
              <a:t>estructura</a:t>
            </a:r>
            <a:r>
              <a:rPr lang="en-US" sz="1400" dirty="0"/>
              <a:t> </a:t>
            </a:r>
            <a:r>
              <a:rPr lang="en-US" sz="1400" dirty="0" err="1"/>
              <a:t>tipo</a:t>
            </a:r>
            <a:r>
              <a:rPr lang="en-US" sz="1400" dirty="0"/>
              <a:t> </a:t>
            </a:r>
            <a:r>
              <a:rPr lang="en-US" sz="1400" dirty="0" err="1"/>
              <a:t>árbol</a:t>
            </a:r>
            <a:r>
              <a:rPr lang="en-US" sz="1400" dirty="0"/>
              <a:t> </a:t>
            </a:r>
            <a:r>
              <a:rPr lang="en-US" sz="1400" dirty="0" err="1"/>
              <a:t>basada</a:t>
            </a:r>
            <a:r>
              <a:rPr lang="en-US" sz="1400" dirty="0"/>
              <a:t> </a:t>
            </a:r>
            <a:r>
              <a:rPr lang="en-US" sz="1400" dirty="0" err="1"/>
              <a:t>en</a:t>
            </a:r>
            <a:r>
              <a:rPr lang="en-US" sz="1400" dirty="0"/>
              <a:t> la </a:t>
            </a:r>
            <a:r>
              <a:rPr lang="en-US" sz="1400" dirty="0" err="1"/>
              <a:t>jerarquía</a:t>
            </a:r>
            <a:r>
              <a:rPr lang="en-US" sz="1400" dirty="0"/>
              <a:t>. </a:t>
            </a:r>
          </a:p>
          <a:p>
            <a:pPr marL="285750" indent="-285750" algn="just">
              <a:buFont typeface="Arial" panose="020B0604020202020204" pitchFamily="34" charset="0"/>
              <a:buChar char="•"/>
            </a:pPr>
            <a:r>
              <a:rPr lang="en-US" sz="1400" dirty="0"/>
              <a:t>Se divide </a:t>
            </a:r>
            <a:r>
              <a:rPr lang="en-US" sz="1400" dirty="0" err="1"/>
              <a:t>en</a:t>
            </a:r>
            <a:r>
              <a:rPr lang="en-US" sz="1400" dirty="0"/>
              <a:t> dos </a:t>
            </a:r>
            <a:r>
              <a:rPr lang="en-US" sz="1400" dirty="0" err="1"/>
              <a:t>categorías</a:t>
            </a:r>
            <a:r>
              <a:rPr lang="en-US" sz="1400" dirty="0"/>
              <a:t>:</a:t>
            </a:r>
          </a:p>
          <a:p>
            <a:pPr marL="742950" lvl="1" indent="-285750" algn="just">
              <a:buFont typeface="Arial" panose="020B0604020202020204" pitchFamily="34" charset="0"/>
              <a:buChar char="•"/>
            </a:pPr>
            <a:r>
              <a:rPr lang="en-US" sz="1400" b="1" dirty="0" err="1"/>
              <a:t>Aglomerado</a:t>
            </a:r>
            <a:r>
              <a:rPr lang="en-US" sz="1400" dirty="0"/>
              <a:t> </a:t>
            </a:r>
          </a:p>
          <a:p>
            <a:pPr marL="742950" lvl="1" indent="-285750" algn="just">
              <a:buFont typeface="Arial" panose="020B0604020202020204" pitchFamily="34" charset="0"/>
              <a:buChar char="•"/>
            </a:pPr>
            <a:r>
              <a:rPr lang="en-US" sz="1400" b="1" dirty="0" err="1"/>
              <a:t>Divisivo</a:t>
            </a:r>
            <a:endParaRPr lang="en-US" sz="1400" dirty="0"/>
          </a:p>
        </p:txBody>
      </p:sp>
      <p:sp>
        <p:nvSpPr>
          <p:cNvPr id="15" name="Rectángulo 14"/>
          <p:cNvSpPr/>
          <p:nvPr/>
        </p:nvSpPr>
        <p:spPr>
          <a:xfrm>
            <a:off x="265465" y="2922215"/>
            <a:ext cx="2566635" cy="1169551"/>
          </a:xfrm>
          <a:prstGeom prst="rect">
            <a:avLst/>
          </a:prstGeom>
        </p:spPr>
        <p:txBody>
          <a:bodyPr wrap="square">
            <a:spAutoFit/>
          </a:bodyPr>
          <a:lstStyle/>
          <a:p>
            <a:pPr marL="285750" indent="-285750" algn="just">
              <a:buFont typeface="Arial" panose="020B0604020202020204" pitchFamily="34" charset="0"/>
              <a:buChar char="•"/>
            </a:pPr>
            <a:r>
              <a:rPr lang="en-US" sz="1400" b="1" dirty="0"/>
              <a:t>K-means</a:t>
            </a:r>
          </a:p>
          <a:p>
            <a:pPr marL="285750" indent="-285750" algn="just">
              <a:buFont typeface="Arial" panose="020B0604020202020204" pitchFamily="34" charset="0"/>
              <a:buChar char="•"/>
            </a:pPr>
            <a:r>
              <a:rPr lang="en-US" sz="1400" dirty="0"/>
              <a:t>Este </a:t>
            </a:r>
            <a:r>
              <a:rPr lang="en-US" sz="1400" dirty="0" err="1"/>
              <a:t>algoritmo</a:t>
            </a:r>
            <a:r>
              <a:rPr lang="en-US" sz="1400" dirty="0"/>
              <a:t> divide las </a:t>
            </a:r>
            <a:r>
              <a:rPr lang="en-US" sz="1400" dirty="0" err="1"/>
              <a:t>observaciones</a:t>
            </a:r>
            <a:r>
              <a:rPr lang="en-US" sz="1400" dirty="0"/>
              <a:t> </a:t>
            </a:r>
            <a:r>
              <a:rPr lang="en-US" sz="1400" dirty="0" err="1"/>
              <a:t>en</a:t>
            </a:r>
            <a:r>
              <a:rPr lang="en-US" sz="1400" dirty="0"/>
              <a:t> </a:t>
            </a:r>
            <a:r>
              <a:rPr lang="en-US" sz="1400" b="1" i="1" dirty="0"/>
              <a:t>k clusters</a:t>
            </a:r>
            <a:r>
              <a:rPr lang="en-US" sz="1400" dirty="0"/>
              <a:t> (</a:t>
            </a:r>
            <a:r>
              <a:rPr lang="en-US" sz="1400" dirty="0" err="1"/>
              <a:t>grupos</a:t>
            </a:r>
            <a:r>
              <a:rPr lang="en-US" sz="1400" dirty="0"/>
              <a:t>) y </a:t>
            </a:r>
            <a:r>
              <a:rPr lang="en-US" sz="1400" dirty="0" err="1"/>
              <a:t>cada</a:t>
            </a:r>
            <a:r>
              <a:rPr lang="en-US" sz="1400" dirty="0"/>
              <a:t> </a:t>
            </a:r>
            <a:r>
              <a:rPr lang="en-US" sz="1400" dirty="0" err="1"/>
              <a:t>partición</a:t>
            </a:r>
            <a:r>
              <a:rPr lang="en-US" sz="1400" dirty="0"/>
              <a:t> forma un cluster. </a:t>
            </a:r>
          </a:p>
        </p:txBody>
      </p:sp>
      <p:sp>
        <p:nvSpPr>
          <p:cNvPr id="20" name="Título 1"/>
          <p:cNvSpPr txBox="1">
            <a:spLocks/>
          </p:cNvSpPr>
          <p:nvPr/>
        </p:nvSpPr>
        <p:spPr>
          <a:xfrm>
            <a:off x="1080252" y="1238792"/>
            <a:ext cx="5015055" cy="763455"/>
          </a:xfrm>
          <a:prstGeom prst="rect">
            <a:avLst/>
          </a:prstGeom>
        </p:spPr>
        <p:txBody>
          <a:bodyPr vert="horz" lIns="91440" tIns="45720" rIns="91440" bIns="45720" rtlCol="0" anchor="ctr">
            <a:normAutofit/>
          </a:bodyPr>
          <a:lstStyle>
            <a:lvl1pPr algn="ctr" defTabSz="914377" rtl="0" eaLnBrk="1" latinLnBrk="0" hangingPunct="1">
              <a:lnSpc>
                <a:spcPct val="90000"/>
              </a:lnSpc>
              <a:spcBef>
                <a:spcPct val="0"/>
              </a:spcBef>
              <a:buNone/>
              <a:defRPr sz="4000" kern="1200">
                <a:solidFill>
                  <a:schemeClr val="tx1"/>
                </a:solidFill>
                <a:latin typeface="+mj-lt"/>
                <a:ea typeface="+mj-ea"/>
                <a:cs typeface="+mj-cs"/>
              </a:defRPr>
            </a:lvl1pPr>
          </a:lstStyle>
          <a:p>
            <a:pPr algn="l"/>
            <a:r>
              <a:rPr lang="es-ES" sz="2400" b="1" dirty="0"/>
              <a:t>Algoritmos de </a:t>
            </a:r>
            <a:r>
              <a:rPr lang="es-ES" sz="2400" b="1" dirty="0" err="1"/>
              <a:t>Clustering</a:t>
            </a:r>
            <a:endParaRPr lang="es-ES" sz="2400" b="1" dirty="0"/>
          </a:p>
        </p:txBody>
      </p:sp>
      <p:sp>
        <p:nvSpPr>
          <p:cNvPr id="10" name="Rectángulo 9"/>
          <p:cNvSpPr/>
          <p:nvPr/>
        </p:nvSpPr>
        <p:spPr>
          <a:xfrm>
            <a:off x="265465" y="2288473"/>
            <a:ext cx="2429832" cy="369332"/>
          </a:xfrm>
          <a:prstGeom prst="rect">
            <a:avLst/>
          </a:prstGeom>
        </p:spPr>
        <p:txBody>
          <a:bodyPr wrap="none">
            <a:spAutoFit/>
          </a:bodyPr>
          <a:lstStyle/>
          <a:p>
            <a:r>
              <a:rPr lang="en-US" b="1" dirty="0" err="1">
                <a:solidFill>
                  <a:schemeClr val="bg1"/>
                </a:solidFill>
              </a:rPr>
              <a:t>Algoritmos</a:t>
            </a:r>
            <a:r>
              <a:rPr lang="en-US" b="1" dirty="0">
                <a:solidFill>
                  <a:schemeClr val="bg1"/>
                </a:solidFill>
              </a:rPr>
              <a:t> de </a:t>
            </a:r>
            <a:r>
              <a:rPr lang="en-US" b="1" dirty="0" err="1">
                <a:solidFill>
                  <a:schemeClr val="bg1"/>
                </a:solidFill>
              </a:rPr>
              <a:t>partición</a:t>
            </a:r>
            <a:endParaRPr lang="en-US" b="1" dirty="0">
              <a:solidFill>
                <a:schemeClr val="bg1"/>
              </a:solidFill>
            </a:endParaRPr>
          </a:p>
        </p:txBody>
      </p:sp>
      <p:sp>
        <p:nvSpPr>
          <p:cNvPr id="24" name="Rectángulo 23"/>
          <p:cNvSpPr/>
          <p:nvPr/>
        </p:nvSpPr>
        <p:spPr>
          <a:xfrm>
            <a:off x="6076603" y="2169637"/>
            <a:ext cx="2820093" cy="646331"/>
          </a:xfrm>
          <a:prstGeom prst="rect">
            <a:avLst/>
          </a:prstGeom>
        </p:spPr>
        <p:txBody>
          <a:bodyPr wrap="square">
            <a:spAutoFit/>
          </a:bodyPr>
          <a:lstStyle/>
          <a:p>
            <a:r>
              <a:rPr lang="en-US" b="1" dirty="0" err="1">
                <a:solidFill>
                  <a:schemeClr val="bg1"/>
                </a:solidFill>
              </a:rPr>
              <a:t>Algoritmos</a:t>
            </a:r>
            <a:r>
              <a:rPr lang="en-US" b="1" dirty="0">
                <a:solidFill>
                  <a:schemeClr val="bg1"/>
                </a:solidFill>
              </a:rPr>
              <a:t> </a:t>
            </a:r>
            <a:r>
              <a:rPr lang="en-US" b="1" dirty="0" err="1">
                <a:solidFill>
                  <a:schemeClr val="bg1"/>
                </a:solidFill>
              </a:rPr>
              <a:t>basados</a:t>
            </a:r>
            <a:r>
              <a:rPr lang="en-US" b="1" dirty="0">
                <a:solidFill>
                  <a:schemeClr val="bg1"/>
                </a:solidFill>
              </a:rPr>
              <a:t> </a:t>
            </a:r>
            <a:r>
              <a:rPr lang="en-US" b="1" dirty="0" err="1">
                <a:solidFill>
                  <a:schemeClr val="bg1"/>
                </a:solidFill>
              </a:rPr>
              <a:t>en</a:t>
            </a:r>
            <a:r>
              <a:rPr lang="en-US" b="1" dirty="0">
                <a:solidFill>
                  <a:schemeClr val="bg1"/>
                </a:solidFill>
              </a:rPr>
              <a:t> la </a:t>
            </a:r>
            <a:r>
              <a:rPr lang="en-US" b="1" dirty="0" err="1">
                <a:solidFill>
                  <a:schemeClr val="bg1"/>
                </a:solidFill>
              </a:rPr>
              <a:t>densidad</a:t>
            </a:r>
            <a:endParaRPr lang="en-US" sz="1400" b="1" dirty="0"/>
          </a:p>
        </p:txBody>
      </p:sp>
      <p:sp>
        <p:nvSpPr>
          <p:cNvPr id="25" name="Rectángulo 24"/>
          <p:cNvSpPr/>
          <p:nvPr/>
        </p:nvSpPr>
        <p:spPr>
          <a:xfrm>
            <a:off x="3183727" y="2159323"/>
            <a:ext cx="3132948" cy="646331"/>
          </a:xfrm>
          <a:prstGeom prst="rect">
            <a:avLst/>
          </a:prstGeom>
        </p:spPr>
        <p:txBody>
          <a:bodyPr wrap="square">
            <a:spAutoFit/>
          </a:bodyPr>
          <a:lstStyle/>
          <a:p>
            <a:r>
              <a:rPr lang="en-US" b="1" dirty="0" err="1">
                <a:solidFill>
                  <a:schemeClr val="bg1"/>
                </a:solidFill>
              </a:rPr>
              <a:t>Algoritmos</a:t>
            </a:r>
            <a:r>
              <a:rPr lang="en-US" b="1" dirty="0">
                <a:solidFill>
                  <a:schemeClr val="bg1"/>
                </a:solidFill>
              </a:rPr>
              <a:t> </a:t>
            </a:r>
            <a:r>
              <a:rPr lang="en-US" b="1" dirty="0" err="1">
                <a:solidFill>
                  <a:schemeClr val="bg1"/>
                </a:solidFill>
              </a:rPr>
              <a:t>basados</a:t>
            </a:r>
            <a:r>
              <a:rPr lang="en-US" b="1" dirty="0">
                <a:solidFill>
                  <a:schemeClr val="bg1"/>
                </a:solidFill>
              </a:rPr>
              <a:t> </a:t>
            </a:r>
            <a:r>
              <a:rPr lang="en-US" b="1" dirty="0" err="1">
                <a:solidFill>
                  <a:schemeClr val="bg1"/>
                </a:solidFill>
              </a:rPr>
              <a:t>en</a:t>
            </a:r>
            <a:r>
              <a:rPr lang="en-US" b="1" dirty="0">
                <a:solidFill>
                  <a:schemeClr val="bg1"/>
                </a:solidFill>
              </a:rPr>
              <a:t> la </a:t>
            </a:r>
            <a:r>
              <a:rPr lang="en-US" b="1" dirty="0" err="1">
                <a:solidFill>
                  <a:schemeClr val="bg1"/>
                </a:solidFill>
              </a:rPr>
              <a:t>jerarquía</a:t>
            </a:r>
            <a:endParaRPr lang="en-US" sz="1400" b="1" dirty="0">
              <a:solidFill>
                <a:schemeClr val="bg1"/>
              </a:solidFill>
            </a:endParaRPr>
          </a:p>
        </p:txBody>
      </p:sp>
      <p:pic>
        <p:nvPicPr>
          <p:cNvPr id="27" name="Picture 2" descr="Tool Mastery | K-Centroids Cluster Analysis - Alteryx Community"/>
          <p:cNvPicPr>
            <a:picLocks noChangeAspect="1" noChangeArrowheads="1"/>
          </p:cNvPicPr>
          <p:nvPr/>
        </p:nvPicPr>
        <p:blipFill rotWithShape="1">
          <a:blip r:embed="rId3">
            <a:extLst>
              <a:ext uri="{28A0092B-C50C-407E-A947-70E740481C1C}">
                <a14:useLocalDpi xmlns:a14="http://schemas.microsoft.com/office/drawing/2010/main" val="0"/>
              </a:ext>
            </a:extLst>
          </a:blip>
          <a:srcRect l="4118" t="4925" r="7646" b="4749"/>
          <a:stretch/>
        </p:blipFill>
        <p:spPr bwMode="auto">
          <a:xfrm>
            <a:off x="182130" y="4769314"/>
            <a:ext cx="2762500" cy="1952166"/>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Hierarchical Clustering with Python and Scikit-Lear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51866" y="4911957"/>
            <a:ext cx="2352598" cy="1666880"/>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descr="Análisis de grupos - Wikipedia, la enciclopedia libr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70650" y="4651335"/>
            <a:ext cx="2034954" cy="2188123"/>
          </a:xfrm>
          <a:prstGeom prst="rect">
            <a:avLst/>
          </a:prstGeom>
          <a:noFill/>
          <a:extLst>
            <a:ext uri="{909E8E84-426E-40DD-AFC4-6F175D3DCCD1}">
              <a14:hiddenFill xmlns:a14="http://schemas.microsoft.com/office/drawing/2010/main">
                <a:solidFill>
                  <a:srgbClr val="FFFFFF"/>
                </a:solidFill>
              </a14:hiddenFill>
            </a:ext>
          </a:extLst>
        </p:spPr>
      </p:pic>
      <p:sp>
        <p:nvSpPr>
          <p:cNvPr id="26" name="Elipse 25">
            <a:extLst>
              <a:ext uri="{FF2B5EF4-FFF2-40B4-BE49-F238E27FC236}">
                <a16:creationId xmlns:a16="http://schemas.microsoft.com/office/drawing/2014/main" id="{CB67318E-A5C9-491D-8608-971251C5D554}"/>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8" name="Imagen 27">
            <a:extLst>
              <a:ext uri="{FF2B5EF4-FFF2-40B4-BE49-F238E27FC236}">
                <a16:creationId xmlns:a16="http://schemas.microsoft.com/office/drawing/2014/main" id="{2C38B344-1E00-465D-830F-9E195CFEFEE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29" name="Conector recto 28">
            <a:extLst>
              <a:ext uri="{FF2B5EF4-FFF2-40B4-BE49-F238E27FC236}">
                <a16:creationId xmlns:a16="http://schemas.microsoft.com/office/drawing/2014/main" id="{04746E70-98AC-4416-9399-43059C6C2A98}"/>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63079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F72B40EF-D53A-41AA-87B6-B9F74BA43E09}" type="slidenum">
              <a:rPr lang="es-ES" smtClean="0"/>
              <a:t>15</a:t>
            </a:fld>
            <a:endParaRPr lang="es-ES"/>
          </a:p>
        </p:txBody>
      </p:sp>
      <p:sp>
        <p:nvSpPr>
          <p:cNvPr id="8" name="Título 1"/>
          <p:cNvSpPr>
            <a:spLocks noGrp="1"/>
          </p:cNvSpPr>
          <p:nvPr>
            <p:ph type="title"/>
          </p:nvPr>
        </p:nvSpPr>
        <p:spPr>
          <a:xfrm>
            <a:off x="1080252" y="1252619"/>
            <a:ext cx="5615397" cy="763455"/>
          </a:xfrm>
        </p:spPr>
        <p:txBody>
          <a:bodyPr>
            <a:normAutofit/>
          </a:bodyPr>
          <a:lstStyle/>
          <a:p>
            <a:pPr algn="l"/>
            <a:r>
              <a:rPr lang="en-US" sz="2400" b="1" dirty="0" err="1"/>
              <a:t>Método</a:t>
            </a:r>
            <a:r>
              <a:rPr lang="en-US" sz="2400" b="1" dirty="0"/>
              <a:t> de </a:t>
            </a:r>
            <a:r>
              <a:rPr lang="en-US" sz="2400" b="1" dirty="0" err="1"/>
              <a:t>partición</a:t>
            </a:r>
            <a:r>
              <a:rPr lang="en-US" sz="2400" b="1" dirty="0"/>
              <a:t>: K-means</a:t>
            </a:r>
            <a:endParaRPr lang="es-ES" sz="2400" b="1" dirty="0"/>
          </a:p>
        </p:txBody>
      </p:sp>
      <p:sp>
        <p:nvSpPr>
          <p:cNvPr id="12" name="Rectangle 2"/>
          <p:cNvSpPr>
            <a:spLocks noChangeArrowheads="1"/>
          </p:cNvSpPr>
          <p:nvPr/>
        </p:nvSpPr>
        <p:spPr bwMode="auto">
          <a:xfrm>
            <a:off x="1032962" y="5244292"/>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 name="Rectángulo 16"/>
          <p:cNvSpPr/>
          <p:nvPr/>
        </p:nvSpPr>
        <p:spPr>
          <a:xfrm>
            <a:off x="527381" y="2141847"/>
            <a:ext cx="3970020" cy="4031873"/>
          </a:xfrm>
          <a:prstGeom prst="rect">
            <a:avLst/>
          </a:prstGeom>
        </p:spPr>
        <p:txBody>
          <a:bodyPr wrap="square">
            <a:spAutoFit/>
          </a:bodyPr>
          <a:lstStyle/>
          <a:p>
            <a:pPr marL="285750" indent="-285750">
              <a:buFont typeface="Arial" panose="020B0604020202020204" pitchFamily="34" charset="0"/>
              <a:buChar char="•"/>
            </a:pPr>
            <a:r>
              <a:rPr lang="es-ES" sz="1600" dirty="0"/>
              <a:t>Agrupa las observaciones en k </a:t>
            </a:r>
            <a:r>
              <a:rPr lang="es-ES" sz="1600" dirty="0" err="1"/>
              <a:t>clusters</a:t>
            </a:r>
            <a:r>
              <a:rPr lang="es-ES" sz="1600" dirty="0"/>
              <a:t> (</a:t>
            </a:r>
            <a:r>
              <a:rPr lang="en-US" sz="1600" dirty="0"/>
              <a:t>el valor de </a:t>
            </a:r>
            <a:r>
              <a:rPr lang="en-US" sz="1600" b="1" dirty="0"/>
              <a:t>K</a:t>
            </a:r>
            <a:r>
              <a:rPr lang="en-US" sz="1600" dirty="0"/>
              <a:t> </a:t>
            </a:r>
            <a:r>
              <a:rPr lang="en-US" sz="1600" dirty="0" err="1"/>
              <a:t>debe</a:t>
            </a:r>
            <a:r>
              <a:rPr lang="en-US" sz="1600" dirty="0"/>
              <a:t> </a:t>
            </a:r>
            <a:r>
              <a:rPr lang="en-US" sz="1600" dirty="0" err="1"/>
              <a:t>ser</a:t>
            </a:r>
            <a:r>
              <a:rPr lang="en-US" sz="1600" dirty="0"/>
              <a:t> </a:t>
            </a:r>
            <a:r>
              <a:rPr lang="en-US" sz="1600" dirty="0" err="1"/>
              <a:t>especificado</a:t>
            </a:r>
            <a:r>
              <a:rPr lang="en-US" sz="1600" dirty="0"/>
              <a:t> </a:t>
            </a:r>
            <a:r>
              <a:rPr lang="en-US" sz="1600" dirty="0" err="1"/>
              <a:t>previamente</a:t>
            </a:r>
            <a:r>
              <a:rPr lang="en-US" sz="1600" dirty="0"/>
              <a:t>).</a:t>
            </a:r>
            <a:endParaRPr lang="es-ES" sz="1600" dirty="0"/>
          </a:p>
          <a:p>
            <a:pPr marL="285750" indent="-285750">
              <a:buFont typeface="Arial" panose="020B0604020202020204" pitchFamily="34" charset="0"/>
              <a:buChar char="•"/>
            </a:pPr>
            <a:r>
              <a:rPr lang="es-ES" sz="1600" dirty="0"/>
              <a:t>El algoritmo k-</a:t>
            </a:r>
            <a:r>
              <a:rPr lang="es-ES" sz="1600" dirty="0" err="1"/>
              <a:t>means</a:t>
            </a:r>
            <a:r>
              <a:rPr lang="es-ES" sz="1600" dirty="0"/>
              <a:t> hace lo siguiente:</a:t>
            </a:r>
          </a:p>
          <a:p>
            <a:pPr marL="742950" lvl="1" indent="-285750">
              <a:buFont typeface="Arial" panose="020B0604020202020204" pitchFamily="34" charset="0"/>
              <a:buChar char="•"/>
            </a:pPr>
            <a:r>
              <a:rPr lang="es-ES" sz="1600" dirty="0"/>
              <a:t>Determina de forma iterativa los mejores puntos centrales </a:t>
            </a:r>
            <a:r>
              <a:rPr lang="es-ES" sz="1600" b="1" dirty="0"/>
              <a:t>K </a:t>
            </a:r>
            <a:r>
              <a:rPr lang="es-ES" sz="1600" dirty="0"/>
              <a:t>(conocidos como </a:t>
            </a:r>
            <a:r>
              <a:rPr lang="es-ES" sz="1600" b="1" dirty="0" err="1"/>
              <a:t>centroides</a:t>
            </a:r>
            <a:r>
              <a:rPr lang="es-ES" sz="1600" dirty="0"/>
              <a:t>).</a:t>
            </a:r>
          </a:p>
          <a:p>
            <a:pPr marL="742950" lvl="1" indent="-285750">
              <a:buFont typeface="Arial" panose="020B0604020202020204" pitchFamily="34" charset="0"/>
              <a:buChar char="•"/>
            </a:pPr>
            <a:r>
              <a:rPr lang="es-ES" sz="1600" dirty="0"/>
              <a:t>Asigna cada observación al </a:t>
            </a:r>
            <a:r>
              <a:rPr lang="es-ES" sz="1600" dirty="0" err="1"/>
              <a:t>centroide</a:t>
            </a:r>
            <a:r>
              <a:rPr lang="es-ES" sz="1600" dirty="0"/>
              <a:t> más cercano. Los ejemplos más cercanos al mismo </a:t>
            </a:r>
            <a:r>
              <a:rPr lang="es-ES" sz="1600" dirty="0" err="1"/>
              <a:t>centroide</a:t>
            </a:r>
            <a:r>
              <a:rPr lang="es-ES" sz="1600" dirty="0"/>
              <a:t> pertenecen al mismo grupo.</a:t>
            </a:r>
          </a:p>
          <a:p>
            <a:pPr marL="285750" indent="-285750">
              <a:buFont typeface="Arial" panose="020B0604020202020204" pitchFamily="34" charset="0"/>
              <a:buChar char="•"/>
            </a:pPr>
            <a:r>
              <a:rPr lang="es-ES" sz="1600" dirty="0"/>
              <a:t>El algoritmo k-</a:t>
            </a:r>
            <a:r>
              <a:rPr lang="es-ES" sz="1600" dirty="0" err="1"/>
              <a:t>means</a:t>
            </a:r>
            <a:r>
              <a:rPr lang="es-ES" sz="1600" dirty="0"/>
              <a:t> selecciona las ubicaciones del </a:t>
            </a:r>
            <a:r>
              <a:rPr lang="es-ES" sz="1600" dirty="0" err="1"/>
              <a:t>centroide</a:t>
            </a:r>
            <a:r>
              <a:rPr lang="es-ES" sz="1600" dirty="0"/>
              <a:t> para minimizar el cuadrado acumulativo de las distancias desde cada ejemplo hasta su </a:t>
            </a:r>
            <a:r>
              <a:rPr lang="es-ES" sz="1600" dirty="0" err="1"/>
              <a:t>centroide</a:t>
            </a:r>
            <a:r>
              <a:rPr lang="es-ES" sz="1600" dirty="0"/>
              <a:t> más cercano.</a:t>
            </a:r>
          </a:p>
        </p:txBody>
      </p:sp>
      <p:pic>
        <p:nvPicPr>
          <p:cNvPr id="22" name="Imagen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41830" y="2207306"/>
            <a:ext cx="3896287" cy="3786188"/>
          </a:xfrm>
          <a:prstGeom prst="rect">
            <a:avLst/>
          </a:prstGeom>
        </p:spPr>
      </p:pic>
      <p:sp>
        <p:nvSpPr>
          <p:cNvPr id="11" name="Elipse 10">
            <a:extLst>
              <a:ext uri="{FF2B5EF4-FFF2-40B4-BE49-F238E27FC236}">
                <a16:creationId xmlns:a16="http://schemas.microsoft.com/office/drawing/2014/main" id="{E793560D-6561-459A-977D-A23F630DC83F}"/>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3" name="Imagen 12">
            <a:extLst>
              <a:ext uri="{FF2B5EF4-FFF2-40B4-BE49-F238E27FC236}">
                <a16:creationId xmlns:a16="http://schemas.microsoft.com/office/drawing/2014/main" id="{4919E65E-8C66-4850-99B4-E161D276B2B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16" name="Conector recto 15">
            <a:extLst>
              <a:ext uri="{FF2B5EF4-FFF2-40B4-BE49-F238E27FC236}">
                <a16:creationId xmlns:a16="http://schemas.microsoft.com/office/drawing/2014/main" id="{78552AB2-86FE-4C24-B576-1BD56F244C25}"/>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61209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F72B40EF-D53A-41AA-87B6-B9F74BA43E09}" type="slidenum">
              <a:rPr lang="es-ES" smtClean="0"/>
              <a:t>16</a:t>
            </a:fld>
            <a:endParaRPr lang="es-ES"/>
          </a:p>
        </p:txBody>
      </p:sp>
      <p:sp>
        <p:nvSpPr>
          <p:cNvPr id="2" name="Rectángulo 1"/>
          <p:cNvSpPr/>
          <p:nvPr/>
        </p:nvSpPr>
        <p:spPr>
          <a:xfrm>
            <a:off x="907773" y="2935279"/>
            <a:ext cx="3207183" cy="3293209"/>
          </a:xfrm>
          <a:prstGeom prst="rect">
            <a:avLst/>
          </a:prstGeom>
        </p:spPr>
        <p:txBody>
          <a:bodyPr wrap="square">
            <a:spAutoFit/>
          </a:bodyPr>
          <a:lstStyle/>
          <a:p>
            <a:pPr marL="342900" indent="-342900">
              <a:buFont typeface="Arial" panose="020B0604020202020204" pitchFamily="34" charset="0"/>
              <a:buChar char="•"/>
            </a:pPr>
            <a:r>
              <a:rPr lang="en-US" sz="1600" dirty="0"/>
              <a:t>Para </a:t>
            </a:r>
            <a:r>
              <a:rPr lang="en-US" sz="1600" b="1" dirty="0"/>
              <a:t>K</a:t>
            </a:r>
            <a:r>
              <a:rPr lang="en-US" sz="1600" dirty="0"/>
              <a:t> </a:t>
            </a:r>
            <a:r>
              <a:rPr lang="en-US" sz="1600" dirty="0" err="1"/>
              <a:t>número</a:t>
            </a:r>
            <a:r>
              <a:rPr lang="en-US" sz="1600" dirty="0"/>
              <a:t> de clusters, </a:t>
            </a:r>
            <a:r>
              <a:rPr lang="en-US" sz="1600" dirty="0" err="1"/>
              <a:t>elige</a:t>
            </a:r>
            <a:r>
              <a:rPr lang="en-US" sz="1600" dirty="0"/>
              <a:t> un </a:t>
            </a:r>
            <a:r>
              <a:rPr lang="en-US" sz="1600" dirty="0" err="1"/>
              <a:t>centroide</a:t>
            </a:r>
            <a:r>
              <a:rPr lang="en-US" sz="1600" dirty="0"/>
              <a:t> al azar.</a:t>
            </a:r>
          </a:p>
          <a:p>
            <a:pPr marL="342900" indent="-342900">
              <a:buFont typeface="Arial" panose="020B0604020202020204" pitchFamily="34" charset="0"/>
              <a:buChar char="•"/>
            </a:pPr>
            <a:endParaRPr lang="en-US" sz="1600" dirty="0"/>
          </a:p>
          <a:p>
            <a:pPr marL="342900" indent="-342900">
              <a:buFont typeface="Arial" panose="020B0604020202020204" pitchFamily="34" charset="0"/>
              <a:buChar char="•"/>
            </a:pPr>
            <a:r>
              <a:rPr lang="en-US" sz="1600" dirty="0" err="1"/>
              <a:t>Calcula</a:t>
            </a:r>
            <a:r>
              <a:rPr lang="en-US" sz="1600" dirty="0"/>
              <a:t> la </a:t>
            </a:r>
            <a:r>
              <a:rPr lang="en-US" sz="1600" dirty="0" err="1"/>
              <a:t>distancia</a:t>
            </a:r>
            <a:r>
              <a:rPr lang="en-US" sz="1600" dirty="0"/>
              <a:t> a </a:t>
            </a:r>
            <a:r>
              <a:rPr lang="en-US" sz="1600" dirty="0" err="1"/>
              <a:t>los</a:t>
            </a:r>
            <a:r>
              <a:rPr lang="en-US" sz="1600" dirty="0"/>
              <a:t> </a:t>
            </a:r>
            <a:r>
              <a:rPr lang="en-US" sz="1600" dirty="0" err="1"/>
              <a:t>otros</a:t>
            </a:r>
            <a:r>
              <a:rPr lang="en-US" sz="1600" dirty="0"/>
              <a:t> </a:t>
            </a:r>
            <a:r>
              <a:rPr lang="en-US" sz="1600" dirty="0" err="1"/>
              <a:t>puntos</a:t>
            </a:r>
            <a:r>
              <a:rPr lang="en-US" sz="1600" dirty="0"/>
              <a:t> del </a:t>
            </a:r>
            <a:r>
              <a:rPr lang="en-US" sz="1600" dirty="0" err="1"/>
              <a:t>centroide</a:t>
            </a:r>
            <a:r>
              <a:rPr lang="en-US" sz="1600" dirty="0"/>
              <a:t>.</a:t>
            </a:r>
          </a:p>
          <a:p>
            <a:pPr marL="342900" indent="-342900">
              <a:buFont typeface="Arial" panose="020B0604020202020204" pitchFamily="34" charset="0"/>
              <a:buChar char="•"/>
            </a:pPr>
            <a:endParaRPr lang="en-US" sz="1600" dirty="0"/>
          </a:p>
          <a:p>
            <a:pPr marL="342900" indent="-342900">
              <a:buFont typeface="Arial" panose="020B0604020202020204" pitchFamily="34" charset="0"/>
              <a:buChar char="•"/>
            </a:pPr>
            <a:r>
              <a:rPr lang="en-US" sz="1600" dirty="0" err="1"/>
              <a:t>Ajustar</a:t>
            </a:r>
            <a:r>
              <a:rPr lang="en-US" sz="1600" dirty="0"/>
              <a:t> el </a:t>
            </a:r>
            <a:r>
              <a:rPr lang="en-US" sz="1600" dirty="0" err="1"/>
              <a:t>centroide</a:t>
            </a:r>
            <a:r>
              <a:rPr lang="en-US" sz="1600" dirty="0"/>
              <a:t> </a:t>
            </a:r>
            <a:r>
              <a:rPr lang="en-US" sz="1600" dirty="0" err="1"/>
              <a:t>iterativamente</a:t>
            </a:r>
            <a:r>
              <a:rPr lang="en-US" sz="1600" dirty="0"/>
              <a:t>, y </a:t>
            </a:r>
            <a:r>
              <a:rPr lang="en-US" sz="1600" dirty="0" err="1"/>
              <a:t>asigna</a:t>
            </a:r>
            <a:r>
              <a:rPr lang="en-US" sz="1600" dirty="0"/>
              <a:t> </a:t>
            </a:r>
            <a:r>
              <a:rPr lang="en-US" sz="1600" dirty="0" err="1"/>
              <a:t>cada</a:t>
            </a:r>
            <a:r>
              <a:rPr lang="en-US" sz="1600" dirty="0"/>
              <a:t> </a:t>
            </a:r>
            <a:r>
              <a:rPr lang="en-US" sz="1600" dirty="0" err="1"/>
              <a:t>punto</a:t>
            </a:r>
            <a:r>
              <a:rPr lang="en-US" sz="1600" dirty="0"/>
              <a:t> de </a:t>
            </a:r>
            <a:r>
              <a:rPr lang="en-US" sz="1600" dirty="0" err="1"/>
              <a:t>datos</a:t>
            </a:r>
            <a:r>
              <a:rPr lang="en-US" sz="1600" dirty="0"/>
              <a:t> al </a:t>
            </a:r>
            <a:r>
              <a:rPr lang="en-US" sz="1600" dirty="0" err="1"/>
              <a:t>centroide</a:t>
            </a:r>
            <a:r>
              <a:rPr lang="en-US" sz="1600" dirty="0"/>
              <a:t> </a:t>
            </a:r>
            <a:r>
              <a:rPr lang="en-US" sz="1600" dirty="0" err="1"/>
              <a:t>más</a:t>
            </a:r>
            <a:r>
              <a:rPr lang="en-US" sz="1600" dirty="0"/>
              <a:t> </a:t>
            </a:r>
            <a:r>
              <a:rPr lang="en-US" sz="1600" dirty="0" err="1"/>
              <a:t>cercano</a:t>
            </a:r>
            <a:r>
              <a:rPr lang="en-US" sz="1600" dirty="0"/>
              <a:t>.</a:t>
            </a:r>
          </a:p>
          <a:p>
            <a:pPr marL="342900" indent="-342900">
              <a:buFont typeface="Arial" panose="020B0604020202020204" pitchFamily="34" charset="0"/>
              <a:buChar char="•"/>
            </a:pPr>
            <a:endParaRPr lang="en-US" sz="1600" dirty="0"/>
          </a:p>
          <a:p>
            <a:pPr marL="342900" indent="-342900">
              <a:buFont typeface="Arial" panose="020B0604020202020204" pitchFamily="34" charset="0"/>
              <a:buChar char="•"/>
            </a:pPr>
            <a:r>
              <a:rPr lang="en-US" sz="1600" dirty="0" err="1"/>
              <a:t>Continúa</a:t>
            </a:r>
            <a:r>
              <a:rPr lang="en-US" sz="1600" dirty="0"/>
              <a:t> </a:t>
            </a:r>
            <a:r>
              <a:rPr lang="en-US" sz="1600" dirty="0" err="1"/>
              <a:t>ajustando</a:t>
            </a:r>
            <a:r>
              <a:rPr lang="en-US" sz="1600" dirty="0"/>
              <a:t> hasta que el </a:t>
            </a:r>
            <a:r>
              <a:rPr lang="en-US" sz="1600" dirty="0" err="1"/>
              <a:t>centroide</a:t>
            </a:r>
            <a:r>
              <a:rPr lang="en-US" sz="1600" dirty="0"/>
              <a:t> no se </a:t>
            </a:r>
            <a:r>
              <a:rPr lang="en-US" sz="1600" dirty="0" err="1"/>
              <a:t>mueva</a:t>
            </a:r>
            <a:r>
              <a:rPr lang="en-US" sz="1600" dirty="0"/>
              <a:t>.</a:t>
            </a:r>
          </a:p>
        </p:txBody>
      </p:sp>
      <p:sp>
        <p:nvSpPr>
          <p:cNvPr id="18" name="Rectángulo redondeado 17"/>
          <p:cNvSpPr/>
          <p:nvPr/>
        </p:nvSpPr>
        <p:spPr>
          <a:xfrm>
            <a:off x="991078" y="2206677"/>
            <a:ext cx="2890400" cy="473647"/>
          </a:xfrm>
          <a:prstGeom prst="roundRect">
            <a:avLst/>
          </a:prstGeom>
          <a:solidFill>
            <a:srgbClr val="006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ángulo 18"/>
          <p:cNvSpPr/>
          <p:nvPr/>
        </p:nvSpPr>
        <p:spPr>
          <a:xfrm>
            <a:off x="991076" y="2237068"/>
            <a:ext cx="2183923" cy="369332"/>
          </a:xfrm>
          <a:prstGeom prst="rect">
            <a:avLst/>
          </a:prstGeom>
        </p:spPr>
        <p:txBody>
          <a:bodyPr wrap="square">
            <a:spAutoFit/>
          </a:bodyPr>
          <a:lstStyle/>
          <a:p>
            <a:r>
              <a:rPr lang="en-US" b="1" dirty="0" err="1">
                <a:solidFill>
                  <a:schemeClr val="bg1"/>
                </a:solidFill>
              </a:rPr>
              <a:t>Pasos</a:t>
            </a:r>
            <a:r>
              <a:rPr lang="en-US" b="1" dirty="0">
                <a:solidFill>
                  <a:schemeClr val="bg1"/>
                </a:solidFill>
              </a:rPr>
              <a:t> a </a:t>
            </a:r>
            <a:r>
              <a:rPr lang="en-US" b="1" dirty="0" err="1">
                <a:solidFill>
                  <a:schemeClr val="bg1"/>
                </a:solidFill>
              </a:rPr>
              <a:t>seguir</a:t>
            </a:r>
            <a:endParaRPr lang="en-US" b="1" dirty="0">
              <a:solidFill>
                <a:schemeClr val="bg1"/>
              </a:solidFill>
            </a:endParaRPr>
          </a:p>
        </p:txBody>
      </p:sp>
      <p:pic>
        <p:nvPicPr>
          <p:cNvPr id="21506" name="Picture 2" descr="MEMOCODE 2016 Design Contes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1435" y="2348994"/>
            <a:ext cx="3693915" cy="3940177"/>
          </a:xfrm>
          <a:prstGeom prst="rect">
            <a:avLst/>
          </a:prstGeom>
          <a:noFill/>
          <a:extLst>
            <a:ext uri="{909E8E84-426E-40DD-AFC4-6F175D3DCCD1}">
              <a14:hiddenFill xmlns:a14="http://schemas.microsoft.com/office/drawing/2010/main">
                <a:solidFill>
                  <a:srgbClr val="FFFFFF"/>
                </a:solidFill>
              </a14:hiddenFill>
            </a:ext>
          </a:extLst>
        </p:spPr>
      </p:pic>
      <p:sp>
        <p:nvSpPr>
          <p:cNvPr id="20" name="Título 1">
            <a:extLst>
              <a:ext uri="{FF2B5EF4-FFF2-40B4-BE49-F238E27FC236}">
                <a16:creationId xmlns:a16="http://schemas.microsoft.com/office/drawing/2014/main" id="{5945C6D9-174D-4613-B9E9-60E0CA927345}"/>
              </a:ext>
            </a:extLst>
          </p:cNvPr>
          <p:cNvSpPr>
            <a:spLocks noGrp="1"/>
          </p:cNvSpPr>
          <p:nvPr>
            <p:ph type="title"/>
          </p:nvPr>
        </p:nvSpPr>
        <p:spPr>
          <a:xfrm>
            <a:off x="1080252" y="1252619"/>
            <a:ext cx="5615397" cy="763455"/>
          </a:xfrm>
        </p:spPr>
        <p:txBody>
          <a:bodyPr>
            <a:normAutofit/>
          </a:bodyPr>
          <a:lstStyle/>
          <a:p>
            <a:pPr algn="l"/>
            <a:r>
              <a:rPr lang="en-US" sz="2400" b="1" dirty="0" err="1"/>
              <a:t>Método</a:t>
            </a:r>
            <a:r>
              <a:rPr lang="en-US" sz="2400" b="1" dirty="0"/>
              <a:t> de </a:t>
            </a:r>
            <a:r>
              <a:rPr lang="en-US" sz="2400" b="1" dirty="0" err="1"/>
              <a:t>partición</a:t>
            </a:r>
            <a:r>
              <a:rPr lang="en-US" sz="2400" b="1" dirty="0"/>
              <a:t>: K-means</a:t>
            </a:r>
            <a:endParaRPr lang="es-ES" sz="2400" b="1" dirty="0"/>
          </a:p>
        </p:txBody>
      </p:sp>
      <p:sp>
        <p:nvSpPr>
          <p:cNvPr id="21" name="Elipse 20">
            <a:extLst>
              <a:ext uri="{FF2B5EF4-FFF2-40B4-BE49-F238E27FC236}">
                <a16:creationId xmlns:a16="http://schemas.microsoft.com/office/drawing/2014/main" id="{2855AFEF-01B8-4AB0-93E7-428CB81F3D05}"/>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2" name="Imagen 21">
            <a:extLst>
              <a:ext uri="{FF2B5EF4-FFF2-40B4-BE49-F238E27FC236}">
                <a16:creationId xmlns:a16="http://schemas.microsoft.com/office/drawing/2014/main" id="{A4C54C9E-53A2-45BE-95B9-0D8F190C165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23" name="Conector recto 22">
            <a:extLst>
              <a:ext uri="{FF2B5EF4-FFF2-40B4-BE49-F238E27FC236}">
                <a16:creationId xmlns:a16="http://schemas.microsoft.com/office/drawing/2014/main" id="{4B6BACDF-AFFF-43A5-B69C-F72DE68783DF}"/>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29494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F72B40EF-D53A-41AA-87B6-B9F74BA43E09}" type="slidenum">
              <a:rPr lang="es-ES" smtClean="0"/>
              <a:t>17</a:t>
            </a:fld>
            <a:endParaRPr lang="es-ES"/>
          </a:p>
        </p:txBody>
      </p:sp>
      <p:sp>
        <p:nvSpPr>
          <p:cNvPr id="2" name="CuadroTexto 1"/>
          <p:cNvSpPr txBox="1"/>
          <p:nvPr/>
        </p:nvSpPr>
        <p:spPr>
          <a:xfrm>
            <a:off x="406364" y="2168125"/>
            <a:ext cx="8610636" cy="584775"/>
          </a:xfrm>
          <a:prstGeom prst="rect">
            <a:avLst/>
          </a:prstGeom>
          <a:noFill/>
        </p:spPr>
        <p:txBody>
          <a:bodyPr wrap="square" rtlCol="0">
            <a:spAutoFit/>
          </a:bodyPr>
          <a:lstStyle/>
          <a:p>
            <a:r>
              <a:rPr lang="es-ES" sz="1600" dirty="0"/>
              <a:t>El algoritmo de clúster jerárquico agrupa los datos basándose en la distancia entre cada uno y buscando que los datos que están dentro de un clúster sean los más similares entre sí.</a:t>
            </a:r>
          </a:p>
        </p:txBody>
      </p:sp>
      <p:sp>
        <p:nvSpPr>
          <p:cNvPr id="14" name="Título 1"/>
          <p:cNvSpPr>
            <a:spLocks noGrp="1"/>
          </p:cNvSpPr>
          <p:nvPr>
            <p:ph type="title"/>
          </p:nvPr>
        </p:nvSpPr>
        <p:spPr>
          <a:xfrm>
            <a:off x="1080252" y="1252619"/>
            <a:ext cx="5615397" cy="763455"/>
          </a:xfrm>
        </p:spPr>
        <p:txBody>
          <a:bodyPr>
            <a:normAutofit/>
          </a:bodyPr>
          <a:lstStyle/>
          <a:p>
            <a:pPr algn="l"/>
            <a:r>
              <a:rPr lang="en-US" sz="2400" b="1" dirty="0" err="1"/>
              <a:t>Método</a:t>
            </a:r>
            <a:r>
              <a:rPr lang="en-US" sz="2400" b="1" dirty="0"/>
              <a:t> </a:t>
            </a:r>
            <a:r>
              <a:rPr lang="en-US" sz="2400" b="1" dirty="0" err="1"/>
              <a:t>jerárquico</a:t>
            </a:r>
            <a:r>
              <a:rPr lang="en-US" sz="2400" b="1" dirty="0"/>
              <a:t>: clustering </a:t>
            </a:r>
            <a:r>
              <a:rPr lang="en-US" sz="2400" b="1" dirty="0" err="1"/>
              <a:t>jerárquico</a:t>
            </a:r>
            <a:endParaRPr lang="es-ES" sz="2400" b="1" dirty="0"/>
          </a:p>
        </p:txBody>
      </p:sp>
      <p:sp>
        <p:nvSpPr>
          <p:cNvPr id="21" name="Rectángulo 20"/>
          <p:cNvSpPr/>
          <p:nvPr/>
        </p:nvSpPr>
        <p:spPr>
          <a:xfrm>
            <a:off x="408766" y="2966408"/>
            <a:ext cx="4926054" cy="584775"/>
          </a:xfrm>
          <a:prstGeom prst="rect">
            <a:avLst/>
          </a:prstGeom>
        </p:spPr>
        <p:txBody>
          <a:bodyPr wrap="square">
            <a:spAutoFit/>
          </a:bodyPr>
          <a:lstStyle/>
          <a:p>
            <a:r>
              <a:rPr lang="es-ES" sz="1600" b="1" dirty="0"/>
              <a:t>Tipos de </a:t>
            </a:r>
            <a:r>
              <a:rPr lang="es-ES" sz="1600" b="1" dirty="0" err="1"/>
              <a:t>clustering</a:t>
            </a:r>
            <a:r>
              <a:rPr lang="es-ES" sz="1600" b="1" dirty="0"/>
              <a:t> jerárquico </a:t>
            </a:r>
            <a:r>
              <a:rPr lang="es-ES" sz="1600" dirty="0"/>
              <a:t>dependiendo de la dirección en la que el algoritmo ejecute el agrupamiento:</a:t>
            </a:r>
            <a:endParaRPr lang="en-US" sz="1600" dirty="0"/>
          </a:p>
        </p:txBody>
      </p:sp>
      <p:sp>
        <p:nvSpPr>
          <p:cNvPr id="23" name="Rectángulo 22"/>
          <p:cNvSpPr/>
          <p:nvPr/>
        </p:nvSpPr>
        <p:spPr>
          <a:xfrm>
            <a:off x="406364" y="3796790"/>
            <a:ext cx="4928456" cy="2308324"/>
          </a:xfrm>
          <a:prstGeom prst="rect">
            <a:avLst/>
          </a:prstGeom>
        </p:spPr>
        <p:txBody>
          <a:bodyPr wrap="square">
            <a:spAutoFit/>
          </a:bodyPr>
          <a:lstStyle/>
          <a:p>
            <a:pPr marL="285750" indent="-285750" algn="just">
              <a:buFont typeface="Arial" panose="020B0604020202020204" pitchFamily="34" charset="0"/>
              <a:buChar char="•"/>
            </a:pPr>
            <a:r>
              <a:rPr lang="es-ES" sz="1600" b="1" dirty="0">
                <a:solidFill>
                  <a:srgbClr val="006DA5"/>
                </a:solidFill>
              </a:rPr>
              <a:t>Tipo </a:t>
            </a:r>
            <a:r>
              <a:rPr lang="es-ES" sz="1600" b="1" dirty="0" err="1">
                <a:solidFill>
                  <a:srgbClr val="006DA5"/>
                </a:solidFill>
              </a:rPr>
              <a:t>Aglomerativo</a:t>
            </a:r>
            <a:r>
              <a:rPr lang="es-ES" sz="1600" b="1" dirty="0">
                <a:solidFill>
                  <a:srgbClr val="006DA5"/>
                </a:solidFill>
              </a:rPr>
              <a:t>: </a:t>
            </a:r>
            <a:r>
              <a:rPr lang="es-ES" sz="1600" dirty="0"/>
              <a:t>Empezamos a agrupar desde cada elemento individual. Al inicio cada punto o dato está en un clúster separado. A cada paso, los dos </a:t>
            </a:r>
            <a:r>
              <a:rPr lang="es-ES" sz="1600" dirty="0" err="1"/>
              <a:t>clústers</a:t>
            </a:r>
            <a:r>
              <a:rPr lang="es-ES" sz="1600" dirty="0"/>
              <a:t> más cercanos se fusionan. Al final del proceso solo queda un único clúster que aglutina todos los elementos.</a:t>
            </a:r>
          </a:p>
          <a:p>
            <a:pPr marL="285750" indent="-285750" algn="just">
              <a:buFont typeface="Arial" panose="020B0604020202020204" pitchFamily="34" charset="0"/>
              <a:buChar char="•"/>
            </a:pPr>
            <a:r>
              <a:rPr lang="es-ES" sz="1600" b="1" dirty="0">
                <a:solidFill>
                  <a:srgbClr val="006DA5"/>
                </a:solidFill>
              </a:rPr>
              <a:t>Divisible: </a:t>
            </a:r>
            <a:r>
              <a:rPr lang="es-ES" sz="1600" dirty="0"/>
              <a:t>Comenzamos a la inversa, partimos de un único clúster que aglomera todos los datos y vamos dividiendo en </a:t>
            </a:r>
            <a:r>
              <a:rPr lang="es-ES" sz="1600" dirty="0" err="1"/>
              <a:t>clústers</a:t>
            </a:r>
            <a:r>
              <a:rPr lang="es-ES" sz="1600" dirty="0"/>
              <a:t> más pequeños.</a:t>
            </a:r>
            <a:endParaRPr lang="en-US" sz="1600" dirty="0"/>
          </a:p>
        </p:txBody>
      </p:sp>
      <p:sp>
        <p:nvSpPr>
          <p:cNvPr id="25" name="Rectángulo 24"/>
          <p:cNvSpPr/>
          <p:nvPr/>
        </p:nvSpPr>
        <p:spPr>
          <a:xfrm>
            <a:off x="5633406" y="3080095"/>
            <a:ext cx="3383594" cy="584775"/>
          </a:xfrm>
          <a:prstGeom prst="rect">
            <a:avLst/>
          </a:prstGeom>
        </p:spPr>
        <p:txBody>
          <a:bodyPr wrap="square">
            <a:spAutoFit/>
          </a:bodyPr>
          <a:lstStyle/>
          <a:p>
            <a:r>
              <a:rPr lang="es-ES" sz="1600" b="1" dirty="0" err="1">
                <a:solidFill>
                  <a:srgbClr val="006DA5"/>
                </a:solidFill>
              </a:rPr>
              <a:t>Dendograma</a:t>
            </a:r>
            <a:r>
              <a:rPr lang="es-ES" sz="1600" b="1" dirty="0">
                <a:solidFill>
                  <a:srgbClr val="006DA5"/>
                </a:solidFill>
              </a:rPr>
              <a:t>:</a:t>
            </a:r>
            <a:r>
              <a:rPr lang="es-ES" sz="1600" dirty="0"/>
              <a:t> manera de representar un </a:t>
            </a:r>
            <a:r>
              <a:rPr lang="es-ES" sz="1600" dirty="0" err="1"/>
              <a:t>clústering</a:t>
            </a:r>
            <a:r>
              <a:rPr lang="es-ES" sz="1600" dirty="0"/>
              <a:t> jerárquico. </a:t>
            </a:r>
            <a:endParaRPr lang="en-US" sz="1600" dirty="0"/>
          </a:p>
        </p:txBody>
      </p:sp>
      <p:pic>
        <p:nvPicPr>
          <p:cNvPr id="22530" name="Picture 2" descr="dendrograma clustering jerárquico"/>
          <p:cNvPicPr>
            <a:picLocks noChangeAspect="1" noChangeArrowheads="1"/>
          </p:cNvPicPr>
          <p:nvPr/>
        </p:nvPicPr>
        <p:blipFill rotWithShape="1">
          <a:blip r:embed="rId3">
            <a:extLst>
              <a:ext uri="{28A0092B-C50C-407E-A947-70E740481C1C}">
                <a14:useLocalDpi xmlns:a14="http://schemas.microsoft.com/office/drawing/2010/main" val="0"/>
              </a:ext>
            </a:extLst>
          </a:blip>
          <a:srcRect l="7176" t="7970" r="9121" b="7374"/>
          <a:stretch/>
        </p:blipFill>
        <p:spPr bwMode="auto">
          <a:xfrm>
            <a:off x="5448942" y="3664870"/>
            <a:ext cx="3607429" cy="2553931"/>
          </a:xfrm>
          <a:prstGeom prst="rect">
            <a:avLst/>
          </a:prstGeom>
          <a:noFill/>
          <a:extLst>
            <a:ext uri="{909E8E84-426E-40DD-AFC4-6F175D3DCCD1}">
              <a14:hiddenFill xmlns:a14="http://schemas.microsoft.com/office/drawing/2010/main">
                <a:solidFill>
                  <a:srgbClr val="FFFFFF"/>
                </a:solidFill>
              </a14:hiddenFill>
            </a:ext>
          </a:extLst>
        </p:spPr>
      </p:pic>
      <p:sp>
        <p:nvSpPr>
          <p:cNvPr id="13" name="Elipse 12">
            <a:extLst>
              <a:ext uri="{FF2B5EF4-FFF2-40B4-BE49-F238E27FC236}">
                <a16:creationId xmlns:a16="http://schemas.microsoft.com/office/drawing/2014/main" id="{3C82FD55-A405-4714-83FF-EB48639E3AAB}"/>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9" name="Imagen 18">
            <a:extLst>
              <a:ext uri="{FF2B5EF4-FFF2-40B4-BE49-F238E27FC236}">
                <a16:creationId xmlns:a16="http://schemas.microsoft.com/office/drawing/2014/main" id="{445F76F3-5B9F-4CC4-8894-9D3DE54717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20" name="Conector recto 19">
            <a:extLst>
              <a:ext uri="{FF2B5EF4-FFF2-40B4-BE49-F238E27FC236}">
                <a16:creationId xmlns:a16="http://schemas.microsoft.com/office/drawing/2014/main" id="{E36F0548-BF5F-4BB5-A1EB-53BD1CEF8DC1}"/>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15560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F72B40EF-D53A-41AA-87B6-B9F74BA43E09}" type="slidenum">
              <a:rPr lang="es-ES" smtClean="0"/>
              <a:t>18</a:t>
            </a:fld>
            <a:endParaRPr lang="es-ES"/>
          </a:p>
        </p:txBody>
      </p:sp>
      <p:pic>
        <p:nvPicPr>
          <p:cNvPr id="6" name="Imagen 5"/>
          <p:cNvPicPr>
            <a:picLocks noChangeAspect="1"/>
          </p:cNvPicPr>
          <p:nvPr/>
        </p:nvPicPr>
        <p:blipFill rotWithShape="1">
          <a:blip r:embed="rId2"/>
          <a:srcRect r="2382" b="807"/>
          <a:stretch/>
        </p:blipFill>
        <p:spPr>
          <a:xfrm>
            <a:off x="1080252" y="2610604"/>
            <a:ext cx="6647162" cy="3350198"/>
          </a:xfrm>
          <a:prstGeom prst="rect">
            <a:avLst/>
          </a:prstGeom>
        </p:spPr>
      </p:pic>
      <p:cxnSp>
        <p:nvCxnSpPr>
          <p:cNvPr id="22" name="Conector recto de flecha 21"/>
          <p:cNvCxnSpPr/>
          <p:nvPr/>
        </p:nvCxnSpPr>
        <p:spPr>
          <a:xfrm flipV="1">
            <a:off x="8248650" y="3238500"/>
            <a:ext cx="0" cy="2722302"/>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ítulo 1">
            <a:extLst>
              <a:ext uri="{FF2B5EF4-FFF2-40B4-BE49-F238E27FC236}">
                <a16:creationId xmlns:a16="http://schemas.microsoft.com/office/drawing/2014/main" id="{DD09234E-0B8F-4C84-BFAD-986BFF241235}"/>
              </a:ext>
            </a:extLst>
          </p:cNvPr>
          <p:cNvSpPr>
            <a:spLocks noGrp="1"/>
          </p:cNvSpPr>
          <p:nvPr>
            <p:ph type="title"/>
          </p:nvPr>
        </p:nvSpPr>
        <p:spPr>
          <a:xfrm>
            <a:off x="1080252" y="1252619"/>
            <a:ext cx="5615397" cy="763455"/>
          </a:xfrm>
        </p:spPr>
        <p:txBody>
          <a:bodyPr>
            <a:normAutofit/>
          </a:bodyPr>
          <a:lstStyle/>
          <a:p>
            <a:pPr algn="l"/>
            <a:r>
              <a:rPr lang="en-US" sz="2400" b="1" dirty="0" err="1"/>
              <a:t>Método</a:t>
            </a:r>
            <a:r>
              <a:rPr lang="en-US" sz="2400" b="1" dirty="0"/>
              <a:t> </a:t>
            </a:r>
            <a:r>
              <a:rPr lang="en-US" sz="2400" b="1" dirty="0" err="1"/>
              <a:t>jerárquico</a:t>
            </a:r>
            <a:r>
              <a:rPr lang="en-US" sz="2400" b="1" dirty="0"/>
              <a:t>: clustering </a:t>
            </a:r>
            <a:r>
              <a:rPr lang="en-US" sz="2400" b="1" dirty="0" err="1"/>
              <a:t>jerárquico</a:t>
            </a:r>
            <a:endParaRPr lang="es-ES" sz="2400" b="1" dirty="0"/>
          </a:p>
        </p:txBody>
      </p:sp>
      <p:sp>
        <p:nvSpPr>
          <p:cNvPr id="18" name="Elipse 17">
            <a:extLst>
              <a:ext uri="{FF2B5EF4-FFF2-40B4-BE49-F238E27FC236}">
                <a16:creationId xmlns:a16="http://schemas.microsoft.com/office/drawing/2014/main" id="{CEF07651-5A7C-45AF-B9E1-6A78E35BAC26}"/>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9" name="Imagen 18">
            <a:extLst>
              <a:ext uri="{FF2B5EF4-FFF2-40B4-BE49-F238E27FC236}">
                <a16:creationId xmlns:a16="http://schemas.microsoft.com/office/drawing/2014/main" id="{59F80F29-5E45-4E01-8023-E036D40BEE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20" name="Conector recto 19">
            <a:extLst>
              <a:ext uri="{FF2B5EF4-FFF2-40B4-BE49-F238E27FC236}">
                <a16:creationId xmlns:a16="http://schemas.microsoft.com/office/drawing/2014/main" id="{0EF63C9D-470F-49BB-B21F-D2669677FB61}"/>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91508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F72B40EF-D53A-41AA-87B6-B9F74BA43E09}" type="slidenum">
              <a:rPr lang="es-ES" smtClean="0"/>
              <a:t>19</a:t>
            </a:fld>
            <a:endParaRPr lang="es-ES"/>
          </a:p>
        </p:txBody>
      </p:sp>
      <p:pic>
        <p:nvPicPr>
          <p:cNvPr id="10" name="Imagen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7070" y="2624352"/>
            <a:ext cx="7330835" cy="3298876"/>
          </a:xfrm>
          <a:prstGeom prst="rect">
            <a:avLst/>
          </a:prstGeom>
        </p:spPr>
      </p:pic>
      <p:cxnSp>
        <p:nvCxnSpPr>
          <p:cNvPr id="11" name="Conector recto de flecha 10"/>
          <p:cNvCxnSpPr/>
          <p:nvPr/>
        </p:nvCxnSpPr>
        <p:spPr>
          <a:xfrm flipV="1">
            <a:off x="8763000" y="2800350"/>
            <a:ext cx="0" cy="2722302"/>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ítulo 1">
            <a:extLst>
              <a:ext uri="{FF2B5EF4-FFF2-40B4-BE49-F238E27FC236}">
                <a16:creationId xmlns:a16="http://schemas.microsoft.com/office/drawing/2014/main" id="{0BD12645-F34B-49D9-90EB-A7D8D14B5679}"/>
              </a:ext>
            </a:extLst>
          </p:cNvPr>
          <p:cNvSpPr>
            <a:spLocks noGrp="1"/>
          </p:cNvSpPr>
          <p:nvPr>
            <p:ph type="title"/>
          </p:nvPr>
        </p:nvSpPr>
        <p:spPr>
          <a:xfrm>
            <a:off x="1080252" y="1252619"/>
            <a:ext cx="5615397" cy="763455"/>
          </a:xfrm>
        </p:spPr>
        <p:txBody>
          <a:bodyPr>
            <a:normAutofit/>
          </a:bodyPr>
          <a:lstStyle/>
          <a:p>
            <a:pPr algn="l"/>
            <a:r>
              <a:rPr lang="en-US" sz="2400" b="1" dirty="0" err="1"/>
              <a:t>Método</a:t>
            </a:r>
            <a:r>
              <a:rPr lang="en-US" sz="2400" b="1" dirty="0"/>
              <a:t> </a:t>
            </a:r>
            <a:r>
              <a:rPr lang="en-US" sz="2400" b="1" dirty="0" err="1"/>
              <a:t>jerárquico</a:t>
            </a:r>
            <a:r>
              <a:rPr lang="en-US" sz="2400" b="1" dirty="0"/>
              <a:t>: clustering </a:t>
            </a:r>
            <a:r>
              <a:rPr lang="en-US" sz="2400" b="1" dirty="0" err="1"/>
              <a:t>jerárquico</a:t>
            </a:r>
            <a:endParaRPr lang="es-ES" sz="2400" b="1" dirty="0"/>
          </a:p>
        </p:txBody>
      </p:sp>
      <p:sp>
        <p:nvSpPr>
          <p:cNvPr id="13" name="Elipse 12">
            <a:extLst>
              <a:ext uri="{FF2B5EF4-FFF2-40B4-BE49-F238E27FC236}">
                <a16:creationId xmlns:a16="http://schemas.microsoft.com/office/drawing/2014/main" id="{167BC102-C71D-466A-B19D-972FE61DF147}"/>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4" name="Imagen 13">
            <a:extLst>
              <a:ext uri="{FF2B5EF4-FFF2-40B4-BE49-F238E27FC236}">
                <a16:creationId xmlns:a16="http://schemas.microsoft.com/office/drawing/2014/main" id="{234AC78B-9AFF-493C-986E-C01FFAC6A1D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15" name="Conector recto 14">
            <a:extLst>
              <a:ext uri="{FF2B5EF4-FFF2-40B4-BE49-F238E27FC236}">
                <a16:creationId xmlns:a16="http://schemas.microsoft.com/office/drawing/2014/main" id="{D0C1C810-F4DC-4D5A-ADDA-F1FC6CA93142}"/>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97372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F72B40EF-D53A-41AA-87B6-B9F74BA43E09}" type="slidenum">
              <a:rPr lang="es-ES" smtClean="0"/>
              <a:t>20</a:t>
            </a:fld>
            <a:endParaRPr lang="es-ES"/>
          </a:p>
        </p:txBody>
      </p:sp>
      <p:sp>
        <p:nvSpPr>
          <p:cNvPr id="5" name="Título 1"/>
          <p:cNvSpPr>
            <a:spLocks noGrp="1"/>
          </p:cNvSpPr>
          <p:nvPr>
            <p:ph type="title"/>
          </p:nvPr>
        </p:nvSpPr>
        <p:spPr>
          <a:xfrm>
            <a:off x="1080252" y="1252619"/>
            <a:ext cx="6453058" cy="763455"/>
          </a:xfrm>
        </p:spPr>
        <p:txBody>
          <a:bodyPr>
            <a:normAutofit/>
          </a:bodyPr>
          <a:lstStyle/>
          <a:p>
            <a:pPr algn="l"/>
            <a:r>
              <a:rPr lang="en-US" sz="2400" b="1" dirty="0" err="1"/>
              <a:t>Método</a:t>
            </a:r>
            <a:r>
              <a:rPr lang="en-US" sz="2400" b="1" dirty="0"/>
              <a:t> </a:t>
            </a:r>
            <a:r>
              <a:rPr lang="en-US" sz="2400" b="1" dirty="0" err="1"/>
              <a:t>jerárquico</a:t>
            </a:r>
            <a:r>
              <a:rPr lang="en-US" sz="2400" b="1" dirty="0"/>
              <a:t>: clustering </a:t>
            </a:r>
            <a:r>
              <a:rPr lang="en-US" sz="2400" b="1" dirty="0" err="1"/>
              <a:t>jerárquico</a:t>
            </a:r>
            <a:r>
              <a:rPr lang="en-US" sz="2400" b="1" dirty="0"/>
              <a:t> divisible</a:t>
            </a:r>
            <a:endParaRPr lang="es-ES" sz="2400" b="1" dirty="0"/>
          </a:p>
        </p:txBody>
      </p:sp>
      <p:cxnSp>
        <p:nvCxnSpPr>
          <p:cNvPr id="11" name="Conector recto de flecha 10"/>
          <p:cNvCxnSpPr/>
          <p:nvPr/>
        </p:nvCxnSpPr>
        <p:spPr>
          <a:xfrm>
            <a:off x="7013122" y="3068781"/>
            <a:ext cx="0" cy="2725998"/>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3556" name="Picture 4" descr="ML | Hierarchical clustering (Agglomerative and Divisive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8801" y="2507206"/>
            <a:ext cx="3849149" cy="3849149"/>
          </a:xfrm>
          <a:prstGeom prst="rect">
            <a:avLst/>
          </a:prstGeom>
          <a:noFill/>
          <a:extLst>
            <a:ext uri="{909E8E84-426E-40DD-AFC4-6F175D3DCCD1}">
              <a14:hiddenFill xmlns:a14="http://schemas.microsoft.com/office/drawing/2010/main">
                <a:solidFill>
                  <a:srgbClr val="FFFFFF"/>
                </a:solidFill>
              </a14:hiddenFill>
            </a:ext>
          </a:extLst>
        </p:spPr>
      </p:pic>
      <p:sp>
        <p:nvSpPr>
          <p:cNvPr id="10" name="Elipse 9">
            <a:extLst>
              <a:ext uri="{FF2B5EF4-FFF2-40B4-BE49-F238E27FC236}">
                <a16:creationId xmlns:a16="http://schemas.microsoft.com/office/drawing/2014/main" id="{72D1566B-CFDE-45D2-96AB-F1247006FA7D}"/>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2" name="Imagen 11">
            <a:extLst>
              <a:ext uri="{FF2B5EF4-FFF2-40B4-BE49-F238E27FC236}">
                <a16:creationId xmlns:a16="http://schemas.microsoft.com/office/drawing/2014/main" id="{0D5DC62A-CF5C-4253-B312-AD05078E612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13" name="Conector recto 12">
            <a:extLst>
              <a:ext uri="{FF2B5EF4-FFF2-40B4-BE49-F238E27FC236}">
                <a16:creationId xmlns:a16="http://schemas.microsoft.com/office/drawing/2014/main" id="{4844AB15-25D7-4CE2-9412-1B647B15230F}"/>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26454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F72B40EF-D53A-41AA-87B6-B9F74BA43E09}" type="slidenum">
              <a:rPr lang="es-ES" smtClean="0"/>
              <a:t>21</a:t>
            </a:fld>
            <a:endParaRPr lang="es-ES"/>
          </a:p>
        </p:txBody>
      </p:sp>
      <p:sp>
        <p:nvSpPr>
          <p:cNvPr id="8" name="Título 1"/>
          <p:cNvSpPr>
            <a:spLocks noGrp="1"/>
          </p:cNvSpPr>
          <p:nvPr>
            <p:ph type="title"/>
          </p:nvPr>
        </p:nvSpPr>
        <p:spPr>
          <a:xfrm>
            <a:off x="1123358" y="1252619"/>
            <a:ext cx="5615397" cy="763455"/>
          </a:xfrm>
        </p:spPr>
        <p:txBody>
          <a:bodyPr>
            <a:normAutofit/>
          </a:bodyPr>
          <a:lstStyle/>
          <a:p>
            <a:pPr algn="l"/>
            <a:r>
              <a:rPr lang="en-US" sz="2400" b="1" dirty="0" err="1"/>
              <a:t>Método</a:t>
            </a:r>
            <a:r>
              <a:rPr lang="en-US" sz="2400" b="1" dirty="0"/>
              <a:t> </a:t>
            </a:r>
            <a:r>
              <a:rPr lang="en-US" sz="2400" b="1" dirty="0" err="1"/>
              <a:t>basado</a:t>
            </a:r>
            <a:r>
              <a:rPr lang="en-US" sz="2400" b="1" dirty="0"/>
              <a:t> </a:t>
            </a:r>
            <a:r>
              <a:rPr lang="en-US" sz="2400" b="1" dirty="0" err="1"/>
              <a:t>en</a:t>
            </a:r>
            <a:r>
              <a:rPr lang="en-US" sz="2400" b="1" dirty="0"/>
              <a:t> la </a:t>
            </a:r>
            <a:r>
              <a:rPr lang="en-US" sz="2400" b="1" dirty="0" err="1"/>
              <a:t>densidad</a:t>
            </a:r>
            <a:endParaRPr lang="es-ES" sz="2400" b="1" dirty="0"/>
          </a:p>
        </p:txBody>
      </p:sp>
      <p:sp>
        <p:nvSpPr>
          <p:cNvPr id="12" name="Rectangle 2"/>
          <p:cNvSpPr>
            <a:spLocks noChangeArrowheads="1"/>
          </p:cNvSpPr>
          <p:nvPr/>
        </p:nvSpPr>
        <p:spPr bwMode="auto">
          <a:xfrm>
            <a:off x="1032962" y="5244292"/>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059" name="Picture 11" descr="https://media.geeksforgeeks.org/wp-content/uploads/clusteringg.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19948" y="4302891"/>
            <a:ext cx="3568324" cy="2418589"/>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p:cNvSpPr/>
          <p:nvPr/>
        </p:nvSpPr>
        <p:spPr>
          <a:xfrm>
            <a:off x="773582" y="2143820"/>
            <a:ext cx="7456018" cy="2031325"/>
          </a:xfrm>
          <a:prstGeom prst="rect">
            <a:avLst/>
          </a:prstGeom>
        </p:spPr>
        <p:txBody>
          <a:bodyPr wrap="square">
            <a:spAutoFit/>
          </a:bodyPr>
          <a:lstStyle/>
          <a:p>
            <a:pPr marL="285750" indent="-285750">
              <a:buFont typeface="Arial" panose="020B0604020202020204" pitchFamily="34" charset="0"/>
              <a:buChar char="•"/>
            </a:pPr>
            <a:r>
              <a:rPr lang="es-ES" dirty="0"/>
              <a:t>Un clúster en una región densa de puntos, separada por regiones poco densas de otras regiones densas. </a:t>
            </a:r>
          </a:p>
          <a:p>
            <a:pPr marL="285750" indent="-285750">
              <a:buFont typeface="Arial" panose="020B0604020202020204" pitchFamily="34" charset="0"/>
              <a:buChar char="•"/>
            </a:pPr>
            <a:r>
              <a:rPr lang="es-ES" dirty="0"/>
              <a:t>Útiles cuando los </a:t>
            </a:r>
            <a:r>
              <a:rPr lang="es-ES" dirty="0" err="1"/>
              <a:t>clusters</a:t>
            </a:r>
            <a:r>
              <a:rPr lang="es-ES" dirty="0"/>
              <a:t> tienen formas irregulares, están entrelazados o hay ruido/</a:t>
            </a:r>
            <a:r>
              <a:rPr lang="es-ES" dirty="0" err="1"/>
              <a:t>outliers</a:t>
            </a:r>
            <a:r>
              <a:rPr lang="es-ES" dirty="0"/>
              <a:t> en los datos. Se elimina el ruido del conjunto de datos. </a:t>
            </a:r>
          </a:p>
          <a:p>
            <a:pPr marL="285750" indent="-285750">
              <a:buFont typeface="Arial" panose="020B0604020202020204" pitchFamily="34" charset="0"/>
              <a:buChar char="•"/>
            </a:pPr>
            <a:r>
              <a:rPr lang="es-ES" dirty="0"/>
              <a:t>Algoritmo basado en densidad: </a:t>
            </a:r>
            <a:r>
              <a:rPr lang="es-ES" b="1" dirty="0"/>
              <a:t>DBSCAN</a:t>
            </a:r>
            <a:r>
              <a:rPr lang="es-ES" dirty="0"/>
              <a:t> (</a:t>
            </a:r>
            <a:r>
              <a:rPr lang="en-US" dirty="0"/>
              <a:t>Density Based Spatial Clustering of Applications with Noise)</a:t>
            </a:r>
          </a:p>
          <a:p>
            <a:endParaRPr lang="en-US" dirty="0"/>
          </a:p>
        </p:txBody>
      </p:sp>
      <p:sp>
        <p:nvSpPr>
          <p:cNvPr id="11" name="Elipse 10">
            <a:extLst>
              <a:ext uri="{FF2B5EF4-FFF2-40B4-BE49-F238E27FC236}">
                <a16:creationId xmlns:a16="http://schemas.microsoft.com/office/drawing/2014/main" id="{33D5B5EB-E93F-4E24-B895-279DB06037E6}"/>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3" name="Imagen 12">
            <a:extLst>
              <a:ext uri="{FF2B5EF4-FFF2-40B4-BE49-F238E27FC236}">
                <a16:creationId xmlns:a16="http://schemas.microsoft.com/office/drawing/2014/main" id="{E3222330-FC8F-434C-B4F9-7F88C6A2DFC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16" name="Conector recto 15">
            <a:extLst>
              <a:ext uri="{FF2B5EF4-FFF2-40B4-BE49-F238E27FC236}">
                <a16:creationId xmlns:a16="http://schemas.microsoft.com/office/drawing/2014/main" id="{6F64A818-FC88-451B-80AC-157916F4988F}"/>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38751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F72B40EF-D53A-41AA-87B6-B9F74BA43E09}" type="slidenum">
              <a:rPr lang="es-ES" smtClean="0"/>
              <a:t>22</a:t>
            </a:fld>
            <a:endParaRPr lang="es-ES"/>
          </a:p>
        </p:txBody>
      </p:sp>
      <p:sp>
        <p:nvSpPr>
          <p:cNvPr id="12" name="Rectangle 2"/>
          <p:cNvSpPr>
            <a:spLocks noChangeArrowheads="1"/>
          </p:cNvSpPr>
          <p:nvPr/>
        </p:nvSpPr>
        <p:spPr bwMode="auto">
          <a:xfrm>
            <a:off x="1032962" y="5244292"/>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074" name="Picture 2" descr="Análisis de conglomerados con DBSCAN: agrupamiento espacial de aplicaciones  con ruido basado en densidad">
            <a:extLst>
              <a:ext uri="{FF2B5EF4-FFF2-40B4-BE49-F238E27FC236}">
                <a16:creationId xmlns:a16="http://schemas.microsoft.com/office/drawing/2014/main" id="{AEC2B9F8-41E5-499A-9194-38CD3EA8BA58}"/>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248927" y="2016074"/>
            <a:ext cx="4674386" cy="4463828"/>
          </a:xfrm>
          <a:prstGeom prst="rect">
            <a:avLst/>
          </a:prstGeom>
          <a:noFill/>
          <a:extLst>
            <a:ext uri="{909E8E84-426E-40DD-AFC4-6F175D3DCCD1}">
              <a14:hiddenFill xmlns:a14="http://schemas.microsoft.com/office/drawing/2010/main">
                <a:solidFill>
                  <a:srgbClr val="FFFFFF"/>
                </a:solidFill>
              </a14:hiddenFill>
            </a:ext>
          </a:extLst>
        </p:spPr>
      </p:pic>
      <p:sp>
        <p:nvSpPr>
          <p:cNvPr id="10" name="Elipse 9">
            <a:extLst>
              <a:ext uri="{FF2B5EF4-FFF2-40B4-BE49-F238E27FC236}">
                <a16:creationId xmlns:a16="http://schemas.microsoft.com/office/drawing/2014/main" id="{A63E6D0F-0FA7-492F-9E92-FB819DF36FEC}"/>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1" name="Imagen 10">
            <a:extLst>
              <a:ext uri="{FF2B5EF4-FFF2-40B4-BE49-F238E27FC236}">
                <a16:creationId xmlns:a16="http://schemas.microsoft.com/office/drawing/2014/main" id="{C163E1B9-A241-4929-8C44-4EA842971BA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13" name="Conector recto 12">
            <a:extLst>
              <a:ext uri="{FF2B5EF4-FFF2-40B4-BE49-F238E27FC236}">
                <a16:creationId xmlns:a16="http://schemas.microsoft.com/office/drawing/2014/main" id="{FD1642EA-EACA-401F-B5E1-D06C6435519B}"/>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
        <p:nvSpPr>
          <p:cNvPr id="18" name="Título 1">
            <a:extLst>
              <a:ext uri="{FF2B5EF4-FFF2-40B4-BE49-F238E27FC236}">
                <a16:creationId xmlns:a16="http://schemas.microsoft.com/office/drawing/2014/main" id="{D3EF4F1B-A5A0-4C3E-9FCF-FE193CB60D55}"/>
              </a:ext>
            </a:extLst>
          </p:cNvPr>
          <p:cNvSpPr>
            <a:spLocks noGrp="1"/>
          </p:cNvSpPr>
          <p:nvPr>
            <p:ph type="title"/>
          </p:nvPr>
        </p:nvSpPr>
        <p:spPr>
          <a:xfrm>
            <a:off x="1123358" y="1252619"/>
            <a:ext cx="5615397" cy="763455"/>
          </a:xfrm>
        </p:spPr>
        <p:txBody>
          <a:bodyPr>
            <a:normAutofit/>
          </a:bodyPr>
          <a:lstStyle/>
          <a:p>
            <a:pPr algn="l"/>
            <a:r>
              <a:rPr lang="en-US" sz="2400" b="1" dirty="0" err="1"/>
              <a:t>Método</a:t>
            </a:r>
            <a:r>
              <a:rPr lang="en-US" sz="2400" b="1" dirty="0"/>
              <a:t> </a:t>
            </a:r>
            <a:r>
              <a:rPr lang="en-US" sz="2400" b="1" dirty="0" err="1"/>
              <a:t>basado</a:t>
            </a:r>
            <a:r>
              <a:rPr lang="en-US" sz="2400" b="1" dirty="0"/>
              <a:t> </a:t>
            </a:r>
            <a:r>
              <a:rPr lang="en-US" sz="2400" b="1" dirty="0" err="1"/>
              <a:t>en</a:t>
            </a:r>
            <a:r>
              <a:rPr lang="en-US" sz="2400" b="1" dirty="0"/>
              <a:t> la </a:t>
            </a:r>
            <a:r>
              <a:rPr lang="en-US" sz="2400" b="1" dirty="0" err="1"/>
              <a:t>densidad</a:t>
            </a:r>
            <a:endParaRPr lang="es-ES" sz="2400" b="1" dirty="0"/>
          </a:p>
        </p:txBody>
      </p:sp>
    </p:spTree>
    <p:extLst>
      <p:ext uri="{BB962C8B-B14F-4D97-AF65-F5344CB8AC3E}">
        <p14:creationId xmlns:p14="http://schemas.microsoft.com/office/powerpoint/2010/main" val="4946706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F72B40EF-D53A-41AA-87B6-B9F74BA43E09}" type="slidenum">
              <a:rPr lang="es-ES" smtClean="0"/>
              <a:t>23</a:t>
            </a:fld>
            <a:endParaRPr lang="es-ES"/>
          </a:p>
        </p:txBody>
      </p:sp>
      <p:sp>
        <p:nvSpPr>
          <p:cNvPr id="5" name="Título 1"/>
          <p:cNvSpPr>
            <a:spLocks noGrp="1"/>
          </p:cNvSpPr>
          <p:nvPr>
            <p:ph type="title"/>
          </p:nvPr>
        </p:nvSpPr>
        <p:spPr>
          <a:xfrm>
            <a:off x="1307916" y="1252619"/>
            <a:ext cx="5615397" cy="763455"/>
          </a:xfrm>
        </p:spPr>
        <p:txBody>
          <a:bodyPr>
            <a:normAutofit/>
          </a:bodyPr>
          <a:lstStyle/>
          <a:p>
            <a:pPr algn="l"/>
            <a:r>
              <a:rPr lang="en-US" sz="2400" b="1" dirty="0" err="1"/>
              <a:t>Método</a:t>
            </a:r>
            <a:r>
              <a:rPr lang="en-US" sz="2400" b="1" dirty="0"/>
              <a:t> </a:t>
            </a:r>
            <a:r>
              <a:rPr lang="en-US" sz="2400" b="1" dirty="0" err="1"/>
              <a:t>basado</a:t>
            </a:r>
            <a:r>
              <a:rPr lang="en-US" sz="2400" b="1" dirty="0"/>
              <a:t> </a:t>
            </a:r>
            <a:r>
              <a:rPr lang="en-US" sz="2400" b="1" dirty="0" err="1"/>
              <a:t>en</a:t>
            </a:r>
            <a:r>
              <a:rPr lang="en-US" sz="2400" b="1" dirty="0"/>
              <a:t> la </a:t>
            </a:r>
            <a:r>
              <a:rPr lang="en-US" sz="2400" b="1" dirty="0" err="1"/>
              <a:t>densidad</a:t>
            </a:r>
            <a:r>
              <a:rPr lang="en-US" sz="2400" b="1" dirty="0"/>
              <a:t>: DBSCAN</a:t>
            </a:r>
            <a:endParaRPr lang="es-ES" sz="2400" b="1" dirty="0"/>
          </a:p>
        </p:txBody>
      </p:sp>
      <p:sp>
        <p:nvSpPr>
          <p:cNvPr id="11" name="Rectángulo 10"/>
          <p:cNvSpPr/>
          <p:nvPr/>
        </p:nvSpPr>
        <p:spPr>
          <a:xfrm>
            <a:off x="691716" y="2104867"/>
            <a:ext cx="8177963" cy="923330"/>
          </a:xfrm>
          <a:prstGeom prst="rect">
            <a:avLst/>
          </a:prstGeom>
        </p:spPr>
        <p:txBody>
          <a:bodyPr wrap="square">
            <a:spAutoFit/>
          </a:bodyPr>
          <a:lstStyle/>
          <a:p>
            <a:r>
              <a:rPr lang="es-ES" b="1" dirty="0">
                <a:solidFill>
                  <a:srgbClr val="006DA5"/>
                </a:solidFill>
              </a:rPr>
              <a:t>DBSCAN</a:t>
            </a:r>
            <a:r>
              <a:rPr lang="es-ES" dirty="0"/>
              <a:t>: Detecta regiones densas de puntos separadas de otras regiones densas por regiones poco densas</a:t>
            </a:r>
          </a:p>
          <a:p>
            <a:r>
              <a:rPr lang="es-ES" b="1" dirty="0">
                <a:solidFill>
                  <a:srgbClr val="006DA5"/>
                </a:solidFill>
              </a:rPr>
              <a:t>Densidad</a:t>
            </a:r>
            <a:r>
              <a:rPr lang="es-ES" dirty="0"/>
              <a:t>: Número de puntos en un radio específico </a:t>
            </a:r>
            <a:endParaRPr lang="en-US" dirty="0"/>
          </a:p>
        </p:txBody>
      </p:sp>
      <p:grpSp>
        <p:nvGrpSpPr>
          <p:cNvPr id="17" name="Grupo 16"/>
          <p:cNvGrpSpPr/>
          <p:nvPr/>
        </p:nvGrpSpPr>
        <p:grpSpPr>
          <a:xfrm>
            <a:off x="1477733" y="3563868"/>
            <a:ext cx="5785215" cy="2975049"/>
            <a:chOff x="1464670" y="3512543"/>
            <a:chExt cx="5785215" cy="2975049"/>
          </a:xfrm>
        </p:grpSpPr>
        <p:sp>
          <p:nvSpPr>
            <p:cNvPr id="12" name="Rectángulo 11"/>
            <p:cNvSpPr/>
            <p:nvPr/>
          </p:nvSpPr>
          <p:spPr>
            <a:xfrm>
              <a:off x="2312125" y="6118260"/>
              <a:ext cx="4742636" cy="369332"/>
            </a:xfrm>
            <a:prstGeom prst="rect">
              <a:avLst/>
            </a:prstGeom>
          </p:spPr>
          <p:txBody>
            <a:bodyPr wrap="square">
              <a:spAutoFit/>
            </a:bodyPr>
            <a:lstStyle/>
            <a:p>
              <a:r>
                <a:rPr lang="es-ES" b="1" dirty="0" err="1">
                  <a:solidFill>
                    <a:srgbClr val="92D050"/>
                  </a:solidFill>
                </a:rPr>
                <a:t>core</a:t>
              </a:r>
              <a:r>
                <a:rPr lang="es-ES" sz="1600" dirty="0"/>
                <a:t> (1 </a:t>
              </a:r>
              <a:r>
                <a:rPr lang="es-ES" sz="1600" dirty="0" err="1"/>
                <a:t>cluster</a:t>
              </a:r>
              <a:r>
                <a:rPr lang="es-ES" sz="1600" dirty="0"/>
                <a:t>)     </a:t>
              </a:r>
              <a:r>
                <a:rPr lang="es-ES" b="1" dirty="0" err="1">
                  <a:solidFill>
                    <a:srgbClr val="006DA5"/>
                  </a:solidFill>
                </a:rPr>
                <a:t>border</a:t>
              </a:r>
              <a:r>
                <a:rPr lang="es-ES" sz="1600" dirty="0"/>
                <a:t> (frontera)     </a:t>
              </a:r>
              <a:r>
                <a:rPr lang="es-ES" b="1" dirty="0" err="1">
                  <a:solidFill>
                    <a:srgbClr val="C00000"/>
                  </a:solidFill>
                </a:rPr>
                <a:t>noise</a:t>
              </a:r>
              <a:r>
                <a:rPr lang="es-ES" sz="1600" dirty="0"/>
                <a:t> (ruido)</a:t>
              </a:r>
              <a:endParaRPr lang="en-US" sz="1600" dirty="0"/>
            </a:p>
          </p:txBody>
        </p:sp>
        <p:pic>
          <p:nvPicPr>
            <p:cNvPr id="13" name="Imagen 12"/>
            <p:cNvPicPr>
              <a:picLocks noChangeAspect="1"/>
            </p:cNvPicPr>
            <p:nvPr/>
          </p:nvPicPr>
          <p:blipFill>
            <a:blip r:embed="rId3"/>
            <a:stretch>
              <a:fillRect/>
            </a:stretch>
          </p:blipFill>
          <p:spPr>
            <a:xfrm>
              <a:off x="1464670" y="3773010"/>
              <a:ext cx="5785215" cy="2279887"/>
            </a:xfrm>
            <a:prstGeom prst="rect">
              <a:avLst/>
            </a:prstGeom>
          </p:spPr>
        </p:pic>
        <p:sp>
          <p:nvSpPr>
            <p:cNvPr id="14" name="CuadroTexto 13"/>
            <p:cNvSpPr txBox="1"/>
            <p:nvPr/>
          </p:nvSpPr>
          <p:spPr>
            <a:xfrm>
              <a:off x="2312125" y="3522981"/>
              <a:ext cx="1254035" cy="369332"/>
            </a:xfrm>
            <a:prstGeom prst="rect">
              <a:avLst/>
            </a:prstGeom>
            <a:noFill/>
          </p:spPr>
          <p:txBody>
            <a:bodyPr wrap="square" rtlCol="0">
              <a:spAutoFit/>
            </a:bodyPr>
            <a:lstStyle/>
            <a:p>
              <a:r>
                <a:rPr lang="en-US" b="1" dirty="0"/>
                <a:t>Dataset</a:t>
              </a:r>
            </a:p>
          </p:txBody>
        </p:sp>
        <p:sp>
          <p:nvSpPr>
            <p:cNvPr id="15" name="CuadroTexto 14"/>
            <p:cNvSpPr txBox="1"/>
            <p:nvPr/>
          </p:nvSpPr>
          <p:spPr>
            <a:xfrm>
              <a:off x="4737462" y="3512543"/>
              <a:ext cx="2198914" cy="369332"/>
            </a:xfrm>
            <a:prstGeom prst="rect">
              <a:avLst/>
            </a:prstGeom>
            <a:noFill/>
          </p:spPr>
          <p:txBody>
            <a:bodyPr wrap="square" rtlCol="0">
              <a:spAutoFit/>
            </a:bodyPr>
            <a:lstStyle/>
            <a:p>
              <a:r>
                <a:rPr lang="en-US" b="1" dirty="0"/>
                <a:t>DBSCAN Clustering </a:t>
              </a:r>
            </a:p>
          </p:txBody>
        </p:sp>
      </p:grpSp>
      <p:pic>
        <p:nvPicPr>
          <p:cNvPr id="18" name="Imagen 17"/>
          <p:cNvPicPr>
            <a:picLocks noChangeAspect="1"/>
          </p:cNvPicPr>
          <p:nvPr/>
        </p:nvPicPr>
        <p:blipFill rotWithShape="1">
          <a:blip r:embed="rId4"/>
          <a:srcRect b="5884"/>
          <a:stretch/>
        </p:blipFill>
        <p:spPr>
          <a:xfrm>
            <a:off x="9929403" y="3992995"/>
            <a:ext cx="2532121" cy="1942565"/>
          </a:xfrm>
          <a:prstGeom prst="rect">
            <a:avLst/>
          </a:prstGeom>
        </p:spPr>
      </p:pic>
      <p:sp>
        <p:nvSpPr>
          <p:cNvPr id="16" name="Elipse 15">
            <a:extLst>
              <a:ext uri="{FF2B5EF4-FFF2-40B4-BE49-F238E27FC236}">
                <a16:creationId xmlns:a16="http://schemas.microsoft.com/office/drawing/2014/main" id="{CA108532-8CF3-4E89-AFC4-4855FF2420CD}"/>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9" name="Imagen 18">
            <a:extLst>
              <a:ext uri="{FF2B5EF4-FFF2-40B4-BE49-F238E27FC236}">
                <a16:creationId xmlns:a16="http://schemas.microsoft.com/office/drawing/2014/main" id="{39013D10-3B74-4C32-8C81-D79BADDB5A5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20" name="Conector recto 19">
            <a:extLst>
              <a:ext uri="{FF2B5EF4-FFF2-40B4-BE49-F238E27FC236}">
                <a16:creationId xmlns:a16="http://schemas.microsoft.com/office/drawing/2014/main" id="{434198EB-720B-48A8-B4C9-CF5D67D1DD76}"/>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37731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F72B40EF-D53A-41AA-87B6-B9F74BA43E09}" type="slidenum">
              <a:rPr lang="es-ES" smtClean="0"/>
              <a:t>24</a:t>
            </a:fld>
            <a:endParaRPr lang="es-ES"/>
          </a:p>
        </p:txBody>
      </p:sp>
      <p:sp>
        <p:nvSpPr>
          <p:cNvPr id="8" name="Título 1"/>
          <p:cNvSpPr>
            <a:spLocks noGrp="1"/>
          </p:cNvSpPr>
          <p:nvPr>
            <p:ph type="title"/>
          </p:nvPr>
        </p:nvSpPr>
        <p:spPr>
          <a:xfrm>
            <a:off x="995044" y="1242229"/>
            <a:ext cx="5615397" cy="763455"/>
          </a:xfrm>
        </p:spPr>
        <p:txBody>
          <a:bodyPr>
            <a:normAutofit/>
          </a:bodyPr>
          <a:lstStyle/>
          <a:p>
            <a:pPr algn="l"/>
            <a:r>
              <a:rPr lang="es-ES" sz="2400" b="1" dirty="0"/>
              <a:t>Comparación de algoritmos de </a:t>
            </a:r>
            <a:r>
              <a:rPr lang="es-ES" sz="2400" b="1" dirty="0" err="1"/>
              <a:t>clustering</a:t>
            </a:r>
            <a:r>
              <a:rPr lang="es-ES" sz="2400" b="1" dirty="0"/>
              <a:t> </a:t>
            </a:r>
            <a:endParaRPr lang="en-US" sz="2400" b="1" dirty="0"/>
          </a:p>
        </p:txBody>
      </p:sp>
      <p:graphicFrame>
        <p:nvGraphicFramePr>
          <p:cNvPr id="11" name="Tabla 10"/>
          <p:cNvGraphicFramePr>
            <a:graphicFrameLocks noGrp="1"/>
          </p:cNvGraphicFramePr>
          <p:nvPr/>
        </p:nvGraphicFramePr>
        <p:xfrm>
          <a:off x="711995" y="2284164"/>
          <a:ext cx="4936721" cy="3687635"/>
        </p:xfrm>
        <a:graphic>
          <a:graphicData uri="http://schemas.openxmlformats.org/drawingml/2006/table">
            <a:tbl>
              <a:tblPr firstRow="1" bandRow="1">
                <a:tableStyleId>{3B4B98B0-60AC-42C2-AFA5-B58CD77FA1E5}</a:tableStyleId>
              </a:tblPr>
              <a:tblGrid>
                <a:gridCol w="1426355">
                  <a:extLst>
                    <a:ext uri="{9D8B030D-6E8A-4147-A177-3AD203B41FA5}">
                      <a16:colId xmlns:a16="http://schemas.microsoft.com/office/drawing/2014/main" val="402091394"/>
                    </a:ext>
                  </a:extLst>
                </a:gridCol>
                <a:gridCol w="1864616">
                  <a:extLst>
                    <a:ext uri="{9D8B030D-6E8A-4147-A177-3AD203B41FA5}">
                      <a16:colId xmlns:a16="http://schemas.microsoft.com/office/drawing/2014/main" val="3887774006"/>
                    </a:ext>
                  </a:extLst>
                </a:gridCol>
                <a:gridCol w="1645750">
                  <a:extLst>
                    <a:ext uri="{9D8B030D-6E8A-4147-A177-3AD203B41FA5}">
                      <a16:colId xmlns:a16="http://schemas.microsoft.com/office/drawing/2014/main" val="17963351"/>
                    </a:ext>
                  </a:extLst>
                </a:gridCol>
              </a:tblGrid>
              <a:tr h="602786">
                <a:tc>
                  <a:txBody>
                    <a:bodyPr/>
                    <a:lstStyle/>
                    <a:p>
                      <a:r>
                        <a:rPr lang="es-ES" sz="1400" dirty="0"/>
                        <a:t>MÉTODO CLUSTERING</a:t>
                      </a:r>
                      <a:endParaRPr lang="en-US" sz="1400" dirty="0"/>
                    </a:p>
                  </a:txBody>
                  <a:tcPr anchor="ctr">
                    <a:solidFill>
                      <a:schemeClr val="accent1">
                        <a:lumMod val="20000"/>
                        <a:lumOff val="80000"/>
                      </a:schemeClr>
                    </a:solidFill>
                  </a:tcPr>
                </a:tc>
                <a:tc>
                  <a:txBody>
                    <a:bodyPr/>
                    <a:lstStyle/>
                    <a:p>
                      <a:r>
                        <a:rPr lang="es-ES" sz="1200" dirty="0"/>
                        <a:t>APLICACIÓN</a:t>
                      </a:r>
                      <a:endParaRPr lang="en-US" sz="1200" dirty="0"/>
                    </a:p>
                  </a:txBody>
                  <a:tcPr anchor="ctr">
                    <a:solidFill>
                      <a:schemeClr val="accent1">
                        <a:lumMod val="20000"/>
                        <a:lumOff val="80000"/>
                      </a:schemeClr>
                    </a:solidFill>
                  </a:tcPr>
                </a:tc>
                <a:tc>
                  <a:txBody>
                    <a:bodyPr/>
                    <a:lstStyle/>
                    <a:p>
                      <a:r>
                        <a:rPr lang="es-ES" sz="1200" dirty="0"/>
                        <a:t>MÉTRICA UTILIZADA</a:t>
                      </a:r>
                      <a:endParaRPr lang="en-US" sz="1200" dirty="0"/>
                    </a:p>
                  </a:txBody>
                  <a:tcPr anchor="ctr">
                    <a:solidFill>
                      <a:schemeClr val="accent1">
                        <a:lumMod val="20000"/>
                        <a:lumOff val="80000"/>
                      </a:schemeClr>
                    </a:solidFill>
                  </a:tcPr>
                </a:tc>
                <a:extLst>
                  <a:ext uri="{0D108BD9-81ED-4DB2-BD59-A6C34878D82A}">
                    <a16:rowId xmlns:a16="http://schemas.microsoft.com/office/drawing/2014/main" val="3742590069"/>
                  </a:ext>
                </a:extLst>
              </a:tr>
              <a:tr h="1382863">
                <a:tc>
                  <a:txBody>
                    <a:bodyPr/>
                    <a:lstStyle/>
                    <a:p>
                      <a:r>
                        <a:rPr lang="es-ES" sz="1400" b="1" dirty="0"/>
                        <a:t>K-</a:t>
                      </a:r>
                      <a:r>
                        <a:rPr lang="es-ES" sz="1400" b="1" dirty="0" err="1"/>
                        <a:t>means</a:t>
                      </a:r>
                      <a:endParaRPr lang="en-US" sz="1400" b="1" dirty="0"/>
                    </a:p>
                  </a:txBody>
                  <a:tcPr anchor="ctr"/>
                </a:tc>
                <a:tc>
                  <a:txBody>
                    <a:bodyPr/>
                    <a:lstStyle/>
                    <a:p>
                      <a:pPr marL="285750" indent="-285750">
                        <a:buFont typeface="Arial" panose="020B0604020202020204" pitchFamily="34" charset="0"/>
                        <a:buChar char="•"/>
                      </a:pPr>
                      <a:r>
                        <a:rPr lang="en-US" sz="1250" kern="1200" dirty="0" err="1"/>
                        <a:t>Uso</a:t>
                      </a:r>
                      <a:r>
                        <a:rPr lang="en-US" sz="1250" kern="1200" dirty="0"/>
                        <a:t> general</a:t>
                      </a:r>
                    </a:p>
                    <a:p>
                      <a:pPr marL="285750" indent="-285750">
                        <a:buFont typeface="Arial" panose="020B0604020202020204" pitchFamily="34" charset="0"/>
                        <a:buChar char="•"/>
                      </a:pPr>
                      <a:r>
                        <a:rPr lang="en-US" sz="1250" kern="1200" dirty="0" err="1"/>
                        <a:t>Tamaño</a:t>
                      </a:r>
                      <a:r>
                        <a:rPr lang="en-US" sz="1250" kern="1200" dirty="0"/>
                        <a:t> de cluster </a:t>
                      </a:r>
                      <a:r>
                        <a:rPr lang="en-US" sz="1250" kern="1200" dirty="0" err="1"/>
                        <a:t>uniforme</a:t>
                      </a:r>
                      <a:r>
                        <a:rPr lang="en-US" sz="1250" kern="1200" baseline="0" dirty="0"/>
                        <a:t> y de</a:t>
                      </a:r>
                      <a:r>
                        <a:rPr lang="en-US" sz="1250" kern="1200" dirty="0"/>
                        <a:t> </a:t>
                      </a:r>
                      <a:r>
                        <a:rPr lang="en-US" sz="1250" kern="1200" dirty="0" err="1"/>
                        <a:t>geometría</a:t>
                      </a:r>
                      <a:r>
                        <a:rPr lang="en-US" sz="1250" kern="1200" dirty="0"/>
                        <a:t> </a:t>
                      </a:r>
                      <a:r>
                        <a:rPr lang="en-US" sz="1250" kern="1200" dirty="0" err="1"/>
                        <a:t>plana</a:t>
                      </a:r>
                      <a:endParaRPr lang="en-US" sz="1250" kern="1200" dirty="0"/>
                    </a:p>
                    <a:p>
                      <a:pPr marL="285750" indent="-285750">
                        <a:buFont typeface="Arial" panose="020B0604020202020204" pitchFamily="34" charset="0"/>
                        <a:buChar char="•"/>
                      </a:pPr>
                      <a:r>
                        <a:rPr lang="en-US" sz="1250" kern="1200" dirty="0"/>
                        <a:t>No </a:t>
                      </a:r>
                      <a:r>
                        <a:rPr lang="en-US" sz="1250" kern="1200" dirty="0" err="1"/>
                        <a:t>demasiados</a:t>
                      </a:r>
                      <a:r>
                        <a:rPr lang="en-US" sz="1250" kern="1200" dirty="0"/>
                        <a:t> clusters.</a:t>
                      </a:r>
                      <a:endParaRPr lang="en-US" sz="1250" kern="1200" dirty="0">
                        <a:solidFill>
                          <a:srgbClr val="222222"/>
                        </a:solidFill>
                        <a:latin typeface="+mn-lt"/>
                        <a:ea typeface="+mn-ea"/>
                        <a:cs typeface="+mn-cs"/>
                      </a:endParaRPr>
                    </a:p>
                  </a:txBody>
                  <a:tcPr/>
                </a:tc>
                <a:tc>
                  <a:txBody>
                    <a:bodyPr/>
                    <a:lstStyle/>
                    <a:p>
                      <a:r>
                        <a:rPr lang="es-ES" sz="1250" dirty="0"/>
                        <a:t>Distancia entre puntos</a:t>
                      </a:r>
                      <a:endParaRPr lang="en-US" sz="1250" dirty="0"/>
                    </a:p>
                  </a:txBody>
                  <a:tcPr anchor="ctr"/>
                </a:tc>
                <a:extLst>
                  <a:ext uri="{0D108BD9-81ED-4DB2-BD59-A6C34878D82A}">
                    <a16:rowId xmlns:a16="http://schemas.microsoft.com/office/drawing/2014/main" val="2185428580"/>
                  </a:ext>
                </a:extLst>
              </a:tr>
              <a:tr h="744619">
                <a:tc>
                  <a:txBody>
                    <a:bodyPr/>
                    <a:lstStyle/>
                    <a:p>
                      <a:r>
                        <a:rPr lang="es-ES" sz="1400" b="1" dirty="0" err="1"/>
                        <a:t>Hierarchical</a:t>
                      </a:r>
                      <a:r>
                        <a:rPr lang="es-ES" sz="1400" b="1" dirty="0"/>
                        <a:t> </a:t>
                      </a:r>
                      <a:r>
                        <a:rPr lang="es-ES" sz="1400" b="1" dirty="0" err="1"/>
                        <a:t>clustering</a:t>
                      </a:r>
                      <a:endParaRPr lang="en-US" sz="1400" b="1" dirty="0"/>
                    </a:p>
                  </a:txBody>
                  <a:tcPr anchor="ctr"/>
                </a:tc>
                <a:tc>
                  <a:txBody>
                    <a:bodyPr/>
                    <a:lstStyle/>
                    <a:p>
                      <a:pPr marL="285750" indent="-285750">
                        <a:buFont typeface="Arial" panose="020B0604020202020204" pitchFamily="34" charset="0"/>
                        <a:buChar char="•"/>
                      </a:pPr>
                      <a:r>
                        <a:rPr lang="es-ES" sz="1250" dirty="0"/>
                        <a:t>Muchos </a:t>
                      </a:r>
                      <a:r>
                        <a:rPr lang="es-ES" sz="1250" dirty="0" err="1"/>
                        <a:t>clusters</a:t>
                      </a:r>
                      <a:endParaRPr lang="es-ES" sz="1250" dirty="0"/>
                    </a:p>
                    <a:p>
                      <a:pPr marL="285750" indent="-285750">
                        <a:buFont typeface="Arial" panose="020B0604020202020204" pitchFamily="34" charset="0"/>
                        <a:buChar char="•"/>
                      </a:pPr>
                      <a:r>
                        <a:rPr lang="es-ES" sz="1250" dirty="0"/>
                        <a:t>Distancias no euclidianas</a:t>
                      </a:r>
                      <a:endParaRPr lang="en-US" sz="1250" dirty="0"/>
                    </a:p>
                  </a:txBody>
                  <a:tcPr/>
                </a:tc>
                <a:tc>
                  <a:txBody>
                    <a:bodyPr/>
                    <a:lstStyle/>
                    <a:p>
                      <a:r>
                        <a:rPr lang="en-US" sz="1250" dirty="0" err="1"/>
                        <a:t>Cualquier</a:t>
                      </a:r>
                      <a:r>
                        <a:rPr lang="en-US" sz="1250" dirty="0"/>
                        <a:t> </a:t>
                      </a:r>
                      <a:r>
                        <a:rPr lang="en-US" sz="1250" dirty="0" err="1"/>
                        <a:t>distancia</a:t>
                      </a:r>
                      <a:r>
                        <a:rPr lang="en-US" sz="1250" dirty="0"/>
                        <a:t> </a:t>
                      </a:r>
                      <a:r>
                        <a:rPr lang="en-US" sz="1250" dirty="0" err="1"/>
                        <a:t>por</a:t>
                      </a:r>
                      <a:r>
                        <a:rPr lang="en-US" sz="1250" dirty="0"/>
                        <a:t> pares</a:t>
                      </a:r>
                    </a:p>
                  </a:txBody>
                  <a:tcPr anchor="ctr"/>
                </a:tc>
                <a:extLst>
                  <a:ext uri="{0D108BD9-81ED-4DB2-BD59-A6C34878D82A}">
                    <a16:rowId xmlns:a16="http://schemas.microsoft.com/office/drawing/2014/main" val="712236507"/>
                  </a:ext>
                </a:extLst>
              </a:tr>
              <a:tr h="957367">
                <a:tc>
                  <a:txBody>
                    <a:bodyPr/>
                    <a:lstStyle/>
                    <a:p>
                      <a:r>
                        <a:rPr lang="es-ES" sz="1400" b="1" dirty="0"/>
                        <a:t>DBSCAN</a:t>
                      </a:r>
                      <a:endParaRPr lang="en-US" sz="1400" b="1" dirty="0"/>
                    </a:p>
                  </a:txBody>
                  <a:tcPr anchor="ctr"/>
                </a:tc>
                <a:tc>
                  <a:txBody>
                    <a:bodyPr/>
                    <a:lstStyle/>
                    <a:p>
                      <a:pPr marL="285750" indent="-285750">
                        <a:buFont typeface="Arial" panose="020B0604020202020204" pitchFamily="34" charset="0"/>
                        <a:buChar char="•"/>
                      </a:pPr>
                      <a:r>
                        <a:rPr lang="es-ES" sz="1250" kern="1200" dirty="0">
                          <a:effectLst/>
                        </a:rPr>
                        <a:t>Geometría no plana</a:t>
                      </a:r>
                    </a:p>
                    <a:p>
                      <a:pPr marL="285750" indent="-285750">
                        <a:buFont typeface="Arial" panose="020B0604020202020204" pitchFamily="34" charset="0"/>
                        <a:buChar char="•"/>
                      </a:pPr>
                      <a:r>
                        <a:rPr lang="es-ES" sz="1250" kern="1200" dirty="0">
                          <a:effectLst/>
                        </a:rPr>
                        <a:t>Tamaños desiguales de </a:t>
                      </a:r>
                      <a:r>
                        <a:rPr lang="es-ES" sz="1250" kern="1200" dirty="0" err="1">
                          <a:effectLst/>
                        </a:rPr>
                        <a:t>clusters</a:t>
                      </a:r>
                      <a:endParaRPr lang="es-ES" sz="1250" kern="1200" dirty="0">
                        <a:effectLst/>
                      </a:endParaRPr>
                    </a:p>
                    <a:p>
                      <a:pPr marL="285750" indent="-285750">
                        <a:buFont typeface="Arial" panose="020B0604020202020204" pitchFamily="34" charset="0"/>
                        <a:buChar char="•"/>
                      </a:pPr>
                      <a:r>
                        <a:rPr lang="es-ES" sz="1250" kern="1200" dirty="0">
                          <a:effectLst/>
                        </a:rPr>
                        <a:t>Detección</a:t>
                      </a:r>
                      <a:r>
                        <a:rPr lang="es-ES" sz="1250" kern="1200" baseline="0" dirty="0">
                          <a:effectLst/>
                        </a:rPr>
                        <a:t> de </a:t>
                      </a:r>
                      <a:r>
                        <a:rPr lang="es-ES" sz="1250" kern="1200" baseline="0" dirty="0" err="1">
                          <a:effectLst/>
                        </a:rPr>
                        <a:t>outliers</a:t>
                      </a:r>
                      <a:endParaRPr lang="en-US" sz="1250" dirty="0"/>
                    </a:p>
                  </a:txBody>
                  <a:tcPr/>
                </a:tc>
                <a:tc>
                  <a:txBody>
                    <a:bodyPr/>
                    <a:lstStyle/>
                    <a:p>
                      <a:r>
                        <a:rPr lang="es-ES" sz="1250" kern="1200" dirty="0"/>
                        <a:t>Las distancias entre los puntos más cercanos</a:t>
                      </a:r>
                      <a:endParaRPr lang="en-US" sz="1250" kern="1200" dirty="0">
                        <a:solidFill>
                          <a:schemeClr val="dk1"/>
                        </a:solidFill>
                        <a:latin typeface="+mn-lt"/>
                        <a:ea typeface="+mn-ea"/>
                        <a:cs typeface="+mn-cs"/>
                      </a:endParaRPr>
                    </a:p>
                  </a:txBody>
                  <a:tcPr anchor="ctr"/>
                </a:tc>
                <a:extLst>
                  <a:ext uri="{0D108BD9-81ED-4DB2-BD59-A6C34878D82A}">
                    <a16:rowId xmlns:a16="http://schemas.microsoft.com/office/drawing/2014/main" val="4287967019"/>
                  </a:ext>
                </a:extLst>
              </a:tr>
            </a:tbl>
          </a:graphicData>
        </a:graphic>
      </p:graphicFrame>
      <p:sp>
        <p:nvSpPr>
          <p:cNvPr id="13" name="Rectángulo 12"/>
          <p:cNvSpPr/>
          <p:nvPr/>
        </p:nvSpPr>
        <p:spPr>
          <a:xfrm>
            <a:off x="984161" y="6073091"/>
            <a:ext cx="4392387" cy="276999"/>
          </a:xfrm>
          <a:prstGeom prst="rect">
            <a:avLst/>
          </a:prstGeom>
        </p:spPr>
        <p:txBody>
          <a:bodyPr wrap="square">
            <a:spAutoFit/>
          </a:bodyPr>
          <a:lstStyle/>
          <a:p>
            <a:r>
              <a:rPr lang="en-US" sz="1200" dirty="0">
                <a:hlinkClick r:id="rId3"/>
              </a:rPr>
              <a:t>https://scikit-learn.org/stable/modules/clustering.html#clustering</a:t>
            </a:r>
            <a:endParaRPr lang="en-US" sz="1200" dirty="0"/>
          </a:p>
        </p:txBody>
      </p:sp>
      <p:pic>
        <p:nvPicPr>
          <p:cNvPr id="14" name="Picture 7" descr="../_images/sphx_glr_plot_cluster_comparison_0011.pn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582" t="3901" r="88390" b="15490"/>
          <a:stretch/>
        </p:blipFill>
        <p:spPr bwMode="auto">
          <a:xfrm>
            <a:off x="6006763" y="2304460"/>
            <a:ext cx="777442" cy="371997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7" descr="../_images/sphx_glr_plot_cluster_comparison_0011.pn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50098" t="3901" r="40267" b="15378"/>
          <a:stretch/>
        </p:blipFill>
        <p:spPr bwMode="auto">
          <a:xfrm>
            <a:off x="6780085" y="2300099"/>
            <a:ext cx="746984" cy="372512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7" descr="../_images/sphx_glr_plot_cluster_comparison_0011.pn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59733" t="3901" r="30632" b="14794"/>
          <a:stretch/>
        </p:blipFill>
        <p:spPr bwMode="auto">
          <a:xfrm>
            <a:off x="7514366" y="2300098"/>
            <a:ext cx="746984" cy="3752079"/>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p:cNvSpPr/>
          <p:nvPr/>
        </p:nvSpPr>
        <p:spPr>
          <a:xfrm>
            <a:off x="5928299" y="2032862"/>
            <a:ext cx="869973" cy="276999"/>
          </a:xfrm>
          <a:prstGeom prst="rect">
            <a:avLst/>
          </a:prstGeom>
        </p:spPr>
        <p:txBody>
          <a:bodyPr wrap="square">
            <a:spAutoFit/>
          </a:bodyPr>
          <a:lstStyle/>
          <a:p>
            <a:r>
              <a:rPr lang="en-US" sz="1200" b="1" dirty="0"/>
              <a:t>K-means</a:t>
            </a:r>
          </a:p>
        </p:txBody>
      </p:sp>
      <p:sp>
        <p:nvSpPr>
          <p:cNvPr id="17" name="Rectángulo 16"/>
          <p:cNvSpPr/>
          <p:nvPr/>
        </p:nvSpPr>
        <p:spPr>
          <a:xfrm>
            <a:off x="6661841" y="2032862"/>
            <a:ext cx="1108091" cy="276999"/>
          </a:xfrm>
          <a:prstGeom prst="rect">
            <a:avLst/>
          </a:prstGeom>
        </p:spPr>
        <p:txBody>
          <a:bodyPr wrap="square">
            <a:spAutoFit/>
          </a:bodyPr>
          <a:lstStyle/>
          <a:p>
            <a:r>
              <a:rPr lang="en-US" sz="1200" b="1" dirty="0"/>
              <a:t>Hierarchical</a:t>
            </a:r>
          </a:p>
        </p:txBody>
      </p:sp>
      <p:sp>
        <p:nvSpPr>
          <p:cNvPr id="18" name="Rectángulo 17"/>
          <p:cNvSpPr/>
          <p:nvPr/>
        </p:nvSpPr>
        <p:spPr>
          <a:xfrm>
            <a:off x="7536917" y="2032862"/>
            <a:ext cx="845398" cy="276999"/>
          </a:xfrm>
          <a:prstGeom prst="rect">
            <a:avLst/>
          </a:prstGeom>
        </p:spPr>
        <p:txBody>
          <a:bodyPr wrap="square">
            <a:spAutoFit/>
          </a:bodyPr>
          <a:lstStyle/>
          <a:p>
            <a:r>
              <a:rPr lang="es-ES" sz="1200" b="1" dirty="0"/>
              <a:t>DBSCAN</a:t>
            </a:r>
            <a:endParaRPr lang="en-US" sz="1200" b="1" dirty="0"/>
          </a:p>
        </p:txBody>
      </p:sp>
      <p:sp>
        <p:nvSpPr>
          <p:cNvPr id="23" name="Elipse 22">
            <a:extLst>
              <a:ext uri="{FF2B5EF4-FFF2-40B4-BE49-F238E27FC236}">
                <a16:creationId xmlns:a16="http://schemas.microsoft.com/office/drawing/2014/main" id="{B9DFD28B-70A5-4A8D-8F97-A8C3A354F5F7}"/>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4" name="Imagen 23">
            <a:extLst>
              <a:ext uri="{FF2B5EF4-FFF2-40B4-BE49-F238E27FC236}">
                <a16:creationId xmlns:a16="http://schemas.microsoft.com/office/drawing/2014/main" id="{C42A569E-2DA6-4487-9A2C-CBC1745DDFE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25" name="Conector recto 24">
            <a:extLst>
              <a:ext uri="{FF2B5EF4-FFF2-40B4-BE49-F238E27FC236}">
                <a16:creationId xmlns:a16="http://schemas.microsoft.com/office/drawing/2014/main" id="{AD2C921E-438D-4D60-BB53-0B65B8B226AB}"/>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99975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F72B40EF-D53A-41AA-87B6-B9F74BA43E09}" type="slidenum">
              <a:rPr lang="es-ES" smtClean="0"/>
              <a:t>25</a:t>
            </a:fld>
            <a:endParaRPr lang="es-ES"/>
          </a:p>
        </p:txBody>
      </p:sp>
      <p:sp>
        <p:nvSpPr>
          <p:cNvPr id="3" name="CuadroTexto 2"/>
          <p:cNvSpPr txBox="1"/>
          <p:nvPr/>
        </p:nvSpPr>
        <p:spPr>
          <a:xfrm>
            <a:off x="699944" y="2247071"/>
            <a:ext cx="8291655" cy="2805063"/>
          </a:xfrm>
          <a:prstGeom prst="rect">
            <a:avLst/>
          </a:prstGeom>
          <a:noFill/>
        </p:spPr>
        <p:txBody>
          <a:bodyPr wrap="square" rtlCol="0">
            <a:spAutoFit/>
          </a:bodyPr>
          <a:lstStyle/>
          <a:p>
            <a:pPr>
              <a:lnSpc>
                <a:spcPct val="150000"/>
              </a:lnSpc>
            </a:pPr>
            <a:r>
              <a:rPr lang="en-US" sz="2400" dirty="0" err="1">
                <a:solidFill>
                  <a:schemeClr val="bg1">
                    <a:lumMod val="75000"/>
                  </a:schemeClr>
                </a:solidFill>
                <a:latin typeface="+mj-lt"/>
              </a:rPr>
              <a:t>Diferenciar</a:t>
            </a:r>
            <a:r>
              <a:rPr lang="en-US" sz="2400" dirty="0">
                <a:solidFill>
                  <a:schemeClr val="bg1">
                    <a:lumMod val="75000"/>
                  </a:schemeClr>
                </a:solidFill>
                <a:latin typeface="+mj-lt"/>
              </a:rPr>
              <a:t> el </a:t>
            </a:r>
            <a:r>
              <a:rPr lang="en-US" sz="2400" dirty="0" err="1">
                <a:solidFill>
                  <a:schemeClr val="bg1">
                    <a:lumMod val="75000"/>
                  </a:schemeClr>
                </a:solidFill>
                <a:latin typeface="+mj-lt"/>
              </a:rPr>
              <a:t>aprendizaje</a:t>
            </a:r>
            <a:r>
              <a:rPr lang="en-US" sz="2400" dirty="0">
                <a:solidFill>
                  <a:schemeClr val="bg1">
                    <a:lumMod val="75000"/>
                  </a:schemeClr>
                </a:solidFill>
                <a:latin typeface="+mj-lt"/>
              </a:rPr>
              <a:t> </a:t>
            </a:r>
            <a:r>
              <a:rPr lang="en-US" sz="2400" dirty="0" err="1">
                <a:solidFill>
                  <a:schemeClr val="bg1">
                    <a:lumMod val="75000"/>
                  </a:schemeClr>
                </a:solidFill>
                <a:latin typeface="+mj-lt"/>
              </a:rPr>
              <a:t>Supervisado</a:t>
            </a:r>
            <a:r>
              <a:rPr lang="en-US" sz="2400" dirty="0">
                <a:solidFill>
                  <a:schemeClr val="bg1">
                    <a:lumMod val="75000"/>
                  </a:schemeClr>
                </a:solidFill>
                <a:latin typeface="+mj-lt"/>
              </a:rPr>
              <a:t> y No </a:t>
            </a:r>
            <a:r>
              <a:rPr lang="en-US" sz="2400" dirty="0" err="1">
                <a:solidFill>
                  <a:schemeClr val="bg1">
                    <a:lumMod val="75000"/>
                  </a:schemeClr>
                </a:solidFill>
                <a:latin typeface="+mj-lt"/>
              </a:rPr>
              <a:t>Supervisado</a:t>
            </a:r>
            <a:r>
              <a:rPr lang="en-US" sz="2400" dirty="0">
                <a:solidFill>
                  <a:schemeClr val="bg1">
                    <a:lumMod val="75000"/>
                  </a:schemeClr>
                </a:solidFill>
                <a:latin typeface="+mj-lt"/>
              </a:rPr>
              <a:t>.</a:t>
            </a:r>
          </a:p>
          <a:p>
            <a:pPr>
              <a:lnSpc>
                <a:spcPct val="150000"/>
              </a:lnSpc>
            </a:pPr>
            <a:r>
              <a:rPr lang="en-US" sz="2400" dirty="0" err="1">
                <a:solidFill>
                  <a:schemeClr val="bg1">
                    <a:lumMod val="75000"/>
                  </a:schemeClr>
                </a:solidFill>
                <a:latin typeface="+mj-lt"/>
              </a:rPr>
              <a:t>Algoritmos</a:t>
            </a:r>
            <a:r>
              <a:rPr lang="en-US" sz="2400" dirty="0">
                <a:solidFill>
                  <a:schemeClr val="bg1">
                    <a:lumMod val="75000"/>
                  </a:schemeClr>
                </a:solidFill>
                <a:latin typeface="+mj-lt"/>
              </a:rPr>
              <a:t> </a:t>
            </a:r>
            <a:r>
              <a:rPr lang="en-US" sz="2400" dirty="0" err="1">
                <a:solidFill>
                  <a:schemeClr val="bg1">
                    <a:lumMod val="75000"/>
                  </a:schemeClr>
                </a:solidFill>
                <a:latin typeface="+mj-lt"/>
              </a:rPr>
              <a:t>utilizados</a:t>
            </a:r>
            <a:r>
              <a:rPr lang="en-US" sz="2400" dirty="0">
                <a:solidFill>
                  <a:schemeClr val="bg1">
                    <a:lumMod val="75000"/>
                  </a:schemeClr>
                </a:solidFill>
                <a:latin typeface="+mj-lt"/>
              </a:rPr>
              <a:t> </a:t>
            </a:r>
            <a:r>
              <a:rPr lang="en-US" sz="2400" dirty="0" err="1">
                <a:solidFill>
                  <a:schemeClr val="bg1">
                    <a:lumMod val="75000"/>
                  </a:schemeClr>
                </a:solidFill>
                <a:latin typeface="+mj-lt"/>
              </a:rPr>
              <a:t>en</a:t>
            </a:r>
            <a:r>
              <a:rPr lang="en-US" sz="2400" dirty="0">
                <a:solidFill>
                  <a:schemeClr val="bg1">
                    <a:lumMod val="75000"/>
                  </a:schemeClr>
                </a:solidFill>
                <a:latin typeface="+mj-lt"/>
              </a:rPr>
              <a:t> </a:t>
            </a:r>
            <a:r>
              <a:rPr lang="en-US" sz="2400" dirty="0" err="1">
                <a:solidFill>
                  <a:schemeClr val="bg1">
                    <a:lumMod val="75000"/>
                  </a:schemeClr>
                </a:solidFill>
                <a:latin typeface="+mj-lt"/>
              </a:rPr>
              <a:t>Aprendizaje</a:t>
            </a:r>
            <a:r>
              <a:rPr lang="en-US" sz="2400" dirty="0">
                <a:solidFill>
                  <a:schemeClr val="bg1">
                    <a:lumMod val="75000"/>
                  </a:schemeClr>
                </a:solidFill>
                <a:latin typeface="+mj-lt"/>
              </a:rPr>
              <a:t> No </a:t>
            </a:r>
            <a:r>
              <a:rPr lang="en-US" sz="2400" dirty="0" err="1">
                <a:solidFill>
                  <a:schemeClr val="bg1">
                    <a:lumMod val="75000"/>
                  </a:schemeClr>
                </a:solidFill>
                <a:latin typeface="+mj-lt"/>
              </a:rPr>
              <a:t>Supervisado</a:t>
            </a:r>
            <a:r>
              <a:rPr lang="en-US" sz="2400" dirty="0">
                <a:solidFill>
                  <a:schemeClr val="bg1">
                    <a:lumMod val="75000"/>
                  </a:schemeClr>
                </a:solidFill>
                <a:latin typeface="+mj-lt"/>
              </a:rPr>
              <a:t>.</a:t>
            </a:r>
          </a:p>
          <a:p>
            <a:pPr>
              <a:lnSpc>
                <a:spcPct val="150000"/>
              </a:lnSpc>
            </a:pPr>
            <a:r>
              <a:rPr lang="en-US" sz="2400" b="1" dirty="0" err="1">
                <a:solidFill>
                  <a:srgbClr val="006DA5"/>
                </a:solidFill>
              </a:rPr>
              <a:t>Métricas</a:t>
            </a:r>
            <a:r>
              <a:rPr lang="en-US" sz="2400" b="1" dirty="0">
                <a:solidFill>
                  <a:srgbClr val="006DA5"/>
                </a:solidFill>
              </a:rPr>
              <a:t> para </a:t>
            </a:r>
            <a:r>
              <a:rPr lang="en-US" sz="2400" b="1" dirty="0" err="1">
                <a:solidFill>
                  <a:srgbClr val="006DA5"/>
                </a:solidFill>
              </a:rPr>
              <a:t>encontrar</a:t>
            </a:r>
            <a:r>
              <a:rPr lang="en-US" sz="2400" b="1" dirty="0">
                <a:solidFill>
                  <a:srgbClr val="006DA5"/>
                </a:solidFill>
              </a:rPr>
              <a:t> el </a:t>
            </a:r>
            <a:r>
              <a:rPr lang="en-US" sz="2400" b="1" dirty="0" err="1">
                <a:solidFill>
                  <a:srgbClr val="006DA5"/>
                </a:solidFill>
              </a:rPr>
              <a:t>número</a:t>
            </a:r>
            <a:r>
              <a:rPr lang="en-US" sz="2400" b="1" dirty="0">
                <a:solidFill>
                  <a:srgbClr val="006DA5"/>
                </a:solidFill>
              </a:rPr>
              <a:t> </a:t>
            </a:r>
            <a:r>
              <a:rPr lang="en-US" sz="2400" b="1" dirty="0" err="1">
                <a:solidFill>
                  <a:srgbClr val="006DA5"/>
                </a:solidFill>
              </a:rPr>
              <a:t>óptimo</a:t>
            </a:r>
            <a:r>
              <a:rPr lang="en-US" sz="2400" b="1" dirty="0">
                <a:solidFill>
                  <a:srgbClr val="006DA5"/>
                </a:solidFill>
              </a:rPr>
              <a:t> de clusters.</a:t>
            </a:r>
          </a:p>
          <a:p>
            <a:pPr>
              <a:lnSpc>
                <a:spcPct val="150000"/>
              </a:lnSpc>
            </a:pPr>
            <a:r>
              <a:rPr lang="en-US" sz="2400" b="1" dirty="0" err="1">
                <a:solidFill>
                  <a:schemeClr val="bg1">
                    <a:lumMod val="75000"/>
                  </a:schemeClr>
                </a:solidFill>
              </a:rPr>
              <a:t>Aplicaciones</a:t>
            </a:r>
            <a:r>
              <a:rPr lang="en-US" sz="2400" dirty="0">
                <a:solidFill>
                  <a:schemeClr val="bg1">
                    <a:lumMod val="75000"/>
                  </a:schemeClr>
                </a:solidFill>
              </a:rPr>
              <a:t> del clustering.</a:t>
            </a:r>
          </a:p>
          <a:p>
            <a:pPr>
              <a:lnSpc>
                <a:spcPct val="150000"/>
              </a:lnSpc>
            </a:pPr>
            <a:r>
              <a:rPr lang="en-US" sz="2400" dirty="0" err="1">
                <a:solidFill>
                  <a:schemeClr val="bg1">
                    <a:lumMod val="75000"/>
                  </a:schemeClr>
                </a:solidFill>
              </a:rPr>
              <a:t>Reducción</a:t>
            </a:r>
            <a:r>
              <a:rPr lang="en-US" sz="2400" dirty="0">
                <a:solidFill>
                  <a:schemeClr val="bg1">
                    <a:lumMod val="75000"/>
                  </a:schemeClr>
                </a:solidFill>
              </a:rPr>
              <a:t> de </a:t>
            </a:r>
            <a:r>
              <a:rPr lang="en-US" sz="2400" dirty="0" err="1">
                <a:solidFill>
                  <a:schemeClr val="bg1">
                    <a:lumMod val="75000"/>
                  </a:schemeClr>
                </a:solidFill>
              </a:rPr>
              <a:t>dimensiones</a:t>
            </a:r>
            <a:r>
              <a:rPr lang="en-US" sz="2400" dirty="0">
                <a:solidFill>
                  <a:schemeClr val="bg1">
                    <a:lumMod val="75000"/>
                  </a:schemeClr>
                </a:solidFill>
                <a:latin typeface="+mj-lt"/>
              </a:rPr>
              <a:t>.</a:t>
            </a:r>
            <a:endParaRPr lang="en-US" sz="2000" dirty="0"/>
          </a:p>
        </p:txBody>
      </p:sp>
    </p:spTree>
    <p:extLst>
      <p:ext uri="{BB962C8B-B14F-4D97-AF65-F5344CB8AC3E}">
        <p14:creationId xmlns:p14="http://schemas.microsoft.com/office/powerpoint/2010/main" val="33797883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F72B40EF-D53A-41AA-87B6-B9F74BA43E09}" type="slidenum">
              <a:rPr lang="es-ES" smtClean="0"/>
              <a:t>26</a:t>
            </a:fld>
            <a:endParaRPr lang="es-ES"/>
          </a:p>
        </p:txBody>
      </p:sp>
      <p:sp>
        <p:nvSpPr>
          <p:cNvPr id="11" name="CuadroTexto 10"/>
          <p:cNvSpPr txBox="1"/>
          <p:nvPr/>
        </p:nvSpPr>
        <p:spPr>
          <a:xfrm>
            <a:off x="1274591" y="3114675"/>
            <a:ext cx="6594817" cy="1631216"/>
          </a:xfrm>
          <a:prstGeom prst="rect">
            <a:avLst/>
          </a:prstGeom>
          <a:noFill/>
        </p:spPr>
        <p:txBody>
          <a:bodyPr wrap="square" rtlCol="0">
            <a:spAutoFit/>
          </a:bodyPr>
          <a:lstStyle/>
          <a:p>
            <a:r>
              <a:rPr lang="en-US" sz="2000" i="1" dirty="0" err="1"/>
              <a:t>En</a:t>
            </a:r>
            <a:r>
              <a:rPr lang="en-US" sz="2000" i="1" dirty="0"/>
              <a:t> el </a:t>
            </a:r>
            <a:r>
              <a:rPr lang="en-US" sz="2000" i="1" dirty="0" err="1"/>
              <a:t>aprendizaje</a:t>
            </a:r>
            <a:r>
              <a:rPr lang="en-US" sz="2000" i="1" dirty="0"/>
              <a:t> no </a:t>
            </a:r>
            <a:r>
              <a:rPr lang="en-US" sz="2000" i="1" dirty="0" err="1"/>
              <a:t>supervisado</a:t>
            </a:r>
            <a:r>
              <a:rPr lang="en-US" sz="2000" i="1" dirty="0"/>
              <a:t> no </a:t>
            </a:r>
            <a:r>
              <a:rPr lang="en-US" sz="2000" i="1" dirty="0" err="1"/>
              <a:t>existe</a:t>
            </a:r>
            <a:r>
              <a:rPr lang="en-US" sz="2000" i="1" dirty="0"/>
              <a:t> </a:t>
            </a:r>
            <a:r>
              <a:rPr lang="en-US" sz="2000" i="1" dirty="0" err="1"/>
              <a:t>una</a:t>
            </a:r>
            <a:r>
              <a:rPr lang="en-US" sz="2000" i="1" dirty="0"/>
              <a:t> </a:t>
            </a:r>
            <a:r>
              <a:rPr lang="en-US" sz="2000" i="1" dirty="0" err="1"/>
              <a:t>cuantificación</a:t>
            </a:r>
            <a:r>
              <a:rPr lang="en-US" sz="2000" i="1" dirty="0"/>
              <a:t> del error </a:t>
            </a:r>
            <a:r>
              <a:rPr lang="en-US" sz="2000" i="1" dirty="0" err="1"/>
              <a:t>como</a:t>
            </a:r>
            <a:r>
              <a:rPr lang="en-US" sz="2000" i="1" dirty="0"/>
              <a:t> </a:t>
            </a:r>
            <a:r>
              <a:rPr lang="en-US" sz="2000" i="1" dirty="0" err="1"/>
              <a:t>tal</a:t>
            </a:r>
            <a:r>
              <a:rPr lang="en-US" sz="2000" i="1" dirty="0"/>
              <a:t> entre el </a:t>
            </a:r>
            <a:r>
              <a:rPr lang="en-US" sz="2000" i="1" dirty="0" err="1"/>
              <a:t>resultado</a:t>
            </a:r>
            <a:r>
              <a:rPr lang="en-US" sz="2000" i="1" dirty="0"/>
              <a:t> del </a:t>
            </a:r>
            <a:r>
              <a:rPr lang="en-US" sz="2000" i="1" dirty="0" err="1"/>
              <a:t>modelo</a:t>
            </a:r>
            <a:r>
              <a:rPr lang="en-US" sz="2000" i="1" dirty="0"/>
              <a:t> de clustering y el valor </a:t>
            </a:r>
            <a:r>
              <a:rPr lang="en-US" sz="2000" i="1" dirty="0" err="1"/>
              <a:t>verdadero</a:t>
            </a:r>
            <a:r>
              <a:rPr lang="en-US" sz="2000" i="1" dirty="0"/>
              <a:t>, </a:t>
            </a:r>
            <a:r>
              <a:rPr lang="en-US" sz="2000" i="1" dirty="0" err="1"/>
              <a:t>ya</a:t>
            </a:r>
            <a:r>
              <a:rPr lang="en-US" sz="2000" i="1" dirty="0"/>
              <a:t> </a:t>
            </a:r>
            <a:r>
              <a:rPr lang="en-US" sz="2000" b="1" i="1" dirty="0"/>
              <a:t>que el valor </a:t>
            </a:r>
            <a:r>
              <a:rPr lang="en-US" sz="2000" b="1" i="1" dirty="0" err="1"/>
              <a:t>verdadero</a:t>
            </a:r>
            <a:r>
              <a:rPr lang="en-US" sz="2000" b="1" i="1" dirty="0"/>
              <a:t> </a:t>
            </a:r>
            <a:r>
              <a:rPr lang="en-US" sz="2000" b="1" i="1" dirty="0" err="1"/>
              <a:t>es</a:t>
            </a:r>
            <a:r>
              <a:rPr lang="en-US" sz="2000" b="1" i="1" dirty="0"/>
              <a:t> </a:t>
            </a:r>
            <a:r>
              <a:rPr lang="en-US" sz="2000" b="1" i="1" dirty="0" err="1"/>
              <a:t>desconocido</a:t>
            </a:r>
            <a:r>
              <a:rPr lang="en-US" sz="2000" i="1" dirty="0"/>
              <a:t>. Se </a:t>
            </a:r>
            <a:r>
              <a:rPr lang="en-US" sz="2000" i="1" dirty="0" err="1"/>
              <a:t>utilizarán</a:t>
            </a:r>
            <a:r>
              <a:rPr lang="en-US" sz="2000" i="1" dirty="0"/>
              <a:t> </a:t>
            </a:r>
            <a:r>
              <a:rPr lang="en-US" sz="2000" i="1" dirty="0" err="1"/>
              <a:t>métodos</a:t>
            </a:r>
            <a:r>
              <a:rPr lang="en-US" sz="2000" i="1" dirty="0"/>
              <a:t> para </a:t>
            </a:r>
            <a:r>
              <a:rPr lang="en-US" sz="2000" i="1" dirty="0" err="1"/>
              <a:t>estimar</a:t>
            </a:r>
            <a:r>
              <a:rPr lang="en-US" sz="2000" i="1" dirty="0"/>
              <a:t> el </a:t>
            </a:r>
            <a:r>
              <a:rPr lang="en-US" sz="2000" i="1" dirty="0" err="1"/>
              <a:t>número</a:t>
            </a:r>
            <a:r>
              <a:rPr lang="en-US" sz="2000" i="1" dirty="0"/>
              <a:t> </a:t>
            </a:r>
            <a:r>
              <a:rPr lang="en-US" sz="2000" i="1" dirty="0" err="1"/>
              <a:t>óptimo</a:t>
            </a:r>
            <a:r>
              <a:rPr lang="en-US" sz="2000" i="1" dirty="0"/>
              <a:t> </a:t>
            </a:r>
            <a:r>
              <a:rPr lang="en-US" sz="2000" b="1" i="1" dirty="0"/>
              <a:t>k</a:t>
            </a:r>
            <a:r>
              <a:rPr lang="en-US" sz="2000" i="1" dirty="0"/>
              <a:t> de clusters.</a:t>
            </a:r>
          </a:p>
        </p:txBody>
      </p:sp>
    </p:spTree>
    <p:extLst>
      <p:ext uri="{BB962C8B-B14F-4D97-AF65-F5344CB8AC3E}">
        <p14:creationId xmlns:p14="http://schemas.microsoft.com/office/powerpoint/2010/main" val="18041014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ángulo redondeado 17"/>
          <p:cNvSpPr/>
          <p:nvPr/>
        </p:nvSpPr>
        <p:spPr>
          <a:xfrm>
            <a:off x="406363" y="2027763"/>
            <a:ext cx="8293137" cy="352476"/>
          </a:xfrm>
          <a:prstGeom prst="roundRect">
            <a:avLst/>
          </a:prstGeom>
          <a:solidFill>
            <a:srgbClr val="006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Marcador de número de diapositiva 3"/>
          <p:cNvSpPr>
            <a:spLocks noGrp="1"/>
          </p:cNvSpPr>
          <p:nvPr>
            <p:ph type="sldNum" sz="quarter" idx="12"/>
          </p:nvPr>
        </p:nvSpPr>
        <p:spPr/>
        <p:txBody>
          <a:bodyPr/>
          <a:lstStyle/>
          <a:p>
            <a:fld id="{F72B40EF-D53A-41AA-87B6-B9F74BA43E09}" type="slidenum">
              <a:rPr lang="es-ES" smtClean="0"/>
              <a:t>27</a:t>
            </a:fld>
            <a:endParaRPr lang="es-ES" dirty="0"/>
          </a:p>
        </p:txBody>
      </p:sp>
      <p:sp>
        <p:nvSpPr>
          <p:cNvPr id="5" name="Título 1"/>
          <p:cNvSpPr>
            <a:spLocks noGrp="1"/>
          </p:cNvSpPr>
          <p:nvPr>
            <p:ph type="title"/>
          </p:nvPr>
        </p:nvSpPr>
        <p:spPr>
          <a:xfrm>
            <a:off x="1080252" y="1252619"/>
            <a:ext cx="5615397" cy="763455"/>
          </a:xfrm>
        </p:spPr>
        <p:txBody>
          <a:bodyPr>
            <a:normAutofit/>
          </a:bodyPr>
          <a:lstStyle/>
          <a:p>
            <a:pPr algn="l"/>
            <a:r>
              <a:rPr lang="en-US" sz="2400" b="1" dirty="0" err="1"/>
              <a:t>Métrica</a:t>
            </a:r>
            <a:r>
              <a:rPr lang="en-US" sz="2400" b="1" dirty="0"/>
              <a:t> de </a:t>
            </a:r>
            <a:r>
              <a:rPr lang="en-US" sz="2400" b="1" dirty="0" err="1"/>
              <a:t>evaluación</a:t>
            </a:r>
            <a:endParaRPr lang="es-ES" sz="2400" b="1" dirty="0"/>
          </a:p>
        </p:txBody>
      </p:sp>
      <p:sp>
        <p:nvSpPr>
          <p:cNvPr id="11" name="CuadroTexto 10"/>
          <p:cNvSpPr txBox="1"/>
          <p:nvPr/>
        </p:nvSpPr>
        <p:spPr>
          <a:xfrm>
            <a:off x="711952" y="2006600"/>
            <a:ext cx="2247148" cy="369332"/>
          </a:xfrm>
          <a:prstGeom prst="rect">
            <a:avLst/>
          </a:prstGeom>
          <a:noFill/>
        </p:spPr>
        <p:txBody>
          <a:bodyPr wrap="square" rtlCol="0">
            <a:spAutoFit/>
          </a:bodyPr>
          <a:lstStyle/>
          <a:p>
            <a:r>
              <a:rPr lang="en-US" b="1" dirty="0" err="1">
                <a:solidFill>
                  <a:schemeClr val="bg1"/>
                </a:solidFill>
              </a:rPr>
              <a:t>Método</a:t>
            </a:r>
            <a:r>
              <a:rPr lang="en-US" b="1" dirty="0">
                <a:solidFill>
                  <a:schemeClr val="bg1"/>
                </a:solidFill>
              </a:rPr>
              <a:t> Elbow</a:t>
            </a:r>
          </a:p>
        </p:txBody>
      </p:sp>
      <p:pic>
        <p:nvPicPr>
          <p:cNvPr id="21" name="Imagen 20"/>
          <p:cNvPicPr>
            <a:picLocks noChangeAspect="1"/>
          </p:cNvPicPr>
          <p:nvPr/>
        </p:nvPicPr>
        <p:blipFill rotWithShape="1">
          <a:blip r:embed="rId3"/>
          <a:srcRect l="4191" t="3377" r="7421" b="4104"/>
          <a:stretch/>
        </p:blipFill>
        <p:spPr>
          <a:xfrm>
            <a:off x="2400617" y="3442781"/>
            <a:ext cx="3873183" cy="3268400"/>
          </a:xfrm>
          <a:prstGeom prst="rect">
            <a:avLst/>
          </a:prstGeom>
        </p:spPr>
      </p:pic>
      <p:sp>
        <p:nvSpPr>
          <p:cNvPr id="14" name="CuadroTexto 13"/>
          <p:cNvSpPr txBox="1"/>
          <p:nvPr/>
        </p:nvSpPr>
        <p:spPr>
          <a:xfrm>
            <a:off x="4007602" y="3951627"/>
            <a:ext cx="2113798" cy="1169551"/>
          </a:xfrm>
          <a:prstGeom prst="rect">
            <a:avLst/>
          </a:prstGeom>
          <a:noFill/>
        </p:spPr>
        <p:txBody>
          <a:bodyPr wrap="square" rtlCol="0">
            <a:spAutoFit/>
          </a:bodyPr>
          <a:lstStyle/>
          <a:p>
            <a:r>
              <a:rPr lang="es-ES" sz="1400" dirty="0">
                <a:solidFill>
                  <a:schemeClr val="bg1">
                    <a:lumMod val="50000"/>
                  </a:schemeClr>
                </a:solidFill>
              </a:rPr>
              <a:t>Hay una notable reducción de la variación con </a:t>
            </a:r>
            <a:r>
              <a:rPr lang="es-ES" sz="1400" b="1" dirty="0">
                <a:solidFill>
                  <a:schemeClr val="bg1">
                    <a:lumMod val="50000"/>
                  </a:schemeClr>
                </a:solidFill>
              </a:rPr>
              <a:t>k=2</a:t>
            </a:r>
            <a:r>
              <a:rPr lang="es-ES" sz="1400" dirty="0">
                <a:solidFill>
                  <a:schemeClr val="bg1">
                    <a:lumMod val="50000"/>
                  </a:schemeClr>
                </a:solidFill>
              </a:rPr>
              <a:t>, pero después de eso, la variación no baja tan rápidamente</a:t>
            </a:r>
          </a:p>
        </p:txBody>
      </p:sp>
      <p:cxnSp>
        <p:nvCxnSpPr>
          <p:cNvPr id="15" name="Conector recto de flecha 14"/>
          <p:cNvCxnSpPr/>
          <p:nvPr/>
        </p:nvCxnSpPr>
        <p:spPr>
          <a:xfrm flipH="1">
            <a:off x="3403371" y="5285600"/>
            <a:ext cx="642333" cy="620043"/>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
        <p:nvSpPr>
          <p:cNvPr id="20" name="Rectángulo 19"/>
          <p:cNvSpPr/>
          <p:nvPr/>
        </p:nvSpPr>
        <p:spPr>
          <a:xfrm>
            <a:off x="406363" y="2456388"/>
            <a:ext cx="8547137" cy="830997"/>
          </a:xfrm>
          <a:prstGeom prst="rect">
            <a:avLst/>
          </a:prstGeom>
        </p:spPr>
        <p:txBody>
          <a:bodyPr wrap="square">
            <a:spAutoFit/>
          </a:bodyPr>
          <a:lstStyle/>
          <a:p>
            <a:pPr marL="285750" indent="-285750">
              <a:buFont typeface="Arial" panose="020B0604020202020204" pitchFamily="34" charset="0"/>
              <a:buChar char="•"/>
            </a:pPr>
            <a:r>
              <a:rPr lang="en-US" sz="1600" dirty="0"/>
              <a:t>El </a:t>
            </a:r>
            <a:r>
              <a:rPr lang="en-US" sz="1600" dirty="0" err="1"/>
              <a:t>método</a:t>
            </a:r>
            <a:r>
              <a:rPr lang="en-US" sz="1600" dirty="0"/>
              <a:t> Elbow </a:t>
            </a:r>
            <a:r>
              <a:rPr lang="en-US" sz="1600" dirty="0" err="1"/>
              <a:t>nos</a:t>
            </a:r>
            <a:r>
              <a:rPr lang="en-US" sz="1600" dirty="0"/>
              <a:t> da una idea del </a:t>
            </a:r>
            <a:r>
              <a:rPr lang="en-US" sz="1600" dirty="0" err="1"/>
              <a:t>número</a:t>
            </a:r>
            <a:r>
              <a:rPr lang="en-US" sz="1600" dirty="0"/>
              <a:t> </a:t>
            </a:r>
            <a:r>
              <a:rPr lang="en-US" sz="1600" dirty="0" err="1"/>
              <a:t>óptimo</a:t>
            </a:r>
            <a:r>
              <a:rPr lang="en-US" sz="1600" dirty="0"/>
              <a:t> de </a:t>
            </a:r>
            <a:r>
              <a:rPr lang="en-US" sz="1600" b="1" dirty="0"/>
              <a:t>K</a:t>
            </a:r>
            <a:r>
              <a:rPr lang="en-US" sz="1600" dirty="0"/>
              <a:t> de clusters.</a:t>
            </a:r>
          </a:p>
          <a:p>
            <a:pPr marL="285750" indent="-285750">
              <a:buFont typeface="Arial" panose="020B0604020202020204" pitchFamily="34" charset="0"/>
              <a:buChar char="•"/>
            </a:pPr>
            <a:r>
              <a:rPr lang="en-US" sz="1600" dirty="0"/>
              <a:t>Se </a:t>
            </a:r>
            <a:r>
              <a:rPr lang="en-US" sz="1600" dirty="0" err="1"/>
              <a:t>basa</a:t>
            </a:r>
            <a:r>
              <a:rPr lang="en-US" sz="1600" dirty="0"/>
              <a:t> </a:t>
            </a:r>
            <a:r>
              <a:rPr lang="en-US" sz="1600" dirty="0" err="1"/>
              <a:t>en</a:t>
            </a:r>
            <a:r>
              <a:rPr lang="en-US" sz="1600" dirty="0"/>
              <a:t> la </a:t>
            </a:r>
            <a:r>
              <a:rPr lang="en-US" sz="1600" dirty="0" err="1"/>
              <a:t>suma</a:t>
            </a:r>
            <a:r>
              <a:rPr lang="en-US" sz="1600" dirty="0"/>
              <a:t> de la </a:t>
            </a:r>
            <a:r>
              <a:rPr lang="en-US" sz="1600" dirty="0" err="1"/>
              <a:t>distancia</a:t>
            </a:r>
            <a:r>
              <a:rPr lang="en-US" sz="1600" dirty="0"/>
              <a:t> al </a:t>
            </a:r>
            <a:r>
              <a:rPr lang="en-US" sz="1600" dirty="0" err="1"/>
              <a:t>cuadrado</a:t>
            </a:r>
            <a:r>
              <a:rPr lang="en-US" sz="1600" dirty="0"/>
              <a:t> entre </a:t>
            </a:r>
            <a:r>
              <a:rPr lang="en-US" sz="1600" dirty="0" err="1"/>
              <a:t>los</a:t>
            </a:r>
            <a:r>
              <a:rPr lang="en-US" sz="1600" dirty="0"/>
              <a:t> </a:t>
            </a:r>
            <a:r>
              <a:rPr lang="en-US" sz="1600" dirty="0" err="1"/>
              <a:t>puntos</a:t>
            </a:r>
            <a:r>
              <a:rPr lang="en-US" sz="1600" dirty="0"/>
              <a:t> de </a:t>
            </a:r>
            <a:r>
              <a:rPr lang="en-US" sz="1600" dirty="0" err="1"/>
              <a:t>datos</a:t>
            </a:r>
            <a:r>
              <a:rPr lang="en-US" sz="1600" dirty="0"/>
              <a:t> y </a:t>
            </a:r>
            <a:r>
              <a:rPr lang="en-US" sz="1600" dirty="0" err="1"/>
              <a:t>los</a:t>
            </a:r>
            <a:r>
              <a:rPr lang="en-US" sz="1600" dirty="0"/>
              <a:t> </a:t>
            </a:r>
            <a:r>
              <a:rPr lang="en-US" sz="1600" b="1" dirty="0" err="1"/>
              <a:t>centroides</a:t>
            </a:r>
            <a:r>
              <a:rPr lang="en-US" sz="1600" dirty="0"/>
              <a:t> de </a:t>
            </a:r>
            <a:r>
              <a:rPr lang="en-US" sz="1600" dirty="0" err="1"/>
              <a:t>los</a:t>
            </a:r>
            <a:r>
              <a:rPr lang="en-US" sz="1600" dirty="0"/>
              <a:t> </a:t>
            </a:r>
            <a:r>
              <a:rPr lang="en-US" sz="1600" dirty="0" err="1"/>
              <a:t>clústers</a:t>
            </a:r>
            <a:r>
              <a:rPr lang="en-US" sz="1600" dirty="0"/>
              <a:t> </a:t>
            </a:r>
            <a:r>
              <a:rPr lang="en-US" sz="1600" dirty="0" err="1"/>
              <a:t>asignados</a:t>
            </a:r>
            <a:r>
              <a:rPr lang="en-US" sz="1600" dirty="0"/>
              <a:t>.</a:t>
            </a:r>
          </a:p>
        </p:txBody>
      </p:sp>
      <p:sp>
        <p:nvSpPr>
          <p:cNvPr id="23" name="Elipse 22"/>
          <p:cNvSpPr/>
          <p:nvPr/>
        </p:nvSpPr>
        <p:spPr>
          <a:xfrm>
            <a:off x="3200776" y="6321906"/>
            <a:ext cx="333711" cy="313074"/>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https://jarroba.com/wp-content/uploads/2016/05/kmeans_inercia_jarroba.png">
            <a:extLst>
              <a:ext uri="{FF2B5EF4-FFF2-40B4-BE49-F238E27FC236}">
                <a16:creationId xmlns:a16="http://schemas.microsoft.com/office/drawing/2014/main" id="{A9AB09CA-5343-4C8C-B83D-E91E262085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18592" y="3480586"/>
            <a:ext cx="1669262" cy="642666"/>
          </a:xfrm>
          <a:prstGeom prst="rect">
            <a:avLst/>
          </a:prstGeom>
          <a:noFill/>
          <a:extLst>
            <a:ext uri="{909E8E84-426E-40DD-AFC4-6F175D3DCCD1}">
              <a14:hiddenFill xmlns:a14="http://schemas.microsoft.com/office/drawing/2010/main">
                <a:solidFill>
                  <a:srgbClr val="FFFFFF"/>
                </a:solidFill>
              </a14:hiddenFill>
            </a:ext>
          </a:extLst>
        </p:spPr>
      </p:pic>
      <p:sp>
        <p:nvSpPr>
          <p:cNvPr id="17" name="Elipse 16">
            <a:extLst>
              <a:ext uri="{FF2B5EF4-FFF2-40B4-BE49-F238E27FC236}">
                <a16:creationId xmlns:a16="http://schemas.microsoft.com/office/drawing/2014/main" id="{4C895008-DD69-4939-9786-6D53321E7202}"/>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9" name="Imagen 18">
            <a:extLst>
              <a:ext uri="{FF2B5EF4-FFF2-40B4-BE49-F238E27FC236}">
                <a16:creationId xmlns:a16="http://schemas.microsoft.com/office/drawing/2014/main" id="{E2C79CC8-E2D7-472B-AF64-1770280084A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22" name="Conector recto 21">
            <a:extLst>
              <a:ext uri="{FF2B5EF4-FFF2-40B4-BE49-F238E27FC236}">
                <a16:creationId xmlns:a16="http://schemas.microsoft.com/office/drawing/2014/main" id="{E0E65C2C-9402-49EB-9A7A-0F04CFA66754}"/>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9253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ángulo redondeado 17"/>
          <p:cNvSpPr/>
          <p:nvPr/>
        </p:nvSpPr>
        <p:spPr>
          <a:xfrm>
            <a:off x="406363" y="2027763"/>
            <a:ext cx="8293137" cy="352476"/>
          </a:xfrm>
          <a:prstGeom prst="roundRect">
            <a:avLst/>
          </a:prstGeom>
          <a:solidFill>
            <a:srgbClr val="006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Marcador de número de diapositiva 3"/>
          <p:cNvSpPr>
            <a:spLocks noGrp="1"/>
          </p:cNvSpPr>
          <p:nvPr>
            <p:ph type="sldNum" sz="quarter" idx="12"/>
          </p:nvPr>
        </p:nvSpPr>
        <p:spPr/>
        <p:txBody>
          <a:bodyPr/>
          <a:lstStyle/>
          <a:p>
            <a:fld id="{F72B40EF-D53A-41AA-87B6-B9F74BA43E09}" type="slidenum">
              <a:rPr lang="es-ES" smtClean="0"/>
              <a:t>28</a:t>
            </a:fld>
            <a:endParaRPr lang="es-ES" dirty="0"/>
          </a:p>
        </p:txBody>
      </p:sp>
      <p:sp>
        <p:nvSpPr>
          <p:cNvPr id="5" name="Título 1"/>
          <p:cNvSpPr>
            <a:spLocks noGrp="1"/>
          </p:cNvSpPr>
          <p:nvPr>
            <p:ph type="title"/>
          </p:nvPr>
        </p:nvSpPr>
        <p:spPr>
          <a:xfrm>
            <a:off x="1080252" y="1252619"/>
            <a:ext cx="5615397" cy="763455"/>
          </a:xfrm>
        </p:spPr>
        <p:txBody>
          <a:bodyPr>
            <a:normAutofit/>
          </a:bodyPr>
          <a:lstStyle/>
          <a:p>
            <a:pPr algn="l"/>
            <a:r>
              <a:rPr lang="en-US" sz="2400" b="1" dirty="0" err="1"/>
              <a:t>Métrica</a:t>
            </a:r>
            <a:r>
              <a:rPr lang="en-US" sz="2400" b="1" dirty="0"/>
              <a:t> de </a:t>
            </a:r>
            <a:r>
              <a:rPr lang="en-US" sz="2400" b="1" dirty="0" err="1"/>
              <a:t>evaluación</a:t>
            </a:r>
            <a:endParaRPr lang="es-ES" sz="2400" b="1" dirty="0"/>
          </a:p>
        </p:txBody>
      </p:sp>
      <p:sp>
        <p:nvSpPr>
          <p:cNvPr id="11" name="CuadroTexto 10"/>
          <p:cNvSpPr txBox="1"/>
          <p:nvPr/>
        </p:nvSpPr>
        <p:spPr>
          <a:xfrm>
            <a:off x="711952" y="2006600"/>
            <a:ext cx="2247148" cy="369332"/>
          </a:xfrm>
          <a:prstGeom prst="rect">
            <a:avLst/>
          </a:prstGeom>
          <a:noFill/>
        </p:spPr>
        <p:txBody>
          <a:bodyPr wrap="square" rtlCol="0">
            <a:spAutoFit/>
          </a:bodyPr>
          <a:lstStyle/>
          <a:p>
            <a:r>
              <a:rPr lang="en-US" b="1" dirty="0" err="1">
                <a:solidFill>
                  <a:schemeClr val="bg1"/>
                </a:solidFill>
              </a:rPr>
              <a:t>Método</a:t>
            </a:r>
            <a:r>
              <a:rPr lang="en-US" b="1" dirty="0">
                <a:solidFill>
                  <a:schemeClr val="bg1"/>
                </a:solidFill>
              </a:rPr>
              <a:t> Elbow</a:t>
            </a:r>
          </a:p>
        </p:txBody>
      </p:sp>
      <p:sp>
        <p:nvSpPr>
          <p:cNvPr id="17" name="Elipse 16">
            <a:extLst>
              <a:ext uri="{FF2B5EF4-FFF2-40B4-BE49-F238E27FC236}">
                <a16:creationId xmlns:a16="http://schemas.microsoft.com/office/drawing/2014/main" id="{4C895008-DD69-4939-9786-6D53321E7202}"/>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9" name="Imagen 18">
            <a:extLst>
              <a:ext uri="{FF2B5EF4-FFF2-40B4-BE49-F238E27FC236}">
                <a16:creationId xmlns:a16="http://schemas.microsoft.com/office/drawing/2014/main" id="{E2C79CC8-E2D7-472B-AF64-1770280084A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22" name="Conector recto 21">
            <a:extLst>
              <a:ext uri="{FF2B5EF4-FFF2-40B4-BE49-F238E27FC236}">
                <a16:creationId xmlns:a16="http://schemas.microsoft.com/office/drawing/2014/main" id="{E0E65C2C-9402-49EB-9A7A-0F04CFA66754}"/>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pic>
        <p:nvPicPr>
          <p:cNvPr id="2" name="Picture 2" descr="K-Means Clustering">
            <a:extLst>
              <a:ext uri="{FF2B5EF4-FFF2-40B4-BE49-F238E27FC236}">
                <a16:creationId xmlns:a16="http://schemas.microsoft.com/office/drawing/2014/main" id="{F6187FC6-F2CB-4B1A-B929-9891558455ED}"/>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335048" y="3329351"/>
            <a:ext cx="8557846" cy="25123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65017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F72B40EF-D53A-41AA-87B6-B9F74BA43E09}" type="slidenum">
              <a:rPr lang="es-ES" smtClean="0"/>
              <a:t>29</a:t>
            </a:fld>
            <a:endParaRPr lang="es-ES"/>
          </a:p>
        </p:txBody>
      </p:sp>
      <p:sp>
        <p:nvSpPr>
          <p:cNvPr id="12" name="Rectángulo 11"/>
          <p:cNvSpPr/>
          <p:nvPr/>
        </p:nvSpPr>
        <p:spPr>
          <a:xfrm>
            <a:off x="406362" y="2541786"/>
            <a:ext cx="8293137" cy="584775"/>
          </a:xfrm>
          <a:prstGeom prst="rect">
            <a:avLst/>
          </a:prstGeom>
        </p:spPr>
        <p:txBody>
          <a:bodyPr wrap="square">
            <a:spAutoFit/>
          </a:bodyPr>
          <a:lstStyle/>
          <a:p>
            <a:pPr marL="285750" indent="-285750">
              <a:buFont typeface="Arial" panose="020B0604020202020204" pitchFamily="34" charset="0"/>
              <a:buChar char="•"/>
            </a:pPr>
            <a:r>
              <a:rPr lang="en-US" sz="1600" dirty="0" err="1"/>
              <a:t>Esta</a:t>
            </a:r>
            <a:r>
              <a:rPr lang="en-US" sz="1600" dirty="0"/>
              <a:t> </a:t>
            </a:r>
            <a:r>
              <a:rPr lang="en-US" sz="1600" dirty="0" err="1"/>
              <a:t>métrica</a:t>
            </a:r>
            <a:r>
              <a:rPr lang="en-US" sz="1600" dirty="0"/>
              <a:t> de </a:t>
            </a:r>
            <a:r>
              <a:rPr lang="en-US" sz="1600" dirty="0" err="1"/>
              <a:t>evaluación</a:t>
            </a:r>
            <a:r>
              <a:rPr lang="en-US" sz="1600" dirty="0"/>
              <a:t> </a:t>
            </a:r>
            <a:r>
              <a:rPr lang="en-US" sz="1600" dirty="0" err="1"/>
              <a:t>puede</a:t>
            </a:r>
            <a:r>
              <a:rPr lang="en-US" sz="1600" dirty="0"/>
              <a:t> </a:t>
            </a:r>
            <a:r>
              <a:rPr lang="en-US" sz="1600" dirty="0" err="1"/>
              <a:t>utilizarse</a:t>
            </a:r>
            <a:r>
              <a:rPr lang="en-US" sz="1600" dirty="0"/>
              <a:t> para </a:t>
            </a:r>
            <a:r>
              <a:rPr lang="en-US" sz="1600" dirty="0" err="1"/>
              <a:t>determinar</a:t>
            </a:r>
            <a:r>
              <a:rPr lang="en-US" sz="1600" dirty="0"/>
              <a:t> el </a:t>
            </a:r>
            <a:r>
              <a:rPr lang="en-US" sz="1600" dirty="0" err="1"/>
              <a:t>grado</a:t>
            </a:r>
            <a:r>
              <a:rPr lang="en-US" sz="1600" dirty="0"/>
              <a:t> de </a:t>
            </a:r>
            <a:r>
              <a:rPr lang="en-US" sz="1600" dirty="0" err="1"/>
              <a:t>separación</a:t>
            </a:r>
            <a:r>
              <a:rPr lang="en-US" sz="1600" dirty="0"/>
              <a:t> entre </a:t>
            </a:r>
            <a:r>
              <a:rPr lang="en-US" sz="1600" dirty="0" err="1"/>
              <a:t>los</a:t>
            </a:r>
            <a:r>
              <a:rPr lang="en-US" sz="1600" dirty="0"/>
              <a:t> clusters/</a:t>
            </a:r>
            <a:r>
              <a:rPr lang="en-US" sz="1600" dirty="0" err="1"/>
              <a:t>grupos</a:t>
            </a:r>
            <a:r>
              <a:rPr lang="en-US" sz="1600" dirty="0"/>
              <a:t>. </a:t>
            </a:r>
          </a:p>
        </p:txBody>
      </p:sp>
      <p:sp>
        <p:nvSpPr>
          <p:cNvPr id="13" name="Rectángulo redondeado 12"/>
          <p:cNvSpPr/>
          <p:nvPr/>
        </p:nvSpPr>
        <p:spPr>
          <a:xfrm>
            <a:off x="406363" y="2027763"/>
            <a:ext cx="8293137" cy="352476"/>
          </a:xfrm>
          <a:prstGeom prst="roundRect">
            <a:avLst/>
          </a:prstGeom>
          <a:solidFill>
            <a:srgbClr val="006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p:cNvSpPr/>
          <p:nvPr/>
        </p:nvSpPr>
        <p:spPr>
          <a:xfrm>
            <a:off x="748470" y="2004098"/>
            <a:ext cx="2283702" cy="369332"/>
          </a:xfrm>
          <a:prstGeom prst="rect">
            <a:avLst/>
          </a:prstGeom>
        </p:spPr>
        <p:txBody>
          <a:bodyPr wrap="none">
            <a:spAutoFit/>
          </a:bodyPr>
          <a:lstStyle/>
          <a:p>
            <a:r>
              <a:rPr lang="en-US" b="1" dirty="0" err="1">
                <a:solidFill>
                  <a:schemeClr val="bg1"/>
                </a:solidFill>
              </a:rPr>
              <a:t>Coeficiente</a:t>
            </a:r>
            <a:r>
              <a:rPr lang="en-US" b="1" dirty="0">
                <a:solidFill>
                  <a:schemeClr val="bg1"/>
                </a:solidFill>
              </a:rPr>
              <a:t> Silhouette</a:t>
            </a:r>
          </a:p>
        </p:txBody>
      </p:sp>
      <p:sp>
        <p:nvSpPr>
          <p:cNvPr id="16" name="Rectángulo 15"/>
          <p:cNvSpPr/>
          <p:nvPr/>
        </p:nvSpPr>
        <p:spPr>
          <a:xfrm>
            <a:off x="605122" y="3251678"/>
            <a:ext cx="5042643" cy="1077218"/>
          </a:xfrm>
          <a:prstGeom prst="rect">
            <a:avLst/>
          </a:prstGeom>
        </p:spPr>
        <p:txBody>
          <a:bodyPr wrap="square">
            <a:spAutoFit/>
          </a:bodyPr>
          <a:lstStyle/>
          <a:p>
            <a:r>
              <a:rPr lang="es-ES" sz="1600" b="1" dirty="0"/>
              <a:t>a(i)</a:t>
            </a:r>
            <a:r>
              <a:rPr lang="es-ES" sz="1600" dirty="0"/>
              <a:t> es la distancia promedio de todos los puntos de datos en el mismo cúmulo</a:t>
            </a:r>
          </a:p>
          <a:p>
            <a:r>
              <a:rPr lang="es-ES" sz="1600" b="1" dirty="0"/>
              <a:t>b(i) </a:t>
            </a:r>
            <a:r>
              <a:rPr lang="es-ES" sz="1600" dirty="0"/>
              <a:t>es la distancia promedio de todos los puntos de datos en el cúmulo más cercano.</a:t>
            </a:r>
          </a:p>
        </p:txBody>
      </p:sp>
      <p:sp>
        <p:nvSpPr>
          <p:cNvPr id="17" name="Rectángulo 16"/>
          <p:cNvSpPr/>
          <p:nvPr/>
        </p:nvSpPr>
        <p:spPr>
          <a:xfrm>
            <a:off x="447457" y="4987681"/>
            <a:ext cx="5648529" cy="1077218"/>
          </a:xfrm>
          <a:prstGeom prst="rect">
            <a:avLst/>
          </a:prstGeom>
        </p:spPr>
        <p:txBody>
          <a:bodyPr wrap="square">
            <a:spAutoFit/>
          </a:bodyPr>
          <a:lstStyle/>
          <a:p>
            <a:pPr marL="285750" indent="-285750">
              <a:buFont typeface="Arial" panose="020B0604020202020204" pitchFamily="34" charset="0"/>
              <a:buChar char="•"/>
            </a:pPr>
            <a:r>
              <a:rPr lang="en-US" sz="1600" dirty="0"/>
              <a:t>El </a:t>
            </a:r>
            <a:r>
              <a:rPr lang="en-US" sz="1600" dirty="0" err="1"/>
              <a:t>coeficiente</a:t>
            </a:r>
            <a:r>
              <a:rPr lang="en-US" sz="1600" dirty="0"/>
              <a:t> </a:t>
            </a:r>
            <a:r>
              <a:rPr lang="en-US" sz="1600" dirty="0" err="1"/>
              <a:t>puede</a:t>
            </a:r>
            <a:r>
              <a:rPr lang="en-US" sz="1600" dirty="0"/>
              <a:t> </a:t>
            </a:r>
            <a:r>
              <a:rPr lang="en-US" sz="1600" dirty="0" err="1"/>
              <a:t>tomar</a:t>
            </a:r>
            <a:r>
              <a:rPr lang="en-US" sz="1600" dirty="0"/>
              <a:t> </a:t>
            </a:r>
            <a:r>
              <a:rPr lang="en-US" sz="1600" dirty="0" err="1"/>
              <a:t>valores</a:t>
            </a:r>
            <a:r>
              <a:rPr lang="en-US" sz="1600" dirty="0"/>
              <a:t> </a:t>
            </a:r>
            <a:r>
              <a:rPr lang="en-US" sz="1600" dirty="0" err="1"/>
              <a:t>en</a:t>
            </a:r>
            <a:r>
              <a:rPr lang="en-US" sz="1600" dirty="0"/>
              <a:t> el </a:t>
            </a:r>
            <a:r>
              <a:rPr lang="en-US" sz="1600" dirty="0" err="1"/>
              <a:t>intervalo</a:t>
            </a:r>
            <a:r>
              <a:rPr lang="en-US" sz="1600" dirty="0"/>
              <a:t> [-1, 1].</a:t>
            </a:r>
          </a:p>
          <a:p>
            <a:pPr lvl="1"/>
            <a:r>
              <a:rPr lang="en-US" sz="1600" b="1" dirty="0"/>
              <a:t>0</a:t>
            </a:r>
            <a:r>
              <a:rPr lang="en-US" sz="1600" dirty="0"/>
              <a:t>: la </a:t>
            </a:r>
            <a:r>
              <a:rPr lang="en-US" sz="1600" dirty="0" err="1"/>
              <a:t>muestra</a:t>
            </a:r>
            <a:r>
              <a:rPr lang="en-US" sz="1600" dirty="0"/>
              <a:t> </a:t>
            </a:r>
            <a:r>
              <a:rPr lang="en-US" sz="1600" dirty="0" err="1"/>
              <a:t>está</a:t>
            </a:r>
            <a:r>
              <a:rPr lang="en-US" sz="1600" dirty="0"/>
              <a:t> </a:t>
            </a:r>
            <a:r>
              <a:rPr lang="en-US" sz="1600" dirty="0" err="1"/>
              <a:t>muy</a:t>
            </a:r>
            <a:r>
              <a:rPr lang="en-US" sz="1600" dirty="0"/>
              <a:t> </a:t>
            </a:r>
            <a:r>
              <a:rPr lang="en-US" sz="1600" dirty="0" err="1"/>
              <a:t>cerca</a:t>
            </a:r>
            <a:r>
              <a:rPr lang="en-US" sz="1600" dirty="0"/>
              <a:t> de </a:t>
            </a:r>
            <a:r>
              <a:rPr lang="en-US" sz="1600" dirty="0" err="1"/>
              <a:t>los</a:t>
            </a:r>
            <a:r>
              <a:rPr lang="en-US" sz="1600" dirty="0"/>
              <a:t> clusters </a:t>
            </a:r>
            <a:r>
              <a:rPr lang="en-US" sz="1600" dirty="0" err="1"/>
              <a:t>vecinos</a:t>
            </a:r>
            <a:r>
              <a:rPr lang="en-US" sz="1600" dirty="0"/>
              <a:t>.</a:t>
            </a:r>
          </a:p>
          <a:p>
            <a:pPr lvl="1"/>
            <a:r>
              <a:rPr lang="en-US" sz="1600" b="1" dirty="0"/>
              <a:t>1</a:t>
            </a:r>
            <a:r>
              <a:rPr lang="en-US" sz="1600" dirty="0"/>
              <a:t>: la </a:t>
            </a:r>
            <a:r>
              <a:rPr lang="en-US" sz="1600" dirty="0" err="1"/>
              <a:t>muestra</a:t>
            </a:r>
            <a:r>
              <a:rPr lang="en-US" sz="1600" dirty="0"/>
              <a:t> </a:t>
            </a:r>
            <a:r>
              <a:rPr lang="en-US" sz="1600" dirty="0" err="1"/>
              <a:t>está</a:t>
            </a:r>
            <a:r>
              <a:rPr lang="en-US" sz="1600" dirty="0"/>
              <a:t> </a:t>
            </a:r>
            <a:r>
              <a:rPr lang="en-US" sz="1600" dirty="0" err="1"/>
              <a:t>muy</a:t>
            </a:r>
            <a:r>
              <a:rPr lang="en-US" sz="1600" dirty="0"/>
              <a:t> </a:t>
            </a:r>
            <a:r>
              <a:rPr lang="en-US" sz="1600" dirty="0" err="1"/>
              <a:t>lejos</a:t>
            </a:r>
            <a:r>
              <a:rPr lang="en-US" sz="1600" dirty="0"/>
              <a:t> de </a:t>
            </a:r>
            <a:r>
              <a:rPr lang="en-US" sz="1600" dirty="0" err="1"/>
              <a:t>los</a:t>
            </a:r>
            <a:r>
              <a:rPr lang="en-US" sz="1600" dirty="0"/>
              <a:t> clusters </a:t>
            </a:r>
            <a:r>
              <a:rPr lang="en-US" sz="1600" dirty="0" err="1"/>
              <a:t>vecinos</a:t>
            </a:r>
            <a:r>
              <a:rPr lang="en-US" sz="1600" dirty="0"/>
              <a:t>.</a:t>
            </a:r>
          </a:p>
          <a:p>
            <a:pPr lvl="1"/>
            <a:r>
              <a:rPr lang="en-US" sz="1600" b="1" dirty="0"/>
              <a:t>-1</a:t>
            </a:r>
            <a:r>
              <a:rPr lang="en-US" sz="1600" dirty="0"/>
              <a:t>: la </a:t>
            </a:r>
            <a:r>
              <a:rPr lang="en-US" sz="1600" dirty="0" err="1"/>
              <a:t>muestra</a:t>
            </a:r>
            <a:r>
              <a:rPr lang="en-US" sz="1600" dirty="0"/>
              <a:t> </a:t>
            </a:r>
            <a:r>
              <a:rPr lang="en-US" sz="1600" dirty="0" err="1"/>
              <a:t>está</a:t>
            </a:r>
            <a:r>
              <a:rPr lang="en-US" sz="1600" dirty="0"/>
              <a:t> </a:t>
            </a:r>
            <a:r>
              <a:rPr lang="en-US" sz="1600" dirty="0" err="1"/>
              <a:t>asignada</a:t>
            </a:r>
            <a:r>
              <a:rPr lang="en-US" sz="1600" dirty="0"/>
              <a:t> a </a:t>
            </a:r>
            <a:r>
              <a:rPr lang="en-US" sz="1600" dirty="0" err="1"/>
              <a:t>los</a:t>
            </a:r>
            <a:r>
              <a:rPr lang="en-US" sz="1600" dirty="0"/>
              <a:t> clusters </a:t>
            </a:r>
            <a:r>
              <a:rPr lang="en-US" sz="1600" dirty="0" err="1"/>
              <a:t>equivocados</a:t>
            </a:r>
            <a:r>
              <a:rPr lang="en-US" sz="1600" dirty="0"/>
              <a:t>.</a:t>
            </a:r>
          </a:p>
        </p:txBody>
      </p:sp>
      <p:pic>
        <p:nvPicPr>
          <p:cNvPr id="19" name="Imagen 18"/>
          <p:cNvPicPr>
            <a:picLocks noChangeAspect="1"/>
          </p:cNvPicPr>
          <p:nvPr/>
        </p:nvPicPr>
        <p:blipFill rotWithShape="1">
          <a:blip r:embed="rId2"/>
          <a:srcRect b="8739"/>
          <a:stretch/>
        </p:blipFill>
        <p:spPr>
          <a:xfrm>
            <a:off x="2706391" y="4328897"/>
            <a:ext cx="1622281" cy="533668"/>
          </a:xfrm>
          <a:prstGeom prst="rect">
            <a:avLst/>
          </a:prstGeom>
        </p:spPr>
      </p:pic>
      <p:sp>
        <p:nvSpPr>
          <p:cNvPr id="18" name="Título 1">
            <a:extLst>
              <a:ext uri="{FF2B5EF4-FFF2-40B4-BE49-F238E27FC236}">
                <a16:creationId xmlns:a16="http://schemas.microsoft.com/office/drawing/2014/main" id="{32F45CB2-A67B-49C0-A3A6-45A3A52E8927}"/>
              </a:ext>
            </a:extLst>
          </p:cNvPr>
          <p:cNvSpPr>
            <a:spLocks noGrp="1"/>
          </p:cNvSpPr>
          <p:nvPr>
            <p:ph type="title"/>
          </p:nvPr>
        </p:nvSpPr>
        <p:spPr>
          <a:xfrm>
            <a:off x="1080252" y="1252619"/>
            <a:ext cx="5615397" cy="763455"/>
          </a:xfrm>
        </p:spPr>
        <p:txBody>
          <a:bodyPr>
            <a:normAutofit/>
          </a:bodyPr>
          <a:lstStyle/>
          <a:p>
            <a:pPr algn="l"/>
            <a:r>
              <a:rPr lang="en-US" sz="2400" b="1" dirty="0" err="1"/>
              <a:t>Métrica</a:t>
            </a:r>
            <a:r>
              <a:rPr lang="en-US" sz="2400" b="1" dirty="0"/>
              <a:t> de </a:t>
            </a:r>
            <a:r>
              <a:rPr lang="en-US" sz="2400" b="1" dirty="0" err="1"/>
              <a:t>evaluación</a:t>
            </a:r>
            <a:endParaRPr lang="es-ES" sz="2400" b="1" dirty="0"/>
          </a:p>
        </p:txBody>
      </p:sp>
      <p:sp>
        <p:nvSpPr>
          <p:cNvPr id="20" name="Elipse 19">
            <a:extLst>
              <a:ext uri="{FF2B5EF4-FFF2-40B4-BE49-F238E27FC236}">
                <a16:creationId xmlns:a16="http://schemas.microsoft.com/office/drawing/2014/main" id="{49FE57AE-EAD8-4FC7-BE52-5C9B459D71E1}"/>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1" name="Imagen 20">
            <a:extLst>
              <a:ext uri="{FF2B5EF4-FFF2-40B4-BE49-F238E27FC236}">
                <a16:creationId xmlns:a16="http://schemas.microsoft.com/office/drawing/2014/main" id="{57805E90-19B2-4841-8E56-4DC5C22955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22" name="Conector recto 21">
            <a:extLst>
              <a:ext uri="{FF2B5EF4-FFF2-40B4-BE49-F238E27FC236}">
                <a16:creationId xmlns:a16="http://schemas.microsoft.com/office/drawing/2014/main" id="{0E937E2F-F380-409F-AC9F-114AC762B33A}"/>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pic>
        <p:nvPicPr>
          <p:cNvPr id="14" name="Imagen 1">
            <a:extLst>
              <a:ext uri="{FF2B5EF4-FFF2-40B4-BE49-F238E27FC236}">
                <a16:creationId xmlns:a16="http://schemas.microsoft.com/office/drawing/2014/main" id="{11FC267E-FE5D-41B7-8CEF-A873E31E82A5}"/>
              </a:ext>
            </a:extLst>
          </p:cNvPr>
          <p:cNvPicPr>
            <a:picLocks noChangeAspect="1"/>
          </p:cNvPicPr>
          <p:nvPr/>
        </p:nvPicPr>
        <p:blipFill rotWithShape="1">
          <a:blip r:embed="rId4"/>
          <a:srcRect b="43475"/>
          <a:stretch/>
        </p:blipFill>
        <p:spPr>
          <a:xfrm>
            <a:off x="5725555" y="3251678"/>
            <a:ext cx="3277265" cy="2261165"/>
          </a:xfrm>
          <a:prstGeom prst="rect">
            <a:avLst/>
          </a:prstGeom>
        </p:spPr>
      </p:pic>
    </p:spTree>
    <p:extLst>
      <p:ext uri="{BB962C8B-B14F-4D97-AF65-F5344CB8AC3E}">
        <p14:creationId xmlns:p14="http://schemas.microsoft.com/office/powerpoint/2010/main" val="18980201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F72B40EF-D53A-41AA-87B6-B9F74BA43E09}" type="slidenum">
              <a:rPr lang="es-ES" smtClean="0"/>
              <a:t>30</a:t>
            </a:fld>
            <a:endParaRPr lang="es-ES"/>
          </a:p>
        </p:txBody>
      </p:sp>
      <p:pic>
        <p:nvPicPr>
          <p:cNvPr id="12" name="Imagen 11"/>
          <p:cNvPicPr>
            <a:picLocks noChangeAspect="1"/>
          </p:cNvPicPr>
          <p:nvPr/>
        </p:nvPicPr>
        <p:blipFill rotWithShape="1">
          <a:blip r:embed="rId3"/>
          <a:srcRect b="13066"/>
          <a:stretch/>
        </p:blipFill>
        <p:spPr>
          <a:xfrm>
            <a:off x="2142478" y="3124909"/>
            <a:ext cx="4553171" cy="3099847"/>
          </a:xfrm>
          <a:prstGeom prst="rect">
            <a:avLst/>
          </a:prstGeom>
        </p:spPr>
      </p:pic>
      <p:sp>
        <p:nvSpPr>
          <p:cNvPr id="13" name="Elipse 12"/>
          <p:cNvSpPr/>
          <p:nvPr/>
        </p:nvSpPr>
        <p:spPr>
          <a:xfrm>
            <a:off x="4219220" y="5770145"/>
            <a:ext cx="333711" cy="313074"/>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uadroTexto 13"/>
          <p:cNvSpPr txBox="1"/>
          <p:nvPr/>
        </p:nvSpPr>
        <p:spPr>
          <a:xfrm>
            <a:off x="3038503" y="6224756"/>
            <a:ext cx="4456948" cy="369332"/>
          </a:xfrm>
          <a:prstGeom prst="rect">
            <a:avLst/>
          </a:prstGeom>
          <a:noFill/>
        </p:spPr>
        <p:txBody>
          <a:bodyPr wrap="square" rtlCol="0">
            <a:spAutoFit/>
          </a:bodyPr>
          <a:lstStyle/>
          <a:p>
            <a:r>
              <a:rPr lang="en-US" dirty="0" err="1"/>
              <a:t>Número</a:t>
            </a:r>
            <a:r>
              <a:rPr lang="en-US" dirty="0"/>
              <a:t> </a:t>
            </a:r>
            <a:r>
              <a:rPr lang="en-US" dirty="0" err="1"/>
              <a:t>óptimo</a:t>
            </a:r>
            <a:r>
              <a:rPr lang="en-US" dirty="0"/>
              <a:t> de clusters: </a:t>
            </a:r>
            <a:r>
              <a:rPr lang="en-US" b="1" dirty="0">
                <a:solidFill>
                  <a:srgbClr val="00B050"/>
                </a:solidFill>
              </a:rPr>
              <a:t>k=5</a:t>
            </a:r>
          </a:p>
        </p:txBody>
      </p:sp>
      <p:sp>
        <p:nvSpPr>
          <p:cNvPr id="15" name="Rectángulo 14"/>
          <p:cNvSpPr/>
          <p:nvPr/>
        </p:nvSpPr>
        <p:spPr>
          <a:xfrm>
            <a:off x="406362" y="2443136"/>
            <a:ext cx="8293137" cy="646331"/>
          </a:xfrm>
          <a:prstGeom prst="rect">
            <a:avLst/>
          </a:prstGeom>
        </p:spPr>
        <p:txBody>
          <a:bodyPr wrap="square">
            <a:spAutoFit/>
          </a:bodyPr>
          <a:lstStyle/>
          <a:p>
            <a:pPr marL="285750" indent="-285750">
              <a:buFont typeface="Arial" panose="020B0604020202020204" pitchFamily="34" charset="0"/>
              <a:buChar char="•"/>
            </a:pPr>
            <a:r>
              <a:rPr lang="en-US" dirty="0" err="1"/>
              <a:t>Queremos</a:t>
            </a:r>
            <a:r>
              <a:rPr lang="en-US" dirty="0"/>
              <a:t> que </a:t>
            </a:r>
            <a:r>
              <a:rPr lang="en-US" dirty="0" err="1"/>
              <a:t>los</a:t>
            </a:r>
            <a:r>
              <a:rPr lang="en-US" dirty="0"/>
              <a:t> </a:t>
            </a:r>
            <a:r>
              <a:rPr lang="en-US" dirty="0" err="1"/>
              <a:t>coeficientes</a:t>
            </a:r>
            <a:r>
              <a:rPr lang="en-US" dirty="0"/>
              <a:t> </a:t>
            </a:r>
            <a:r>
              <a:rPr lang="en-US" dirty="0" err="1"/>
              <a:t>sean</a:t>
            </a:r>
            <a:r>
              <a:rPr lang="en-US" dirty="0"/>
              <a:t> lo </a:t>
            </a:r>
            <a:r>
              <a:rPr lang="en-US" dirty="0" err="1"/>
              <a:t>más</a:t>
            </a:r>
            <a:r>
              <a:rPr lang="en-US" dirty="0"/>
              <a:t> </a:t>
            </a:r>
            <a:r>
              <a:rPr lang="en-US" dirty="0" err="1"/>
              <a:t>grandes</a:t>
            </a:r>
            <a:r>
              <a:rPr lang="en-US" dirty="0"/>
              <a:t> </a:t>
            </a:r>
            <a:r>
              <a:rPr lang="en-US" dirty="0" err="1"/>
              <a:t>posibles</a:t>
            </a:r>
            <a:r>
              <a:rPr lang="en-US" dirty="0"/>
              <a:t> y que </a:t>
            </a:r>
            <a:r>
              <a:rPr lang="en-US" dirty="0" err="1"/>
              <a:t>estén</a:t>
            </a:r>
            <a:r>
              <a:rPr lang="en-US" dirty="0"/>
              <a:t> </a:t>
            </a:r>
            <a:r>
              <a:rPr lang="en-US" dirty="0" err="1"/>
              <a:t>cerca</a:t>
            </a:r>
            <a:r>
              <a:rPr lang="en-US" dirty="0"/>
              <a:t> de 1 para </a:t>
            </a:r>
            <a:r>
              <a:rPr lang="en-US" dirty="0" err="1"/>
              <a:t>tener</a:t>
            </a:r>
            <a:r>
              <a:rPr lang="en-US" dirty="0"/>
              <a:t> un </a:t>
            </a:r>
            <a:r>
              <a:rPr lang="en-US" dirty="0" err="1"/>
              <a:t>buen</a:t>
            </a:r>
            <a:r>
              <a:rPr lang="en-US" dirty="0"/>
              <a:t> cluster. </a:t>
            </a:r>
          </a:p>
        </p:txBody>
      </p:sp>
      <p:sp>
        <p:nvSpPr>
          <p:cNvPr id="16" name="Rectángulo redondeado 12">
            <a:extLst>
              <a:ext uri="{FF2B5EF4-FFF2-40B4-BE49-F238E27FC236}">
                <a16:creationId xmlns:a16="http://schemas.microsoft.com/office/drawing/2014/main" id="{F21EB489-B40A-4718-AEB8-10756DE69323}"/>
              </a:ext>
            </a:extLst>
          </p:cNvPr>
          <p:cNvSpPr/>
          <p:nvPr/>
        </p:nvSpPr>
        <p:spPr>
          <a:xfrm>
            <a:off x="406363" y="2027763"/>
            <a:ext cx="8293137" cy="352476"/>
          </a:xfrm>
          <a:prstGeom prst="roundRect">
            <a:avLst/>
          </a:prstGeom>
          <a:solidFill>
            <a:srgbClr val="006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ángulo 16">
            <a:extLst>
              <a:ext uri="{FF2B5EF4-FFF2-40B4-BE49-F238E27FC236}">
                <a16:creationId xmlns:a16="http://schemas.microsoft.com/office/drawing/2014/main" id="{270B49AD-713D-458A-B3DC-01D328BB4972}"/>
              </a:ext>
            </a:extLst>
          </p:cNvPr>
          <p:cNvSpPr/>
          <p:nvPr/>
        </p:nvSpPr>
        <p:spPr>
          <a:xfrm>
            <a:off x="748470" y="2004098"/>
            <a:ext cx="2283702" cy="369332"/>
          </a:xfrm>
          <a:prstGeom prst="rect">
            <a:avLst/>
          </a:prstGeom>
        </p:spPr>
        <p:txBody>
          <a:bodyPr wrap="none">
            <a:spAutoFit/>
          </a:bodyPr>
          <a:lstStyle/>
          <a:p>
            <a:r>
              <a:rPr lang="en-US" b="1" dirty="0" err="1">
                <a:solidFill>
                  <a:schemeClr val="bg1"/>
                </a:solidFill>
              </a:rPr>
              <a:t>Coeficiente</a:t>
            </a:r>
            <a:r>
              <a:rPr lang="en-US" b="1" dirty="0">
                <a:solidFill>
                  <a:schemeClr val="bg1"/>
                </a:solidFill>
              </a:rPr>
              <a:t> Silhouette</a:t>
            </a:r>
          </a:p>
        </p:txBody>
      </p:sp>
      <p:sp>
        <p:nvSpPr>
          <p:cNvPr id="18" name="Título 1">
            <a:extLst>
              <a:ext uri="{FF2B5EF4-FFF2-40B4-BE49-F238E27FC236}">
                <a16:creationId xmlns:a16="http://schemas.microsoft.com/office/drawing/2014/main" id="{3327A338-DF73-4704-867E-BBC516CF91C5}"/>
              </a:ext>
            </a:extLst>
          </p:cNvPr>
          <p:cNvSpPr>
            <a:spLocks noGrp="1"/>
          </p:cNvSpPr>
          <p:nvPr>
            <p:ph type="title"/>
          </p:nvPr>
        </p:nvSpPr>
        <p:spPr>
          <a:xfrm>
            <a:off x="1080252" y="1252619"/>
            <a:ext cx="5615397" cy="763455"/>
          </a:xfrm>
        </p:spPr>
        <p:txBody>
          <a:bodyPr>
            <a:normAutofit/>
          </a:bodyPr>
          <a:lstStyle/>
          <a:p>
            <a:pPr algn="l"/>
            <a:r>
              <a:rPr lang="en-US" sz="2400" b="1" dirty="0" err="1"/>
              <a:t>Métrica</a:t>
            </a:r>
            <a:r>
              <a:rPr lang="en-US" sz="2400" b="1" dirty="0"/>
              <a:t> de </a:t>
            </a:r>
            <a:r>
              <a:rPr lang="en-US" sz="2400" b="1" dirty="0" err="1"/>
              <a:t>evaluación</a:t>
            </a:r>
            <a:endParaRPr lang="es-ES" sz="2400" b="1" dirty="0"/>
          </a:p>
        </p:txBody>
      </p:sp>
      <p:sp>
        <p:nvSpPr>
          <p:cNvPr id="19" name="Elipse 18">
            <a:extLst>
              <a:ext uri="{FF2B5EF4-FFF2-40B4-BE49-F238E27FC236}">
                <a16:creationId xmlns:a16="http://schemas.microsoft.com/office/drawing/2014/main" id="{E40CB3E1-10A0-4421-95A9-81F80D1E24A1}"/>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0" name="Imagen 19">
            <a:extLst>
              <a:ext uri="{FF2B5EF4-FFF2-40B4-BE49-F238E27FC236}">
                <a16:creationId xmlns:a16="http://schemas.microsoft.com/office/drawing/2014/main" id="{CC4442AA-EA65-4502-8344-F5A7E888ADA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21" name="Conector recto 20">
            <a:extLst>
              <a:ext uri="{FF2B5EF4-FFF2-40B4-BE49-F238E27FC236}">
                <a16:creationId xmlns:a16="http://schemas.microsoft.com/office/drawing/2014/main" id="{AD27C0D2-308D-4609-9AF7-B8FE520B16D5}"/>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31815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F72B40EF-D53A-41AA-87B6-B9F74BA43E09}" type="slidenum">
              <a:rPr lang="es-ES" smtClean="0"/>
              <a:t>31</a:t>
            </a:fld>
            <a:endParaRPr lang="es-ES"/>
          </a:p>
        </p:txBody>
      </p:sp>
      <p:sp>
        <p:nvSpPr>
          <p:cNvPr id="3" name="CuadroTexto 2"/>
          <p:cNvSpPr txBox="1"/>
          <p:nvPr/>
        </p:nvSpPr>
        <p:spPr>
          <a:xfrm>
            <a:off x="699944" y="2247071"/>
            <a:ext cx="8291655" cy="2805063"/>
          </a:xfrm>
          <a:prstGeom prst="rect">
            <a:avLst/>
          </a:prstGeom>
          <a:noFill/>
        </p:spPr>
        <p:txBody>
          <a:bodyPr wrap="square" rtlCol="0">
            <a:spAutoFit/>
          </a:bodyPr>
          <a:lstStyle/>
          <a:p>
            <a:pPr>
              <a:lnSpc>
                <a:spcPct val="150000"/>
              </a:lnSpc>
            </a:pPr>
            <a:r>
              <a:rPr lang="en-US" sz="2400" dirty="0" err="1">
                <a:solidFill>
                  <a:schemeClr val="bg1">
                    <a:lumMod val="75000"/>
                  </a:schemeClr>
                </a:solidFill>
                <a:latin typeface="+mj-lt"/>
              </a:rPr>
              <a:t>Diferenciar</a:t>
            </a:r>
            <a:r>
              <a:rPr lang="en-US" sz="2400" dirty="0">
                <a:solidFill>
                  <a:schemeClr val="bg1">
                    <a:lumMod val="75000"/>
                  </a:schemeClr>
                </a:solidFill>
                <a:latin typeface="+mj-lt"/>
              </a:rPr>
              <a:t> el </a:t>
            </a:r>
            <a:r>
              <a:rPr lang="en-US" sz="2400" dirty="0" err="1">
                <a:solidFill>
                  <a:schemeClr val="bg1">
                    <a:lumMod val="75000"/>
                  </a:schemeClr>
                </a:solidFill>
                <a:latin typeface="+mj-lt"/>
              </a:rPr>
              <a:t>aprendizaje</a:t>
            </a:r>
            <a:r>
              <a:rPr lang="en-US" sz="2400" dirty="0">
                <a:solidFill>
                  <a:schemeClr val="bg1">
                    <a:lumMod val="75000"/>
                  </a:schemeClr>
                </a:solidFill>
                <a:latin typeface="+mj-lt"/>
              </a:rPr>
              <a:t> </a:t>
            </a:r>
            <a:r>
              <a:rPr lang="en-US" sz="2400" dirty="0" err="1">
                <a:solidFill>
                  <a:schemeClr val="bg1">
                    <a:lumMod val="75000"/>
                  </a:schemeClr>
                </a:solidFill>
                <a:latin typeface="+mj-lt"/>
              </a:rPr>
              <a:t>Supervisado</a:t>
            </a:r>
            <a:r>
              <a:rPr lang="en-US" sz="2400" dirty="0">
                <a:solidFill>
                  <a:schemeClr val="bg1">
                    <a:lumMod val="75000"/>
                  </a:schemeClr>
                </a:solidFill>
                <a:latin typeface="+mj-lt"/>
              </a:rPr>
              <a:t> y No </a:t>
            </a:r>
            <a:r>
              <a:rPr lang="en-US" sz="2400" dirty="0" err="1">
                <a:solidFill>
                  <a:schemeClr val="bg1">
                    <a:lumMod val="75000"/>
                  </a:schemeClr>
                </a:solidFill>
                <a:latin typeface="+mj-lt"/>
              </a:rPr>
              <a:t>Supervisado</a:t>
            </a:r>
            <a:r>
              <a:rPr lang="en-US" sz="2400" dirty="0">
                <a:solidFill>
                  <a:schemeClr val="bg1">
                    <a:lumMod val="75000"/>
                  </a:schemeClr>
                </a:solidFill>
                <a:latin typeface="+mj-lt"/>
              </a:rPr>
              <a:t>.</a:t>
            </a:r>
          </a:p>
          <a:p>
            <a:pPr>
              <a:lnSpc>
                <a:spcPct val="150000"/>
              </a:lnSpc>
            </a:pPr>
            <a:r>
              <a:rPr lang="en-US" sz="2400" dirty="0" err="1">
                <a:solidFill>
                  <a:schemeClr val="bg1">
                    <a:lumMod val="75000"/>
                  </a:schemeClr>
                </a:solidFill>
                <a:latin typeface="+mj-lt"/>
              </a:rPr>
              <a:t>Algoritmos</a:t>
            </a:r>
            <a:r>
              <a:rPr lang="en-US" sz="2400" dirty="0">
                <a:solidFill>
                  <a:schemeClr val="bg1">
                    <a:lumMod val="75000"/>
                  </a:schemeClr>
                </a:solidFill>
                <a:latin typeface="+mj-lt"/>
              </a:rPr>
              <a:t> </a:t>
            </a:r>
            <a:r>
              <a:rPr lang="en-US" sz="2400" dirty="0" err="1">
                <a:solidFill>
                  <a:schemeClr val="bg1">
                    <a:lumMod val="75000"/>
                  </a:schemeClr>
                </a:solidFill>
                <a:latin typeface="+mj-lt"/>
              </a:rPr>
              <a:t>utilizados</a:t>
            </a:r>
            <a:r>
              <a:rPr lang="en-US" sz="2400" dirty="0">
                <a:solidFill>
                  <a:schemeClr val="bg1">
                    <a:lumMod val="75000"/>
                  </a:schemeClr>
                </a:solidFill>
                <a:latin typeface="+mj-lt"/>
              </a:rPr>
              <a:t> </a:t>
            </a:r>
            <a:r>
              <a:rPr lang="en-US" sz="2400" dirty="0" err="1">
                <a:solidFill>
                  <a:schemeClr val="bg1">
                    <a:lumMod val="75000"/>
                  </a:schemeClr>
                </a:solidFill>
                <a:latin typeface="+mj-lt"/>
              </a:rPr>
              <a:t>en</a:t>
            </a:r>
            <a:r>
              <a:rPr lang="en-US" sz="2400" dirty="0">
                <a:solidFill>
                  <a:schemeClr val="bg1">
                    <a:lumMod val="75000"/>
                  </a:schemeClr>
                </a:solidFill>
                <a:latin typeface="+mj-lt"/>
              </a:rPr>
              <a:t> </a:t>
            </a:r>
            <a:r>
              <a:rPr lang="en-US" sz="2400" dirty="0" err="1">
                <a:solidFill>
                  <a:schemeClr val="bg1">
                    <a:lumMod val="75000"/>
                  </a:schemeClr>
                </a:solidFill>
                <a:latin typeface="+mj-lt"/>
              </a:rPr>
              <a:t>Aprendizaje</a:t>
            </a:r>
            <a:r>
              <a:rPr lang="en-US" sz="2400" dirty="0">
                <a:solidFill>
                  <a:schemeClr val="bg1">
                    <a:lumMod val="75000"/>
                  </a:schemeClr>
                </a:solidFill>
                <a:latin typeface="+mj-lt"/>
              </a:rPr>
              <a:t> No </a:t>
            </a:r>
            <a:r>
              <a:rPr lang="en-US" sz="2400" dirty="0" err="1">
                <a:solidFill>
                  <a:schemeClr val="bg1">
                    <a:lumMod val="75000"/>
                  </a:schemeClr>
                </a:solidFill>
                <a:latin typeface="+mj-lt"/>
              </a:rPr>
              <a:t>Supervisado</a:t>
            </a:r>
            <a:r>
              <a:rPr lang="en-US" sz="2400" dirty="0">
                <a:solidFill>
                  <a:schemeClr val="bg1">
                    <a:lumMod val="75000"/>
                  </a:schemeClr>
                </a:solidFill>
                <a:latin typeface="+mj-lt"/>
              </a:rPr>
              <a:t>.</a:t>
            </a:r>
          </a:p>
          <a:p>
            <a:pPr>
              <a:lnSpc>
                <a:spcPct val="150000"/>
              </a:lnSpc>
            </a:pPr>
            <a:r>
              <a:rPr lang="en-US" sz="2400" dirty="0" err="1">
                <a:solidFill>
                  <a:schemeClr val="bg1">
                    <a:lumMod val="75000"/>
                  </a:schemeClr>
                </a:solidFill>
                <a:latin typeface="+mj-lt"/>
              </a:rPr>
              <a:t>Métricas</a:t>
            </a:r>
            <a:r>
              <a:rPr lang="en-US" sz="2400" dirty="0">
                <a:solidFill>
                  <a:schemeClr val="bg1">
                    <a:lumMod val="75000"/>
                  </a:schemeClr>
                </a:solidFill>
                <a:latin typeface="+mj-lt"/>
              </a:rPr>
              <a:t> para </a:t>
            </a:r>
            <a:r>
              <a:rPr lang="en-US" sz="2400" dirty="0" err="1">
                <a:solidFill>
                  <a:schemeClr val="bg1">
                    <a:lumMod val="75000"/>
                  </a:schemeClr>
                </a:solidFill>
                <a:latin typeface="+mj-lt"/>
              </a:rPr>
              <a:t>encontrar</a:t>
            </a:r>
            <a:r>
              <a:rPr lang="en-US" sz="2400" dirty="0">
                <a:solidFill>
                  <a:schemeClr val="bg1">
                    <a:lumMod val="75000"/>
                  </a:schemeClr>
                </a:solidFill>
                <a:latin typeface="+mj-lt"/>
              </a:rPr>
              <a:t> el </a:t>
            </a:r>
            <a:r>
              <a:rPr lang="en-US" sz="2400" dirty="0" err="1">
                <a:solidFill>
                  <a:schemeClr val="bg1">
                    <a:lumMod val="75000"/>
                  </a:schemeClr>
                </a:solidFill>
                <a:latin typeface="+mj-lt"/>
              </a:rPr>
              <a:t>número</a:t>
            </a:r>
            <a:r>
              <a:rPr lang="en-US" sz="2400" dirty="0">
                <a:solidFill>
                  <a:schemeClr val="bg1">
                    <a:lumMod val="75000"/>
                  </a:schemeClr>
                </a:solidFill>
                <a:latin typeface="+mj-lt"/>
              </a:rPr>
              <a:t> </a:t>
            </a:r>
            <a:r>
              <a:rPr lang="en-US" sz="2400" dirty="0" err="1">
                <a:solidFill>
                  <a:schemeClr val="bg1">
                    <a:lumMod val="75000"/>
                  </a:schemeClr>
                </a:solidFill>
                <a:latin typeface="+mj-lt"/>
              </a:rPr>
              <a:t>óptimo</a:t>
            </a:r>
            <a:r>
              <a:rPr lang="en-US" sz="2400" dirty="0">
                <a:solidFill>
                  <a:schemeClr val="bg1">
                    <a:lumMod val="75000"/>
                  </a:schemeClr>
                </a:solidFill>
                <a:latin typeface="+mj-lt"/>
              </a:rPr>
              <a:t> de clusters.</a:t>
            </a:r>
          </a:p>
          <a:p>
            <a:pPr>
              <a:lnSpc>
                <a:spcPct val="150000"/>
              </a:lnSpc>
            </a:pPr>
            <a:r>
              <a:rPr lang="en-US" sz="2400" b="1" dirty="0" err="1">
                <a:solidFill>
                  <a:srgbClr val="006DA5"/>
                </a:solidFill>
              </a:rPr>
              <a:t>Aplicaciones</a:t>
            </a:r>
            <a:r>
              <a:rPr lang="en-US" sz="2400" b="1" dirty="0">
                <a:solidFill>
                  <a:srgbClr val="006DA5"/>
                </a:solidFill>
              </a:rPr>
              <a:t> del clustering.</a:t>
            </a:r>
          </a:p>
          <a:p>
            <a:pPr>
              <a:lnSpc>
                <a:spcPct val="150000"/>
              </a:lnSpc>
            </a:pPr>
            <a:r>
              <a:rPr lang="en-US" sz="2400" dirty="0" err="1">
                <a:solidFill>
                  <a:schemeClr val="bg1">
                    <a:lumMod val="75000"/>
                  </a:schemeClr>
                </a:solidFill>
              </a:rPr>
              <a:t>Reducción</a:t>
            </a:r>
            <a:r>
              <a:rPr lang="en-US" sz="2400" dirty="0">
                <a:solidFill>
                  <a:schemeClr val="bg1">
                    <a:lumMod val="75000"/>
                  </a:schemeClr>
                </a:solidFill>
              </a:rPr>
              <a:t> de </a:t>
            </a:r>
            <a:r>
              <a:rPr lang="en-US" sz="2400" dirty="0" err="1">
                <a:solidFill>
                  <a:schemeClr val="bg1">
                    <a:lumMod val="75000"/>
                  </a:schemeClr>
                </a:solidFill>
              </a:rPr>
              <a:t>dimensiones</a:t>
            </a:r>
            <a:r>
              <a:rPr lang="en-US" sz="2400" dirty="0">
                <a:solidFill>
                  <a:schemeClr val="bg1">
                    <a:lumMod val="75000"/>
                  </a:schemeClr>
                </a:solidFill>
              </a:rPr>
              <a:t>.</a:t>
            </a:r>
          </a:p>
        </p:txBody>
      </p:sp>
    </p:spTree>
    <p:extLst>
      <p:ext uri="{BB962C8B-B14F-4D97-AF65-F5344CB8AC3E}">
        <p14:creationId xmlns:p14="http://schemas.microsoft.com/office/powerpoint/2010/main" val="36986210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ángulo redondeado 23"/>
          <p:cNvSpPr/>
          <p:nvPr/>
        </p:nvSpPr>
        <p:spPr>
          <a:xfrm>
            <a:off x="1080252" y="2014284"/>
            <a:ext cx="4291848" cy="461665"/>
          </a:xfrm>
          <a:prstGeom prst="roundRect">
            <a:avLst/>
          </a:prstGeom>
          <a:solidFill>
            <a:srgbClr val="006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Marcador de número de diapositiva 3"/>
          <p:cNvSpPr>
            <a:spLocks noGrp="1"/>
          </p:cNvSpPr>
          <p:nvPr>
            <p:ph type="sldNum" sz="quarter" idx="12"/>
          </p:nvPr>
        </p:nvSpPr>
        <p:spPr/>
        <p:txBody>
          <a:bodyPr/>
          <a:lstStyle/>
          <a:p>
            <a:fld id="{F72B40EF-D53A-41AA-87B6-B9F74BA43E09}" type="slidenum">
              <a:rPr lang="es-ES" smtClean="0"/>
              <a:t>32</a:t>
            </a:fld>
            <a:endParaRPr lang="es-ES" dirty="0"/>
          </a:p>
        </p:txBody>
      </p:sp>
      <p:sp>
        <p:nvSpPr>
          <p:cNvPr id="8" name="Marcador de número de diapositiva 3"/>
          <p:cNvSpPr txBox="1">
            <a:spLocks/>
          </p:cNvSpPr>
          <p:nvPr/>
        </p:nvSpPr>
        <p:spPr>
          <a:xfrm>
            <a:off x="6457950" y="6356355"/>
            <a:ext cx="2057400" cy="365125"/>
          </a:xfrm>
          <a:prstGeom prst="rect">
            <a:avLst/>
          </a:prstGeom>
        </p:spPr>
        <p:txBody>
          <a:bodyPr vert="horz" lIns="91440" tIns="45720" rIns="91440" bIns="45720" rtlCol="0" anchor="ctr"/>
          <a:lstStyle>
            <a:defPPr>
              <a:defRPr lang="es-E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s-ES" dirty="0"/>
          </a:p>
        </p:txBody>
      </p:sp>
      <p:sp>
        <p:nvSpPr>
          <p:cNvPr id="9" name="Rectángulo 8"/>
          <p:cNvSpPr/>
          <p:nvPr/>
        </p:nvSpPr>
        <p:spPr>
          <a:xfrm>
            <a:off x="1080252" y="2047005"/>
            <a:ext cx="8334104" cy="369332"/>
          </a:xfrm>
          <a:prstGeom prst="rect">
            <a:avLst/>
          </a:prstGeom>
        </p:spPr>
        <p:txBody>
          <a:bodyPr wrap="square">
            <a:spAutoFit/>
          </a:bodyPr>
          <a:lstStyle/>
          <a:p>
            <a:r>
              <a:rPr lang="en-US" b="1" dirty="0" err="1">
                <a:solidFill>
                  <a:schemeClr val="bg1"/>
                </a:solidFill>
                <a:latin typeface="Malgun Gothic" panose="020B0503020000020004" pitchFamily="34" charset="-127"/>
                <a:ea typeface="Malgun Gothic" panose="020B0503020000020004" pitchFamily="34" charset="-127"/>
              </a:rPr>
              <a:t>Márketing</a:t>
            </a:r>
            <a:r>
              <a:rPr lang="en-US" b="1" dirty="0">
                <a:solidFill>
                  <a:schemeClr val="bg1"/>
                </a:solidFill>
                <a:latin typeface="Malgun Gothic" panose="020B0503020000020004" pitchFamily="34" charset="-127"/>
                <a:ea typeface="Malgun Gothic" panose="020B0503020000020004" pitchFamily="34" charset="-127"/>
              </a:rPr>
              <a:t>: </a:t>
            </a:r>
            <a:r>
              <a:rPr lang="en-US" dirty="0" err="1">
                <a:solidFill>
                  <a:schemeClr val="bg1"/>
                </a:solidFill>
                <a:latin typeface="Malgun Gothic" panose="020B0503020000020004" pitchFamily="34" charset="-127"/>
                <a:ea typeface="Malgun Gothic" panose="020B0503020000020004" pitchFamily="34" charset="-127"/>
              </a:rPr>
              <a:t>Segmentación</a:t>
            </a:r>
            <a:r>
              <a:rPr lang="en-US" dirty="0">
                <a:solidFill>
                  <a:schemeClr val="bg1"/>
                </a:solidFill>
                <a:latin typeface="Malgun Gothic" panose="020B0503020000020004" pitchFamily="34" charset="-127"/>
                <a:ea typeface="Malgun Gothic" panose="020B0503020000020004" pitchFamily="34" charset="-127"/>
              </a:rPr>
              <a:t> de </a:t>
            </a:r>
            <a:r>
              <a:rPr lang="en-US" dirty="0" err="1">
                <a:solidFill>
                  <a:schemeClr val="bg1"/>
                </a:solidFill>
                <a:latin typeface="Malgun Gothic" panose="020B0503020000020004" pitchFamily="34" charset="-127"/>
                <a:ea typeface="Malgun Gothic" panose="020B0503020000020004" pitchFamily="34" charset="-127"/>
              </a:rPr>
              <a:t>clientes</a:t>
            </a:r>
            <a:endParaRPr lang="en-US" dirty="0">
              <a:solidFill>
                <a:schemeClr val="bg1"/>
              </a:solidFill>
              <a:latin typeface="Malgun Gothic" panose="020B0503020000020004" pitchFamily="34" charset="-127"/>
              <a:ea typeface="Malgun Gothic" panose="020B0503020000020004" pitchFamily="34" charset="-127"/>
            </a:endParaRPr>
          </a:p>
        </p:txBody>
      </p:sp>
      <p:pic>
        <p:nvPicPr>
          <p:cNvPr id="16" name="Imagen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2517" y="2902433"/>
            <a:ext cx="7487083" cy="3145461"/>
          </a:xfrm>
          <a:prstGeom prst="rect">
            <a:avLst/>
          </a:prstGeom>
        </p:spPr>
      </p:pic>
      <p:sp>
        <p:nvSpPr>
          <p:cNvPr id="22" name="Título 1"/>
          <p:cNvSpPr txBox="1">
            <a:spLocks/>
          </p:cNvSpPr>
          <p:nvPr/>
        </p:nvSpPr>
        <p:spPr>
          <a:xfrm>
            <a:off x="1080252" y="1238792"/>
            <a:ext cx="5015055" cy="763455"/>
          </a:xfrm>
          <a:prstGeom prst="rect">
            <a:avLst/>
          </a:prstGeom>
        </p:spPr>
        <p:txBody>
          <a:bodyPr vert="horz" lIns="91440" tIns="45720" rIns="91440" bIns="45720" rtlCol="0" anchor="ctr">
            <a:normAutofit/>
          </a:bodyPr>
          <a:lstStyle>
            <a:lvl1pPr algn="ctr" defTabSz="914377" rtl="0" eaLnBrk="1" latinLnBrk="0" hangingPunct="1">
              <a:lnSpc>
                <a:spcPct val="90000"/>
              </a:lnSpc>
              <a:spcBef>
                <a:spcPct val="0"/>
              </a:spcBef>
              <a:buNone/>
              <a:defRPr sz="4000" kern="1200">
                <a:solidFill>
                  <a:schemeClr val="tx1"/>
                </a:solidFill>
                <a:latin typeface="+mj-lt"/>
                <a:ea typeface="+mj-ea"/>
                <a:cs typeface="+mj-cs"/>
              </a:defRPr>
            </a:lvl1pPr>
          </a:lstStyle>
          <a:p>
            <a:pPr algn="l"/>
            <a:r>
              <a:rPr lang="es-ES" sz="2400" b="1" dirty="0"/>
              <a:t>Aplicaciones del </a:t>
            </a:r>
            <a:r>
              <a:rPr lang="es-ES" sz="2400" b="1" dirty="0" err="1"/>
              <a:t>Clustering</a:t>
            </a:r>
            <a:r>
              <a:rPr lang="es-ES" sz="2400" b="1" dirty="0"/>
              <a:t> - Genérico</a:t>
            </a:r>
          </a:p>
        </p:txBody>
      </p:sp>
      <p:sp>
        <p:nvSpPr>
          <p:cNvPr id="12" name="Elipse 11">
            <a:extLst>
              <a:ext uri="{FF2B5EF4-FFF2-40B4-BE49-F238E27FC236}">
                <a16:creationId xmlns:a16="http://schemas.microsoft.com/office/drawing/2014/main" id="{F784526D-411E-4DFB-8E65-7BC68A17CD9A}"/>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3" name="Imagen 12">
            <a:extLst>
              <a:ext uri="{FF2B5EF4-FFF2-40B4-BE49-F238E27FC236}">
                <a16:creationId xmlns:a16="http://schemas.microsoft.com/office/drawing/2014/main" id="{3048096C-15BF-4539-A28D-5AF144D9C5A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14" name="Conector recto 13">
            <a:extLst>
              <a:ext uri="{FF2B5EF4-FFF2-40B4-BE49-F238E27FC236}">
                <a16:creationId xmlns:a16="http://schemas.microsoft.com/office/drawing/2014/main" id="{EDD048AE-14B4-45DD-BA64-F9982B22AA85}"/>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48270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ángulo redondeado 23"/>
          <p:cNvSpPr/>
          <p:nvPr/>
        </p:nvSpPr>
        <p:spPr>
          <a:xfrm>
            <a:off x="406364" y="2178242"/>
            <a:ext cx="2780719" cy="461665"/>
          </a:xfrm>
          <a:prstGeom prst="roundRect">
            <a:avLst/>
          </a:prstGeom>
          <a:solidFill>
            <a:srgbClr val="006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Marcador de número de diapositiva 3"/>
          <p:cNvSpPr>
            <a:spLocks noGrp="1"/>
          </p:cNvSpPr>
          <p:nvPr>
            <p:ph type="sldNum" sz="quarter" idx="12"/>
          </p:nvPr>
        </p:nvSpPr>
        <p:spPr/>
        <p:txBody>
          <a:bodyPr/>
          <a:lstStyle/>
          <a:p>
            <a:fld id="{F72B40EF-D53A-41AA-87B6-B9F74BA43E09}" type="slidenum">
              <a:rPr lang="es-ES" smtClean="0"/>
              <a:t>33</a:t>
            </a:fld>
            <a:endParaRPr lang="es-ES" dirty="0"/>
          </a:p>
        </p:txBody>
      </p:sp>
      <p:sp>
        <p:nvSpPr>
          <p:cNvPr id="8" name="Marcador de número de diapositiva 3"/>
          <p:cNvSpPr txBox="1">
            <a:spLocks/>
          </p:cNvSpPr>
          <p:nvPr/>
        </p:nvSpPr>
        <p:spPr>
          <a:xfrm>
            <a:off x="6457950" y="6356355"/>
            <a:ext cx="2057400" cy="365125"/>
          </a:xfrm>
          <a:prstGeom prst="rect">
            <a:avLst/>
          </a:prstGeom>
        </p:spPr>
        <p:txBody>
          <a:bodyPr vert="horz" lIns="91440" tIns="45720" rIns="91440" bIns="45720" rtlCol="0" anchor="ctr"/>
          <a:lstStyle>
            <a:defPPr>
              <a:defRPr lang="es-E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s-ES" dirty="0"/>
          </a:p>
        </p:txBody>
      </p:sp>
      <p:sp>
        <p:nvSpPr>
          <p:cNvPr id="9" name="Rectángulo 8"/>
          <p:cNvSpPr/>
          <p:nvPr/>
        </p:nvSpPr>
        <p:spPr>
          <a:xfrm>
            <a:off x="406364" y="2210963"/>
            <a:ext cx="2878374" cy="369332"/>
          </a:xfrm>
          <a:prstGeom prst="rect">
            <a:avLst/>
          </a:prstGeom>
        </p:spPr>
        <p:txBody>
          <a:bodyPr wrap="square">
            <a:spAutoFit/>
          </a:bodyPr>
          <a:lstStyle/>
          <a:p>
            <a:r>
              <a:rPr lang="en-US" b="1" dirty="0" err="1">
                <a:solidFill>
                  <a:schemeClr val="bg1"/>
                </a:solidFill>
                <a:latin typeface="Malgun Gothic" panose="020B0503020000020004" pitchFamily="34" charset="-127"/>
                <a:ea typeface="Malgun Gothic" panose="020B0503020000020004" pitchFamily="34" charset="-127"/>
              </a:rPr>
              <a:t>Elaboración</a:t>
            </a:r>
            <a:r>
              <a:rPr lang="en-US" b="1" dirty="0">
                <a:solidFill>
                  <a:schemeClr val="bg1"/>
                </a:solidFill>
                <a:latin typeface="Malgun Gothic" panose="020B0503020000020004" pitchFamily="34" charset="-127"/>
                <a:ea typeface="Malgun Gothic" panose="020B0503020000020004" pitchFamily="34" charset="-127"/>
              </a:rPr>
              <a:t> de </a:t>
            </a:r>
            <a:r>
              <a:rPr lang="en-US" b="1" dirty="0" err="1">
                <a:solidFill>
                  <a:schemeClr val="bg1"/>
                </a:solidFill>
                <a:latin typeface="Malgun Gothic" panose="020B0503020000020004" pitchFamily="34" charset="-127"/>
                <a:ea typeface="Malgun Gothic" panose="020B0503020000020004" pitchFamily="34" charset="-127"/>
              </a:rPr>
              <a:t>gráficos</a:t>
            </a:r>
            <a:endParaRPr lang="en-US" b="1" dirty="0">
              <a:solidFill>
                <a:schemeClr val="bg1"/>
              </a:solidFill>
              <a:latin typeface="Malgun Gothic" panose="020B0503020000020004" pitchFamily="34" charset="-127"/>
              <a:ea typeface="Malgun Gothic" panose="020B0503020000020004" pitchFamily="34" charset="-127"/>
            </a:endParaRPr>
          </a:p>
        </p:txBody>
      </p:sp>
      <p:pic>
        <p:nvPicPr>
          <p:cNvPr id="4098" name="Picture 2" descr="Uncover patterns in your data with Tableau 10's clustering feature">
            <a:extLst>
              <a:ext uri="{FF2B5EF4-FFF2-40B4-BE49-F238E27FC236}">
                <a16:creationId xmlns:a16="http://schemas.microsoft.com/office/drawing/2014/main" id="{083F291B-5A32-4542-89A4-FB16D683D4A7}"/>
              </a:ext>
            </a:extLst>
          </p:cNvP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91139" y="1786271"/>
            <a:ext cx="5171688" cy="4935209"/>
          </a:xfrm>
          <a:prstGeom prst="rect">
            <a:avLst/>
          </a:prstGeom>
          <a:noFill/>
          <a:extLst>
            <a:ext uri="{909E8E84-426E-40DD-AFC4-6F175D3DCCD1}">
              <a14:hiddenFill xmlns:a14="http://schemas.microsoft.com/office/drawing/2010/main">
                <a:solidFill>
                  <a:srgbClr val="FFFFFF"/>
                </a:solidFill>
              </a14:hiddenFill>
            </a:ext>
          </a:extLst>
        </p:spPr>
      </p:pic>
      <p:sp>
        <p:nvSpPr>
          <p:cNvPr id="13" name="Elipse 12">
            <a:extLst>
              <a:ext uri="{FF2B5EF4-FFF2-40B4-BE49-F238E27FC236}">
                <a16:creationId xmlns:a16="http://schemas.microsoft.com/office/drawing/2014/main" id="{E77DC433-0056-4146-90B3-FF022DBE407C}"/>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4" name="Imagen 13">
            <a:extLst>
              <a:ext uri="{FF2B5EF4-FFF2-40B4-BE49-F238E27FC236}">
                <a16:creationId xmlns:a16="http://schemas.microsoft.com/office/drawing/2014/main" id="{99D28060-8317-44D6-94BF-59F6330EEFD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15" name="Conector recto 14">
            <a:extLst>
              <a:ext uri="{FF2B5EF4-FFF2-40B4-BE49-F238E27FC236}">
                <a16:creationId xmlns:a16="http://schemas.microsoft.com/office/drawing/2014/main" id="{A7856824-2F5C-497F-BB51-20DFFFDAA61D}"/>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
        <p:nvSpPr>
          <p:cNvPr id="11" name="Título 1">
            <a:extLst>
              <a:ext uri="{FF2B5EF4-FFF2-40B4-BE49-F238E27FC236}">
                <a16:creationId xmlns:a16="http://schemas.microsoft.com/office/drawing/2014/main" id="{C05EA68F-B0C5-4B87-9294-233554C7291C}"/>
              </a:ext>
            </a:extLst>
          </p:cNvPr>
          <p:cNvSpPr txBox="1">
            <a:spLocks/>
          </p:cNvSpPr>
          <p:nvPr/>
        </p:nvSpPr>
        <p:spPr>
          <a:xfrm>
            <a:off x="1080252" y="1238792"/>
            <a:ext cx="5015055" cy="763455"/>
          </a:xfrm>
          <a:prstGeom prst="rect">
            <a:avLst/>
          </a:prstGeom>
        </p:spPr>
        <p:txBody>
          <a:bodyPr vert="horz" lIns="91440" tIns="45720" rIns="91440" bIns="45720" rtlCol="0" anchor="ctr">
            <a:normAutofit/>
          </a:bodyPr>
          <a:lstStyle>
            <a:lvl1pPr algn="ctr" defTabSz="914377" rtl="0" eaLnBrk="1" latinLnBrk="0" hangingPunct="1">
              <a:lnSpc>
                <a:spcPct val="90000"/>
              </a:lnSpc>
              <a:spcBef>
                <a:spcPct val="0"/>
              </a:spcBef>
              <a:buNone/>
              <a:defRPr sz="4000" kern="1200">
                <a:solidFill>
                  <a:schemeClr val="tx1"/>
                </a:solidFill>
                <a:latin typeface="+mj-lt"/>
                <a:ea typeface="+mj-ea"/>
                <a:cs typeface="+mj-cs"/>
              </a:defRPr>
            </a:lvl1pPr>
          </a:lstStyle>
          <a:p>
            <a:pPr algn="l"/>
            <a:r>
              <a:rPr lang="es-ES" sz="2400" b="1" dirty="0"/>
              <a:t>Aplicaciones del </a:t>
            </a:r>
            <a:r>
              <a:rPr lang="es-ES" sz="2400" b="1" dirty="0" err="1"/>
              <a:t>Clustering</a:t>
            </a:r>
            <a:r>
              <a:rPr lang="es-ES" sz="2400" b="1" dirty="0"/>
              <a:t> - Genérico</a:t>
            </a:r>
          </a:p>
        </p:txBody>
      </p:sp>
    </p:spTree>
    <p:extLst>
      <p:ext uri="{BB962C8B-B14F-4D97-AF65-F5344CB8AC3E}">
        <p14:creationId xmlns:p14="http://schemas.microsoft.com/office/powerpoint/2010/main" val="33852069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ángulo redondeado 21"/>
          <p:cNvSpPr/>
          <p:nvPr/>
        </p:nvSpPr>
        <p:spPr>
          <a:xfrm>
            <a:off x="1080252" y="2014284"/>
            <a:ext cx="7619248" cy="461665"/>
          </a:xfrm>
          <a:prstGeom prst="roundRect">
            <a:avLst/>
          </a:prstGeom>
          <a:solidFill>
            <a:srgbClr val="006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Marcador de número de diapositiva 3"/>
          <p:cNvSpPr>
            <a:spLocks noGrp="1"/>
          </p:cNvSpPr>
          <p:nvPr>
            <p:ph type="sldNum" sz="quarter" idx="12"/>
          </p:nvPr>
        </p:nvSpPr>
        <p:spPr/>
        <p:txBody>
          <a:bodyPr/>
          <a:lstStyle/>
          <a:p>
            <a:fld id="{F72B40EF-D53A-41AA-87B6-B9F74BA43E09}" type="slidenum">
              <a:rPr lang="es-ES" smtClean="0"/>
              <a:t>34</a:t>
            </a:fld>
            <a:endParaRPr lang="es-ES" dirty="0"/>
          </a:p>
        </p:txBody>
      </p:sp>
      <p:sp>
        <p:nvSpPr>
          <p:cNvPr id="8" name="Marcador de número de diapositiva 3"/>
          <p:cNvSpPr txBox="1">
            <a:spLocks/>
          </p:cNvSpPr>
          <p:nvPr/>
        </p:nvSpPr>
        <p:spPr>
          <a:xfrm>
            <a:off x="6457950" y="6356355"/>
            <a:ext cx="2057400" cy="365125"/>
          </a:xfrm>
          <a:prstGeom prst="rect">
            <a:avLst/>
          </a:prstGeom>
        </p:spPr>
        <p:txBody>
          <a:bodyPr vert="horz" lIns="91440" tIns="45720" rIns="91440" bIns="45720" rtlCol="0" anchor="ctr"/>
          <a:lstStyle>
            <a:defPPr>
              <a:defRPr lang="es-E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s-ES" dirty="0"/>
          </a:p>
        </p:txBody>
      </p:sp>
      <p:sp>
        <p:nvSpPr>
          <p:cNvPr id="9" name="Rectángulo 8"/>
          <p:cNvSpPr/>
          <p:nvPr/>
        </p:nvSpPr>
        <p:spPr>
          <a:xfrm>
            <a:off x="1205048" y="2060450"/>
            <a:ext cx="8334104" cy="369332"/>
          </a:xfrm>
          <a:prstGeom prst="rect">
            <a:avLst/>
          </a:prstGeom>
        </p:spPr>
        <p:txBody>
          <a:bodyPr wrap="square">
            <a:spAutoFit/>
          </a:bodyPr>
          <a:lstStyle/>
          <a:p>
            <a:r>
              <a:rPr lang="es-ES" b="1" dirty="0">
                <a:solidFill>
                  <a:schemeClr val="bg1"/>
                </a:solidFill>
                <a:latin typeface="Malgun Gothic" panose="020B0503020000020004" pitchFamily="34" charset="-127"/>
                <a:ea typeface="Malgun Gothic" panose="020B0503020000020004" pitchFamily="34" charset="-127"/>
              </a:rPr>
              <a:t>Biología</a:t>
            </a:r>
            <a:r>
              <a:rPr lang="es-ES" dirty="0">
                <a:solidFill>
                  <a:schemeClr val="bg1"/>
                </a:solidFill>
                <a:latin typeface="Malgun Gothic" panose="020B0503020000020004" pitchFamily="34" charset="-127"/>
                <a:ea typeface="Malgun Gothic" panose="020B0503020000020004" pitchFamily="34" charset="-127"/>
              </a:rPr>
              <a:t>: clasificación de plantas y animales según sus características.</a:t>
            </a:r>
            <a:endParaRPr lang="en-US" dirty="0">
              <a:solidFill>
                <a:schemeClr val="bg1"/>
              </a:solidFill>
              <a:latin typeface="Malgun Gothic" panose="020B0503020000020004" pitchFamily="34" charset="-127"/>
              <a:ea typeface="Malgun Gothic" panose="020B0503020000020004" pitchFamily="34" charset="-127"/>
            </a:endParaRPr>
          </a:p>
        </p:txBody>
      </p:sp>
      <p:pic>
        <p:nvPicPr>
          <p:cNvPr id="11266" name="Picture 2" descr="Hierarchical Clustering"/>
          <p:cNvPicPr>
            <a:picLocks noChangeAspect="1" noChangeArrowheads="1"/>
          </p:cNvPicPr>
          <p:nvPr/>
        </p:nvPicPr>
        <p:blipFill rotWithShape="1">
          <a:blip r:embed="rId3">
            <a:extLst>
              <a:ext uri="{28A0092B-C50C-407E-A947-70E740481C1C}">
                <a14:useLocalDpi xmlns:a14="http://schemas.microsoft.com/office/drawing/2010/main" val="0"/>
              </a:ext>
            </a:extLst>
          </a:blip>
          <a:srcRect l="16785" t="11332" r="16364" b="11078"/>
          <a:stretch/>
        </p:blipFill>
        <p:spPr bwMode="auto">
          <a:xfrm>
            <a:off x="2058884" y="2487986"/>
            <a:ext cx="4975868" cy="4335885"/>
          </a:xfrm>
          <a:prstGeom prst="rect">
            <a:avLst/>
          </a:prstGeom>
          <a:noFill/>
          <a:extLst>
            <a:ext uri="{909E8E84-426E-40DD-AFC4-6F175D3DCCD1}">
              <a14:hiddenFill xmlns:a14="http://schemas.microsoft.com/office/drawing/2010/main">
                <a:solidFill>
                  <a:srgbClr val="FFFFFF"/>
                </a:solidFill>
              </a14:hiddenFill>
            </a:ext>
          </a:extLst>
        </p:spPr>
      </p:pic>
      <p:sp>
        <p:nvSpPr>
          <p:cNvPr id="14" name="Elipse 13">
            <a:extLst>
              <a:ext uri="{FF2B5EF4-FFF2-40B4-BE49-F238E27FC236}">
                <a16:creationId xmlns:a16="http://schemas.microsoft.com/office/drawing/2014/main" id="{AAC99EEB-4F54-4510-9C9E-2113C082043C}"/>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8" name="Imagen 17">
            <a:extLst>
              <a:ext uri="{FF2B5EF4-FFF2-40B4-BE49-F238E27FC236}">
                <a16:creationId xmlns:a16="http://schemas.microsoft.com/office/drawing/2014/main" id="{5892D6EC-3E34-4591-9D07-261E895AF3B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19" name="Conector recto 18">
            <a:extLst>
              <a:ext uri="{FF2B5EF4-FFF2-40B4-BE49-F238E27FC236}">
                <a16:creationId xmlns:a16="http://schemas.microsoft.com/office/drawing/2014/main" id="{09D35F88-1494-4170-8491-8FBD4FE7D4AE}"/>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
        <p:nvSpPr>
          <p:cNvPr id="11" name="Título 1">
            <a:extLst>
              <a:ext uri="{FF2B5EF4-FFF2-40B4-BE49-F238E27FC236}">
                <a16:creationId xmlns:a16="http://schemas.microsoft.com/office/drawing/2014/main" id="{4A595476-A9DD-4EBB-BA5B-9E9527E3F03F}"/>
              </a:ext>
            </a:extLst>
          </p:cNvPr>
          <p:cNvSpPr txBox="1">
            <a:spLocks/>
          </p:cNvSpPr>
          <p:nvPr/>
        </p:nvSpPr>
        <p:spPr>
          <a:xfrm>
            <a:off x="1080252" y="1238792"/>
            <a:ext cx="5015055" cy="763455"/>
          </a:xfrm>
          <a:prstGeom prst="rect">
            <a:avLst/>
          </a:prstGeom>
        </p:spPr>
        <p:txBody>
          <a:bodyPr vert="horz" lIns="91440" tIns="45720" rIns="91440" bIns="45720" rtlCol="0" anchor="ctr">
            <a:normAutofit/>
          </a:bodyPr>
          <a:lstStyle>
            <a:lvl1pPr algn="ctr" defTabSz="914377" rtl="0" eaLnBrk="1" latinLnBrk="0" hangingPunct="1">
              <a:lnSpc>
                <a:spcPct val="90000"/>
              </a:lnSpc>
              <a:spcBef>
                <a:spcPct val="0"/>
              </a:spcBef>
              <a:buNone/>
              <a:defRPr sz="4000" kern="1200">
                <a:solidFill>
                  <a:schemeClr val="tx1"/>
                </a:solidFill>
                <a:latin typeface="+mj-lt"/>
                <a:ea typeface="+mj-ea"/>
                <a:cs typeface="+mj-cs"/>
              </a:defRPr>
            </a:lvl1pPr>
          </a:lstStyle>
          <a:p>
            <a:pPr algn="l"/>
            <a:r>
              <a:rPr lang="es-ES" sz="2400" b="1" dirty="0"/>
              <a:t>Aplicaciones del </a:t>
            </a:r>
            <a:r>
              <a:rPr lang="es-ES" sz="2400" b="1" dirty="0" err="1"/>
              <a:t>Clustering</a:t>
            </a:r>
            <a:r>
              <a:rPr lang="es-ES" sz="2400" b="1" dirty="0"/>
              <a:t> - Genérico</a:t>
            </a:r>
          </a:p>
        </p:txBody>
      </p:sp>
    </p:spTree>
    <p:extLst>
      <p:ext uri="{BB962C8B-B14F-4D97-AF65-F5344CB8AC3E}">
        <p14:creationId xmlns:p14="http://schemas.microsoft.com/office/powerpoint/2010/main" val="10019193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Imagen 22">
            <a:hlinkClick r:id="rId3"/>
            <a:extLst>
              <a:ext uri="{FF2B5EF4-FFF2-40B4-BE49-F238E27FC236}">
                <a16:creationId xmlns:a16="http://schemas.microsoft.com/office/drawing/2014/main" id="{EC9993AF-59EB-4129-9134-7D5F26A30F3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47185" y="2255913"/>
            <a:ext cx="3497174" cy="3462748"/>
          </a:xfrm>
          <a:prstGeom prst="rect">
            <a:avLst/>
          </a:prstGeom>
        </p:spPr>
      </p:pic>
      <p:pic>
        <p:nvPicPr>
          <p:cNvPr id="5122" name="Picture 2" descr="https://griffsgraphs.files.wordpress.com/2012/07/facebook-network.png?w=490&amp;h=490">
            <a:extLst>
              <a:ext uri="{FF2B5EF4-FFF2-40B4-BE49-F238E27FC236}">
                <a16:creationId xmlns:a16="http://schemas.microsoft.com/office/drawing/2014/main" id="{50AB440B-A000-43E0-9362-12C0D539E4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7070" y="2487986"/>
            <a:ext cx="3348060" cy="3348060"/>
          </a:xfrm>
          <a:prstGeom prst="rect">
            <a:avLst/>
          </a:prstGeom>
          <a:noFill/>
          <a:extLst>
            <a:ext uri="{909E8E84-426E-40DD-AFC4-6F175D3DCCD1}">
              <a14:hiddenFill xmlns:a14="http://schemas.microsoft.com/office/drawing/2010/main">
                <a:solidFill>
                  <a:srgbClr val="FFFFFF"/>
                </a:solidFill>
              </a14:hiddenFill>
            </a:ext>
          </a:extLst>
        </p:spPr>
      </p:pic>
      <p:sp>
        <p:nvSpPr>
          <p:cNvPr id="22" name="Rectángulo redondeado 21"/>
          <p:cNvSpPr/>
          <p:nvPr/>
        </p:nvSpPr>
        <p:spPr>
          <a:xfrm>
            <a:off x="1080252" y="2014284"/>
            <a:ext cx="4291848" cy="461665"/>
          </a:xfrm>
          <a:prstGeom prst="roundRect">
            <a:avLst/>
          </a:prstGeom>
          <a:solidFill>
            <a:srgbClr val="006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Marcador de número de diapositiva 3"/>
          <p:cNvSpPr>
            <a:spLocks noGrp="1"/>
          </p:cNvSpPr>
          <p:nvPr>
            <p:ph type="sldNum" sz="quarter" idx="12"/>
          </p:nvPr>
        </p:nvSpPr>
        <p:spPr/>
        <p:txBody>
          <a:bodyPr/>
          <a:lstStyle/>
          <a:p>
            <a:fld id="{F72B40EF-D53A-41AA-87B6-B9F74BA43E09}" type="slidenum">
              <a:rPr lang="es-ES" smtClean="0"/>
              <a:t>35</a:t>
            </a:fld>
            <a:endParaRPr lang="es-ES" dirty="0"/>
          </a:p>
        </p:txBody>
      </p:sp>
      <p:sp>
        <p:nvSpPr>
          <p:cNvPr id="8" name="Marcador de número de diapositiva 3"/>
          <p:cNvSpPr txBox="1">
            <a:spLocks/>
          </p:cNvSpPr>
          <p:nvPr/>
        </p:nvSpPr>
        <p:spPr>
          <a:xfrm>
            <a:off x="6457950" y="6356355"/>
            <a:ext cx="2057400" cy="365125"/>
          </a:xfrm>
          <a:prstGeom prst="rect">
            <a:avLst/>
          </a:prstGeom>
        </p:spPr>
        <p:txBody>
          <a:bodyPr vert="horz" lIns="91440" tIns="45720" rIns="91440" bIns="45720" rtlCol="0" anchor="ctr"/>
          <a:lstStyle>
            <a:defPPr>
              <a:defRPr lang="es-E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s-ES" dirty="0"/>
          </a:p>
        </p:txBody>
      </p:sp>
      <p:sp>
        <p:nvSpPr>
          <p:cNvPr id="9" name="Rectángulo 8"/>
          <p:cNvSpPr/>
          <p:nvPr/>
        </p:nvSpPr>
        <p:spPr>
          <a:xfrm>
            <a:off x="1080252" y="2075231"/>
            <a:ext cx="6820728" cy="369332"/>
          </a:xfrm>
          <a:prstGeom prst="rect">
            <a:avLst/>
          </a:prstGeom>
        </p:spPr>
        <p:txBody>
          <a:bodyPr wrap="square">
            <a:spAutoFit/>
          </a:bodyPr>
          <a:lstStyle/>
          <a:p>
            <a:r>
              <a:rPr lang="es-ES" b="1" dirty="0">
                <a:solidFill>
                  <a:schemeClr val="bg1"/>
                </a:solidFill>
                <a:latin typeface="Malgun Gothic" panose="020B0503020000020004" pitchFamily="34" charset="-127"/>
                <a:ea typeface="Malgun Gothic" panose="020B0503020000020004" pitchFamily="34" charset="-127"/>
              </a:rPr>
              <a:t>Comunidades de redes sociales</a:t>
            </a:r>
            <a:endParaRPr lang="en-US" b="1" dirty="0">
              <a:solidFill>
                <a:schemeClr val="bg1"/>
              </a:solidFill>
              <a:latin typeface="Malgun Gothic" panose="020B0503020000020004" pitchFamily="34" charset="-127"/>
              <a:ea typeface="Malgun Gothic" panose="020B0503020000020004" pitchFamily="34" charset="-127"/>
            </a:endParaRPr>
          </a:p>
        </p:txBody>
      </p:sp>
      <p:sp>
        <p:nvSpPr>
          <p:cNvPr id="2" name="Rectángulo 1">
            <a:extLst>
              <a:ext uri="{FF2B5EF4-FFF2-40B4-BE49-F238E27FC236}">
                <a16:creationId xmlns:a16="http://schemas.microsoft.com/office/drawing/2014/main" id="{1372E871-00FC-477F-A850-5DE3CFF4B428}"/>
              </a:ext>
            </a:extLst>
          </p:cNvPr>
          <p:cNvSpPr/>
          <p:nvPr/>
        </p:nvSpPr>
        <p:spPr>
          <a:xfrm>
            <a:off x="546761" y="5988713"/>
            <a:ext cx="6519033" cy="276999"/>
          </a:xfrm>
          <a:prstGeom prst="rect">
            <a:avLst/>
          </a:prstGeom>
        </p:spPr>
        <p:txBody>
          <a:bodyPr wrap="square">
            <a:spAutoFit/>
          </a:bodyPr>
          <a:lstStyle/>
          <a:p>
            <a:r>
              <a:rPr lang="es-ES" sz="1200" dirty="0">
                <a:hlinkClick r:id="rId6"/>
              </a:rPr>
              <a:t>https://griffsgraphs.wordpress.com/tag/social-network/</a:t>
            </a:r>
            <a:endParaRPr lang="es-ES" sz="1200" dirty="0"/>
          </a:p>
        </p:txBody>
      </p:sp>
      <p:sp>
        <p:nvSpPr>
          <p:cNvPr id="19" name="Rectángulo 18">
            <a:extLst>
              <a:ext uri="{FF2B5EF4-FFF2-40B4-BE49-F238E27FC236}">
                <a16:creationId xmlns:a16="http://schemas.microsoft.com/office/drawing/2014/main" id="{1053AE3E-BECA-4A89-8ED6-8660CAA21D83}"/>
              </a:ext>
            </a:extLst>
          </p:cNvPr>
          <p:cNvSpPr/>
          <p:nvPr/>
        </p:nvSpPr>
        <p:spPr>
          <a:xfrm>
            <a:off x="5567312" y="5958362"/>
            <a:ext cx="2917337" cy="276999"/>
          </a:xfrm>
          <a:prstGeom prst="rect">
            <a:avLst/>
          </a:prstGeom>
        </p:spPr>
        <p:txBody>
          <a:bodyPr wrap="none">
            <a:spAutoFit/>
          </a:bodyPr>
          <a:lstStyle/>
          <a:p>
            <a:r>
              <a:rPr lang="es-ES" sz="1200" dirty="0">
                <a:hlinkClick r:id="rId3"/>
              </a:rPr>
              <a:t>http://social-dynamics.org/gephi-facebook/</a:t>
            </a:r>
            <a:endParaRPr lang="en-US" sz="1200" dirty="0"/>
          </a:p>
        </p:txBody>
      </p:sp>
      <p:sp>
        <p:nvSpPr>
          <p:cNvPr id="24" name="Elipse 23">
            <a:extLst>
              <a:ext uri="{FF2B5EF4-FFF2-40B4-BE49-F238E27FC236}">
                <a16:creationId xmlns:a16="http://schemas.microsoft.com/office/drawing/2014/main" id="{0D77183E-1354-41C6-B898-FE2EBDE6C295}"/>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5" name="Imagen 24">
            <a:extLst>
              <a:ext uri="{FF2B5EF4-FFF2-40B4-BE49-F238E27FC236}">
                <a16:creationId xmlns:a16="http://schemas.microsoft.com/office/drawing/2014/main" id="{4AE2FC40-D02A-451A-8C3D-C13CF59E3BD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26" name="Conector recto 25">
            <a:extLst>
              <a:ext uri="{FF2B5EF4-FFF2-40B4-BE49-F238E27FC236}">
                <a16:creationId xmlns:a16="http://schemas.microsoft.com/office/drawing/2014/main" id="{6591C8C7-A646-4273-9EBB-84B9BFC1B3F3}"/>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
        <p:nvSpPr>
          <p:cNvPr id="14" name="Título 1">
            <a:extLst>
              <a:ext uri="{FF2B5EF4-FFF2-40B4-BE49-F238E27FC236}">
                <a16:creationId xmlns:a16="http://schemas.microsoft.com/office/drawing/2014/main" id="{1968BF25-3129-4FEB-9AB9-8B5EDCBA9302}"/>
              </a:ext>
            </a:extLst>
          </p:cNvPr>
          <p:cNvSpPr txBox="1">
            <a:spLocks/>
          </p:cNvSpPr>
          <p:nvPr/>
        </p:nvSpPr>
        <p:spPr>
          <a:xfrm>
            <a:off x="1080252" y="1238792"/>
            <a:ext cx="5015055" cy="763455"/>
          </a:xfrm>
          <a:prstGeom prst="rect">
            <a:avLst/>
          </a:prstGeom>
        </p:spPr>
        <p:txBody>
          <a:bodyPr vert="horz" lIns="91440" tIns="45720" rIns="91440" bIns="45720" rtlCol="0" anchor="ctr">
            <a:normAutofit/>
          </a:bodyPr>
          <a:lstStyle>
            <a:lvl1pPr algn="ctr" defTabSz="914377" rtl="0" eaLnBrk="1" latinLnBrk="0" hangingPunct="1">
              <a:lnSpc>
                <a:spcPct val="90000"/>
              </a:lnSpc>
              <a:spcBef>
                <a:spcPct val="0"/>
              </a:spcBef>
              <a:buNone/>
              <a:defRPr sz="4000" kern="1200">
                <a:solidFill>
                  <a:schemeClr val="tx1"/>
                </a:solidFill>
                <a:latin typeface="+mj-lt"/>
                <a:ea typeface="+mj-ea"/>
                <a:cs typeface="+mj-cs"/>
              </a:defRPr>
            </a:lvl1pPr>
          </a:lstStyle>
          <a:p>
            <a:pPr algn="l"/>
            <a:r>
              <a:rPr lang="es-ES" sz="2400" b="1" dirty="0"/>
              <a:t>Aplicaciones del </a:t>
            </a:r>
            <a:r>
              <a:rPr lang="es-ES" sz="2400" b="1" dirty="0" err="1"/>
              <a:t>Clustering</a:t>
            </a:r>
            <a:r>
              <a:rPr lang="es-ES" sz="2400" b="1" dirty="0"/>
              <a:t> - Genérico</a:t>
            </a:r>
          </a:p>
        </p:txBody>
      </p:sp>
    </p:spTree>
    <p:extLst>
      <p:ext uri="{BB962C8B-B14F-4D97-AF65-F5344CB8AC3E}">
        <p14:creationId xmlns:p14="http://schemas.microsoft.com/office/powerpoint/2010/main" val="40158660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ángulo redondeado 21"/>
          <p:cNvSpPr/>
          <p:nvPr/>
        </p:nvSpPr>
        <p:spPr>
          <a:xfrm>
            <a:off x="867981" y="2014284"/>
            <a:ext cx="1524612" cy="461665"/>
          </a:xfrm>
          <a:prstGeom prst="roundRect">
            <a:avLst/>
          </a:prstGeom>
          <a:solidFill>
            <a:srgbClr val="006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Marcador de número de diapositiva 3"/>
          <p:cNvSpPr>
            <a:spLocks noGrp="1"/>
          </p:cNvSpPr>
          <p:nvPr>
            <p:ph type="sldNum" sz="quarter" idx="12"/>
          </p:nvPr>
        </p:nvSpPr>
        <p:spPr/>
        <p:txBody>
          <a:bodyPr/>
          <a:lstStyle/>
          <a:p>
            <a:fld id="{F72B40EF-D53A-41AA-87B6-B9F74BA43E09}" type="slidenum">
              <a:rPr lang="es-ES" smtClean="0"/>
              <a:t>36</a:t>
            </a:fld>
            <a:endParaRPr lang="es-ES" dirty="0"/>
          </a:p>
        </p:txBody>
      </p:sp>
      <p:sp>
        <p:nvSpPr>
          <p:cNvPr id="8" name="Marcador de número de diapositiva 3"/>
          <p:cNvSpPr txBox="1">
            <a:spLocks/>
          </p:cNvSpPr>
          <p:nvPr/>
        </p:nvSpPr>
        <p:spPr>
          <a:xfrm>
            <a:off x="6457950" y="6356355"/>
            <a:ext cx="2057400" cy="365125"/>
          </a:xfrm>
          <a:prstGeom prst="rect">
            <a:avLst/>
          </a:prstGeom>
        </p:spPr>
        <p:txBody>
          <a:bodyPr vert="horz" lIns="91440" tIns="45720" rIns="91440" bIns="45720" rtlCol="0" anchor="ctr"/>
          <a:lstStyle>
            <a:defPPr>
              <a:defRPr lang="es-E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s-ES" dirty="0"/>
          </a:p>
        </p:txBody>
      </p:sp>
      <p:sp>
        <p:nvSpPr>
          <p:cNvPr id="9" name="Rectángulo 8"/>
          <p:cNvSpPr/>
          <p:nvPr/>
        </p:nvSpPr>
        <p:spPr>
          <a:xfrm>
            <a:off x="1024547" y="2060450"/>
            <a:ext cx="1368046" cy="369332"/>
          </a:xfrm>
          <a:prstGeom prst="rect">
            <a:avLst/>
          </a:prstGeom>
        </p:spPr>
        <p:txBody>
          <a:bodyPr wrap="square">
            <a:spAutoFit/>
          </a:bodyPr>
          <a:lstStyle/>
          <a:p>
            <a:r>
              <a:rPr lang="es-ES" b="1" dirty="0">
                <a:solidFill>
                  <a:schemeClr val="bg1"/>
                </a:solidFill>
                <a:latin typeface="Malgun Gothic" panose="020B0503020000020004" pitchFamily="34" charset="-127"/>
                <a:ea typeface="Malgun Gothic" panose="020B0503020000020004" pitchFamily="34" charset="-127"/>
              </a:rPr>
              <a:t>Genética</a:t>
            </a:r>
            <a:endParaRPr lang="en-US" b="1" dirty="0">
              <a:solidFill>
                <a:schemeClr val="bg1"/>
              </a:solidFill>
              <a:latin typeface="Malgun Gothic" panose="020B0503020000020004" pitchFamily="34" charset="-127"/>
              <a:ea typeface="Malgun Gothic" panose="020B0503020000020004" pitchFamily="34" charset="-127"/>
            </a:endParaRPr>
          </a:p>
        </p:txBody>
      </p:sp>
      <p:sp>
        <p:nvSpPr>
          <p:cNvPr id="7" name="Rectángulo 6"/>
          <p:cNvSpPr/>
          <p:nvPr/>
        </p:nvSpPr>
        <p:spPr>
          <a:xfrm>
            <a:off x="1952934" y="6467585"/>
            <a:ext cx="5264331" cy="307777"/>
          </a:xfrm>
          <a:prstGeom prst="rect">
            <a:avLst/>
          </a:prstGeom>
        </p:spPr>
        <p:txBody>
          <a:bodyPr wrap="square">
            <a:spAutoFit/>
          </a:bodyPr>
          <a:lstStyle/>
          <a:p>
            <a:r>
              <a:rPr lang="es-ES" sz="1400" dirty="0">
                <a:hlinkClick r:id="rId3"/>
              </a:rPr>
              <a:t>https://www.nature.com/articles/s41467-018-08272-w/figures/1</a:t>
            </a:r>
            <a:endParaRPr lang="en-US" sz="1400" dirty="0"/>
          </a:p>
        </p:txBody>
      </p:sp>
      <p:pic>
        <p:nvPicPr>
          <p:cNvPr id="8194" name="Picture 2" descr="Fig. 1"/>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453" t="-171" r="453" b="24884"/>
          <a:stretch/>
        </p:blipFill>
        <p:spPr bwMode="auto">
          <a:xfrm>
            <a:off x="3133215" y="1854436"/>
            <a:ext cx="4697742" cy="4683844"/>
          </a:xfrm>
          <a:prstGeom prst="rect">
            <a:avLst/>
          </a:prstGeom>
          <a:noFill/>
          <a:extLst>
            <a:ext uri="{909E8E84-426E-40DD-AFC4-6F175D3DCCD1}">
              <a14:hiddenFill xmlns:a14="http://schemas.microsoft.com/office/drawing/2010/main">
                <a:solidFill>
                  <a:srgbClr val="FFFFFF"/>
                </a:solidFill>
              </a14:hiddenFill>
            </a:ext>
          </a:extLst>
        </p:spPr>
      </p:pic>
      <p:sp>
        <p:nvSpPr>
          <p:cNvPr id="18" name="Elipse 17">
            <a:extLst>
              <a:ext uri="{FF2B5EF4-FFF2-40B4-BE49-F238E27FC236}">
                <a16:creationId xmlns:a16="http://schemas.microsoft.com/office/drawing/2014/main" id="{7C9945FB-8A59-48BD-865B-B09179951D3A}"/>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9" name="Imagen 18">
            <a:extLst>
              <a:ext uri="{FF2B5EF4-FFF2-40B4-BE49-F238E27FC236}">
                <a16:creationId xmlns:a16="http://schemas.microsoft.com/office/drawing/2014/main" id="{302AB36B-F80A-4704-80FA-A65C007D5C9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23" name="Conector recto 22">
            <a:extLst>
              <a:ext uri="{FF2B5EF4-FFF2-40B4-BE49-F238E27FC236}">
                <a16:creationId xmlns:a16="http://schemas.microsoft.com/office/drawing/2014/main" id="{02BDFD83-9106-43D7-8509-E007E2345859}"/>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
        <p:nvSpPr>
          <p:cNvPr id="13" name="Título 1">
            <a:extLst>
              <a:ext uri="{FF2B5EF4-FFF2-40B4-BE49-F238E27FC236}">
                <a16:creationId xmlns:a16="http://schemas.microsoft.com/office/drawing/2014/main" id="{E12BAEF2-9B22-4FD5-99F4-3AEB27706778}"/>
              </a:ext>
            </a:extLst>
          </p:cNvPr>
          <p:cNvSpPr txBox="1">
            <a:spLocks/>
          </p:cNvSpPr>
          <p:nvPr/>
        </p:nvSpPr>
        <p:spPr>
          <a:xfrm>
            <a:off x="1080252" y="1238792"/>
            <a:ext cx="5015055" cy="763455"/>
          </a:xfrm>
          <a:prstGeom prst="rect">
            <a:avLst/>
          </a:prstGeom>
        </p:spPr>
        <p:txBody>
          <a:bodyPr vert="horz" lIns="91440" tIns="45720" rIns="91440" bIns="45720" rtlCol="0" anchor="ctr">
            <a:normAutofit/>
          </a:bodyPr>
          <a:lstStyle>
            <a:lvl1pPr algn="ctr" defTabSz="914377" rtl="0" eaLnBrk="1" latinLnBrk="0" hangingPunct="1">
              <a:lnSpc>
                <a:spcPct val="90000"/>
              </a:lnSpc>
              <a:spcBef>
                <a:spcPct val="0"/>
              </a:spcBef>
              <a:buNone/>
              <a:defRPr sz="4000" kern="1200">
                <a:solidFill>
                  <a:schemeClr val="tx1"/>
                </a:solidFill>
                <a:latin typeface="+mj-lt"/>
                <a:ea typeface="+mj-ea"/>
                <a:cs typeface="+mj-cs"/>
              </a:defRPr>
            </a:lvl1pPr>
          </a:lstStyle>
          <a:p>
            <a:pPr algn="l"/>
            <a:r>
              <a:rPr lang="es-ES" sz="2400" b="1" dirty="0"/>
              <a:t>Aplicaciones del </a:t>
            </a:r>
            <a:r>
              <a:rPr lang="es-ES" sz="2400" b="1" dirty="0" err="1"/>
              <a:t>Clustering</a:t>
            </a:r>
            <a:r>
              <a:rPr lang="es-ES" sz="2400" b="1" dirty="0"/>
              <a:t> - Genérico</a:t>
            </a:r>
          </a:p>
        </p:txBody>
      </p:sp>
    </p:spTree>
    <p:extLst>
      <p:ext uri="{BB962C8B-B14F-4D97-AF65-F5344CB8AC3E}">
        <p14:creationId xmlns:p14="http://schemas.microsoft.com/office/powerpoint/2010/main" val="9424053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ángulo redondeado 23"/>
          <p:cNvSpPr/>
          <p:nvPr/>
        </p:nvSpPr>
        <p:spPr>
          <a:xfrm>
            <a:off x="1080252" y="2014284"/>
            <a:ext cx="2738714" cy="461665"/>
          </a:xfrm>
          <a:prstGeom prst="roundRect">
            <a:avLst/>
          </a:prstGeom>
          <a:solidFill>
            <a:srgbClr val="006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b="1" dirty="0"/>
              <a:t>Mantenimiento predictivo</a:t>
            </a:r>
          </a:p>
        </p:txBody>
      </p:sp>
      <p:sp>
        <p:nvSpPr>
          <p:cNvPr id="4" name="Marcador de número de diapositiva 3"/>
          <p:cNvSpPr>
            <a:spLocks noGrp="1"/>
          </p:cNvSpPr>
          <p:nvPr>
            <p:ph type="sldNum" sz="quarter" idx="12"/>
          </p:nvPr>
        </p:nvSpPr>
        <p:spPr/>
        <p:txBody>
          <a:bodyPr/>
          <a:lstStyle/>
          <a:p>
            <a:fld id="{F72B40EF-D53A-41AA-87B6-B9F74BA43E09}" type="slidenum">
              <a:rPr lang="es-ES" smtClean="0"/>
              <a:t>37</a:t>
            </a:fld>
            <a:endParaRPr lang="es-ES" dirty="0"/>
          </a:p>
        </p:txBody>
      </p:sp>
      <p:sp>
        <p:nvSpPr>
          <p:cNvPr id="8" name="Marcador de número de diapositiva 3"/>
          <p:cNvSpPr txBox="1">
            <a:spLocks/>
          </p:cNvSpPr>
          <p:nvPr/>
        </p:nvSpPr>
        <p:spPr>
          <a:xfrm>
            <a:off x="6457950" y="6356355"/>
            <a:ext cx="2057400" cy="365125"/>
          </a:xfrm>
          <a:prstGeom prst="rect">
            <a:avLst/>
          </a:prstGeom>
        </p:spPr>
        <p:txBody>
          <a:bodyPr vert="horz" lIns="91440" tIns="45720" rIns="91440" bIns="45720" rtlCol="0" anchor="ctr"/>
          <a:lstStyle>
            <a:defPPr>
              <a:defRPr lang="es-E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s-ES" dirty="0"/>
          </a:p>
        </p:txBody>
      </p:sp>
      <p:sp>
        <p:nvSpPr>
          <p:cNvPr id="22" name="Título 1"/>
          <p:cNvSpPr txBox="1">
            <a:spLocks/>
          </p:cNvSpPr>
          <p:nvPr/>
        </p:nvSpPr>
        <p:spPr>
          <a:xfrm>
            <a:off x="1080252" y="1238792"/>
            <a:ext cx="7077630" cy="763455"/>
          </a:xfrm>
          <a:prstGeom prst="rect">
            <a:avLst/>
          </a:prstGeom>
        </p:spPr>
        <p:txBody>
          <a:bodyPr vert="horz" lIns="91440" tIns="45720" rIns="91440" bIns="45720" rtlCol="0" anchor="ctr">
            <a:normAutofit/>
          </a:bodyPr>
          <a:lstStyle>
            <a:lvl1pPr algn="ctr" defTabSz="914377" rtl="0" eaLnBrk="1" latinLnBrk="0" hangingPunct="1">
              <a:lnSpc>
                <a:spcPct val="90000"/>
              </a:lnSpc>
              <a:spcBef>
                <a:spcPct val="0"/>
              </a:spcBef>
              <a:buNone/>
              <a:defRPr sz="4000" kern="1200">
                <a:solidFill>
                  <a:schemeClr val="tx1"/>
                </a:solidFill>
                <a:latin typeface="+mj-lt"/>
                <a:ea typeface="+mj-ea"/>
                <a:cs typeface="+mj-cs"/>
              </a:defRPr>
            </a:lvl1pPr>
          </a:lstStyle>
          <a:p>
            <a:pPr algn="l"/>
            <a:r>
              <a:rPr lang="es-ES" sz="2400" b="1" dirty="0"/>
              <a:t>Aplicaciones del </a:t>
            </a:r>
            <a:r>
              <a:rPr lang="es-ES" sz="2400" b="1" dirty="0" err="1"/>
              <a:t>Clustering</a:t>
            </a:r>
            <a:r>
              <a:rPr lang="es-ES" sz="2400" b="1" dirty="0"/>
              <a:t> – Mecatrónica e </a:t>
            </a:r>
            <a:r>
              <a:rPr lang="es-ES" sz="2400" b="1" dirty="0" err="1"/>
              <a:t>Indústria</a:t>
            </a:r>
            <a:r>
              <a:rPr lang="es-ES" sz="2400" b="1" dirty="0"/>
              <a:t> 4.0</a:t>
            </a:r>
          </a:p>
        </p:txBody>
      </p:sp>
      <p:sp>
        <p:nvSpPr>
          <p:cNvPr id="12" name="Elipse 11">
            <a:extLst>
              <a:ext uri="{FF2B5EF4-FFF2-40B4-BE49-F238E27FC236}">
                <a16:creationId xmlns:a16="http://schemas.microsoft.com/office/drawing/2014/main" id="{F784526D-411E-4DFB-8E65-7BC68A17CD9A}"/>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3" name="Imagen 12">
            <a:extLst>
              <a:ext uri="{FF2B5EF4-FFF2-40B4-BE49-F238E27FC236}">
                <a16:creationId xmlns:a16="http://schemas.microsoft.com/office/drawing/2014/main" id="{3048096C-15BF-4539-A28D-5AF144D9C5A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14" name="Conector recto 13">
            <a:extLst>
              <a:ext uri="{FF2B5EF4-FFF2-40B4-BE49-F238E27FC236}">
                <a16:creationId xmlns:a16="http://schemas.microsoft.com/office/drawing/2014/main" id="{EDD048AE-14B4-45DD-BA64-F9982B22AA85}"/>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CC89A027-AA04-4520-8358-838BCA4D7AD3}"/>
              </a:ext>
            </a:extLst>
          </p:cNvPr>
          <p:cNvSpPr txBox="1"/>
          <p:nvPr/>
        </p:nvSpPr>
        <p:spPr>
          <a:xfrm>
            <a:off x="3934385" y="2014284"/>
            <a:ext cx="5047129" cy="830997"/>
          </a:xfrm>
          <a:prstGeom prst="rect">
            <a:avLst/>
          </a:prstGeom>
          <a:noFill/>
        </p:spPr>
        <p:txBody>
          <a:bodyPr wrap="square" rtlCol="0">
            <a:spAutoFit/>
          </a:bodyPr>
          <a:lstStyle/>
          <a:p>
            <a:r>
              <a:rPr lang="es-ES" sz="1200" dirty="0"/>
              <a:t>Agrupar patrones de vibración, temperatura o consumo eléctrico de motores y maquinaria para detectar comportamientos fuera de lo común (anomalías).</a:t>
            </a:r>
            <a:r>
              <a:rPr lang="en-US" sz="1200" dirty="0"/>
              <a:t> </a:t>
            </a:r>
            <a:r>
              <a:rPr lang="es-ES" sz="1200" dirty="0" err="1"/>
              <a:t>Sobretodo</a:t>
            </a:r>
            <a:r>
              <a:rPr lang="es-ES" sz="1200" dirty="0"/>
              <a:t> cuando no tenemos referencia de qué valores se consideran anomalías.</a:t>
            </a:r>
          </a:p>
        </p:txBody>
      </p:sp>
      <p:pic>
        <p:nvPicPr>
          <p:cNvPr id="10" name="Picture 9">
            <a:extLst>
              <a:ext uri="{FF2B5EF4-FFF2-40B4-BE49-F238E27FC236}">
                <a16:creationId xmlns:a16="http://schemas.microsoft.com/office/drawing/2014/main" id="{91E7D8F3-D56C-46E8-9AB9-C33027153F66}"/>
              </a:ext>
            </a:extLst>
          </p:cNvPr>
          <p:cNvPicPr>
            <a:picLocks noChangeAspect="1"/>
          </p:cNvPicPr>
          <p:nvPr/>
        </p:nvPicPr>
        <p:blipFill>
          <a:blip r:embed="rId4"/>
          <a:stretch>
            <a:fillRect/>
          </a:stretch>
        </p:blipFill>
        <p:spPr>
          <a:xfrm>
            <a:off x="512062" y="3490768"/>
            <a:ext cx="4470611" cy="1944067"/>
          </a:xfrm>
          <a:prstGeom prst="rect">
            <a:avLst/>
          </a:prstGeom>
        </p:spPr>
      </p:pic>
      <p:pic>
        <p:nvPicPr>
          <p:cNvPr id="1032" name="Picture 8" descr="Incremental Clustering for Predictive Maintenance in Cryogenics for Radio  Astronomy">
            <a:extLst>
              <a:ext uri="{FF2B5EF4-FFF2-40B4-BE49-F238E27FC236}">
                <a16:creationId xmlns:a16="http://schemas.microsoft.com/office/drawing/2014/main" id="{E7F85023-1B3C-4237-993A-10CF677F05E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23308" y="3263601"/>
            <a:ext cx="3608630" cy="26441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60142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ángulo redondeado 23"/>
          <p:cNvSpPr/>
          <p:nvPr/>
        </p:nvSpPr>
        <p:spPr>
          <a:xfrm>
            <a:off x="1080252" y="2014284"/>
            <a:ext cx="1958784" cy="461665"/>
          </a:xfrm>
          <a:prstGeom prst="roundRect">
            <a:avLst/>
          </a:prstGeom>
          <a:solidFill>
            <a:srgbClr val="006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b="1" dirty="0"/>
              <a:t>Control de calidad</a:t>
            </a:r>
          </a:p>
        </p:txBody>
      </p:sp>
      <p:sp>
        <p:nvSpPr>
          <p:cNvPr id="4" name="Marcador de número de diapositiva 3"/>
          <p:cNvSpPr>
            <a:spLocks noGrp="1"/>
          </p:cNvSpPr>
          <p:nvPr>
            <p:ph type="sldNum" sz="quarter" idx="12"/>
          </p:nvPr>
        </p:nvSpPr>
        <p:spPr/>
        <p:txBody>
          <a:bodyPr/>
          <a:lstStyle/>
          <a:p>
            <a:fld id="{F72B40EF-D53A-41AA-87B6-B9F74BA43E09}" type="slidenum">
              <a:rPr lang="es-ES" smtClean="0"/>
              <a:t>38</a:t>
            </a:fld>
            <a:endParaRPr lang="es-ES" dirty="0"/>
          </a:p>
        </p:txBody>
      </p:sp>
      <p:sp>
        <p:nvSpPr>
          <p:cNvPr id="22" name="Título 1"/>
          <p:cNvSpPr txBox="1">
            <a:spLocks/>
          </p:cNvSpPr>
          <p:nvPr/>
        </p:nvSpPr>
        <p:spPr>
          <a:xfrm>
            <a:off x="1080252" y="1238792"/>
            <a:ext cx="7077630" cy="763455"/>
          </a:xfrm>
          <a:prstGeom prst="rect">
            <a:avLst/>
          </a:prstGeom>
        </p:spPr>
        <p:txBody>
          <a:bodyPr vert="horz" lIns="91440" tIns="45720" rIns="91440" bIns="45720" rtlCol="0" anchor="ctr">
            <a:normAutofit/>
          </a:bodyPr>
          <a:lstStyle>
            <a:lvl1pPr algn="ctr" defTabSz="914377" rtl="0" eaLnBrk="1" latinLnBrk="0" hangingPunct="1">
              <a:lnSpc>
                <a:spcPct val="90000"/>
              </a:lnSpc>
              <a:spcBef>
                <a:spcPct val="0"/>
              </a:spcBef>
              <a:buNone/>
              <a:defRPr sz="4000" kern="1200">
                <a:solidFill>
                  <a:schemeClr val="tx1"/>
                </a:solidFill>
                <a:latin typeface="+mj-lt"/>
                <a:ea typeface="+mj-ea"/>
                <a:cs typeface="+mj-cs"/>
              </a:defRPr>
            </a:lvl1pPr>
          </a:lstStyle>
          <a:p>
            <a:pPr algn="l"/>
            <a:r>
              <a:rPr lang="es-ES" sz="2400" b="1" dirty="0"/>
              <a:t>Aplicaciones del </a:t>
            </a:r>
            <a:r>
              <a:rPr lang="es-ES" sz="2400" b="1" dirty="0" err="1"/>
              <a:t>Clustering</a:t>
            </a:r>
            <a:r>
              <a:rPr lang="es-ES" sz="2400" b="1" dirty="0"/>
              <a:t> – Mecatrónica e </a:t>
            </a:r>
            <a:r>
              <a:rPr lang="es-ES" sz="2400" b="1" dirty="0" err="1"/>
              <a:t>Indústria</a:t>
            </a:r>
            <a:r>
              <a:rPr lang="es-ES" sz="2400" b="1" dirty="0"/>
              <a:t> 4.0</a:t>
            </a:r>
          </a:p>
        </p:txBody>
      </p:sp>
      <p:sp>
        <p:nvSpPr>
          <p:cNvPr id="12" name="Elipse 11">
            <a:extLst>
              <a:ext uri="{FF2B5EF4-FFF2-40B4-BE49-F238E27FC236}">
                <a16:creationId xmlns:a16="http://schemas.microsoft.com/office/drawing/2014/main" id="{F784526D-411E-4DFB-8E65-7BC68A17CD9A}"/>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3" name="Imagen 12">
            <a:extLst>
              <a:ext uri="{FF2B5EF4-FFF2-40B4-BE49-F238E27FC236}">
                <a16:creationId xmlns:a16="http://schemas.microsoft.com/office/drawing/2014/main" id="{3048096C-15BF-4539-A28D-5AF144D9C5A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14" name="Conector recto 13">
            <a:extLst>
              <a:ext uri="{FF2B5EF4-FFF2-40B4-BE49-F238E27FC236}">
                <a16:creationId xmlns:a16="http://schemas.microsoft.com/office/drawing/2014/main" id="{EDD048AE-14B4-45DD-BA64-F9982B22AA85}"/>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CC89A027-AA04-4520-8358-838BCA4D7AD3}"/>
              </a:ext>
            </a:extLst>
          </p:cNvPr>
          <p:cNvSpPr txBox="1"/>
          <p:nvPr/>
        </p:nvSpPr>
        <p:spPr>
          <a:xfrm>
            <a:off x="1032041" y="2539162"/>
            <a:ext cx="7599897" cy="830997"/>
          </a:xfrm>
          <a:prstGeom prst="rect">
            <a:avLst/>
          </a:prstGeom>
          <a:noFill/>
        </p:spPr>
        <p:txBody>
          <a:bodyPr wrap="square" rtlCol="0">
            <a:spAutoFit/>
          </a:bodyPr>
          <a:lstStyle/>
          <a:p>
            <a:r>
              <a:rPr lang="es-ES" sz="1200" dirty="0"/>
              <a:t>Agrupar muestras de productos con base en múltiples características medidas durante el control de calidad para identificar grupos homogéneos (y detectar posibles lotes defectuosos).</a:t>
            </a:r>
          </a:p>
          <a:p>
            <a:r>
              <a:rPr lang="es-ES" sz="1200" dirty="0"/>
              <a:t>Por ejemplo, se puede hacer </a:t>
            </a:r>
            <a:r>
              <a:rPr lang="es-ES" sz="1200" dirty="0" err="1"/>
              <a:t>clustering</a:t>
            </a:r>
            <a:r>
              <a:rPr lang="es-ES" sz="1200" dirty="0"/>
              <a:t> de señales obtenidos a través de sensores ópticos en una línea de inspección para clasificar defectos en piezas.</a:t>
            </a:r>
          </a:p>
        </p:txBody>
      </p:sp>
      <p:pic>
        <p:nvPicPr>
          <p:cNvPr id="2054" name="Picture 6" descr="Unsupervised Anomaly detection on Spotify data: K-Means vs Local Outlier  Factor | by Isaac Arroyo | TDS Archive | Medium">
            <a:extLst>
              <a:ext uri="{FF2B5EF4-FFF2-40B4-BE49-F238E27FC236}">
                <a16:creationId xmlns:a16="http://schemas.microsoft.com/office/drawing/2014/main" id="{C376FF7D-DFEF-414D-8226-2389C125AB5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0251" y="3487842"/>
            <a:ext cx="2504290" cy="3130363"/>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0BEA6239-52A9-4A97-98AF-B6BA9E8ECEA6}"/>
              </a:ext>
            </a:extLst>
          </p:cNvPr>
          <p:cNvSpPr txBox="1"/>
          <p:nvPr/>
        </p:nvSpPr>
        <p:spPr>
          <a:xfrm>
            <a:off x="4218838" y="5876322"/>
            <a:ext cx="4388671" cy="430887"/>
          </a:xfrm>
          <a:prstGeom prst="rect">
            <a:avLst/>
          </a:prstGeom>
          <a:noFill/>
        </p:spPr>
        <p:txBody>
          <a:bodyPr wrap="square">
            <a:spAutoFit/>
          </a:bodyPr>
          <a:lstStyle/>
          <a:p>
            <a:pPr algn="ctr"/>
            <a:r>
              <a:rPr lang="en-150" sz="1100" dirty="0">
                <a:hlinkClick r:id="rId5"/>
              </a:rPr>
              <a:t>https://medium.com/data-science/anomaly-detection-in-python-part-2-multivariate-unsupervised-methods-and-code-b311a63f298b</a:t>
            </a:r>
            <a:r>
              <a:rPr lang="en-US" sz="1100" dirty="0"/>
              <a:t> </a:t>
            </a:r>
            <a:endParaRPr lang="en-150" sz="1100" dirty="0"/>
          </a:p>
        </p:txBody>
      </p:sp>
      <p:pic>
        <p:nvPicPr>
          <p:cNvPr id="2061" name="Picture 13">
            <a:extLst>
              <a:ext uri="{FF2B5EF4-FFF2-40B4-BE49-F238E27FC236}">
                <a16:creationId xmlns:a16="http://schemas.microsoft.com/office/drawing/2014/main" id="{E9B0BA77-7D51-437E-BFD2-C5D6BF1135C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2166"/>
          <a:stretch/>
        </p:blipFill>
        <p:spPr bwMode="auto">
          <a:xfrm>
            <a:off x="4390559" y="3532799"/>
            <a:ext cx="4045230" cy="2322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37166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ángulo redondeado 23"/>
          <p:cNvSpPr/>
          <p:nvPr/>
        </p:nvSpPr>
        <p:spPr>
          <a:xfrm>
            <a:off x="1080251" y="2014284"/>
            <a:ext cx="4164101" cy="461665"/>
          </a:xfrm>
          <a:prstGeom prst="roundRect">
            <a:avLst/>
          </a:prstGeom>
          <a:solidFill>
            <a:srgbClr val="006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b="1" dirty="0"/>
              <a:t>Identificar perfiles de conductores de </a:t>
            </a:r>
            <a:r>
              <a:rPr lang="es-ES" b="1" dirty="0" err="1"/>
              <a:t>EVs</a:t>
            </a:r>
            <a:endParaRPr lang="es-ES" b="1" dirty="0"/>
          </a:p>
        </p:txBody>
      </p:sp>
      <p:sp>
        <p:nvSpPr>
          <p:cNvPr id="4" name="Marcador de número de diapositiva 3"/>
          <p:cNvSpPr>
            <a:spLocks noGrp="1"/>
          </p:cNvSpPr>
          <p:nvPr>
            <p:ph type="sldNum" sz="quarter" idx="12"/>
          </p:nvPr>
        </p:nvSpPr>
        <p:spPr/>
        <p:txBody>
          <a:bodyPr/>
          <a:lstStyle/>
          <a:p>
            <a:fld id="{F72B40EF-D53A-41AA-87B6-B9F74BA43E09}" type="slidenum">
              <a:rPr lang="es-ES" smtClean="0"/>
              <a:t>39</a:t>
            </a:fld>
            <a:endParaRPr lang="es-ES" dirty="0"/>
          </a:p>
        </p:txBody>
      </p:sp>
      <p:sp>
        <p:nvSpPr>
          <p:cNvPr id="22" name="Título 1"/>
          <p:cNvSpPr txBox="1">
            <a:spLocks/>
          </p:cNvSpPr>
          <p:nvPr/>
        </p:nvSpPr>
        <p:spPr>
          <a:xfrm>
            <a:off x="1080252" y="1238792"/>
            <a:ext cx="7077630" cy="763455"/>
          </a:xfrm>
          <a:prstGeom prst="rect">
            <a:avLst/>
          </a:prstGeom>
        </p:spPr>
        <p:txBody>
          <a:bodyPr vert="horz" lIns="91440" tIns="45720" rIns="91440" bIns="45720" rtlCol="0" anchor="ctr">
            <a:normAutofit/>
          </a:bodyPr>
          <a:lstStyle>
            <a:lvl1pPr algn="ctr" defTabSz="914377" rtl="0" eaLnBrk="1" latinLnBrk="0" hangingPunct="1">
              <a:lnSpc>
                <a:spcPct val="90000"/>
              </a:lnSpc>
              <a:spcBef>
                <a:spcPct val="0"/>
              </a:spcBef>
              <a:buNone/>
              <a:defRPr sz="4000" kern="1200">
                <a:solidFill>
                  <a:schemeClr val="tx1"/>
                </a:solidFill>
                <a:latin typeface="+mj-lt"/>
                <a:ea typeface="+mj-ea"/>
                <a:cs typeface="+mj-cs"/>
              </a:defRPr>
            </a:lvl1pPr>
          </a:lstStyle>
          <a:p>
            <a:pPr algn="l"/>
            <a:r>
              <a:rPr lang="es-ES" sz="2400" b="1" dirty="0"/>
              <a:t>Aplicaciones del </a:t>
            </a:r>
            <a:r>
              <a:rPr lang="es-ES" sz="2400" b="1" dirty="0" err="1"/>
              <a:t>Clustering</a:t>
            </a:r>
            <a:r>
              <a:rPr lang="es-ES" sz="2400" b="1" dirty="0"/>
              <a:t> – Mecatrónica e </a:t>
            </a:r>
            <a:r>
              <a:rPr lang="es-ES" sz="2400" b="1" dirty="0" err="1"/>
              <a:t>Indústria</a:t>
            </a:r>
            <a:r>
              <a:rPr lang="es-ES" sz="2400" b="1" dirty="0"/>
              <a:t> 4.0</a:t>
            </a:r>
          </a:p>
        </p:txBody>
      </p:sp>
      <p:sp>
        <p:nvSpPr>
          <p:cNvPr id="12" name="Elipse 11">
            <a:extLst>
              <a:ext uri="{FF2B5EF4-FFF2-40B4-BE49-F238E27FC236}">
                <a16:creationId xmlns:a16="http://schemas.microsoft.com/office/drawing/2014/main" id="{F784526D-411E-4DFB-8E65-7BC68A17CD9A}"/>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3" name="Imagen 12">
            <a:extLst>
              <a:ext uri="{FF2B5EF4-FFF2-40B4-BE49-F238E27FC236}">
                <a16:creationId xmlns:a16="http://schemas.microsoft.com/office/drawing/2014/main" id="{3048096C-15BF-4539-A28D-5AF144D9C5A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14" name="Conector recto 13">
            <a:extLst>
              <a:ext uri="{FF2B5EF4-FFF2-40B4-BE49-F238E27FC236}">
                <a16:creationId xmlns:a16="http://schemas.microsoft.com/office/drawing/2014/main" id="{EDD048AE-14B4-45DD-BA64-F9982B22AA85}"/>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CC89A027-AA04-4520-8358-838BCA4D7AD3}"/>
              </a:ext>
            </a:extLst>
          </p:cNvPr>
          <p:cNvSpPr txBox="1"/>
          <p:nvPr/>
        </p:nvSpPr>
        <p:spPr>
          <a:xfrm>
            <a:off x="1032041" y="2539162"/>
            <a:ext cx="7599897" cy="830997"/>
          </a:xfrm>
          <a:prstGeom prst="rect">
            <a:avLst/>
          </a:prstGeom>
          <a:noFill/>
        </p:spPr>
        <p:txBody>
          <a:bodyPr wrap="square" rtlCol="0">
            <a:spAutoFit/>
          </a:bodyPr>
          <a:lstStyle/>
          <a:p>
            <a:r>
              <a:rPr lang="es-ES" sz="1200" dirty="0"/>
              <a:t>Agrupar usuarios permite adaptar la infraestructura de carga, diseñar estrategias de gestión energética y mejorar la experiencia de usuario.</a:t>
            </a:r>
          </a:p>
          <a:p>
            <a:r>
              <a:rPr lang="es-ES" sz="1200" dirty="0"/>
              <a:t>Podemos detectar los usuarios que cargan el vehículo cada noche, los que solo lo usan durante el fin de semana (o al revés), los taxistas / conductores de Uber, etc. y ofrecer servicios para cada tipo de usuario.</a:t>
            </a:r>
          </a:p>
        </p:txBody>
      </p:sp>
      <p:pic>
        <p:nvPicPr>
          <p:cNvPr id="3076" name="Picture 4">
            <a:extLst>
              <a:ext uri="{FF2B5EF4-FFF2-40B4-BE49-F238E27FC236}">
                <a16:creationId xmlns:a16="http://schemas.microsoft.com/office/drawing/2014/main" id="{0F0DD95F-DEFC-44B7-B5F9-F0502041018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59345" y="3424421"/>
            <a:ext cx="5319443" cy="287767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53A1FA1A-4457-4BEB-AB82-E6B103294F29}"/>
              </a:ext>
            </a:extLst>
          </p:cNvPr>
          <p:cNvSpPr txBox="1"/>
          <p:nvPr/>
        </p:nvSpPr>
        <p:spPr>
          <a:xfrm>
            <a:off x="2328584" y="6415806"/>
            <a:ext cx="4580964" cy="246221"/>
          </a:xfrm>
          <a:prstGeom prst="rect">
            <a:avLst/>
          </a:prstGeom>
          <a:noFill/>
        </p:spPr>
        <p:txBody>
          <a:bodyPr wrap="square">
            <a:spAutoFit/>
          </a:bodyPr>
          <a:lstStyle/>
          <a:p>
            <a:pPr algn="ctr"/>
            <a:r>
              <a:rPr lang="en-150" sz="1000" dirty="0">
                <a:hlinkClick r:id="rId5"/>
              </a:rPr>
              <a:t>https://www.sciencedirect.com/science/article/pii/S0959652623015317</a:t>
            </a:r>
            <a:r>
              <a:rPr lang="en-US" sz="1000" dirty="0"/>
              <a:t> </a:t>
            </a:r>
            <a:endParaRPr lang="en-150" sz="1000" dirty="0"/>
          </a:p>
        </p:txBody>
      </p:sp>
    </p:spTree>
    <p:extLst>
      <p:ext uri="{BB962C8B-B14F-4D97-AF65-F5344CB8AC3E}">
        <p14:creationId xmlns:p14="http://schemas.microsoft.com/office/powerpoint/2010/main" val="35185220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F72B40EF-D53A-41AA-87B6-B9F74BA43E09}" type="slidenum">
              <a:rPr lang="es-ES" smtClean="0"/>
              <a:t>40</a:t>
            </a:fld>
            <a:endParaRPr lang="es-ES"/>
          </a:p>
        </p:txBody>
      </p:sp>
      <p:sp>
        <p:nvSpPr>
          <p:cNvPr id="3" name="CuadroTexto 2"/>
          <p:cNvSpPr txBox="1"/>
          <p:nvPr/>
        </p:nvSpPr>
        <p:spPr>
          <a:xfrm>
            <a:off x="699944" y="2247071"/>
            <a:ext cx="8291655" cy="2805063"/>
          </a:xfrm>
          <a:prstGeom prst="rect">
            <a:avLst/>
          </a:prstGeom>
          <a:noFill/>
        </p:spPr>
        <p:txBody>
          <a:bodyPr wrap="square" rtlCol="0">
            <a:spAutoFit/>
          </a:bodyPr>
          <a:lstStyle/>
          <a:p>
            <a:pPr>
              <a:lnSpc>
                <a:spcPct val="150000"/>
              </a:lnSpc>
            </a:pPr>
            <a:r>
              <a:rPr lang="en-US" sz="2400" dirty="0" err="1">
                <a:solidFill>
                  <a:schemeClr val="bg1">
                    <a:lumMod val="75000"/>
                  </a:schemeClr>
                </a:solidFill>
                <a:latin typeface="+mj-lt"/>
              </a:rPr>
              <a:t>Diferenciar</a:t>
            </a:r>
            <a:r>
              <a:rPr lang="en-US" sz="2400" dirty="0">
                <a:solidFill>
                  <a:schemeClr val="bg1">
                    <a:lumMod val="75000"/>
                  </a:schemeClr>
                </a:solidFill>
                <a:latin typeface="+mj-lt"/>
              </a:rPr>
              <a:t> el </a:t>
            </a:r>
            <a:r>
              <a:rPr lang="en-US" sz="2400" dirty="0" err="1">
                <a:solidFill>
                  <a:schemeClr val="bg1">
                    <a:lumMod val="75000"/>
                  </a:schemeClr>
                </a:solidFill>
                <a:latin typeface="+mj-lt"/>
              </a:rPr>
              <a:t>aprendizaje</a:t>
            </a:r>
            <a:r>
              <a:rPr lang="en-US" sz="2400" dirty="0">
                <a:solidFill>
                  <a:schemeClr val="bg1">
                    <a:lumMod val="75000"/>
                  </a:schemeClr>
                </a:solidFill>
                <a:latin typeface="+mj-lt"/>
              </a:rPr>
              <a:t> </a:t>
            </a:r>
            <a:r>
              <a:rPr lang="en-US" sz="2400" dirty="0" err="1">
                <a:solidFill>
                  <a:schemeClr val="bg1">
                    <a:lumMod val="75000"/>
                  </a:schemeClr>
                </a:solidFill>
                <a:latin typeface="+mj-lt"/>
              </a:rPr>
              <a:t>Supervisado</a:t>
            </a:r>
            <a:r>
              <a:rPr lang="en-US" sz="2400" dirty="0">
                <a:solidFill>
                  <a:schemeClr val="bg1">
                    <a:lumMod val="75000"/>
                  </a:schemeClr>
                </a:solidFill>
                <a:latin typeface="+mj-lt"/>
              </a:rPr>
              <a:t> y No </a:t>
            </a:r>
            <a:r>
              <a:rPr lang="en-US" sz="2400" dirty="0" err="1">
                <a:solidFill>
                  <a:schemeClr val="bg1">
                    <a:lumMod val="75000"/>
                  </a:schemeClr>
                </a:solidFill>
                <a:latin typeface="+mj-lt"/>
              </a:rPr>
              <a:t>Supervisado</a:t>
            </a:r>
            <a:r>
              <a:rPr lang="en-US" sz="2400" dirty="0">
                <a:solidFill>
                  <a:schemeClr val="bg1">
                    <a:lumMod val="75000"/>
                  </a:schemeClr>
                </a:solidFill>
                <a:latin typeface="+mj-lt"/>
              </a:rPr>
              <a:t>.</a:t>
            </a:r>
          </a:p>
          <a:p>
            <a:pPr>
              <a:lnSpc>
                <a:spcPct val="150000"/>
              </a:lnSpc>
            </a:pPr>
            <a:r>
              <a:rPr lang="en-US" sz="2400" dirty="0" err="1">
                <a:solidFill>
                  <a:schemeClr val="bg1">
                    <a:lumMod val="75000"/>
                  </a:schemeClr>
                </a:solidFill>
                <a:latin typeface="+mj-lt"/>
              </a:rPr>
              <a:t>Algoritmos</a:t>
            </a:r>
            <a:r>
              <a:rPr lang="en-US" sz="2400" dirty="0">
                <a:solidFill>
                  <a:schemeClr val="bg1">
                    <a:lumMod val="75000"/>
                  </a:schemeClr>
                </a:solidFill>
                <a:latin typeface="+mj-lt"/>
              </a:rPr>
              <a:t> </a:t>
            </a:r>
            <a:r>
              <a:rPr lang="en-US" sz="2400" dirty="0" err="1">
                <a:solidFill>
                  <a:schemeClr val="bg1">
                    <a:lumMod val="75000"/>
                  </a:schemeClr>
                </a:solidFill>
                <a:latin typeface="+mj-lt"/>
              </a:rPr>
              <a:t>utilizados</a:t>
            </a:r>
            <a:r>
              <a:rPr lang="en-US" sz="2400" dirty="0">
                <a:solidFill>
                  <a:schemeClr val="bg1">
                    <a:lumMod val="75000"/>
                  </a:schemeClr>
                </a:solidFill>
                <a:latin typeface="+mj-lt"/>
              </a:rPr>
              <a:t> </a:t>
            </a:r>
            <a:r>
              <a:rPr lang="en-US" sz="2400" dirty="0" err="1">
                <a:solidFill>
                  <a:schemeClr val="bg1">
                    <a:lumMod val="75000"/>
                  </a:schemeClr>
                </a:solidFill>
                <a:latin typeface="+mj-lt"/>
              </a:rPr>
              <a:t>en</a:t>
            </a:r>
            <a:r>
              <a:rPr lang="en-US" sz="2400" dirty="0">
                <a:solidFill>
                  <a:schemeClr val="bg1">
                    <a:lumMod val="75000"/>
                  </a:schemeClr>
                </a:solidFill>
                <a:latin typeface="+mj-lt"/>
              </a:rPr>
              <a:t> </a:t>
            </a:r>
            <a:r>
              <a:rPr lang="en-US" sz="2400" dirty="0" err="1">
                <a:solidFill>
                  <a:schemeClr val="bg1">
                    <a:lumMod val="75000"/>
                  </a:schemeClr>
                </a:solidFill>
                <a:latin typeface="+mj-lt"/>
              </a:rPr>
              <a:t>Aprendizaje</a:t>
            </a:r>
            <a:r>
              <a:rPr lang="en-US" sz="2400" dirty="0">
                <a:solidFill>
                  <a:schemeClr val="bg1">
                    <a:lumMod val="75000"/>
                  </a:schemeClr>
                </a:solidFill>
                <a:latin typeface="+mj-lt"/>
              </a:rPr>
              <a:t> No </a:t>
            </a:r>
            <a:r>
              <a:rPr lang="en-US" sz="2400" dirty="0" err="1">
                <a:solidFill>
                  <a:schemeClr val="bg1">
                    <a:lumMod val="75000"/>
                  </a:schemeClr>
                </a:solidFill>
                <a:latin typeface="+mj-lt"/>
              </a:rPr>
              <a:t>Supervisado</a:t>
            </a:r>
            <a:r>
              <a:rPr lang="en-US" sz="2400" dirty="0">
                <a:solidFill>
                  <a:schemeClr val="bg1">
                    <a:lumMod val="75000"/>
                  </a:schemeClr>
                </a:solidFill>
                <a:latin typeface="+mj-lt"/>
              </a:rPr>
              <a:t>.</a:t>
            </a:r>
          </a:p>
          <a:p>
            <a:pPr>
              <a:lnSpc>
                <a:spcPct val="150000"/>
              </a:lnSpc>
            </a:pPr>
            <a:r>
              <a:rPr lang="en-US" sz="2400" dirty="0" err="1">
                <a:solidFill>
                  <a:schemeClr val="bg1">
                    <a:lumMod val="75000"/>
                  </a:schemeClr>
                </a:solidFill>
                <a:latin typeface="+mj-lt"/>
              </a:rPr>
              <a:t>Métricas</a:t>
            </a:r>
            <a:r>
              <a:rPr lang="en-US" sz="2400" dirty="0">
                <a:solidFill>
                  <a:schemeClr val="bg1">
                    <a:lumMod val="75000"/>
                  </a:schemeClr>
                </a:solidFill>
                <a:latin typeface="+mj-lt"/>
              </a:rPr>
              <a:t> para </a:t>
            </a:r>
            <a:r>
              <a:rPr lang="en-US" sz="2400" dirty="0" err="1">
                <a:solidFill>
                  <a:schemeClr val="bg1">
                    <a:lumMod val="75000"/>
                  </a:schemeClr>
                </a:solidFill>
                <a:latin typeface="+mj-lt"/>
              </a:rPr>
              <a:t>encontrar</a:t>
            </a:r>
            <a:r>
              <a:rPr lang="en-US" sz="2400" dirty="0">
                <a:solidFill>
                  <a:schemeClr val="bg1">
                    <a:lumMod val="75000"/>
                  </a:schemeClr>
                </a:solidFill>
                <a:latin typeface="+mj-lt"/>
              </a:rPr>
              <a:t> el </a:t>
            </a:r>
            <a:r>
              <a:rPr lang="en-US" sz="2400" dirty="0" err="1">
                <a:solidFill>
                  <a:schemeClr val="bg1">
                    <a:lumMod val="75000"/>
                  </a:schemeClr>
                </a:solidFill>
                <a:latin typeface="+mj-lt"/>
              </a:rPr>
              <a:t>número</a:t>
            </a:r>
            <a:r>
              <a:rPr lang="en-US" sz="2400" dirty="0">
                <a:solidFill>
                  <a:schemeClr val="bg1">
                    <a:lumMod val="75000"/>
                  </a:schemeClr>
                </a:solidFill>
                <a:latin typeface="+mj-lt"/>
              </a:rPr>
              <a:t> </a:t>
            </a:r>
            <a:r>
              <a:rPr lang="en-US" sz="2400" dirty="0" err="1">
                <a:solidFill>
                  <a:schemeClr val="bg1">
                    <a:lumMod val="75000"/>
                  </a:schemeClr>
                </a:solidFill>
                <a:latin typeface="+mj-lt"/>
              </a:rPr>
              <a:t>óptimo</a:t>
            </a:r>
            <a:r>
              <a:rPr lang="en-US" sz="2400" dirty="0">
                <a:solidFill>
                  <a:schemeClr val="bg1">
                    <a:lumMod val="75000"/>
                  </a:schemeClr>
                </a:solidFill>
                <a:latin typeface="+mj-lt"/>
              </a:rPr>
              <a:t> de clusters.</a:t>
            </a:r>
          </a:p>
          <a:p>
            <a:pPr>
              <a:lnSpc>
                <a:spcPct val="150000"/>
              </a:lnSpc>
            </a:pPr>
            <a:r>
              <a:rPr lang="en-US" sz="2400" dirty="0" err="1">
                <a:solidFill>
                  <a:schemeClr val="bg1">
                    <a:lumMod val="75000"/>
                  </a:schemeClr>
                </a:solidFill>
                <a:latin typeface="+mj-lt"/>
              </a:rPr>
              <a:t>Aplicaciones</a:t>
            </a:r>
            <a:r>
              <a:rPr lang="en-US" sz="2400" dirty="0">
                <a:solidFill>
                  <a:schemeClr val="bg1">
                    <a:lumMod val="75000"/>
                  </a:schemeClr>
                </a:solidFill>
                <a:latin typeface="+mj-lt"/>
              </a:rPr>
              <a:t> del clustering.</a:t>
            </a:r>
          </a:p>
          <a:p>
            <a:pPr>
              <a:lnSpc>
                <a:spcPct val="150000"/>
              </a:lnSpc>
            </a:pPr>
            <a:r>
              <a:rPr lang="en-US" sz="2400" b="1" dirty="0" err="1">
                <a:solidFill>
                  <a:srgbClr val="006DA5"/>
                </a:solidFill>
              </a:rPr>
              <a:t>Reducción</a:t>
            </a:r>
            <a:r>
              <a:rPr lang="en-US" sz="2400" b="1" dirty="0">
                <a:solidFill>
                  <a:srgbClr val="006DA5"/>
                </a:solidFill>
              </a:rPr>
              <a:t> de </a:t>
            </a:r>
            <a:r>
              <a:rPr lang="en-US" sz="2400" b="1" dirty="0" err="1">
                <a:solidFill>
                  <a:srgbClr val="006DA5"/>
                </a:solidFill>
              </a:rPr>
              <a:t>dimensiones</a:t>
            </a:r>
            <a:r>
              <a:rPr lang="en-US" sz="2400" b="1" dirty="0">
                <a:solidFill>
                  <a:srgbClr val="006DA5"/>
                </a:solidFill>
              </a:rPr>
              <a:t>.</a:t>
            </a:r>
          </a:p>
        </p:txBody>
      </p:sp>
    </p:spTree>
    <p:extLst>
      <p:ext uri="{BB962C8B-B14F-4D97-AF65-F5344CB8AC3E}">
        <p14:creationId xmlns:p14="http://schemas.microsoft.com/office/powerpoint/2010/main" val="8396510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ángulo redondeado 23"/>
          <p:cNvSpPr/>
          <p:nvPr/>
        </p:nvSpPr>
        <p:spPr>
          <a:xfrm>
            <a:off x="1080252" y="3435093"/>
            <a:ext cx="1612148" cy="461665"/>
          </a:xfrm>
          <a:prstGeom prst="round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Marcador de número de diapositiva 3"/>
          <p:cNvSpPr>
            <a:spLocks noGrp="1"/>
          </p:cNvSpPr>
          <p:nvPr>
            <p:ph type="sldNum" sz="quarter" idx="12"/>
          </p:nvPr>
        </p:nvSpPr>
        <p:spPr/>
        <p:txBody>
          <a:bodyPr/>
          <a:lstStyle/>
          <a:p>
            <a:fld id="{F72B40EF-D53A-41AA-87B6-B9F74BA43E09}" type="slidenum">
              <a:rPr lang="es-ES" smtClean="0"/>
              <a:t>41</a:t>
            </a:fld>
            <a:endParaRPr lang="es-ES"/>
          </a:p>
        </p:txBody>
      </p:sp>
      <p:sp>
        <p:nvSpPr>
          <p:cNvPr id="7" name="CuadroTexto 6"/>
          <p:cNvSpPr txBox="1"/>
          <p:nvPr/>
        </p:nvSpPr>
        <p:spPr>
          <a:xfrm>
            <a:off x="1118352" y="3420846"/>
            <a:ext cx="1491892" cy="461665"/>
          </a:xfrm>
          <a:prstGeom prst="rect">
            <a:avLst/>
          </a:prstGeom>
          <a:noFill/>
        </p:spPr>
        <p:txBody>
          <a:bodyPr wrap="square" rtlCol="0">
            <a:spAutoFit/>
          </a:bodyPr>
          <a:lstStyle/>
          <a:p>
            <a:r>
              <a:rPr lang="en-US" sz="2400" b="1" dirty="0">
                <a:solidFill>
                  <a:schemeClr val="bg1"/>
                </a:solidFill>
                <a:ea typeface="Cambria Math" panose="02040503050406030204" pitchFamily="18" charset="0"/>
              </a:rPr>
              <a:t>Clustering</a:t>
            </a:r>
          </a:p>
        </p:txBody>
      </p:sp>
      <p:sp>
        <p:nvSpPr>
          <p:cNvPr id="11" name="Título 1"/>
          <p:cNvSpPr txBox="1">
            <a:spLocks/>
          </p:cNvSpPr>
          <p:nvPr/>
        </p:nvSpPr>
        <p:spPr>
          <a:xfrm>
            <a:off x="1080252" y="1233030"/>
            <a:ext cx="6983495" cy="763455"/>
          </a:xfrm>
          <a:prstGeom prst="rect">
            <a:avLst/>
          </a:prstGeom>
        </p:spPr>
        <p:txBody>
          <a:bodyPr vert="horz" lIns="91440" tIns="45720" rIns="91440" bIns="45720" rtlCol="0" anchor="ctr">
            <a:normAutofit/>
          </a:bodyPr>
          <a:lstStyle>
            <a:lvl1pPr algn="ctr" defTabSz="914377" rtl="0" eaLnBrk="1" latinLnBrk="0" hangingPunct="1">
              <a:lnSpc>
                <a:spcPct val="90000"/>
              </a:lnSpc>
              <a:spcBef>
                <a:spcPct val="0"/>
              </a:spcBef>
              <a:buNone/>
              <a:defRPr sz="4000" kern="1200">
                <a:solidFill>
                  <a:schemeClr val="tx1"/>
                </a:solidFill>
                <a:latin typeface="+mj-lt"/>
                <a:ea typeface="+mj-ea"/>
                <a:cs typeface="+mj-cs"/>
              </a:defRPr>
            </a:lvl1pPr>
          </a:lstStyle>
          <a:p>
            <a:pPr algn="l"/>
            <a:r>
              <a:rPr lang="es-ES" sz="2400" b="1" dirty="0"/>
              <a:t>Introducción al aprendizaje no supervisado</a:t>
            </a:r>
          </a:p>
        </p:txBody>
      </p:sp>
      <p:sp>
        <p:nvSpPr>
          <p:cNvPr id="14" name="CuadroTexto 13"/>
          <p:cNvSpPr txBox="1"/>
          <p:nvPr/>
        </p:nvSpPr>
        <p:spPr>
          <a:xfrm>
            <a:off x="1080253" y="1996485"/>
            <a:ext cx="5377698" cy="369332"/>
          </a:xfrm>
          <a:prstGeom prst="rect">
            <a:avLst/>
          </a:prstGeom>
          <a:noFill/>
        </p:spPr>
        <p:txBody>
          <a:bodyPr wrap="square" rtlCol="0">
            <a:spAutoFit/>
          </a:bodyPr>
          <a:lstStyle/>
          <a:p>
            <a:r>
              <a:rPr lang="en-US" b="1" dirty="0">
                <a:solidFill>
                  <a:srgbClr val="006DA5"/>
                </a:solidFill>
              </a:rPr>
              <a:t>¿</a:t>
            </a:r>
            <a:r>
              <a:rPr lang="en-US" b="1" dirty="0" err="1">
                <a:solidFill>
                  <a:srgbClr val="006DA5"/>
                </a:solidFill>
              </a:rPr>
              <a:t>Qué</a:t>
            </a:r>
            <a:r>
              <a:rPr lang="en-US" b="1" dirty="0">
                <a:solidFill>
                  <a:srgbClr val="006DA5"/>
                </a:solidFill>
              </a:rPr>
              <a:t> </a:t>
            </a:r>
            <a:r>
              <a:rPr lang="en-US" b="1" dirty="0" err="1">
                <a:solidFill>
                  <a:srgbClr val="006DA5"/>
                </a:solidFill>
              </a:rPr>
              <a:t>abarca</a:t>
            </a:r>
            <a:r>
              <a:rPr lang="en-US" b="1" dirty="0">
                <a:solidFill>
                  <a:srgbClr val="006DA5"/>
                </a:solidFill>
              </a:rPr>
              <a:t> el </a:t>
            </a:r>
            <a:r>
              <a:rPr lang="en-US" b="1" dirty="0" err="1">
                <a:solidFill>
                  <a:srgbClr val="006DA5"/>
                </a:solidFill>
              </a:rPr>
              <a:t>aprendizaje</a:t>
            </a:r>
            <a:r>
              <a:rPr lang="en-US" b="1" dirty="0">
                <a:solidFill>
                  <a:srgbClr val="006DA5"/>
                </a:solidFill>
              </a:rPr>
              <a:t> no </a:t>
            </a:r>
            <a:r>
              <a:rPr lang="en-US" b="1" dirty="0" err="1">
                <a:solidFill>
                  <a:srgbClr val="006DA5"/>
                </a:solidFill>
              </a:rPr>
              <a:t>supervisado</a:t>
            </a:r>
            <a:r>
              <a:rPr lang="en-US" b="1" dirty="0">
                <a:solidFill>
                  <a:srgbClr val="006DA5"/>
                </a:solidFill>
              </a:rPr>
              <a:t>?</a:t>
            </a:r>
          </a:p>
        </p:txBody>
      </p:sp>
      <p:sp>
        <p:nvSpPr>
          <p:cNvPr id="23" name="Rectángulo 22"/>
          <p:cNvSpPr/>
          <p:nvPr/>
        </p:nvSpPr>
        <p:spPr>
          <a:xfrm>
            <a:off x="2955673" y="3178658"/>
            <a:ext cx="5069975" cy="923330"/>
          </a:xfrm>
          <a:prstGeom prst="rect">
            <a:avLst/>
          </a:prstGeom>
        </p:spPr>
        <p:txBody>
          <a:bodyPr wrap="square">
            <a:spAutoFit/>
          </a:bodyPr>
          <a:lstStyle/>
          <a:p>
            <a:pPr marL="285750" indent="-285750">
              <a:buFont typeface="Arial" panose="020B0604020202020204" pitchFamily="34" charset="0"/>
              <a:buChar char="•"/>
            </a:pPr>
            <a:r>
              <a:rPr lang="en-US" dirty="0" err="1">
                <a:solidFill>
                  <a:schemeClr val="bg1">
                    <a:lumMod val="75000"/>
                  </a:schemeClr>
                </a:solidFill>
              </a:rPr>
              <a:t>Algoritmos</a:t>
            </a:r>
            <a:r>
              <a:rPr lang="en-US" dirty="0">
                <a:solidFill>
                  <a:schemeClr val="bg1">
                    <a:lumMod val="75000"/>
                  </a:schemeClr>
                </a:solidFill>
              </a:rPr>
              <a:t> de </a:t>
            </a:r>
            <a:r>
              <a:rPr lang="en-US" dirty="0" err="1">
                <a:solidFill>
                  <a:schemeClr val="bg1">
                    <a:lumMod val="75000"/>
                  </a:schemeClr>
                </a:solidFill>
              </a:rPr>
              <a:t>partición</a:t>
            </a:r>
            <a:r>
              <a:rPr lang="en-US" dirty="0">
                <a:solidFill>
                  <a:schemeClr val="bg1">
                    <a:lumMod val="75000"/>
                  </a:schemeClr>
                </a:solidFill>
              </a:rPr>
              <a:t> (K-means).</a:t>
            </a:r>
          </a:p>
          <a:p>
            <a:pPr marL="285750" indent="-285750">
              <a:buFont typeface="Arial" panose="020B0604020202020204" pitchFamily="34" charset="0"/>
              <a:buChar char="•"/>
            </a:pPr>
            <a:r>
              <a:rPr lang="en-US" dirty="0" err="1">
                <a:solidFill>
                  <a:schemeClr val="bg1">
                    <a:lumMod val="75000"/>
                  </a:schemeClr>
                </a:solidFill>
              </a:rPr>
              <a:t>Algoritmos</a:t>
            </a:r>
            <a:r>
              <a:rPr lang="en-US" dirty="0">
                <a:solidFill>
                  <a:schemeClr val="bg1">
                    <a:lumMod val="75000"/>
                  </a:schemeClr>
                </a:solidFill>
              </a:rPr>
              <a:t> </a:t>
            </a:r>
            <a:r>
              <a:rPr lang="en-US" dirty="0" err="1">
                <a:solidFill>
                  <a:schemeClr val="bg1">
                    <a:lumMod val="75000"/>
                  </a:schemeClr>
                </a:solidFill>
              </a:rPr>
              <a:t>basados</a:t>
            </a:r>
            <a:r>
              <a:rPr lang="en-US" dirty="0">
                <a:solidFill>
                  <a:schemeClr val="bg1">
                    <a:lumMod val="75000"/>
                  </a:schemeClr>
                </a:solidFill>
              </a:rPr>
              <a:t> </a:t>
            </a:r>
            <a:r>
              <a:rPr lang="en-US" dirty="0" err="1">
                <a:solidFill>
                  <a:schemeClr val="bg1">
                    <a:lumMod val="75000"/>
                  </a:schemeClr>
                </a:solidFill>
              </a:rPr>
              <a:t>en</a:t>
            </a:r>
            <a:r>
              <a:rPr lang="en-US" dirty="0">
                <a:solidFill>
                  <a:schemeClr val="bg1">
                    <a:lumMod val="75000"/>
                  </a:schemeClr>
                </a:solidFill>
              </a:rPr>
              <a:t> la </a:t>
            </a:r>
            <a:r>
              <a:rPr lang="en-US" dirty="0" err="1">
                <a:solidFill>
                  <a:schemeClr val="bg1">
                    <a:lumMod val="75000"/>
                  </a:schemeClr>
                </a:solidFill>
              </a:rPr>
              <a:t>jerarquía</a:t>
            </a:r>
            <a:r>
              <a:rPr lang="en-US" dirty="0">
                <a:solidFill>
                  <a:schemeClr val="bg1">
                    <a:lumMod val="75000"/>
                  </a:schemeClr>
                </a:solidFill>
              </a:rPr>
              <a:t> (Hierarchical).</a:t>
            </a:r>
          </a:p>
          <a:p>
            <a:pPr marL="285750" indent="-285750">
              <a:buFont typeface="Arial" panose="020B0604020202020204" pitchFamily="34" charset="0"/>
              <a:buChar char="•"/>
            </a:pPr>
            <a:r>
              <a:rPr lang="en-US" dirty="0" err="1">
                <a:solidFill>
                  <a:schemeClr val="bg1">
                    <a:lumMod val="75000"/>
                  </a:schemeClr>
                </a:solidFill>
              </a:rPr>
              <a:t>Algoritmos</a:t>
            </a:r>
            <a:r>
              <a:rPr lang="en-US" dirty="0">
                <a:solidFill>
                  <a:schemeClr val="bg1">
                    <a:lumMod val="75000"/>
                  </a:schemeClr>
                </a:solidFill>
              </a:rPr>
              <a:t> </a:t>
            </a:r>
            <a:r>
              <a:rPr lang="en-US" dirty="0" err="1">
                <a:solidFill>
                  <a:schemeClr val="bg1">
                    <a:lumMod val="75000"/>
                  </a:schemeClr>
                </a:solidFill>
              </a:rPr>
              <a:t>basados</a:t>
            </a:r>
            <a:r>
              <a:rPr lang="en-US" dirty="0">
                <a:solidFill>
                  <a:schemeClr val="bg1">
                    <a:lumMod val="75000"/>
                  </a:schemeClr>
                </a:solidFill>
              </a:rPr>
              <a:t> </a:t>
            </a:r>
            <a:r>
              <a:rPr lang="en-US" dirty="0" err="1">
                <a:solidFill>
                  <a:schemeClr val="bg1">
                    <a:lumMod val="75000"/>
                  </a:schemeClr>
                </a:solidFill>
              </a:rPr>
              <a:t>en</a:t>
            </a:r>
            <a:r>
              <a:rPr lang="en-US" dirty="0">
                <a:solidFill>
                  <a:schemeClr val="bg1">
                    <a:lumMod val="75000"/>
                  </a:schemeClr>
                </a:solidFill>
              </a:rPr>
              <a:t> la </a:t>
            </a:r>
            <a:r>
              <a:rPr lang="en-US" dirty="0" err="1">
                <a:solidFill>
                  <a:schemeClr val="bg1">
                    <a:lumMod val="75000"/>
                  </a:schemeClr>
                </a:solidFill>
              </a:rPr>
              <a:t>densidad</a:t>
            </a:r>
            <a:r>
              <a:rPr lang="en-US" dirty="0">
                <a:solidFill>
                  <a:schemeClr val="bg1">
                    <a:lumMod val="75000"/>
                  </a:schemeClr>
                </a:solidFill>
              </a:rPr>
              <a:t> (density).</a:t>
            </a:r>
          </a:p>
        </p:txBody>
      </p:sp>
      <p:sp>
        <p:nvSpPr>
          <p:cNvPr id="28" name="Corchetes 27"/>
          <p:cNvSpPr/>
          <p:nvPr/>
        </p:nvSpPr>
        <p:spPr>
          <a:xfrm>
            <a:off x="2955674" y="3178658"/>
            <a:ext cx="5176272" cy="992435"/>
          </a:xfrm>
          <a:prstGeom prst="bracketPair">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bg1">
                  <a:lumMod val="75000"/>
                </a:schemeClr>
              </a:solidFill>
            </a:endParaRPr>
          </a:p>
        </p:txBody>
      </p:sp>
      <p:sp>
        <p:nvSpPr>
          <p:cNvPr id="16" name="Elipse 15">
            <a:extLst>
              <a:ext uri="{FF2B5EF4-FFF2-40B4-BE49-F238E27FC236}">
                <a16:creationId xmlns:a16="http://schemas.microsoft.com/office/drawing/2014/main" id="{165A9DA1-6294-461E-B221-C05FF90BEA89}"/>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7" name="Imagen 16">
            <a:extLst>
              <a:ext uri="{FF2B5EF4-FFF2-40B4-BE49-F238E27FC236}">
                <a16:creationId xmlns:a16="http://schemas.microsoft.com/office/drawing/2014/main" id="{979F8A57-FF0C-46FD-B740-13550A209E8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18" name="Conector recto 17">
            <a:extLst>
              <a:ext uri="{FF2B5EF4-FFF2-40B4-BE49-F238E27FC236}">
                <a16:creationId xmlns:a16="http://schemas.microsoft.com/office/drawing/2014/main" id="{88B2486F-1FC4-4434-BBA1-B1A87CD80187}"/>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
        <p:nvSpPr>
          <p:cNvPr id="2" name="Rectangle: Rounded Corners 1">
            <a:extLst>
              <a:ext uri="{FF2B5EF4-FFF2-40B4-BE49-F238E27FC236}">
                <a16:creationId xmlns:a16="http://schemas.microsoft.com/office/drawing/2014/main" id="{4C437ED3-DFB0-4966-92EB-94F935454CFC}"/>
              </a:ext>
            </a:extLst>
          </p:cNvPr>
          <p:cNvSpPr/>
          <p:nvPr/>
        </p:nvSpPr>
        <p:spPr>
          <a:xfrm>
            <a:off x="1080252" y="4554070"/>
            <a:ext cx="7051695" cy="781295"/>
          </a:xfrm>
          <a:prstGeom prst="roundRect">
            <a:avLst/>
          </a:prstGeom>
          <a:solidFill>
            <a:srgbClr val="006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a:solidFill>
                  <a:schemeClr val="bg1"/>
                </a:solidFill>
                <a:ea typeface="Cambria Math" panose="02040503050406030204" pitchFamily="18" charset="0"/>
              </a:rPr>
              <a:t>Reducción</a:t>
            </a:r>
            <a:r>
              <a:rPr lang="en-US" sz="2400" b="1" dirty="0">
                <a:solidFill>
                  <a:schemeClr val="bg1"/>
                </a:solidFill>
                <a:ea typeface="Cambria Math" panose="02040503050406030204" pitchFamily="18" charset="0"/>
              </a:rPr>
              <a:t> de </a:t>
            </a:r>
            <a:r>
              <a:rPr lang="en-US" sz="2400" b="1" dirty="0" err="1">
                <a:solidFill>
                  <a:schemeClr val="bg1"/>
                </a:solidFill>
                <a:ea typeface="Cambria Math" panose="02040503050406030204" pitchFamily="18" charset="0"/>
              </a:rPr>
              <a:t>dimensiones</a:t>
            </a:r>
            <a:r>
              <a:rPr lang="en-US" sz="2400" b="1" dirty="0">
                <a:solidFill>
                  <a:schemeClr val="bg1"/>
                </a:solidFill>
                <a:ea typeface="Cambria Math" panose="02040503050406030204" pitchFamily="18" charset="0"/>
              </a:rPr>
              <a:t> (</a:t>
            </a:r>
            <a:r>
              <a:rPr lang="en-US" sz="2400" b="1" dirty="0" err="1">
                <a:solidFill>
                  <a:schemeClr val="bg1"/>
                </a:solidFill>
                <a:ea typeface="Cambria Math" panose="02040503050406030204" pitchFamily="18" charset="0"/>
              </a:rPr>
              <a:t>Análisis</a:t>
            </a:r>
            <a:r>
              <a:rPr lang="en-US" sz="2400" b="1" dirty="0">
                <a:solidFill>
                  <a:schemeClr val="bg1"/>
                </a:solidFill>
                <a:ea typeface="Cambria Math" panose="02040503050406030204" pitchFamily="18" charset="0"/>
              </a:rPr>
              <a:t> de </a:t>
            </a:r>
            <a:r>
              <a:rPr lang="en-US" sz="2400" b="1" dirty="0" err="1">
                <a:solidFill>
                  <a:schemeClr val="bg1"/>
                </a:solidFill>
                <a:ea typeface="Cambria Math" panose="02040503050406030204" pitchFamily="18" charset="0"/>
              </a:rPr>
              <a:t>componentes</a:t>
            </a:r>
            <a:r>
              <a:rPr lang="en-US" sz="2400" b="1" dirty="0">
                <a:solidFill>
                  <a:schemeClr val="bg1"/>
                </a:solidFill>
                <a:ea typeface="Cambria Math" panose="02040503050406030204" pitchFamily="18" charset="0"/>
              </a:rPr>
              <a:t> </a:t>
            </a:r>
            <a:r>
              <a:rPr lang="en-US" sz="2400" b="1" dirty="0" err="1">
                <a:solidFill>
                  <a:schemeClr val="bg1"/>
                </a:solidFill>
                <a:ea typeface="Cambria Math" panose="02040503050406030204" pitchFamily="18" charset="0"/>
              </a:rPr>
              <a:t>principales</a:t>
            </a:r>
            <a:r>
              <a:rPr lang="en-US" sz="2400" b="1" dirty="0">
                <a:solidFill>
                  <a:schemeClr val="bg1"/>
                </a:solidFill>
                <a:ea typeface="Cambria Math" panose="02040503050406030204" pitchFamily="18" charset="0"/>
              </a:rPr>
              <a:t> (PCA)</a:t>
            </a:r>
          </a:p>
        </p:txBody>
      </p:sp>
    </p:spTree>
    <p:extLst>
      <p:ext uri="{BB962C8B-B14F-4D97-AF65-F5344CB8AC3E}">
        <p14:creationId xmlns:p14="http://schemas.microsoft.com/office/powerpoint/2010/main" val="12218976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F72B40EF-D53A-41AA-87B6-B9F74BA43E09}" type="slidenum">
              <a:rPr lang="es-ES" smtClean="0"/>
              <a:t>42</a:t>
            </a:fld>
            <a:endParaRPr lang="es-ES"/>
          </a:p>
        </p:txBody>
      </p:sp>
      <p:sp>
        <p:nvSpPr>
          <p:cNvPr id="7" name="Título 1"/>
          <p:cNvSpPr>
            <a:spLocks noGrp="1"/>
          </p:cNvSpPr>
          <p:nvPr>
            <p:ph type="title"/>
          </p:nvPr>
        </p:nvSpPr>
        <p:spPr>
          <a:xfrm>
            <a:off x="995044" y="1242229"/>
            <a:ext cx="8339456" cy="763455"/>
          </a:xfrm>
        </p:spPr>
        <p:txBody>
          <a:bodyPr>
            <a:normAutofit/>
          </a:bodyPr>
          <a:lstStyle/>
          <a:p>
            <a:pPr algn="l"/>
            <a:r>
              <a:rPr lang="es-ES" sz="2400" b="1" dirty="0"/>
              <a:t>Reducción de dimensiones: principal </a:t>
            </a:r>
            <a:r>
              <a:rPr lang="es-ES" sz="2400" b="1" dirty="0" err="1"/>
              <a:t>component</a:t>
            </a:r>
            <a:r>
              <a:rPr lang="es-ES" sz="2400" b="1" dirty="0"/>
              <a:t> </a:t>
            </a:r>
            <a:r>
              <a:rPr lang="es-ES" sz="2400" b="1" dirty="0" err="1"/>
              <a:t>analysis</a:t>
            </a:r>
            <a:r>
              <a:rPr lang="es-ES" sz="2400" b="1" dirty="0"/>
              <a:t> (PCA) </a:t>
            </a:r>
            <a:endParaRPr lang="en-US" sz="2400" b="1" dirty="0"/>
          </a:p>
        </p:txBody>
      </p:sp>
      <p:sp>
        <p:nvSpPr>
          <p:cNvPr id="15" name="Rectángulo 14"/>
          <p:cNvSpPr/>
          <p:nvPr/>
        </p:nvSpPr>
        <p:spPr>
          <a:xfrm>
            <a:off x="691717" y="2080827"/>
            <a:ext cx="7740993" cy="1200329"/>
          </a:xfrm>
          <a:prstGeom prst="rect">
            <a:avLst/>
          </a:prstGeom>
        </p:spPr>
        <p:txBody>
          <a:bodyPr wrap="square">
            <a:spAutoFit/>
          </a:bodyPr>
          <a:lstStyle/>
          <a:p>
            <a:pPr marL="285750" indent="-285750">
              <a:buFont typeface="Arial" panose="020B0604020202020204" pitchFamily="34" charset="0"/>
              <a:buChar char="•"/>
            </a:pPr>
            <a:r>
              <a:rPr lang="es-ES" dirty="0"/>
              <a:t>El </a:t>
            </a:r>
            <a:r>
              <a:rPr lang="es-ES" b="1" dirty="0"/>
              <a:t>análisis de componentes principales </a:t>
            </a:r>
            <a:r>
              <a:rPr lang="es-ES" dirty="0"/>
              <a:t>es uno de los algoritmos de </a:t>
            </a:r>
            <a:r>
              <a:rPr lang="es-ES" b="1" dirty="0"/>
              <a:t>selección de características </a:t>
            </a:r>
            <a:r>
              <a:rPr lang="es-ES" dirty="0"/>
              <a:t>(</a:t>
            </a:r>
            <a:r>
              <a:rPr lang="es-ES" dirty="0" err="1"/>
              <a:t>feature</a:t>
            </a:r>
            <a:r>
              <a:rPr lang="es-ES" dirty="0"/>
              <a:t> </a:t>
            </a:r>
            <a:r>
              <a:rPr lang="es-ES" dirty="0" err="1"/>
              <a:t>selection</a:t>
            </a:r>
            <a:r>
              <a:rPr lang="es-ES" dirty="0"/>
              <a:t>) más habituales.</a:t>
            </a:r>
          </a:p>
          <a:p>
            <a:pPr marL="285750" indent="-285750">
              <a:buFont typeface="Arial" panose="020B0604020202020204" pitchFamily="34" charset="0"/>
              <a:buChar char="•"/>
            </a:pPr>
            <a:r>
              <a:rPr lang="es-ES" dirty="0"/>
              <a:t>Se usa para reducir la “dimensión” de los datos. Con dimensión nos referimos al “número de variables”.</a:t>
            </a:r>
            <a:endParaRPr lang="en-US" dirty="0"/>
          </a:p>
        </p:txBody>
      </p:sp>
      <p:pic>
        <p:nvPicPr>
          <p:cNvPr id="20" name="Imagen 19"/>
          <p:cNvPicPr>
            <a:picLocks noChangeAspect="1"/>
          </p:cNvPicPr>
          <p:nvPr/>
        </p:nvPicPr>
        <p:blipFill rotWithShape="1">
          <a:blip r:embed="rId3"/>
          <a:srcRect l="15001" t="20181" r="27344" b="5457"/>
          <a:stretch/>
        </p:blipFill>
        <p:spPr>
          <a:xfrm>
            <a:off x="509546" y="3741462"/>
            <a:ext cx="3068761" cy="2682975"/>
          </a:xfrm>
          <a:prstGeom prst="rect">
            <a:avLst/>
          </a:prstGeom>
        </p:spPr>
      </p:pic>
      <p:sp>
        <p:nvSpPr>
          <p:cNvPr id="21" name="CuadroTexto 20"/>
          <p:cNvSpPr txBox="1"/>
          <p:nvPr/>
        </p:nvSpPr>
        <p:spPr>
          <a:xfrm>
            <a:off x="3730262" y="4296945"/>
            <a:ext cx="4537438" cy="1754326"/>
          </a:xfrm>
          <a:prstGeom prst="rect">
            <a:avLst/>
          </a:prstGeom>
          <a:noFill/>
        </p:spPr>
        <p:txBody>
          <a:bodyPr wrap="square" rtlCol="0">
            <a:spAutoFit/>
          </a:bodyPr>
          <a:lstStyle/>
          <a:p>
            <a:pPr marL="285750" indent="-285750">
              <a:buFont typeface="Arial" panose="020B0604020202020204" pitchFamily="34" charset="0"/>
              <a:buChar char="•"/>
            </a:pPr>
            <a:r>
              <a:rPr lang="en-US" dirty="0" err="1"/>
              <a:t>Pasamos</a:t>
            </a:r>
            <a:r>
              <a:rPr lang="en-US" dirty="0"/>
              <a:t> de 5 </a:t>
            </a:r>
            <a:r>
              <a:rPr lang="en-US" dirty="0" err="1"/>
              <a:t>características</a:t>
            </a:r>
            <a:r>
              <a:rPr lang="en-US" dirty="0"/>
              <a:t> a 2.</a:t>
            </a:r>
          </a:p>
          <a:p>
            <a:pPr marL="285750" indent="-285750">
              <a:buFont typeface="Arial" panose="020B0604020202020204" pitchFamily="34" charset="0"/>
              <a:buChar char="•"/>
            </a:pPr>
            <a:r>
              <a:rPr lang="en-US" dirty="0"/>
              <a:t>Las 2 </a:t>
            </a:r>
            <a:r>
              <a:rPr lang="en-US" dirty="0" err="1"/>
              <a:t>columnas</a:t>
            </a:r>
            <a:r>
              <a:rPr lang="en-US" dirty="0"/>
              <a:t> </a:t>
            </a:r>
            <a:r>
              <a:rPr lang="en-US" dirty="0" err="1"/>
              <a:t>capturan</a:t>
            </a:r>
            <a:r>
              <a:rPr lang="en-US" dirty="0"/>
              <a:t> la </a:t>
            </a:r>
            <a:r>
              <a:rPr lang="en-US" dirty="0" err="1"/>
              <a:t>mayoría</a:t>
            </a:r>
            <a:r>
              <a:rPr lang="en-US" dirty="0"/>
              <a:t> de la </a:t>
            </a:r>
            <a:r>
              <a:rPr lang="en-US" dirty="0" err="1"/>
              <a:t>informacion</a:t>
            </a:r>
            <a:r>
              <a:rPr lang="en-US" dirty="0"/>
              <a:t> de las 5 </a:t>
            </a:r>
            <a:r>
              <a:rPr lang="en-US" dirty="0" err="1"/>
              <a:t>columnas</a:t>
            </a:r>
            <a:r>
              <a:rPr lang="en-US" dirty="0"/>
              <a:t> </a:t>
            </a:r>
            <a:r>
              <a:rPr lang="en-US" dirty="0" err="1"/>
              <a:t>anteriores</a:t>
            </a:r>
            <a:r>
              <a:rPr lang="en-US" dirty="0"/>
              <a:t>. </a:t>
            </a:r>
          </a:p>
          <a:p>
            <a:pPr marL="285750" indent="-285750">
              <a:buFont typeface="Arial" panose="020B0604020202020204" pitchFamily="34" charset="0"/>
              <a:buChar char="•"/>
            </a:pPr>
            <a:r>
              <a:rPr lang="en-US" dirty="0"/>
              <a:t>El </a:t>
            </a:r>
            <a:r>
              <a:rPr lang="en-US" dirty="0" err="1"/>
              <a:t>resultado</a:t>
            </a:r>
            <a:r>
              <a:rPr lang="en-US" dirty="0"/>
              <a:t> </a:t>
            </a:r>
            <a:r>
              <a:rPr lang="en-US" dirty="0" err="1"/>
              <a:t>indica</a:t>
            </a:r>
            <a:r>
              <a:rPr lang="en-US" dirty="0"/>
              <a:t> que no se </a:t>
            </a:r>
            <a:r>
              <a:rPr lang="en-US" dirty="0" err="1"/>
              <a:t>pierde</a:t>
            </a:r>
            <a:r>
              <a:rPr lang="en-US" dirty="0"/>
              <a:t> </a:t>
            </a:r>
            <a:r>
              <a:rPr lang="en-US" dirty="0" err="1"/>
              <a:t>mucha</a:t>
            </a:r>
            <a:r>
              <a:rPr lang="en-US" dirty="0"/>
              <a:t> </a:t>
            </a:r>
            <a:r>
              <a:rPr lang="en-US" dirty="0" err="1"/>
              <a:t>información</a:t>
            </a:r>
            <a:r>
              <a:rPr lang="en-US" dirty="0"/>
              <a:t> y el dataset (</a:t>
            </a:r>
            <a:r>
              <a:rPr lang="en-US" dirty="0" err="1"/>
              <a:t>matriz</a:t>
            </a:r>
            <a:r>
              <a:rPr lang="en-US" dirty="0"/>
              <a:t> X) se </a:t>
            </a:r>
            <a:r>
              <a:rPr lang="en-US" dirty="0" err="1"/>
              <a:t>simplifica</a:t>
            </a:r>
            <a:r>
              <a:rPr lang="en-US" dirty="0"/>
              <a:t> </a:t>
            </a:r>
            <a:r>
              <a:rPr lang="en-US" dirty="0" err="1"/>
              <a:t>bastante</a:t>
            </a:r>
            <a:r>
              <a:rPr lang="en-US" dirty="0"/>
              <a:t>. </a:t>
            </a:r>
          </a:p>
        </p:txBody>
      </p:sp>
      <p:sp>
        <p:nvSpPr>
          <p:cNvPr id="24" name="Abrir llave 23"/>
          <p:cNvSpPr/>
          <p:nvPr/>
        </p:nvSpPr>
        <p:spPr>
          <a:xfrm rot="5400000">
            <a:off x="1076563" y="3250966"/>
            <a:ext cx="205461" cy="975156"/>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CuadroTexto 24"/>
          <p:cNvSpPr txBox="1"/>
          <p:nvPr/>
        </p:nvSpPr>
        <p:spPr>
          <a:xfrm>
            <a:off x="1033144" y="3319306"/>
            <a:ext cx="500381" cy="369332"/>
          </a:xfrm>
          <a:prstGeom prst="rect">
            <a:avLst/>
          </a:prstGeom>
          <a:noFill/>
        </p:spPr>
        <p:txBody>
          <a:bodyPr wrap="square" rtlCol="0">
            <a:spAutoFit/>
          </a:bodyPr>
          <a:lstStyle/>
          <a:p>
            <a:r>
              <a:rPr lang="en-US" b="1" dirty="0"/>
              <a:t>X</a:t>
            </a:r>
          </a:p>
        </p:txBody>
      </p:sp>
      <p:sp>
        <p:nvSpPr>
          <p:cNvPr id="28" name="Abrir llave 27"/>
          <p:cNvSpPr/>
          <p:nvPr/>
        </p:nvSpPr>
        <p:spPr>
          <a:xfrm rot="5400000">
            <a:off x="3107873" y="3510621"/>
            <a:ext cx="205459" cy="455845"/>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CuadroTexto 28"/>
          <p:cNvSpPr txBox="1"/>
          <p:nvPr/>
        </p:nvSpPr>
        <p:spPr>
          <a:xfrm>
            <a:off x="1918311" y="3283487"/>
            <a:ext cx="3604359" cy="369332"/>
          </a:xfrm>
          <a:prstGeom prst="rect">
            <a:avLst/>
          </a:prstGeom>
          <a:noFill/>
        </p:spPr>
        <p:txBody>
          <a:bodyPr wrap="square" rtlCol="0">
            <a:spAutoFit/>
          </a:bodyPr>
          <a:lstStyle/>
          <a:p>
            <a:r>
              <a:rPr lang="en-US" b="1" dirty="0"/>
              <a:t>2 </a:t>
            </a:r>
            <a:r>
              <a:rPr lang="en-US" b="1" dirty="0" err="1"/>
              <a:t>Componentes</a:t>
            </a:r>
            <a:r>
              <a:rPr lang="en-US" b="1" dirty="0"/>
              <a:t> </a:t>
            </a:r>
            <a:r>
              <a:rPr lang="en-US" b="1" dirty="0" err="1"/>
              <a:t>principales</a:t>
            </a:r>
            <a:endParaRPr lang="en-US" b="1" dirty="0"/>
          </a:p>
        </p:txBody>
      </p:sp>
      <p:sp>
        <p:nvSpPr>
          <p:cNvPr id="16" name="Elipse 15">
            <a:extLst>
              <a:ext uri="{FF2B5EF4-FFF2-40B4-BE49-F238E27FC236}">
                <a16:creationId xmlns:a16="http://schemas.microsoft.com/office/drawing/2014/main" id="{3AA3BF92-CB29-414D-B53C-0263D3C52FA3}"/>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7" name="Imagen 16">
            <a:extLst>
              <a:ext uri="{FF2B5EF4-FFF2-40B4-BE49-F238E27FC236}">
                <a16:creationId xmlns:a16="http://schemas.microsoft.com/office/drawing/2014/main" id="{D8F8F17E-4E26-46A4-B72D-0F0AB81CD6A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18" name="Conector recto 17">
            <a:extLst>
              <a:ext uri="{FF2B5EF4-FFF2-40B4-BE49-F238E27FC236}">
                <a16:creationId xmlns:a16="http://schemas.microsoft.com/office/drawing/2014/main" id="{F327ABCF-AC49-479C-B00B-F6FF3AB2F9AC}"/>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4412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ángulo redondeado 11"/>
          <p:cNvSpPr/>
          <p:nvPr/>
        </p:nvSpPr>
        <p:spPr>
          <a:xfrm>
            <a:off x="1048188" y="2020993"/>
            <a:ext cx="6592126" cy="473647"/>
          </a:xfrm>
          <a:prstGeom prst="roundRect">
            <a:avLst/>
          </a:prstGeom>
          <a:solidFill>
            <a:srgbClr val="006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Marcador de número de diapositiva 3"/>
          <p:cNvSpPr>
            <a:spLocks noGrp="1"/>
          </p:cNvSpPr>
          <p:nvPr>
            <p:ph type="sldNum" sz="quarter" idx="12"/>
          </p:nvPr>
        </p:nvSpPr>
        <p:spPr/>
        <p:txBody>
          <a:bodyPr/>
          <a:lstStyle/>
          <a:p>
            <a:fld id="{F72B40EF-D53A-41AA-87B6-B9F74BA43E09}" type="slidenum">
              <a:rPr lang="es-ES" smtClean="0"/>
              <a:t>43</a:t>
            </a:fld>
            <a:endParaRPr lang="es-ES"/>
          </a:p>
        </p:txBody>
      </p:sp>
      <p:pic>
        <p:nvPicPr>
          <p:cNvPr id="10" name="Picture 2" descr="Los 10 Algoritmos esenciales en Machine Learning – Raon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0268" y="3780799"/>
            <a:ext cx="5891864" cy="2940681"/>
          </a:xfrm>
          <a:prstGeom prst="rect">
            <a:avLst/>
          </a:prstGeom>
          <a:noFill/>
          <a:extLst>
            <a:ext uri="{909E8E84-426E-40DD-AFC4-6F175D3DCCD1}">
              <a14:hiddenFill xmlns:a14="http://schemas.microsoft.com/office/drawing/2010/main">
                <a:solidFill>
                  <a:srgbClr val="FFFFFF"/>
                </a:solidFill>
              </a14:hiddenFill>
            </a:ext>
          </a:extLst>
        </p:spPr>
      </p:pic>
      <p:sp>
        <p:nvSpPr>
          <p:cNvPr id="11" name="CuadroTexto 10"/>
          <p:cNvSpPr txBox="1"/>
          <p:nvPr/>
        </p:nvSpPr>
        <p:spPr>
          <a:xfrm>
            <a:off x="1048188" y="2055141"/>
            <a:ext cx="7938326" cy="369332"/>
          </a:xfrm>
          <a:prstGeom prst="rect">
            <a:avLst/>
          </a:prstGeom>
          <a:noFill/>
        </p:spPr>
        <p:txBody>
          <a:bodyPr wrap="square" rtlCol="0">
            <a:spAutoFit/>
          </a:bodyPr>
          <a:lstStyle/>
          <a:p>
            <a:r>
              <a:rPr lang="en-US" b="1" dirty="0" err="1">
                <a:solidFill>
                  <a:schemeClr val="bg1"/>
                </a:solidFill>
              </a:rPr>
              <a:t>Ejemplo</a:t>
            </a:r>
            <a:r>
              <a:rPr lang="en-US" b="1" dirty="0">
                <a:solidFill>
                  <a:schemeClr val="bg1"/>
                </a:solidFill>
              </a:rPr>
              <a:t>. </a:t>
            </a:r>
            <a:r>
              <a:rPr lang="en-US" dirty="0" err="1">
                <a:solidFill>
                  <a:schemeClr val="bg1"/>
                </a:solidFill>
              </a:rPr>
              <a:t>Pasamos</a:t>
            </a:r>
            <a:r>
              <a:rPr lang="en-US" dirty="0">
                <a:solidFill>
                  <a:schemeClr val="bg1"/>
                </a:solidFill>
              </a:rPr>
              <a:t> de 3 </a:t>
            </a:r>
            <a:r>
              <a:rPr lang="en-US" dirty="0" err="1">
                <a:solidFill>
                  <a:schemeClr val="bg1"/>
                </a:solidFill>
              </a:rPr>
              <a:t>dimensiones</a:t>
            </a:r>
            <a:r>
              <a:rPr lang="en-US" dirty="0">
                <a:solidFill>
                  <a:schemeClr val="bg1"/>
                </a:solidFill>
              </a:rPr>
              <a:t> a 2 </a:t>
            </a:r>
            <a:r>
              <a:rPr lang="en-US" dirty="0" err="1">
                <a:solidFill>
                  <a:schemeClr val="bg1"/>
                </a:solidFill>
              </a:rPr>
              <a:t>dimensiones</a:t>
            </a:r>
            <a:r>
              <a:rPr lang="en-US" dirty="0">
                <a:solidFill>
                  <a:schemeClr val="bg1"/>
                </a:solidFill>
              </a:rPr>
              <a:t> </a:t>
            </a:r>
            <a:r>
              <a:rPr lang="en-US" dirty="0" err="1">
                <a:solidFill>
                  <a:schemeClr val="bg1"/>
                </a:solidFill>
              </a:rPr>
              <a:t>utilizando</a:t>
            </a:r>
            <a:r>
              <a:rPr lang="en-US" dirty="0">
                <a:solidFill>
                  <a:schemeClr val="bg1"/>
                </a:solidFill>
              </a:rPr>
              <a:t> PCA. </a:t>
            </a:r>
          </a:p>
        </p:txBody>
      </p:sp>
      <p:sp>
        <p:nvSpPr>
          <p:cNvPr id="2" name="Rectangle 1">
            <a:extLst>
              <a:ext uri="{FF2B5EF4-FFF2-40B4-BE49-F238E27FC236}">
                <a16:creationId xmlns:a16="http://schemas.microsoft.com/office/drawing/2014/main" id="{DE555448-2D87-438E-96A5-A07701AFF6E2}"/>
              </a:ext>
            </a:extLst>
          </p:cNvPr>
          <p:cNvSpPr>
            <a:spLocks noChangeArrowheads="1"/>
          </p:cNvSpPr>
          <p:nvPr/>
        </p:nvSpPr>
        <p:spPr bwMode="auto">
          <a:xfrm>
            <a:off x="1048188" y="247206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s-ES" altLang="es-ES" sz="1000" b="1" i="0" u="none" strike="noStrike" cap="none" normalizeH="0" baseline="0">
                <a:ln>
                  <a:noFill/>
                </a:ln>
                <a:solidFill>
                  <a:srgbClr val="007020"/>
                </a:solidFill>
                <a:effectLst/>
                <a:latin typeface="SFMono-Regular"/>
              </a:rPr>
              <a:t>from</a:t>
            </a:r>
            <a:r>
              <a:rPr kumimoji="0" lang="es-ES" altLang="es-ES" sz="1000" b="0" i="0" u="none" strike="noStrike" cap="none" normalizeH="0" baseline="0">
                <a:ln>
                  <a:noFill/>
                </a:ln>
                <a:solidFill>
                  <a:srgbClr val="212529"/>
                </a:solidFill>
                <a:effectLst/>
                <a:latin typeface="SFMono-Regular"/>
              </a:rPr>
              <a:t> </a:t>
            </a:r>
            <a:r>
              <a:rPr kumimoji="0" lang="es-ES" altLang="es-ES" sz="1000" b="1" i="0" u="none" strike="noStrike" cap="none" normalizeH="0" baseline="0">
                <a:ln>
                  <a:noFill/>
                </a:ln>
                <a:solidFill>
                  <a:srgbClr val="0E84B5"/>
                </a:solidFill>
                <a:effectLst/>
                <a:latin typeface="SFMono-Regular"/>
              </a:rPr>
              <a:t>sklearn.decomposition</a:t>
            </a:r>
            <a:r>
              <a:rPr kumimoji="0" lang="es-ES" altLang="es-ES" sz="1000" b="0" i="0" u="none" strike="noStrike" cap="none" normalizeH="0" baseline="0">
                <a:ln>
                  <a:noFill/>
                </a:ln>
                <a:solidFill>
                  <a:srgbClr val="212529"/>
                </a:solidFill>
                <a:effectLst/>
                <a:latin typeface="SFMono-Regular"/>
              </a:rPr>
              <a:t> </a:t>
            </a:r>
            <a:r>
              <a:rPr kumimoji="0" lang="es-ES" altLang="es-ES" sz="1000" b="1" i="0" u="none" strike="noStrike" cap="none" normalizeH="0" baseline="0">
                <a:ln>
                  <a:noFill/>
                </a:ln>
                <a:solidFill>
                  <a:srgbClr val="007020"/>
                </a:solidFill>
                <a:effectLst/>
                <a:latin typeface="SFMono-Regular"/>
              </a:rPr>
              <a:t>import</a:t>
            </a:r>
            <a:r>
              <a:rPr kumimoji="0" lang="es-ES" altLang="es-ES" sz="1000" b="0" i="0" u="none" strike="noStrike" cap="none" normalizeH="0" baseline="0">
                <a:ln>
                  <a:noFill/>
                </a:ln>
                <a:solidFill>
                  <a:srgbClr val="212529"/>
                </a:solidFill>
                <a:effectLst/>
                <a:latin typeface="SFMono-Regular"/>
              </a:rPr>
              <a:t> </a:t>
            </a:r>
            <a:r>
              <a:rPr kumimoji="0" lang="es-ES" altLang="es-ES" sz="1200" b="0" i="0" u="none" strike="noStrike" cap="none" normalizeH="0" baseline="0">
                <a:ln>
                  <a:noFill/>
                </a:ln>
                <a:solidFill>
                  <a:schemeClr val="tx1"/>
                </a:solidFill>
                <a:effectLst/>
                <a:latin typeface="Arial" panose="020B0604020202020204" pitchFamily="34" charset="0"/>
              </a:rPr>
              <a:t>PCA</a:t>
            </a:r>
            <a:r>
              <a:rPr kumimoji="0" lang="es-ES" altLang="es-ES" sz="600" b="0" i="0" u="none" strike="noStrike" cap="none" normalizeH="0" baseline="0">
                <a:ln>
                  <a:noFill/>
                </a:ln>
                <a:solidFill>
                  <a:schemeClr val="tx1"/>
                </a:solidFill>
                <a:effectLst/>
              </a:rPr>
              <a:t> </a:t>
            </a:r>
            <a:endParaRPr kumimoji="0" lang="es-ES" altLang="es-ES" sz="1800" b="0" i="0" u="none" strike="noStrike" cap="none" normalizeH="0" baseline="0">
              <a:ln>
                <a:noFill/>
              </a:ln>
              <a:solidFill>
                <a:schemeClr val="tx1"/>
              </a:solidFill>
              <a:effectLst/>
              <a:latin typeface="Arial" panose="020B0604020202020204" pitchFamily="34" charset="0"/>
            </a:endParaRPr>
          </a:p>
        </p:txBody>
      </p:sp>
      <p:pic>
        <p:nvPicPr>
          <p:cNvPr id="3" name="Imagen 2">
            <a:extLst>
              <a:ext uri="{FF2B5EF4-FFF2-40B4-BE49-F238E27FC236}">
                <a16:creationId xmlns:a16="http://schemas.microsoft.com/office/drawing/2014/main" id="{61B67665-273A-44F7-A162-7B7426321478}"/>
              </a:ext>
            </a:extLst>
          </p:cNvPr>
          <p:cNvPicPr>
            <a:picLocks noChangeAspect="1"/>
          </p:cNvPicPr>
          <p:nvPr/>
        </p:nvPicPr>
        <p:blipFill>
          <a:blip r:embed="rId3"/>
          <a:stretch>
            <a:fillRect/>
          </a:stretch>
        </p:blipFill>
        <p:spPr>
          <a:xfrm>
            <a:off x="1048188" y="2882535"/>
            <a:ext cx="4996767" cy="836990"/>
          </a:xfrm>
          <a:prstGeom prst="rect">
            <a:avLst/>
          </a:prstGeom>
        </p:spPr>
      </p:pic>
      <p:sp>
        <p:nvSpPr>
          <p:cNvPr id="19" name="Título 1">
            <a:extLst>
              <a:ext uri="{FF2B5EF4-FFF2-40B4-BE49-F238E27FC236}">
                <a16:creationId xmlns:a16="http://schemas.microsoft.com/office/drawing/2014/main" id="{B4124C54-62F0-461E-BD20-2E2C8CC47429}"/>
              </a:ext>
            </a:extLst>
          </p:cNvPr>
          <p:cNvSpPr>
            <a:spLocks noGrp="1"/>
          </p:cNvSpPr>
          <p:nvPr>
            <p:ph type="title"/>
          </p:nvPr>
        </p:nvSpPr>
        <p:spPr>
          <a:xfrm>
            <a:off x="995044" y="1242229"/>
            <a:ext cx="8339456" cy="763455"/>
          </a:xfrm>
        </p:spPr>
        <p:txBody>
          <a:bodyPr>
            <a:normAutofit/>
          </a:bodyPr>
          <a:lstStyle/>
          <a:p>
            <a:pPr algn="l"/>
            <a:r>
              <a:rPr lang="es-ES" sz="2400" b="1" dirty="0"/>
              <a:t>Reducción de dimensiones: principal </a:t>
            </a:r>
            <a:r>
              <a:rPr lang="es-ES" sz="2400" b="1" dirty="0" err="1"/>
              <a:t>component</a:t>
            </a:r>
            <a:r>
              <a:rPr lang="es-ES" sz="2400" b="1" dirty="0"/>
              <a:t> </a:t>
            </a:r>
            <a:r>
              <a:rPr lang="es-ES" sz="2400" b="1" dirty="0" err="1"/>
              <a:t>analysis</a:t>
            </a:r>
            <a:r>
              <a:rPr lang="es-ES" sz="2400" b="1" dirty="0"/>
              <a:t> (PCA) </a:t>
            </a:r>
            <a:endParaRPr lang="en-US" sz="2400" b="1" dirty="0"/>
          </a:p>
        </p:txBody>
      </p:sp>
      <p:sp>
        <p:nvSpPr>
          <p:cNvPr id="20" name="Elipse 19">
            <a:extLst>
              <a:ext uri="{FF2B5EF4-FFF2-40B4-BE49-F238E27FC236}">
                <a16:creationId xmlns:a16="http://schemas.microsoft.com/office/drawing/2014/main" id="{27228FEC-1E3E-4FA6-B9D1-EFB6DE3712DD}"/>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1" name="Imagen 20">
            <a:extLst>
              <a:ext uri="{FF2B5EF4-FFF2-40B4-BE49-F238E27FC236}">
                <a16:creationId xmlns:a16="http://schemas.microsoft.com/office/drawing/2014/main" id="{D7E5C9E9-EAF4-432B-8BE3-4435991868E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22" name="Conector recto 21">
            <a:extLst>
              <a:ext uri="{FF2B5EF4-FFF2-40B4-BE49-F238E27FC236}">
                <a16:creationId xmlns:a16="http://schemas.microsoft.com/office/drawing/2014/main" id="{44AC05E0-DF6C-40F8-9D76-B888DBA99408}"/>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9463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F72B40EF-D53A-41AA-87B6-B9F74BA43E09}" type="slidenum">
              <a:rPr lang="es-ES" smtClean="0"/>
              <a:t>44</a:t>
            </a:fld>
            <a:endParaRPr lang="es-ES"/>
          </a:p>
        </p:txBody>
      </p:sp>
      <p:pic>
        <p:nvPicPr>
          <p:cNvPr id="1026" name="Picture 2" descr="File:Jupyter logo.svg - Wikimedia Commons">
            <a:extLst>
              <a:ext uri="{FF2B5EF4-FFF2-40B4-BE49-F238E27FC236}">
                <a16:creationId xmlns:a16="http://schemas.microsoft.com/office/drawing/2014/main" id="{F40CB0B3-E51F-4F84-A6C6-18417C43594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94659" y="1908038"/>
            <a:ext cx="3754682" cy="43520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5192066"/>
      </p:ext>
    </p:extLst>
  </p:cSld>
  <p:clrMapOvr>
    <a:masterClrMapping/>
  </p:clrMapOvr>
</p:sld>
</file>

<file path=ppt/theme/theme1.xml><?xml version="1.0" encoding="utf-8"?>
<a:theme xmlns:a="http://schemas.openxmlformats.org/drawingml/2006/main" name="Tema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a1" id="{EA6F462D-65E8-4C26-95CD-2D3D2413B20E}" vid="{C5BA857B-F713-422A-9ED6-EFEF4C09E75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Tema1</Template>
  <TotalTime>24955</TotalTime>
  <Words>3650</Words>
  <Application>Microsoft Office PowerPoint</Application>
  <PresentationFormat>On-screen Show (4:3)</PresentationFormat>
  <Paragraphs>412</Paragraphs>
  <Slides>44</Slides>
  <Notes>29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44</vt:i4>
      </vt:variant>
    </vt:vector>
  </HeadingPairs>
  <TitlesOfParts>
    <vt:vector size="51" baseType="lpstr">
      <vt:lpstr>Malgun Gothic</vt:lpstr>
      <vt:lpstr>Arial</vt:lpstr>
      <vt:lpstr>Calibri</vt:lpstr>
      <vt:lpstr>Calibri Light</vt:lpstr>
      <vt:lpstr>Cambria Math</vt:lpstr>
      <vt:lpstr>SFMono-Regular</vt:lpstr>
      <vt:lpstr>Tema1</vt:lpstr>
      <vt:lpstr>PowerPoint Presentation</vt:lpstr>
      <vt:lpstr>Calendario </vt:lpstr>
      <vt:lpstr>PowerPoint Presentation</vt:lpstr>
      <vt:lpstr>PowerPoint Presentation</vt:lpstr>
      <vt:lpstr>Recapitulemos…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Método de partición: K-means</vt:lpstr>
      <vt:lpstr>Método de partición: K-means</vt:lpstr>
      <vt:lpstr>Método jerárquico: clustering jerárquico</vt:lpstr>
      <vt:lpstr>Método jerárquico: clustering jerárquico</vt:lpstr>
      <vt:lpstr>Método jerárquico: clustering jerárquico</vt:lpstr>
      <vt:lpstr>Método jerárquico: clustering jerárquico divisible</vt:lpstr>
      <vt:lpstr>Método basado en la densidad</vt:lpstr>
      <vt:lpstr>Método basado en la densidad</vt:lpstr>
      <vt:lpstr>Método basado en la densidad: DBSCAN</vt:lpstr>
      <vt:lpstr>Comparación de algoritmos de clustering </vt:lpstr>
      <vt:lpstr>PowerPoint Presentation</vt:lpstr>
      <vt:lpstr>PowerPoint Presentation</vt:lpstr>
      <vt:lpstr>Métrica de evaluación</vt:lpstr>
      <vt:lpstr>Métrica de evaluación</vt:lpstr>
      <vt:lpstr>Métrica de evaluación</vt:lpstr>
      <vt:lpstr>Métrica de evaluación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Reducción de dimensiones: principal component analysis (PCA) </vt:lpstr>
      <vt:lpstr>Reducción de dimensiones: principal component analysis (PCA)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Domin</dc:creator>
  <cp:lastModifiedBy>Marc Jené</cp:lastModifiedBy>
  <cp:revision>561</cp:revision>
  <cp:lastPrinted>2020-06-29T14:52:55Z</cp:lastPrinted>
  <dcterms:created xsi:type="dcterms:W3CDTF">2019-10-15T08:45:43Z</dcterms:created>
  <dcterms:modified xsi:type="dcterms:W3CDTF">2025-03-26T17:04:00Z</dcterms:modified>
</cp:coreProperties>
</file>